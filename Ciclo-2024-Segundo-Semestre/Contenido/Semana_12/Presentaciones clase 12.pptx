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1430000" cy="8382000"/>
  <p:notesSz cx="11430000" cy="8382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57250" y="2157476"/>
            <a:ext cx="9715500" cy="146151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0" i="0">
                <a:solidFill>
                  <a:srgbClr val="F0F4F1"/>
                </a:solidFill>
                <a:latin typeface="SimSun-ExtB"/>
                <a:cs typeface="SimSun-ExtB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714500" y="3897376"/>
            <a:ext cx="8001000" cy="1739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650" b="0" i="0">
                <a:solidFill>
                  <a:srgbClr val="F0F4F1"/>
                </a:solidFill>
                <a:latin typeface="SimSun-ExtB"/>
                <a:cs typeface="SimSun-ExtB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0" i="0">
                <a:solidFill>
                  <a:srgbClr val="F0F4F1"/>
                </a:solidFill>
                <a:latin typeface="SimSun-ExtB"/>
                <a:cs typeface="SimSun-ExtB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4650" b="0" i="0">
                <a:solidFill>
                  <a:srgbClr val="F0F4F1"/>
                </a:solidFill>
                <a:latin typeface="SimSun-ExtB"/>
                <a:cs typeface="SimSun-ExtB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0" i="0">
                <a:solidFill>
                  <a:srgbClr val="F0F4F1"/>
                </a:solidFill>
                <a:latin typeface="SimSun-ExtB"/>
                <a:cs typeface="SimSun-ExtB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71500" y="1600708"/>
            <a:ext cx="4972050" cy="45933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886450" y="1600708"/>
            <a:ext cx="4972050" cy="45933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0" i="0">
                <a:solidFill>
                  <a:srgbClr val="F0F4F1"/>
                </a:solidFill>
                <a:latin typeface="SimSun-ExtB"/>
                <a:cs typeface="SimSun-ExtB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19572" y="2587625"/>
            <a:ext cx="9109075" cy="1073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0" i="0">
                <a:solidFill>
                  <a:srgbClr val="F0F4F1"/>
                </a:solidFill>
                <a:latin typeface="SimSun-ExtB"/>
                <a:cs typeface="SimSun-ExtB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857750" y="1900872"/>
            <a:ext cx="6000750" cy="40713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650" b="0" i="0">
                <a:solidFill>
                  <a:srgbClr val="F0F4F1"/>
                </a:solidFill>
                <a:latin typeface="SimSun-ExtB"/>
                <a:cs typeface="SimSun-ExtB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886200" y="6472428"/>
            <a:ext cx="3657600" cy="3479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71500" y="6472428"/>
            <a:ext cx="2628900" cy="3479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229600" y="6472428"/>
            <a:ext cx="2628900" cy="3479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hyperlink" Target="https://gamma.app/?utm_source=made-with-gamma" TargetMode="External"/><Relationship Id="rId5" Type="http://schemas.openxmlformats.org/officeDocument/2006/relationships/image" Target="../media/image2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jp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jp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1430000" cy="6953250"/>
          </a:xfrm>
          <a:custGeom>
            <a:avLst/>
            <a:gdLst/>
            <a:ahLst/>
            <a:cxnLst/>
            <a:rect l="l" t="t" r="r" b="b"/>
            <a:pathLst>
              <a:path w="11430000" h="6953250">
                <a:moveTo>
                  <a:pt x="11430000" y="0"/>
                </a:moveTo>
                <a:lnTo>
                  <a:pt x="0" y="0"/>
                </a:lnTo>
                <a:lnTo>
                  <a:pt x="0" y="6953250"/>
                </a:lnTo>
                <a:lnTo>
                  <a:pt x="11430000" y="6953250"/>
                </a:lnTo>
                <a:lnTo>
                  <a:pt x="11430000" y="0"/>
                </a:lnTo>
                <a:close/>
              </a:path>
            </a:pathLst>
          </a:custGeom>
          <a:solidFill>
            <a:srgbClr val="151F24">
              <a:alpha val="94898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4286250" cy="6952996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873625" y="424497"/>
            <a:ext cx="5831840" cy="146875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650" spc="1795"/>
              <a:t>SSL/TLS:</a:t>
            </a:r>
            <a:endParaRPr sz="4650"/>
          </a:p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dirty="0" sz="4650" spc="1800"/>
              <a:t>Protegiendo</a:t>
            </a:r>
            <a:endParaRPr sz="4650"/>
          </a:p>
        </p:txBody>
      </p:sp>
      <p:sp>
        <p:nvSpPr>
          <p:cNvPr id="5" name="object 5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28575" marR="173990">
              <a:lnSpc>
                <a:spcPts val="5780"/>
              </a:lnSpc>
              <a:spcBef>
                <a:spcPts val="130"/>
              </a:spcBef>
            </a:pPr>
            <a:r>
              <a:rPr dirty="0" spc="1145"/>
              <a:t>las </a:t>
            </a:r>
            <a:r>
              <a:rPr dirty="0" spc="1775"/>
              <a:t>Cofiunicaci</a:t>
            </a:r>
          </a:p>
          <a:p>
            <a:pPr marL="28575" marR="1874520">
              <a:lnSpc>
                <a:spcPts val="5850"/>
              </a:lnSpc>
              <a:spcBef>
                <a:spcPts val="10"/>
              </a:spcBef>
            </a:pPr>
            <a:r>
              <a:rPr dirty="0" spc="2120"/>
              <a:t>ones </a:t>
            </a:r>
            <a:r>
              <a:rPr dirty="0" spc="1210"/>
              <a:t>Digitales</a:t>
            </a:r>
          </a:p>
          <a:p>
            <a:pPr marL="28575" marR="5080">
              <a:lnSpc>
                <a:spcPct val="134300"/>
              </a:lnSpc>
              <a:spcBef>
                <a:spcPts val="1875"/>
              </a:spcBef>
            </a:pPr>
            <a:r>
              <a:rPr dirty="0" sz="1350" spc="55">
                <a:solidFill>
                  <a:srgbClr val="D7E5D8"/>
                </a:solidFill>
                <a:latin typeface="Tahoma"/>
                <a:cs typeface="Tahoma"/>
              </a:rPr>
              <a:t>Esla</a:t>
            </a:r>
            <a:r>
              <a:rPr dirty="0" sz="1350" spc="-35">
                <a:solidFill>
                  <a:srgbClr val="D7E5D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D7E5D8"/>
                </a:solidFill>
                <a:latin typeface="Tahoma"/>
                <a:cs typeface="Tahoma"/>
              </a:rPr>
              <a:t>pǐeseklaciók</a:t>
            </a:r>
            <a:r>
              <a:rPr dirty="0" sz="1350" spc="-35">
                <a:solidFill>
                  <a:srgbClr val="D7E5D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D7E5D8"/>
                </a:solidFill>
                <a:latin typeface="Tahoma"/>
                <a:cs typeface="Tahoma"/>
              </a:rPr>
              <a:t>exploǐa</a:t>
            </a:r>
            <a:r>
              <a:rPr dirty="0" sz="1350" spc="-35">
                <a:solidFill>
                  <a:srgbClr val="D7E5D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D7E5D8"/>
                </a:solidFill>
                <a:latin typeface="Tahoma"/>
                <a:cs typeface="Tahoma"/>
              </a:rPr>
              <a:t>el</a:t>
            </a:r>
            <a:r>
              <a:rPr dirty="0" sz="1350" spc="-35">
                <a:solidFill>
                  <a:srgbClr val="D7E5D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D7E5D8"/>
                </a:solidFill>
                <a:latin typeface="Tahoma"/>
                <a:cs typeface="Tahoma"/>
              </a:rPr>
              <a:t>pǐolocolo</a:t>
            </a:r>
            <a:r>
              <a:rPr dirty="0" sz="1350" spc="-35">
                <a:solidFill>
                  <a:srgbClr val="D7E5D8"/>
                </a:solidFill>
                <a:latin typeface="Tahoma"/>
                <a:cs typeface="Tahoma"/>
              </a:rPr>
              <a:t> SSL/HLS, </a:t>
            </a:r>
            <a:r>
              <a:rPr dirty="0" sz="1350" spc="-10">
                <a:solidFill>
                  <a:srgbClr val="D7E5D8"/>
                </a:solidFill>
                <a:latin typeface="Tahoma"/>
                <a:cs typeface="Tahoma"/>
              </a:rPr>
              <a:t>su</a:t>
            </a:r>
            <a:r>
              <a:rPr dirty="0" sz="1350" spc="-35">
                <a:solidFill>
                  <a:srgbClr val="D7E5D8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D7E5D8"/>
                </a:solidFill>
                <a:latin typeface="Tahoma"/>
                <a:cs typeface="Tahoma"/>
              </a:rPr>
              <a:t>impoǐlakcia</a:t>
            </a:r>
            <a:r>
              <a:rPr dirty="0" sz="1350" spc="-35">
                <a:solidFill>
                  <a:srgbClr val="D7E5D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D7E5D8"/>
                </a:solidFill>
                <a:latin typeface="Tahoma"/>
                <a:cs typeface="Tahoma"/>
              </a:rPr>
              <a:t>ek</a:t>
            </a:r>
            <a:r>
              <a:rPr dirty="0" sz="1350" spc="-35">
                <a:solidFill>
                  <a:srgbClr val="D7E5D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D7E5D8"/>
                </a:solidFill>
                <a:latin typeface="Tahoma"/>
                <a:cs typeface="Tahoma"/>
              </a:rPr>
              <a:t>la</a:t>
            </a:r>
            <a:r>
              <a:rPr dirty="0" sz="1350" spc="-35">
                <a:solidFill>
                  <a:srgbClr val="D7E5D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D7E5D8"/>
                </a:solidFill>
                <a:latin typeface="Tahoma"/>
                <a:cs typeface="Tahoma"/>
              </a:rPr>
              <a:t>seσuǐidad </a:t>
            </a:r>
            <a:r>
              <a:rPr dirty="0" sz="1350">
                <a:solidFill>
                  <a:srgbClr val="D7E5D8"/>
                </a:solidFill>
                <a:latin typeface="Tahoma"/>
                <a:cs typeface="Tahoma"/>
              </a:rPr>
              <a:t>de</a:t>
            </a:r>
            <a:r>
              <a:rPr dirty="0" sz="1350" spc="40">
                <a:solidFill>
                  <a:srgbClr val="D7E5D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D7E5D8"/>
                </a:solidFill>
                <a:latin typeface="Tahoma"/>
                <a:cs typeface="Tahoma"/>
              </a:rPr>
              <a:t>ǐedes</a:t>
            </a:r>
            <a:r>
              <a:rPr dirty="0" sz="1350" spc="45">
                <a:solidFill>
                  <a:srgbClr val="D7E5D8"/>
                </a:solidFill>
                <a:latin typeface="Tahoma"/>
                <a:cs typeface="Tahoma"/>
              </a:rPr>
              <a:t> </a:t>
            </a:r>
            <a:r>
              <a:rPr dirty="0" sz="1350" spc="-280">
                <a:solidFill>
                  <a:srgbClr val="D7E5D8"/>
                </a:solidFill>
                <a:latin typeface="Tahoma"/>
                <a:cs typeface="Tahoma"/>
              </a:rPr>
              <a:t>Q</a:t>
            </a:r>
            <a:r>
              <a:rPr dirty="0" sz="1350" spc="45">
                <a:solidFill>
                  <a:srgbClr val="D7E5D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D7E5D8"/>
                </a:solidFill>
                <a:latin typeface="Tahoma"/>
                <a:cs typeface="Tahoma"/>
              </a:rPr>
              <a:t>seǐvidoǐes</a:t>
            </a:r>
            <a:r>
              <a:rPr dirty="0" sz="1350" spc="45">
                <a:solidFill>
                  <a:srgbClr val="D7E5D8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D7E5D8"/>
                </a:solidFill>
                <a:latin typeface="Tahoma"/>
                <a:cs typeface="Tahoma"/>
              </a:rPr>
              <a:t>web.</a:t>
            </a:r>
            <a:r>
              <a:rPr dirty="0" sz="1350" spc="40">
                <a:solidFill>
                  <a:srgbClr val="D7E5D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D7E5D8"/>
                </a:solidFill>
                <a:latin typeface="Tahoma"/>
                <a:cs typeface="Tahoma"/>
              </a:rPr>
              <a:t>Descubǐiǐemos</a:t>
            </a:r>
            <a:r>
              <a:rPr dirty="0" sz="1350" spc="45">
                <a:solidFill>
                  <a:srgbClr val="D7E5D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D7E5D8"/>
                </a:solidFill>
                <a:latin typeface="Tahoma"/>
                <a:cs typeface="Tahoma"/>
              </a:rPr>
              <a:t>su</a:t>
            </a:r>
            <a:r>
              <a:rPr dirty="0" sz="1350" spc="45">
                <a:solidFill>
                  <a:srgbClr val="D7E5D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D7E5D8"/>
                </a:solidFill>
                <a:latin typeface="Tahoma"/>
                <a:cs typeface="Tahoma"/>
              </a:rPr>
              <a:t>rukciokamieklo,</a:t>
            </a:r>
            <a:r>
              <a:rPr dirty="0" sz="1350" spc="45">
                <a:solidFill>
                  <a:srgbClr val="D7E5D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D7E5D8"/>
                </a:solidFill>
                <a:latin typeface="Tahoma"/>
                <a:cs typeface="Tahoma"/>
              </a:rPr>
              <a:t>lipos</a:t>
            </a:r>
            <a:r>
              <a:rPr dirty="0" sz="1350" spc="40">
                <a:solidFill>
                  <a:srgbClr val="D7E5D8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D7E5D8"/>
                </a:solidFill>
                <a:latin typeface="Tahoma"/>
                <a:cs typeface="Tahoma"/>
              </a:rPr>
              <a:t>de </a:t>
            </a:r>
            <a:r>
              <a:rPr dirty="0" sz="1350">
                <a:solidFill>
                  <a:srgbClr val="D7E5D8"/>
                </a:solidFill>
                <a:latin typeface="Tahoma"/>
                <a:cs typeface="Tahoma"/>
              </a:rPr>
              <a:t>ceǐliricados</a:t>
            </a:r>
            <a:r>
              <a:rPr dirty="0" sz="1350" spc="210">
                <a:solidFill>
                  <a:srgbClr val="D7E5D8"/>
                </a:solidFill>
                <a:latin typeface="Tahoma"/>
                <a:cs typeface="Tahoma"/>
              </a:rPr>
              <a:t> </a:t>
            </a:r>
            <a:r>
              <a:rPr dirty="0" sz="1350" spc="-280">
                <a:solidFill>
                  <a:srgbClr val="D7E5D8"/>
                </a:solidFill>
                <a:latin typeface="Tahoma"/>
                <a:cs typeface="Tahoma"/>
              </a:rPr>
              <a:t>Q</a:t>
            </a:r>
            <a:r>
              <a:rPr dirty="0" sz="1350" spc="210">
                <a:solidFill>
                  <a:srgbClr val="D7E5D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D7E5D8"/>
                </a:solidFill>
                <a:latin typeface="Tahoma"/>
                <a:cs typeface="Tahoma"/>
              </a:rPr>
              <a:t>cokriσuǐaciók</a:t>
            </a:r>
            <a:r>
              <a:rPr dirty="0" sz="1350" spc="210">
                <a:solidFill>
                  <a:srgbClr val="D7E5D8"/>
                </a:solidFill>
                <a:latin typeface="Tahoma"/>
                <a:cs typeface="Tahoma"/>
              </a:rPr>
              <a:t> </a:t>
            </a:r>
            <a:r>
              <a:rPr dirty="0" sz="1350" spc="45">
                <a:solidFill>
                  <a:srgbClr val="D7E5D8"/>
                </a:solidFill>
                <a:latin typeface="Tahoma"/>
                <a:cs typeface="Tahoma"/>
              </a:rPr>
              <a:t>pǐáclica.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233640" y="6173787"/>
            <a:ext cx="2041525" cy="2825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55" b="1">
                <a:solidFill>
                  <a:srgbClr val="D7E5D8"/>
                </a:solidFill>
                <a:latin typeface="Trebuchet MS"/>
                <a:cs typeface="Trebuchet MS"/>
              </a:rPr>
              <a:t>por</a:t>
            </a:r>
            <a:r>
              <a:rPr dirty="0" sz="1650" spc="-95" b="1">
                <a:solidFill>
                  <a:srgbClr val="D7E5D8"/>
                </a:solidFill>
                <a:latin typeface="Trebuchet MS"/>
                <a:cs typeface="Trebuchet MS"/>
              </a:rPr>
              <a:t> </a:t>
            </a:r>
            <a:r>
              <a:rPr dirty="0" sz="1650" spc="240" b="1">
                <a:solidFill>
                  <a:srgbClr val="D7E5D8"/>
                </a:solidFill>
                <a:latin typeface="Trebuchet MS"/>
                <a:cs typeface="Trebuchet MS"/>
              </a:rPr>
              <a:t>Eduardo</a:t>
            </a:r>
            <a:r>
              <a:rPr dirty="0" sz="1650" spc="-90" b="1">
                <a:solidFill>
                  <a:srgbClr val="D7E5D8"/>
                </a:solidFill>
                <a:latin typeface="Trebuchet MS"/>
                <a:cs typeface="Trebuchet MS"/>
              </a:rPr>
              <a:t> </a:t>
            </a:r>
            <a:r>
              <a:rPr dirty="0" sz="1650" spc="135" b="1">
                <a:solidFill>
                  <a:srgbClr val="D7E5D8"/>
                </a:solidFill>
                <a:latin typeface="Trebuchet MS"/>
                <a:cs typeface="Trebuchet MS"/>
              </a:rPr>
              <a:t>Ixén</a:t>
            </a:r>
            <a:endParaRPr sz="1650">
              <a:latin typeface="Trebuchet MS"/>
              <a:cs typeface="Trebuchet MS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4886325" y="6191251"/>
            <a:ext cx="276225" cy="276225"/>
            <a:chOff x="4886325" y="6191251"/>
            <a:chExt cx="276225" cy="276225"/>
          </a:xfrm>
        </p:grpSpPr>
        <p:sp>
          <p:nvSpPr>
            <p:cNvPr id="8" name="object 8" descr=""/>
            <p:cNvSpPr/>
            <p:nvPr/>
          </p:nvSpPr>
          <p:spPr>
            <a:xfrm>
              <a:off x="4891087" y="6196013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133350" y="0"/>
                  </a:moveTo>
                  <a:lnTo>
                    <a:pt x="94640" y="5736"/>
                  </a:lnTo>
                  <a:lnTo>
                    <a:pt x="59258" y="22472"/>
                  </a:lnTo>
                  <a:lnTo>
                    <a:pt x="30265" y="48748"/>
                  </a:lnTo>
                  <a:lnTo>
                    <a:pt x="10147" y="82316"/>
                  </a:lnTo>
                  <a:lnTo>
                    <a:pt x="639" y="120278"/>
                  </a:lnTo>
                  <a:lnTo>
                    <a:pt x="0" y="133350"/>
                  </a:lnTo>
                  <a:lnTo>
                    <a:pt x="159" y="139900"/>
                  </a:lnTo>
                  <a:lnTo>
                    <a:pt x="7792" y="178265"/>
                  </a:lnTo>
                  <a:lnTo>
                    <a:pt x="26250" y="212791"/>
                  </a:lnTo>
                  <a:lnTo>
                    <a:pt x="53902" y="240450"/>
                  </a:lnTo>
                  <a:lnTo>
                    <a:pt x="88434" y="258907"/>
                  </a:lnTo>
                  <a:lnTo>
                    <a:pt x="126801" y="266539"/>
                  </a:lnTo>
                  <a:lnTo>
                    <a:pt x="133350" y="266700"/>
                  </a:lnTo>
                  <a:lnTo>
                    <a:pt x="139898" y="266539"/>
                  </a:lnTo>
                  <a:lnTo>
                    <a:pt x="178265" y="258907"/>
                  </a:lnTo>
                  <a:lnTo>
                    <a:pt x="212797" y="240450"/>
                  </a:lnTo>
                  <a:lnTo>
                    <a:pt x="240449" y="212791"/>
                  </a:lnTo>
                  <a:lnTo>
                    <a:pt x="258907" y="178265"/>
                  </a:lnTo>
                  <a:lnTo>
                    <a:pt x="266540" y="139900"/>
                  </a:lnTo>
                  <a:lnTo>
                    <a:pt x="266700" y="133350"/>
                  </a:lnTo>
                  <a:lnTo>
                    <a:pt x="266540" y="126798"/>
                  </a:lnTo>
                  <a:lnTo>
                    <a:pt x="258907" y="88430"/>
                  </a:lnTo>
                  <a:lnTo>
                    <a:pt x="240449" y="53903"/>
                  </a:lnTo>
                  <a:lnTo>
                    <a:pt x="212797" y="26241"/>
                  </a:lnTo>
                  <a:lnTo>
                    <a:pt x="178265" y="7788"/>
                  </a:lnTo>
                  <a:lnTo>
                    <a:pt x="139898" y="160"/>
                  </a:lnTo>
                  <a:lnTo>
                    <a:pt x="133350" y="0"/>
                  </a:lnTo>
                  <a:close/>
                </a:path>
              </a:pathLst>
            </a:custGeom>
            <a:solidFill>
              <a:srgbClr val="81333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4891087" y="6196013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266700" y="133350"/>
                  </a:moveTo>
                  <a:lnTo>
                    <a:pt x="260958" y="172059"/>
                  </a:lnTo>
                  <a:lnTo>
                    <a:pt x="244221" y="207431"/>
                  </a:lnTo>
                  <a:lnTo>
                    <a:pt x="217949" y="236430"/>
                  </a:lnTo>
                  <a:lnTo>
                    <a:pt x="184378" y="256550"/>
                  </a:lnTo>
                  <a:lnTo>
                    <a:pt x="146416" y="266057"/>
                  </a:lnTo>
                  <a:lnTo>
                    <a:pt x="133350" y="266700"/>
                  </a:lnTo>
                  <a:lnTo>
                    <a:pt x="126801" y="266539"/>
                  </a:lnTo>
                  <a:lnTo>
                    <a:pt x="88434" y="258907"/>
                  </a:lnTo>
                  <a:lnTo>
                    <a:pt x="53902" y="240450"/>
                  </a:lnTo>
                  <a:lnTo>
                    <a:pt x="26250" y="212791"/>
                  </a:lnTo>
                  <a:lnTo>
                    <a:pt x="7792" y="178265"/>
                  </a:lnTo>
                  <a:lnTo>
                    <a:pt x="159" y="139900"/>
                  </a:lnTo>
                  <a:lnTo>
                    <a:pt x="0" y="133350"/>
                  </a:lnTo>
                  <a:lnTo>
                    <a:pt x="159" y="126798"/>
                  </a:lnTo>
                  <a:lnTo>
                    <a:pt x="7792" y="88430"/>
                  </a:lnTo>
                  <a:lnTo>
                    <a:pt x="26245" y="53903"/>
                  </a:lnTo>
                  <a:lnTo>
                    <a:pt x="53902" y="26243"/>
                  </a:lnTo>
                  <a:lnTo>
                    <a:pt x="88434" y="7788"/>
                  </a:lnTo>
                  <a:lnTo>
                    <a:pt x="126801" y="160"/>
                  </a:lnTo>
                  <a:lnTo>
                    <a:pt x="133350" y="0"/>
                  </a:lnTo>
                  <a:lnTo>
                    <a:pt x="139898" y="160"/>
                  </a:lnTo>
                  <a:lnTo>
                    <a:pt x="178265" y="7788"/>
                  </a:lnTo>
                  <a:lnTo>
                    <a:pt x="212797" y="26241"/>
                  </a:lnTo>
                  <a:lnTo>
                    <a:pt x="240449" y="53903"/>
                  </a:lnTo>
                  <a:lnTo>
                    <a:pt x="258907" y="88430"/>
                  </a:lnTo>
                  <a:lnTo>
                    <a:pt x="266540" y="126798"/>
                  </a:lnTo>
                  <a:lnTo>
                    <a:pt x="266700" y="13335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4952949" y="6228081"/>
            <a:ext cx="140970" cy="1720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950" spc="35">
                <a:solidFill>
                  <a:srgbClr val="FFFFFF"/>
                </a:solidFill>
                <a:latin typeface="Trebuchet MS"/>
                <a:cs typeface="Trebuchet MS"/>
              </a:rPr>
              <a:t>EI</a:t>
            </a:r>
            <a:endParaRPr sz="950">
              <a:latin typeface="Trebuchet MS"/>
              <a:cs typeface="Trebuchet MS"/>
            </a:endParaRPr>
          </a:p>
        </p:txBody>
      </p:sp>
      <p:pic>
        <p:nvPicPr>
          <p:cNvPr id="11" name="object 11" descr="">
            <a:hlinkClick r:id="rId3"/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80244" y="644423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1"/>
            <a:ext cx="11430000" cy="6915150"/>
          </a:xfrm>
          <a:custGeom>
            <a:avLst/>
            <a:gdLst/>
            <a:ahLst/>
            <a:cxnLst/>
            <a:rect l="l" t="t" r="r" b="b"/>
            <a:pathLst>
              <a:path w="11430000" h="6915150">
                <a:moveTo>
                  <a:pt x="11430000" y="0"/>
                </a:moveTo>
                <a:lnTo>
                  <a:pt x="0" y="0"/>
                </a:lnTo>
                <a:lnTo>
                  <a:pt x="0" y="6915150"/>
                </a:lnTo>
                <a:lnTo>
                  <a:pt x="11430000" y="6915150"/>
                </a:lnTo>
                <a:lnTo>
                  <a:pt x="11430000" y="0"/>
                </a:lnTo>
                <a:close/>
              </a:path>
            </a:pathLst>
          </a:custGeom>
          <a:solidFill>
            <a:srgbClr val="151F24">
              <a:alpha val="94898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507"/>
            <a:ext cx="11430000" cy="2142617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0847" y="2752724"/>
            <a:ext cx="492125" cy="27622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 marR="5080" indent="548640">
              <a:lnSpc>
                <a:spcPts val="4200"/>
              </a:lnSpc>
              <a:spcBef>
                <a:spcPts val="50"/>
              </a:spcBef>
            </a:pPr>
            <a:r>
              <a:rPr dirty="0" spc="650"/>
              <a:t>istoria</a:t>
            </a:r>
            <a:r>
              <a:rPr dirty="0" spc="-620"/>
              <a:t> </a:t>
            </a:r>
            <a:r>
              <a:rPr dirty="0" spc="1455"/>
              <a:t>y</a:t>
            </a:r>
            <a:r>
              <a:rPr dirty="0" spc="-615"/>
              <a:t> </a:t>
            </a:r>
            <a:r>
              <a:rPr dirty="0" spc="1035"/>
              <a:t>Evolución</a:t>
            </a:r>
            <a:r>
              <a:rPr dirty="0" spc="-620"/>
              <a:t> </a:t>
            </a:r>
            <a:r>
              <a:rPr dirty="0" spc="1814"/>
              <a:t>de </a:t>
            </a:r>
            <a:r>
              <a:rPr dirty="0" spc="1580"/>
              <a:t>SSL/TLS</a:t>
            </a:r>
          </a:p>
        </p:txBody>
      </p:sp>
      <p:grpSp>
        <p:nvGrpSpPr>
          <p:cNvPr id="6" name="object 6" descr=""/>
          <p:cNvGrpSpPr/>
          <p:nvPr/>
        </p:nvGrpSpPr>
        <p:grpSpPr>
          <a:xfrm>
            <a:off x="1028700" y="4007649"/>
            <a:ext cx="9372600" cy="790575"/>
            <a:chOff x="1028700" y="4007649"/>
            <a:chExt cx="9372600" cy="790575"/>
          </a:xfrm>
        </p:grpSpPr>
        <p:sp>
          <p:nvSpPr>
            <p:cNvPr id="7" name="object 7" descr=""/>
            <p:cNvSpPr/>
            <p:nvPr/>
          </p:nvSpPr>
          <p:spPr>
            <a:xfrm>
              <a:off x="1028700" y="4198149"/>
              <a:ext cx="9372600" cy="600075"/>
            </a:xfrm>
            <a:custGeom>
              <a:avLst/>
              <a:gdLst/>
              <a:ahLst/>
              <a:cxnLst/>
              <a:rect l="l" t="t" r="r" b="b"/>
              <a:pathLst>
                <a:path w="9372600" h="600075">
                  <a:moveTo>
                    <a:pt x="9372600" y="9283"/>
                  </a:moveTo>
                  <a:lnTo>
                    <a:pt x="9371673" y="7035"/>
                  </a:lnTo>
                  <a:lnTo>
                    <a:pt x="9367952" y="3302"/>
                  </a:lnTo>
                  <a:lnTo>
                    <a:pt x="9365704" y="2374"/>
                  </a:lnTo>
                  <a:lnTo>
                    <a:pt x="1511274" y="2374"/>
                  </a:lnTo>
                  <a:lnTo>
                    <a:pt x="1509826" y="927"/>
                  </a:lnTo>
                  <a:lnTo>
                    <a:pt x="1507578" y="0"/>
                  </a:lnTo>
                  <a:lnTo>
                    <a:pt x="1502321" y="0"/>
                  </a:lnTo>
                  <a:lnTo>
                    <a:pt x="1500073" y="927"/>
                  </a:lnTo>
                  <a:lnTo>
                    <a:pt x="1498625" y="2374"/>
                  </a:lnTo>
                  <a:lnTo>
                    <a:pt x="6896" y="2374"/>
                  </a:lnTo>
                  <a:lnTo>
                    <a:pt x="4648" y="3302"/>
                  </a:lnTo>
                  <a:lnTo>
                    <a:pt x="927" y="7035"/>
                  </a:lnTo>
                  <a:lnTo>
                    <a:pt x="0" y="9283"/>
                  </a:lnTo>
                  <a:lnTo>
                    <a:pt x="0" y="11899"/>
                  </a:lnTo>
                  <a:lnTo>
                    <a:pt x="0" y="14528"/>
                  </a:lnTo>
                  <a:lnTo>
                    <a:pt x="927" y="16776"/>
                  </a:lnTo>
                  <a:lnTo>
                    <a:pt x="4648" y="20497"/>
                  </a:lnTo>
                  <a:lnTo>
                    <a:pt x="6896" y="21424"/>
                  </a:lnTo>
                  <a:lnTo>
                    <a:pt x="1495425" y="21424"/>
                  </a:lnTo>
                  <a:lnTo>
                    <a:pt x="1495425" y="590550"/>
                  </a:lnTo>
                  <a:lnTo>
                    <a:pt x="1495425" y="593178"/>
                  </a:lnTo>
                  <a:lnTo>
                    <a:pt x="1496352" y="595414"/>
                  </a:lnTo>
                  <a:lnTo>
                    <a:pt x="1500073" y="599135"/>
                  </a:lnTo>
                  <a:lnTo>
                    <a:pt x="1502321" y="600075"/>
                  </a:lnTo>
                  <a:lnTo>
                    <a:pt x="1507578" y="600075"/>
                  </a:lnTo>
                  <a:lnTo>
                    <a:pt x="1509826" y="599135"/>
                  </a:lnTo>
                  <a:lnTo>
                    <a:pt x="1513547" y="595414"/>
                  </a:lnTo>
                  <a:lnTo>
                    <a:pt x="1514475" y="593178"/>
                  </a:lnTo>
                  <a:lnTo>
                    <a:pt x="1514475" y="21424"/>
                  </a:lnTo>
                  <a:lnTo>
                    <a:pt x="9365704" y="21424"/>
                  </a:lnTo>
                  <a:lnTo>
                    <a:pt x="9367952" y="20497"/>
                  </a:lnTo>
                  <a:lnTo>
                    <a:pt x="9371673" y="16776"/>
                  </a:lnTo>
                  <a:lnTo>
                    <a:pt x="9372600" y="14528"/>
                  </a:lnTo>
                  <a:lnTo>
                    <a:pt x="9372600" y="9283"/>
                  </a:lnTo>
                  <a:close/>
                </a:path>
              </a:pathLst>
            </a:custGeom>
            <a:solidFill>
              <a:srgbClr val="6D90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2347912" y="4012412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29387" y="0"/>
                  </a:moveTo>
                  <a:lnTo>
                    <a:pt x="51612" y="0"/>
                  </a:lnTo>
                  <a:lnTo>
                    <a:pt x="48031" y="342"/>
                  </a:lnTo>
                  <a:lnTo>
                    <a:pt x="13614" y="18732"/>
                  </a:lnTo>
                  <a:lnTo>
                    <a:pt x="0" y="51612"/>
                  </a:lnTo>
                  <a:lnTo>
                    <a:pt x="0" y="325755"/>
                  </a:lnTo>
                  <a:lnTo>
                    <a:pt x="0" y="329374"/>
                  </a:lnTo>
                  <a:lnTo>
                    <a:pt x="18745" y="367372"/>
                  </a:lnTo>
                  <a:lnTo>
                    <a:pt x="51612" y="381000"/>
                  </a:lnTo>
                  <a:lnTo>
                    <a:pt x="329387" y="381000"/>
                  </a:lnTo>
                  <a:lnTo>
                    <a:pt x="367385" y="362242"/>
                  </a:lnTo>
                  <a:lnTo>
                    <a:pt x="381000" y="329374"/>
                  </a:lnTo>
                  <a:lnTo>
                    <a:pt x="381000" y="51612"/>
                  </a:lnTo>
                  <a:lnTo>
                    <a:pt x="362254" y="13614"/>
                  </a:lnTo>
                  <a:lnTo>
                    <a:pt x="332968" y="342"/>
                  </a:lnTo>
                  <a:lnTo>
                    <a:pt x="329387" y="0"/>
                  </a:lnTo>
                  <a:close/>
                </a:path>
              </a:pathLst>
            </a:custGeom>
            <a:solidFill>
              <a:srgbClr val="53780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2347912" y="4012412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0" y="325755"/>
                  </a:moveTo>
                  <a:lnTo>
                    <a:pt x="0" y="55245"/>
                  </a:lnTo>
                  <a:lnTo>
                    <a:pt x="0" y="51612"/>
                  </a:lnTo>
                  <a:lnTo>
                    <a:pt x="355" y="48018"/>
                  </a:lnTo>
                  <a:lnTo>
                    <a:pt x="1066" y="44462"/>
                  </a:lnTo>
                  <a:lnTo>
                    <a:pt x="1765" y="40906"/>
                  </a:lnTo>
                  <a:lnTo>
                    <a:pt x="2819" y="37452"/>
                  </a:lnTo>
                  <a:lnTo>
                    <a:pt x="4203" y="34099"/>
                  </a:lnTo>
                  <a:lnTo>
                    <a:pt x="5588" y="30746"/>
                  </a:lnTo>
                  <a:lnTo>
                    <a:pt x="7302" y="27559"/>
                  </a:lnTo>
                  <a:lnTo>
                    <a:pt x="34099" y="4203"/>
                  </a:lnTo>
                  <a:lnTo>
                    <a:pt x="37452" y="2806"/>
                  </a:lnTo>
                  <a:lnTo>
                    <a:pt x="40906" y="1765"/>
                  </a:lnTo>
                  <a:lnTo>
                    <a:pt x="44462" y="1054"/>
                  </a:lnTo>
                  <a:lnTo>
                    <a:pt x="48031" y="342"/>
                  </a:lnTo>
                  <a:lnTo>
                    <a:pt x="51612" y="0"/>
                  </a:lnTo>
                  <a:lnTo>
                    <a:pt x="55245" y="0"/>
                  </a:lnTo>
                  <a:lnTo>
                    <a:pt x="325755" y="0"/>
                  </a:lnTo>
                  <a:lnTo>
                    <a:pt x="329387" y="0"/>
                  </a:lnTo>
                  <a:lnTo>
                    <a:pt x="332968" y="342"/>
                  </a:lnTo>
                  <a:lnTo>
                    <a:pt x="336537" y="1054"/>
                  </a:lnTo>
                  <a:lnTo>
                    <a:pt x="340093" y="1765"/>
                  </a:lnTo>
                  <a:lnTo>
                    <a:pt x="343547" y="2806"/>
                  </a:lnTo>
                  <a:lnTo>
                    <a:pt x="346900" y="4203"/>
                  </a:lnTo>
                  <a:lnTo>
                    <a:pt x="350253" y="5588"/>
                  </a:lnTo>
                  <a:lnTo>
                    <a:pt x="376796" y="34099"/>
                  </a:lnTo>
                  <a:lnTo>
                    <a:pt x="379933" y="44462"/>
                  </a:lnTo>
                  <a:lnTo>
                    <a:pt x="380644" y="48018"/>
                  </a:lnTo>
                  <a:lnTo>
                    <a:pt x="381000" y="51612"/>
                  </a:lnTo>
                  <a:lnTo>
                    <a:pt x="381000" y="55245"/>
                  </a:lnTo>
                  <a:lnTo>
                    <a:pt x="381000" y="325755"/>
                  </a:lnTo>
                  <a:lnTo>
                    <a:pt x="381000" y="329374"/>
                  </a:lnTo>
                  <a:lnTo>
                    <a:pt x="380644" y="332968"/>
                  </a:lnTo>
                  <a:lnTo>
                    <a:pt x="379933" y="336524"/>
                  </a:lnTo>
                  <a:lnTo>
                    <a:pt x="379234" y="340080"/>
                  </a:lnTo>
                  <a:lnTo>
                    <a:pt x="356450" y="371678"/>
                  </a:lnTo>
                  <a:lnTo>
                    <a:pt x="353428" y="373697"/>
                  </a:lnTo>
                  <a:lnTo>
                    <a:pt x="350253" y="375399"/>
                  </a:lnTo>
                  <a:lnTo>
                    <a:pt x="346900" y="376783"/>
                  </a:lnTo>
                  <a:lnTo>
                    <a:pt x="343547" y="378180"/>
                  </a:lnTo>
                  <a:lnTo>
                    <a:pt x="340093" y="379222"/>
                  </a:lnTo>
                  <a:lnTo>
                    <a:pt x="336537" y="379933"/>
                  </a:lnTo>
                  <a:lnTo>
                    <a:pt x="332968" y="380644"/>
                  </a:lnTo>
                  <a:lnTo>
                    <a:pt x="329387" y="381000"/>
                  </a:lnTo>
                  <a:lnTo>
                    <a:pt x="325755" y="381000"/>
                  </a:lnTo>
                  <a:lnTo>
                    <a:pt x="55245" y="381000"/>
                  </a:lnTo>
                  <a:lnTo>
                    <a:pt x="51612" y="381000"/>
                  </a:lnTo>
                  <a:lnTo>
                    <a:pt x="48031" y="380644"/>
                  </a:lnTo>
                  <a:lnTo>
                    <a:pt x="44462" y="379933"/>
                  </a:lnTo>
                  <a:lnTo>
                    <a:pt x="40906" y="379222"/>
                  </a:lnTo>
                  <a:lnTo>
                    <a:pt x="37452" y="378180"/>
                  </a:lnTo>
                  <a:lnTo>
                    <a:pt x="34099" y="376783"/>
                  </a:lnTo>
                  <a:lnTo>
                    <a:pt x="30746" y="375399"/>
                  </a:lnTo>
                  <a:lnTo>
                    <a:pt x="27571" y="373697"/>
                  </a:lnTo>
                  <a:lnTo>
                    <a:pt x="24549" y="371678"/>
                  </a:lnTo>
                  <a:lnTo>
                    <a:pt x="21539" y="369671"/>
                  </a:lnTo>
                  <a:lnTo>
                    <a:pt x="18745" y="367372"/>
                  </a:lnTo>
                  <a:lnTo>
                    <a:pt x="16179" y="364807"/>
                  </a:lnTo>
                  <a:lnTo>
                    <a:pt x="13614" y="362242"/>
                  </a:lnTo>
                  <a:lnTo>
                    <a:pt x="4203" y="346887"/>
                  </a:lnTo>
                  <a:lnTo>
                    <a:pt x="2819" y="343535"/>
                  </a:lnTo>
                  <a:lnTo>
                    <a:pt x="1765" y="340080"/>
                  </a:lnTo>
                  <a:lnTo>
                    <a:pt x="1066" y="336524"/>
                  </a:lnTo>
                  <a:lnTo>
                    <a:pt x="355" y="332968"/>
                  </a:lnTo>
                  <a:lnTo>
                    <a:pt x="0" y="329374"/>
                  </a:lnTo>
                  <a:lnTo>
                    <a:pt x="0" y="325755"/>
                  </a:lnTo>
                  <a:close/>
                </a:path>
              </a:pathLst>
            </a:custGeom>
            <a:ln w="9525">
              <a:solidFill>
                <a:srgbClr val="6D902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5705475" y="4198149"/>
              <a:ext cx="19050" cy="600075"/>
            </a:xfrm>
            <a:custGeom>
              <a:avLst/>
              <a:gdLst/>
              <a:ahLst/>
              <a:cxnLst/>
              <a:rect l="l" t="t" r="r" b="b"/>
              <a:pathLst>
                <a:path w="19050" h="600075">
                  <a:moveTo>
                    <a:pt x="12153" y="0"/>
                  </a:moveTo>
                  <a:lnTo>
                    <a:pt x="6896" y="0"/>
                  </a:lnTo>
                  <a:lnTo>
                    <a:pt x="4648" y="927"/>
                  </a:lnTo>
                  <a:lnTo>
                    <a:pt x="927" y="4648"/>
                  </a:lnTo>
                  <a:lnTo>
                    <a:pt x="0" y="6883"/>
                  </a:lnTo>
                  <a:lnTo>
                    <a:pt x="0" y="590550"/>
                  </a:lnTo>
                  <a:lnTo>
                    <a:pt x="0" y="593178"/>
                  </a:lnTo>
                  <a:lnTo>
                    <a:pt x="927" y="595414"/>
                  </a:lnTo>
                  <a:lnTo>
                    <a:pt x="4648" y="599135"/>
                  </a:lnTo>
                  <a:lnTo>
                    <a:pt x="6896" y="600075"/>
                  </a:lnTo>
                  <a:lnTo>
                    <a:pt x="12153" y="600075"/>
                  </a:lnTo>
                  <a:lnTo>
                    <a:pt x="14401" y="599135"/>
                  </a:lnTo>
                  <a:lnTo>
                    <a:pt x="18122" y="595414"/>
                  </a:lnTo>
                  <a:lnTo>
                    <a:pt x="19050" y="593178"/>
                  </a:lnTo>
                  <a:lnTo>
                    <a:pt x="19050" y="6883"/>
                  </a:lnTo>
                  <a:lnTo>
                    <a:pt x="18122" y="4648"/>
                  </a:lnTo>
                  <a:lnTo>
                    <a:pt x="14401" y="927"/>
                  </a:lnTo>
                  <a:lnTo>
                    <a:pt x="12153" y="0"/>
                  </a:lnTo>
                  <a:close/>
                </a:path>
              </a:pathLst>
            </a:custGeom>
            <a:solidFill>
              <a:srgbClr val="6D90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5529262" y="4012412"/>
              <a:ext cx="371475" cy="381000"/>
            </a:xfrm>
            <a:custGeom>
              <a:avLst/>
              <a:gdLst/>
              <a:ahLst/>
              <a:cxnLst/>
              <a:rect l="l" t="t" r="r" b="b"/>
              <a:pathLst>
                <a:path w="371475" h="381000">
                  <a:moveTo>
                    <a:pt x="319862" y="0"/>
                  </a:moveTo>
                  <a:lnTo>
                    <a:pt x="51612" y="0"/>
                  </a:lnTo>
                  <a:lnTo>
                    <a:pt x="48031" y="342"/>
                  </a:lnTo>
                  <a:lnTo>
                    <a:pt x="13614" y="18732"/>
                  </a:lnTo>
                  <a:lnTo>
                    <a:pt x="0" y="51612"/>
                  </a:lnTo>
                  <a:lnTo>
                    <a:pt x="0" y="325755"/>
                  </a:lnTo>
                  <a:lnTo>
                    <a:pt x="0" y="329374"/>
                  </a:lnTo>
                  <a:lnTo>
                    <a:pt x="18745" y="367372"/>
                  </a:lnTo>
                  <a:lnTo>
                    <a:pt x="51612" y="381000"/>
                  </a:lnTo>
                  <a:lnTo>
                    <a:pt x="319862" y="381000"/>
                  </a:lnTo>
                  <a:lnTo>
                    <a:pt x="357860" y="362242"/>
                  </a:lnTo>
                  <a:lnTo>
                    <a:pt x="371475" y="329374"/>
                  </a:lnTo>
                  <a:lnTo>
                    <a:pt x="371475" y="51612"/>
                  </a:lnTo>
                  <a:lnTo>
                    <a:pt x="352729" y="13614"/>
                  </a:lnTo>
                  <a:lnTo>
                    <a:pt x="323443" y="342"/>
                  </a:lnTo>
                  <a:lnTo>
                    <a:pt x="319862" y="0"/>
                  </a:lnTo>
                  <a:close/>
                </a:path>
              </a:pathLst>
            </a:custGeom>
            <a:solidFill>
              <a:srgbClr val="53780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5529262" y="4012412"/>
              <a:ext cx="371475" cy="381000"/>
            </a:xfrm>
            <a:custGeom>
              <a:avLst/>
              <a:gdLst/>
              <a:ahLst/>
              <a:cxnLst/>
              <a:rect l="l" t="t" r="r" b="b"/>
              <a:pathLst>
                <a:path w="371475" h="381000">
                  <a:moveTo>
                    <a:pt x="0" y="325755"/>
                  </a:moveTo>
                  <a:lnTo>
                    <a:pt x="0" y="55245"/>
                  </a:lnTo>
                  <a:lnTo>
                    <a:pt x="0" y="51612"/>
                  </a:lnTo>
                  <a:lnTo>
                    <a:pt x="355" y="48018"/>
                  </a:lnTo>
                  <a:lnTo>
                    <a:pt x="1066" y="44462"/>
                  </a:lnTo>
                  <a:lnTo>
                    <a:pt x="1765" y="40906"/>
                  </a:lnTo>
                  <a:lnTo>
                    <a:pt x="2819" y="37452"/>
                  </a:lnTo>
                  <a:lnTo>
                    <a:pt x="4203" y="34099"/>
                  </a:lnTo>
                  <a:lnTo>
                    <a:pt x="5588" y="30746"/>
                  </a:lnTo>
                  <a:lnTo>
                    <a:pt x="7289" y="27559"/>
                  </a:lnTo>
                  <a:lnTo>
                    <a:pt x="9309" y="24549"/>
                  </a:lnTo>
                  <a:lnTo>
                    <a:pt x="11328" y="21526"/>
                  </a:lnTo>
                  <a:lnTo>
                    <a:pt x="13614" y="18732"/>
                  </a:lnTo>
                  <a:lnTo>
                    <a:pt x="34099" y="4203"/>
                  </a:lnTo>
                  <a:lnTo>
                    <a:pt x="37452" y="2806"/>
                  </a:lnTo>
                  <a:lnTo>
                    <a:pt x="40906" y="1765"/>
                  </a:lnTo>
                  <a:lnTo>
                    <a:pt x="44462" y="1054"/>
                  </a:lnTo>
                  <a:lnTo>
                    <a:pt x="48031" y="342"/>
                  </a:lnTo>
                  <a:lnTo>
                    <a:pt x="51612" y="0"/>
                  </a:lnTo>
                  <a:lnTo>
                    <a:pt x="55245" y="0"/>
                  </a:lnTo>
                  <a:lnTo>
                    <a:pt x="316230" y="0"/>
                  </a:lnTo>
                  <a:lnTo>
                    <a:pt x="319862" y="0"/>
                  </a:lnTo>
                  <a:lnTo>
                    <a:pt x="323443" y="342"/>
                  </a:lnTo>
                  <a:lnTo>
                    <a:pt x="326999" y="1054"/>
                  </a:lnTo>
                  <a:lnTo>
                    <a:pt x="330568" y="1765"/>
                  </a:lnTo>
                  <a:lnTo>
                    <a:pt x="334022" y="2806"/>
                  </a:lnTo>
                  <a:lnTo>
                    <a:pt x="337362" y="4203"/>
                  </a:lnTo>
                  <a:lnTo>
                    <a:pt x="340728" y="5588"/>
                  </a:lnTo>
                  <a:lnTo>
                    <a:pt x="367271" y="34099"/>
                  </a:lnTo>
                  <a:lnTo>
                    <a:pt x="370408" y="44462"/>
                  </a:lnTo>
                  <a:lnTo>
                    <a:pt x="371119" y="48018"/>
                  </a:lnTo>
                  <a:lnTo>
                    <a:pt x="371475" y="51612"/>
                  </a:lnTo>
                  <a:lnTo>
                    <a:pt x="371475" y="55245"/>
                  </a:lnTo>
                  <a:lnTo>
                    <a:pt x="371475" y="325755"/>
                  </a:lnTo>
                  <a:lnTo>
                    <a:pt x="371475" y="329374"/>
                  </a:lnTo>
                  <a:lnTo>
                    <a:pt x="371119" y="332968"/>
                  </a:lnTo>
                  <a:lnTo>
                    <a:pt x="370408" y="336524"/>
                  </a:lnTo>
                  <a:lnTo>
                    <a:pt x="369709" y="340080"/>
                  </a:lnTo>
                  <a:lnTo>
                    <a:pt x="346925" y="371678"/>
                  </a:lnTo>
                  <a:lnTo>
                    <a:pt x="343903" y="373697"/>
                  </a:lnTo>
                  <a:lnTo>
                    <a:pt x="340728" y="375399"/>
                  </a:lnTo>
                  <a:lnTo>
                    <a:pt x="337362" y="376783"/>
                  </a:lnTo>
                  <a:lnTo>
                    <a:pt x="334022" y="378180"/>
                  </a:lnTo>
                  <a:lnTo>
                    <a:pt x="330568" y="379222"/>
                  </a:lnTo>
                  <a:lnTo>
                    <a:pt x="326999" y="379933"/>
                  </a:lnTo>
                  <a:lnTo>
                    <a:pt x="323443" y="380644"/>
                  </a:lnTo>
                  <a:lnTo>
                    <a:pt x="319862" y="381000"/>
                  </a:lnTo>
                  <a:lnTo>
                    <a:pt x="316230" y="381000"/>
                  </a:lnTo>
                  <a:lnTo>
                    <a:pt x="55245" y="381000"/>
                  </a:lnTo>
                  <a:lnTo>
                    <a:pt x="51612" y="381000"/>
                  </a:lnTo>
                  <a:lnTo>
                    <a:pt x="48031" y="380644"/>
                  </a:lnTo>
                  <a:lnTo>
                    <a:pt x="44462" y="379933"/>
                  </a:lnTo>
                  <a:lnTo>
                    <a:pt x="40906" y="379222"/>
                  </a:lnTo>
                  <a:lnTo>
                    <a:pt x="37452" y="378180"/>
                  </a:lnTo>
                  <a:lnTo>
                    <a:pt x="34099" y="376783"/>
                  </a:lnTo>
                  <a:lnTo>
                    <a:pt x="30746" y="375399"/>
                  </a:lnTo>
                  <a:lnTo>
                    <a:pt x="27571" y="373697"/>
                  </a:lnTo>
                  <a:lnTo>
                    <a:pt x="24549" y="371678"/>
                  </a:lnTo>
                  <a:lnTo>
                    <a:pt x="21539" y="369671"/>
                  </a:lnTo>
                  <a:lnTo>
                    <a:pt x="9309" y="356438"/>
                  </a:lnTo>
                  <a:lnTo>
                    <a:pt x="7289" y="353428"/>
                  </a:lnTo>
                  <a:lnTo>
                    <a:pt x="5588" y="350240"/>
                  </a:lnTo>
                  <a:lnTo>
                    <a:pt x="4203" y="346887"/>
                  </a:lnTo>
                  <a:lnTo>
                    <a:pt x="2819" y="343535"/>
                  </a:lnTo>
                  <a:lnTo>
                    <a:pt x="1765" y="340080"/>
                  </a:lnTo>
                  <a:lnTo>
                    <a:pt x="1066" y="336524"/>
                  </a:lnTo>
                  <a:lnTo>
                    <a:pt x="355" y="332968"/>
                  </a:lnTo>
                  <a:lnTo>
                    <a:pt x="0" y="329374"/>
                  </a:lnTo>
                  <a:lnTo>
                    <a:pt x="0" y="325755"/>
                  </a:lnTo>
                  <a:close/>
                </a:path>
              </a:pathLst>
            </a:custGeom>
            <a:ln w="9525">
              <a:solidFill>
                <a:srgbClr val="6D902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1360837" y="4945062"/>
            <a:ext cx="2350770" cy="146494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dirty="0" sz="1650" spc="590">
                <a:solidFill>
                  <a:srgbClr val="D7E5D8"/>
                </a:solidFill>
                <a:latin typeface="SimSun-ExtB"/>
                <a:cs typeface="SimSun-ExtB"/>
              </a:rPr>
              <a:t>1995:</a:t>
            </a:r>
            <a:r>
              <a:rPr dirty="0" sz="1650" spc="-295">
                <a:solidFill>
                  <a:srgbClr val="D7E5D8"/>
                </a:solidFill>
                <a:latin typeface="SimSun-ExtB"/>
                <a:cs typeface="SimSun-ExtB"/>
              </a:rPr>
              <a:t> </a:t>
            </a:r>
            <a:r>
              <a:rPr dirty="0" sz="1650" spc="890">
                <a:solidFill>
                  <a:srgbClr val="D7E5D8"/>
                </a:solidFill>
                <a:latin typeface="SimSun-ExtB"/>
                <a:cs typeface="SimSun-ExtB"/>
              </a:rPr>
              <a:t>SSL</a:t>
            </a:r>
            <a:r>
              <a:rPr dirty="0" sz="1650" spc="-295">
                <a:solidFill>
                  <a:srgbClr val="D7E5D8"/>
                </a:solidFill>
                <a:latin typeface="SimSun-ExtB"/>
                <a:cs typeface="SimSun-ExtB"/>
              </a:rPr>
              <a:t> </a:t>
            </a:r>
            <a:r>
              <a:rPr dirty="0" sz="1650" spc="509">
                <a:solidFill>
                  <a:srgbClr val="D7E5D8"/>
                </a:solidFill>
                <a:latin typeface="SimSun-ExtB"/>
                <a:cs typeface="SimSun-ExtB"/>
              </a:rPr>
              <a:t>2.0</a:t>
            </a:r>
            <a:endParaRPr sz="1650">
              <a:latin typeface="SimSun-ExtB"/>
              <a:cs typeface="SimSun-ExtB"/>
            </a:endParaRPr>
          </a:p>
          <a:p>
            <a:pPr algn="ctr" marL="12065" marR="5080" indent="-635">
              <a:lnSpc>
                <a:spcPct val="134300"/>
              </a:lnSpc>
              <a:spcBef>
                <a:spcPts val="615"/>
              </a:spcBef>
            </a:pPr>
            <a:r>
              <a:rPr dirty="0" sz="1350">
                <a:solidFill>
                  <a:srgbClr val="D7E5D8"/>
                </a:solidFill>
                <a:latin typeface="Tahoma"/>
                <a:cs typeface="Tahoma"/>
              </a:rPr>
              <a:t>Netscape</a:t>
            </a:r>
            <a:r>
              <a:rPr dirty="0" sz="1350" spc="25">
                <a:solidFill>
                  <a:srgbClr val="D7E5D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D7E5D8"/>
                </a:solidFill>
                <a:latin typeface="Tahoma"/>
                <a:cs typeface="Tahoma"/>
              </a:rPr>
              <a:t>intǐoduce</a:t>
            </a:r>
            <a:r>
              <a:rPr dirty="0" sz="1350" spc="25">
                <a:solidFill>
                  <a:srgbClr val="D7E5D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D7E5D8"/>
                </a:solidFill>
                <a:latin typeface="Tahoma"/>
                <a:cs typeface="Tahoma"/>
              </a:rPr>
              <a:t>SSL</a:t>
            </a:r>
            <a:r>
              <a:rPr dirty="0" sz="1350" spc="25">
                <a:solidFill>
                  <a:srgbClr val="D7E5D8"/>
                </a:solidFill>
                <a:latin typeface="Tahoma"/>
                <a:cs typeface="Tahoma"/>
              </a:rPr>
              <a:t> </a:t>
            </a:r>
            <a:r>
              <a:rPr dirty="0" sz="1350" spc="-90">
                <a:solidFill>
                  <a:srgbClr val="D7E5D8"/>
                </a:solidFill>
                <a:latin typeface="Tahoma"/>
                <a:cs typeface="Tahoma"/>
              </a:rPr>
              <a:t>2.0,</a:t>
            </a:r>
            <a:r>
              <a:rPr dirty="0" sz="1350" spc="25">
                <a:solidFill>
                  <a:srgbClr val="D7E5D8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D7E5D8"/>
                </a:solidFill>
                <a:latin typeface="Tahoma"/>
                <a:cs typeface="Tahoma"/>
              </a:rPr>
              <a:t>la </a:t>
            </a:r>
            <a:r>
              <a:rPr dirty="0" sz="1350" spc="50">
                <a:solidFill>
                  <a:srgbClr val="D7E5D8"/>
                </a:solidFill>
                <a:latin typeface="Tahoma"/>
                <a:cs typeface="Tahoma"/>
              </a:rPr>
              <a:t>pǐimeǐa</a:t>
            </a:r>
            <a:r>
              <a:rPr dirty="0" sz="1350" spc="-75">
                <a:solidFill>
                  <a:srgbClr val="D7E5D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D7E5D8"/>
                </a:solidFill>
                <a:latin typeface="Tahoma"/>
                <a:cs typeface="Tahoma"/>
              </a:rPr>
              <a:t>veǐsión</a:t>
            </a:r>
            <a:r>
              <a:rPr dirty="0" sz="1350" spc="-75">
                <a:solidFill>
                  <a:srgbClr val="D7E5D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D7E5D8"/>
                </a:solidFill>
                <a:latin typeface="Tahoma"/>
                <a:cs typeface="Tahoma"/>
              </a:rPr>
              <a:t>ampliamente </a:t>
            </a:r>
            <a:r>
              <a:rPr dirty="0" sz="1350">
                <a:solidFill>
                  <a:srgbClr val="D7E5D8"/>
                </a:solidFill>
                <a:latin typeface="Tahoma"/>
                <a:cs typeface="Tahoma"/>
              </a:rPr>
              <a:t>utilizada</a:t>
            </a:r>
            <a:r>
              <a:rPr dirty="0" sz="1350" spc="-55">
                <a:solidFill>
                  <a:srgbClr val="D7E5D8"/>
                </a:solidFill>
                <a:latin typeface="Tahoma"/>
                <a:cs typeface="Tahoma"/>
              </a:rPr>
              <a:t> </a:t>
            </a:r>
            <a:r>
              <a:rPr dirty="0" sz="1350" spc="60">
                <a:solidFill>
                  <a:srgbClr val="D7E5D8"/>
                </a:solidFill>
                <a:latin typeface="Tahoma"/>
                <a:cs typeface="Tahoma"/>
              </a:rPr>
              <a:t>paǐa</a:t>
            </a:r>
            <a:r>
              <a:rPr dirty="0" sz="1350" spc="-50">
                <a:solidFill>
                  <a:srgbClr val="D7E5D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D7E5D8"/>
                </a:solidFill>
                <a:latin typeface="Tahoma"/>
                <a:cs typeface="Tahoma"/>
              </a:rPr>
              <a:t>comunicaciones </a:t>
            </a:r>
            <a:r>
              <a:rPr dirty="0" sz="1350">
                <a:solidFill>
                  <a:srgbClr val="D7E5D8"/>
                </a:solidFill>
                <a:latin typeface="Tahoma"/>
                <a:cs typeface="Tahoma"/>
              </a:rPr>
              <a:t>seguǐas</a:t>
            </a:r>
            <a:r>
              <a:rPr dirty="0" sz="1350" spc="-75">
                <a:solidFill>
                  <a:srgbClr val="D7E5D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D7E5D8"/>
                </a:solidFill>
                <a:latin typeface="Tahoma"/>
                <a:cs typeface="Tahoma"/>
              </a:rPr>
              <a:t>en</a:t>
            </a:r>
            <a:r>
              <a:rPr dirty="0" sz="1350" spc="-75">
                <a:solidFill>
                  <a:srgbClr val="D7E5D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D7E5D8"/>
                </a:solidFill>
                <a:latin typeface="Tahoma"/>
                <a:cs typeface="Tahoma"/>
              </a:rPr>
              <a:t>inteǐnet.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2455164" y="4013999"/>
            <a:ext cx="3401695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3130550" algn="l"/>
              </a:tabLst>
            </a:pPr>
            <a:r>
              <a:rPr dirty="0" sz="2000" spc="20">
                <a:solidFill>
                  <a:srgbClr val="FFFFFF"/>
                </a:solidFill>
                <a:latin typeface="SimSun-ExtB"/>
                <a:cs typeface="SimSun-ExtB"/>
              </a:rPr>
              <a:t>1</a:t>
            </a:r>
            <a:r>
              <a:rPr dirty="0" sz="2000">
                <a:solidFill>
                  <a:srgbClr val="FFFFFF"/>
                </a:solidFill>
                <a:latin typeface="SimSun-ExtB"/>
                <a:cs typeface="SimSun-ExtB"/>
              </a:rPr>
              <a:t>	</a:t>
            </a:r>
            <a:r>
              <a:rPr dirty="0" sz="2000" spc="980">
                <a:solidFill>
                  <a:srgbClr val="FFFFFF"/>
                </a:solidFill>
                <a:latin typeface="SimSun-ExtB"/>
                <a:cs typeface="SimSun-ExtB"/>
              </a:rPr>
              <a:t>2</a:t>
            </a:r>
            <a:endParaRPr sz="2000">
              <a:latin typeface="SimSun-ExtB"/>
              <a:cs typeface="SimSun-ExtB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4446336" y="4945062"/>
            <a:ext cx="2537460" cy="118872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dirty="0" sz="1650" spc="640">
                <a:solidFill>
                  <a:srgbClr val="D7E5D8"/>
                </a:solidFill>
                <a:latin typeface="SimSun-ExtB"/>
                <a:cs typeface="SimSun-ExtB"/>
              </a:rPr>
              <a:t>1999:</a:t>
            </a:r>
            <a:r>
              <a:rPr dirty="0" sz="1650" spc="-365">
                <a:solidFill>
                  <a:srgbClr val="D7E5D8"/>
                </a:solidFill>
                <a:latin typeface="SimSun-ExtB"/>
                <a:cs typeface="SimSun-ExtB"/>
              </a:rPr>
              <a:t> </a:t>
            </a:r>
            <a:r>
              <a:rPr dirty="0" sz="1650" spc="915">
                <a:solidFill>
                  <a:srgbClr val="D7E5D8"/>
                </a:solidFill>
                <a:latin typeface="SimSun-ExtB"/>
                <a:cs typeface="SimSun-ExtB"/>
              </a:rPr>
              <a:t>TLS</a:t>
            </a:r>
            <a:r>
              <a:rPr dirty="0" sz="1650" spc="-295">
                <a:solidFill>
                  <a:srgbClr val="D7E5D8"/>
                </a:solidFill>
                <a:latin typeface="SimSun-ExtB"/>
                <a:cs typeface="SimSun-ExtB"/>
              </a:rPr>
              <a:t> </a:t>
            </a:r>
            <a:r>
              <a:rPr dirty="0" sz="1650" spc="235">
                <a:solidFill>
                  <a:srgbClr val="D7E5D8"/>
                </a:solidFill>
                <a:latin typeface="SimSun-ExtB"/>
                <a:cs typeface="SimSun-ExtB"/>
              </a:rPr>
              <a:t>1.0</a:t>
            </a:r>
            <a:endParaRPr sz="1650">
              <a:latin typeface="SimSun-ExtB"/>
              <a:cs typeface="SimSun-ExtB"/>
            </a:endParaRPr>
          </a:p>
          <a:p>
            <a:pPr algn="ctr" marL="12700" marR="5080">
              <a:lnSpc>
                <a:spcPct val="134300"/>
              </a:lnSpc>
              <a:spcBef>
                <a:spcPts val="615"/>
              </a:spcBef>
            </a:pPr>
            <a:r>
              <a:rPr dirty="0" sz="1350" spc="-10">
                <a:solidFill>
                  <a:srgbClr val="D7E5D8"/>
                </a:solidFill>
                <a:latin typeface="Tahoma"/>
                <a:cs typeface="Tahoma"/>
              </a:rPr>
              <a:t>Se</a:t>
            </a:r>
            <a:r>
              <a:rPr dirty="0" sz="1350" spc="-30">
                <a:solidFill>
                  <a:srgbClr val="D7E5D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D7E5D8"/>
                </a:solidFill>
                <a:latin typeface="Tahoma"/>
                <a:cs typeface="Tahoma"/>
              </a:rPr>
              <a:t>lanza</a:t>
            </a:r>
            <a:r>
              <a:rPr dirty="0" sz="1350" spc="-105">
                <a:solidFill>
                  <a:srgbClr val="D7E5D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D7E5D8"/>
                </a:solidFill>
                <a:latin typeface="Tahoma"/>
                <a:cs typeface="Tahoma"/>
              </a:rPr>
              <a:t>TLS</a:t>
            </a:r>
            <a:r>
              <a:rPr dirty="0" sz="1350" spc="-30">
                <a:solidFill>
                  <a:srgbClr val="D7E5D8"/>
                </a:solidFill>
                <a:latin typeface="Tahoma"/>
                <a:cs typeface="Tahoma"/>
              </a:rPr>
              <a:t> </a:t>
            </a:r>
            <a:r>
              <a:rPr dirty="0" sz="1350" spc="-125">
                <a:solidFill>
                  <a:srgbClr val="D7E5D8"/>
                </a:solidFill>
                <a:latin typeface="Tahoma"/>
                <a:cs typeface="Tahoma"/>
              </a:rPr>
              <a:t>1.0</a:t>
            </a:r>
            <a:r>
              <a:rPr dirty="0" sz="1350" spc="-25">
                <a:solidFill>
                  <a:srgbClr val="D7E5D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D7E5D8"/>
                </a:solidFill>
                <a:latin typeface="Tahoma"/>
                <a:cs typeface="Tahoma"/>
              </a:rPr>
              <a:t>como</a:t>
            </a:r>
            <a:r>
              <a:rPr dirty="0" sz="1350" spc="-30">
                <a:solidFill>
                  <a:srgbClr val="D7E5D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D7E5D8"/>
                </a:solidFill>
                <a:latin typeface="Tahoma"/>
                <a:cs typeface="Tahoma"/>
              </a:rPr>
              <a:t>sucesoǐ</a:t>
            </a:r>
            <a:r>
              <a:rPr dirty="0" sz="1350" spc="-25">
                <a:solidFill>
                  <a:srgbClr val="D7E5D8"/>
                </a:solidFill>
                <a:latin typeface="Tahoma"/>
                <a:cs typeface="Tahoma"/>
              </a:rPr>
              <a:t> de </a:t>
            </a:r>
            <a:r>
              <a:rPr dirty="0" sz="1350">
                <a:solidFill>
                  <a:srgbClr val="D7E5D8"/>
                </a:solidFill>
                <a:latin typeface="Tahoma"/>
                <a:cs typeface="Tahoma"/>
              </a:rPr>
              <a:t>SSL</a:t>
            </a:r>
            <a:r>
              <a:rPr dirty="0" sz="1350" spc="-20">
                <a:solidFill>
                  <a:srgbClr val="D7E5D8"/>
                </a:solidFill>
                <a:latin typeface="Tahoma"/>
                <a:cs typeface="Tahoma"/>
              </a:rPr>
              <a:t> </a:t>
            </a:r>
            <a:r>
              <a:rPr dirty="0" sz="1350" spc="-90">
                <a:solidFill>
                  <a:srgbClr val="D7E5D8"/>
                </a:solidFill>
                <a:latin typeface="Tahoma"/>
                <a:cs typeface="Tahoma"/>
              </a:rPr>
              <a:t>3.0,</a:t>
            </a:r>
            <a:r>
              <a:rPr dirty="0" sz="1350" spc="-20">
                <a:solidFill>
                  <a:srgbClr val="D7E5D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D7E5D8"/>
                </a:solidFill>
                <a:latin typeface="Tahoma"/>
                <a:cs typeface="Tahoma"/>
              </a:rPr>
              <a:t>mejoǐando</a:t>
            </a:r>
            <a:r>
              <a:rPr dirty="0" sz="1350" spc="-20">
                <a:solidFill>
                  <a:srgbClr val="D7E5D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D7E5D8"/>
                </a:solidFill>
                <a:latin typeface="Tahoma"/>
                <a:cs typeface="Tahoma"/>
              </a:rPr>
              <a:t>la</a:t>
            </a:r>
            <a:r>
              <a:rPr dirty="0" sz="1350" spc="-15">
                <a:solidFill>
                  <a:srgbClr val="D7E5D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D7E5D8"/>
                </a:solidFill>
                <a:latin typeface="Tahoma"/>
                <a:cs typeface="Tahoma"/>
              </a:rPr>
              <a:t>seguǐidad</a:t>
            </a:r>
            <a:r>
              <a:rPr dirty="0" sz="1350" spc="-20">
                <a:solidFill>
                  <a:srgbClr val="D7E5D8"/>
                </a:solidFill>
                <a:latin typeface="Tahoma"/>
                <a:cs typeface="Tahoma"/>
              </a:rPr>
              <a:t> </a:t>
            </a:r>
            <a:r>
              <a:rPr dirty="0" sz="1350" spc="-50">
                <a:solidFill>
                  <a:srgbClr val="D7E5D8"/>
                </a:solidFill>
                <a:latin typeface="Tahoma"/>
                <a:cs typeface="Tahoma"/>
              </a:rPr>
              <a:t>y </a:t>
            </a:r>
            <a:r>
              <a:rPr dirty="0" sz="1350" spc="-10">
                <a:solidFill>
                  <a:srgbClr val="D7E5D8"/>
                </a:solidFill>
                <a:latin typeface="Tahoma"/>
                <a:cs typeface="Tahoma"/>
              </a:rPr>
              <a:t>compatibilidad.</a:t>
            </a:r>
            <a:endParaRPr sz="1350">
              <a:latin typeface="Tahoma"/>
              <a:cs typeface="Tahoma"/>
            </a:endParaRPr>
          </a:p>
        </p:txBody>
      </p:sp>
      <p:grpSp>
        <p:nvGrpSpPr>
          <p:cNvPr id="16" name="object 16" descr=""/>
          <p:cNvGrpSpPr/>
          <p:nvPr/>
        </p:nvGrpSpPr>
        <p:grpSpPr>
          <a:xfrm>
            <a:off x="8705850" y="4007649"/>
            <a:ext cx="381000" cy="790575"/>
            <a:chOff x="8705850" y="4007649"/>
            <a:chExt cx="381000" cy="790575"/>
          </a:xfrm>
        </p:grpSpPr>
        <p:sp>
          <p:nvSpPr>
            <p:cNvPr id="17" name="object 17" descr=""/>
            <p:cNvSpPr/>
            <p:nvPr/>
          </p:nvSpPr>
          <p:spPr>
            <a:xfrm>
              <a:off x="8886825" y="4198149"/>
              <a:ext cx="19050" cy="600075"/>
            </a:xfrm>
            <a:custGeom>
              <a:avLst/>
              <a:gdLst/>
              <a:ahLst/>
              <a:cxnLst/>
              <a:rect l="l" t="t" r="r" b="b"/>
              <a:pathLst>
                <a:path w="19050" h="600075">
                  <a:moveTo>
                    <a:pt x="12153" y="0"/>
                  </a:moveTo>
                  <a:lnTo>
                    <a:pt x="6896" y="0"/>
                  </a:lnTo>
                  <a:lnTo>
                    <a:pt x="4648" y="927"/>
                  </a:lnTo>
                  <a:lnTo>
                    <a:pt x="927" y="4648"/>
                  </a:lnTo>
                  <a:lnTo>
                    <a:pt x="0" y="6883"/>
                  </a:lnTo>
                  <a:lnTo>
                    <a:pt x="0" y="590550"/>
                  </a:lnTo>
                  <a:lnTo>
                    <a:pt x="0" y="593178"/>
                  </a:lnTo>
                  <a:lnTo>
                    <a:pt x="927" y="595414"/>
                  </a:lnTo>
                  <a:lnTo>
                    <a:pt x="4648" y="599135"/>
                  </a:lnTo>
                  <a:lnTo>
                    <a:pt x="6896" y="600075"/>
                  </a:lnTo>
                  <a:lnTo>
                    <a:pt x="12153" y="600075"/>
                  </a:lnTo>
                  <a:lnTo>
                    <a:pt x="14401" y="599135"/>
                  </a:lnTo>
                  <a:lnTo>
                    <a:pt x="18122" y="595414"/>
                  </a:lnTo>
                  <a:lnTo>
                    <a:pt x="19050" y="593178"/>
                  </a:lnTo>
                  <a:lnTo>
                    <a:pt x="19050" y="6883"/>
                  </a:lnTo>
                  <a:lnTo>
                    <a:pt x="18122" y="4648"/>
                  </a:lnTo>
                  <a:lnTo>
                    <a:pt x="14401" y="927"/>
                  </a:lnTo>
                  <a:lnTo>
                    <a:pt x="12153" y="0"/>
                  </a:lnTo>
                  <a:close/>
                </a:path>
              </a:pathLst>
            </a:custGeom>
            <a:solidFill>
              <a:srgbClr val="6D90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8710612" y="4012412"/>
              <a:ext cx="371475" cy="381000"/>
            </a:xfrm>
            <a:custGeom>
              <a:avLst/>
              <a:gdLst/>
              <a:ahLst/>
              <a:cxnLst/>
              <a:rect l="l" t="t" r="r" b="b"/>
              <a:pathLst>
                <a:path w="371475" h="381000">
                  <a:moveTo>
                    <a:pt x="319862" y="0"/>
                  </a:moveTo>
                  <a:lnTo>
                    <a:pt x="51612" y="0"/>
                  </a:lnTo>
                  <a:lnTo>
                    <a:pt x="48031" y="342"/>
                  </a:lnTo>
                  <a:lnTo>
                    <a:pt x="13614" y="18732"/>
                  </a:lnTo>
                  <a:lnTo>
                    <a:pt x="0" y="51612"/>
                  </a:lnTo>
                  <a:lnTo>
                    <a:pt x="0" y="325755"/>
                  </a:lnTo>
                  <a:lnTo>
                    <a:pt x="0" y="329374"/>
                  </a:lnTo>
                  <a:lnTo>
                    <a:pt x="18745" y="367372"/>
                  </a:lnTo>
                  <a:lnTo>
                    <a:pt x="51612" y="381000"/>
                  </a:lnTo>
                  <a:lnTo>
                    <a:pt x="319862" y="381000"/>
                  </a:lnTo>
                  <a:lnTo>
                    <a:pt x="357860" y="362242"/>
                  </a:lnTo>
                  <a:lnTo>
                    <a:pt x="371475" y="329374"/>
                  </a:lnTo>
                  <a:lnTo>
                    <a:pt x="371475" y="51612"/>
                  </a:lnTo>
                  <a:lnTo>
                    <a:pt x="352729" y="13614"/>
                  </a:lnTo>
                  <a:lnTo>
                    <a:pt x="323443" y="342"/>
                  </a:lnTo>
                  <a:lnTo>
                    <a:pt x="319862" y="0"/>
                  </a:lnTo>
                  <a:close/>
                </a:path>
              </a:pathLst>
            </a:custGeom>
            <a:solidFill>
              <a:srgbClr val="53780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8710612" y="4012412"/>
              <a:ext cx="371475" cy="381000"/>
            </a:xfrm>
            <a:custGeom>
              <a:avLst/>
              <a:gdLst/>
              <a:ahLst/>
              <a:cxnLst/>
              <a:rect l="l" t="t" r="r" b="b"/>
              <a:pathLst>
                <a:path w="371475" h="381000">
                  <a:moveTo>
                    <a:pt x="0" y="325755"/>
                  </a:moveTo>
                  <a:lnTo>
                    <a:pt x="0" y="55245"/>
                  </a:lnTo>
                  <a:lnTo>
                    <a:pt x="0" y="51612"/>
                  </a:lnTo>
                  <a:lnTo>
                    <a:pt x="355" y="48018"/>
                  </a:lnTo>
                  <a:lnTo>
                    <a:pt x="1066" y="44462"/>
                  </a:lnTo>
                  <a:lnTo>
                    <a:pt x="1765" y="40906"/>
                  </a:lnTo>
                  <a:lnTo>
                    <a:pt x="2819" y="37452"/>
                  </a:lnTo>
                  <a:lnTo>
                    <a:pt x="4203" y="34099"/>
                  </a:lnTo>
                  <a:lnTo>
                    <a:pt x="5588" y="30746"/>
                  </a:lnTo>
                  <a:lnTo>
                    <a:pt x="7289" y="27559"/>
                  </a:lnTo>
                  <a:lnTo>
                    <a:pt x="9309" y="24549"/>
                  </a:lnTo>
                  <a:lnTo>
                    <a:pt x="11328" y="21526"/>
                  </a:lnTo>
                  <a:lnTo>
                    <a:pt x="13614" y="18732"/>
                  </a:lnTo>
                  <a:lnTo>
                    <a:pt x="34099" y="4203"/>
                  </a:lnTo>
                  <a:lnTo>
                    <a:pt x="37452" y="2806"/>
                  </a:lnTo>
                  <a:lnTo>
                    <a:pt x="40906" y="1765"/>
                  </a:lnTo>
                  <a:lnTo>
                    <a:pt x="44462" y="1054"/>
                  </a:lnTo>
                  <a:lnTo>
                    <a:pt x="48031" y="342"/>
                  </a:lnTo>
                  <a:lnTo>
                    <a:pt x="51612" y="0"/>
                  </a:lnTo>
                  <a:lnTo>
                    <a:pt x="55245" y="0"/>
                  </a:lnTo>
                  <a:lnTo>
                    <a:pt x="316230" y="0"/>
                  </a:lnTo>
                  <a:lnTo>
                    <a:pt x="319862" y="0"/>
                  </a:lnTo>
                  <a:lnTo>
                    <a:pt x="323443" y="342"/>
                  </a:lnTo>
                  <a:lnTo>
                    <a:pt x="326999" y="1054"/>
                  </a:lnTo>
                  <a:lnTo>
                    <a:pt x="330568" y="1765"/>
                  </a:lnTo>
                  <a:lnTo>
                    <a:pt x="334022" y="2806"/>
                  </a:lnTo>
                  <a:lnTo>
                    <a:pt x="337362" y="4203"/>
                  </a:lnTo>
                  <a:lnTo>
                    <a:pt x="340728" y="5588"/>
                  </a:lnTo>
                  <a:lnTo>
                    <a:pt x="367271" y="34099"/>
                  </a:lnTo>
                  <a:lnTo>
                    <a:pt x="370408" y="44462"/>
                  </a:lnTo>
                  <a:lnTo>
                    <a:pt x="371119" y="48018"/>
                  </a:lnTo>
                  <a:lnTo>
                    <a:pt x="371475" y="51612"/>
                  </a:lnTo>
                  <a:lnTo>
                    <a:pt x="371475" y="55245"/>
                  </a:lnTo>
                  <a:lnTo>
                    <a:pt x="371475" y="325755"/>
                  </a:lnTo>
                  <a:lnTo>
                    <a:pt x="371475" y="329374"/>
                  </a:lnTo>
                  <a:lnTo>
                    <a:pt x="371119" y="332968"/>
                  </a:lnTo>
                  <a:lnTo>
                    <a:pt x="370408" y="336524"/>
                  </a:lnTo>
                  <a:lnTo>
                    <a:pt x="369709" y="340080"/>
                  </a:lnTo>
                  <a:lnTo>
                    <a:pt x="355295" y="364807"/>
                  </a:lnTo>
                  <a:lnTo>
                    <a:pt x="352729" y="367372"/>
                  </a:lnTo>
                  <a:lnTo>
                    <a:pt x="349935" y="369671"/>
                  </a:lnTo>
                  <a:lnTo>
                    <a:pt x="346925" y="371678"/>
                  </a:lnTo>
                  <a:lnTo>
                    <a:pt x="343903" y="373697"/>
                  </a:lnTo>
                  <a:lnTo>
                    <a:pt x="340728" y="375399"/>
                  </a:lnTo>
                  <a:lnTo>
                    <a:pt x="337362" y="376783"/>
                  </a:lnTo>
                  <a:lnTo>
                    <a:pt x="334022" y="378180"/>
                  </a:lnTo>
                  <a:lnTo>
                    <a:pt x="330568" y="379222"/>
                  </a:lnTo>
                  <a:lnTo>
                    <a:pt x="326999" y="379933"/>
                  </a:lnTo>
                  <a:lnTo>
                    <a:pt x="323443" y="380644"/>
                  </a:lnTo>
                  <a:lnTo>
                    <a:pt x="319862" y="381000"/>
                  </a:lnTo>
                  <a:lnTo>
                    <a:pt x="316230" y="381000"/>
                  </a:lnTo>
                  <a:lnTo>
                    <a:pt x="55245" y="381000"/>
                  </a:lnTo>
                  <a:lnTo>
                    <a:pt x="51612" y="381000"/>
                  </a:lnTo>
                  <a:lnTo>
                    <a:pt x="48031" y="380644"/>
                  </a:lnTo>
                  <a:lnTo>
                    <a:pt x="44462" y="379933"/>
                  </a:lnTo>
                  <a:lnTo>
                    <a:pt x="40906" y="379222"/>
                  </a:lnTo>
                  <a:lnTo>
                    <a:pt x="37452" y="378180"/>
                  </a:lnTo>
                  <a:lnTo>
                    <a:pt x="34099" y="376783"/>
                  </a:lnTo>
                  <a:lnTo>
                    <a:pt x="30746" y="375399"/>
                  </a:lnTo>
                  <a:lnTo>
                    <a:pt x="27571" y="373697"/>
                  </a:lnTo>
                  <a:lnTo>
                    <a:pt x="24549" y="371678"/>
                  </a:lnTo>
                  <a:lnTo>
                    <a:pt x="21539" y="369671"/>
                  </a:lnTo>
                  <a:lnTo>
                    <a:pt x="18745" y="367372"/>
                  </a:lnTo>
                  <a:lnTo>
                    <a:pt x="16179" y="364807"/>
                  </a:lnTo>
                  <a:lnTo>
                    <a:pt x="13614" y="362242"/>
                  </a:lnTo>
                  <a:lnTo>
                    <a:pt x="11328" y="359460"/>
                  </a:lnTo>
                  <a:lnTo>
                    <a:pt x="9309" y="356438"/>
                  </a:lnTo>
                  <a:lnTo>
                    <a:pt x="7289" y="353428"/>
                  </a:lnTo>
                  <a:lnTo>
                    <a:pt x="5588" y="350240"/>
                  </a:lnTo>
                  <a:lnTo>
                    <a:pt x="4203" y="346887"/>
                  </a:lnTo>
                  <a:lnTo>
                    <a:pt x="2819" y="343535"/>
                  </a:lnTo>
                  <a:lnTo>
                    <a:pt x="1765" y="340080"/>
                  </a:lnTo>
                  <a:lnTo>
                    <a:pt x="1066" y="336524"/>
                  </a:lnTo>
                  <a:lnTo>
                    <a:pt x="355" y="332968"/>
                  </a:lnTo>
                  <a:lnTo>
                    <a:pt x="0" y="329374"/>
                  </a:lnTo>
                  <a:lnTo>
                    <a:pt x="0" y="325755"/>
                  </a:lnTo>
                  <a:close/>
                </a:path>
              </a:pathLst>
            </a:custGeom>
            <a:ln w="9525">
              <a:solidFill>
                <a:srgbClr val="6D902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 descr=""/>
          <p:cNvSpPr txBox="1"/>
          <p:nvPr/>
        </p:nvSpPr>
        <p:spPr>
          <a:xfrm>
            <a:off x="8745537" y="4013999"/>
            <a:ext cx="297180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1080">
                <a:solidFill>
                  <a:srgbClr val="FFFFFF"/>
                </a:solidFill>
                <a:latin typeface="SimSun-ExtB"/>
                <a:cs typeface="SimSun-ExtB"/>
              </a:rPr>
              <a:t>3</a:t>
            </a:r>
            <a:endParaRPr sz="2000">
              <a:latin typeface="SimSun-ExtB"/>
              <a:cs typeface="SimSun-ExtB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7698681" y="4945062"/>
            <a:ext cx="2390775" cy="118872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dirty="0" sz="1650" spc="525">
                <a:solidFill>
                  <a:srgbClr val="D7E5D8"/>
                </a:solidFill>
                <a:latin typeface="SimSun-ExtB"/>
                <a:cs typeface="SimSun-ExtB"/>
              </a:rPr>
              <a:t>2018:</a:t>
            </a:r>
            <a:r>
              <a:rPr dirty="0" sz="1650" spc="-365">
                <a:solidFill>
                  <a:srgbClr val="D7E5D8"/>
                </a:solidFill>
                <a:latin typeface="SimSun-ExtB"/>
                <a:cs typeface="SimSun-ExtB"/>
              </a:rPr>
              <a:t> </a:t>
            </a:r>
            <a:r>
              <a:rPr dirty="0" sz="1650" spc="915">
                <a:solidFill>
                  <a:srgbClr val="D7E5D8"/>
                </a:solidFill>
                <a:latin typeface="SimSun-ExtB"/>
                <a:cs typeface="SimSun-ExtB"/>
              </a:rPr>
              <a:t>TLS</a:t>
            </a:r>
            <a:r>
              <a:rPr dirty="0" sz="1650" spc="-295">
                <a:solidFill>
                  <a:srgbClr val="D7E5D8"/>
                </a:solidFill>
                <a:latin typeface="SimSun-ExtB"/>
                <a:cs typeface="SimSun-ExtB"/>
              </a:rPr>
              <a:t> </a:t>
            </a:r>
            <a:r>
              <a:rPr dirty="0" sz="1650" spc="235">
                <a:solidFill>
                  <a:srgbClr val="D7E5D8"/>
                </a:solidFill>
                <a:latin typeface="SimSun-ExtB"/>
                <a:cs typeface="SimSun-ExtB"/>
              </a:rPr>
              <a:t>1.3</a:t>
            </a:r>
            <a:endParaRPr sz="1650">
              <a:latin typeface="SimSun-ExtB"/>
              <a:cs typeface="SimSun-ExtB"/>
            </a:endParaRPr>
          </a:p>
          <a:p>
            <a:pPr algn="ctr" marL="12700" marR="5080">
              <a:lnSpc>
                <a:spcPct val="134300"/>
              </a:lnSpc>
              <a:spcBef>
                <a:spcPts val="615"/>
              </a:spcBef>
            </a:pPr>
            <a:r>
              <a:rPr dirty="0" sz="1350" spc="55">
                <a:solidFill>
                  <a:srgbClr val="D7E5D8"/>
                </a:solidFill>
                <a:latin typeface="Tahoma"/>
                <a:cs typeface="Tahoma"/>
              </a:rPr>
              <a:t>La</a:t>
            </a:r>
            <a:r>
              <a:rPr dirty="0" sz="1350" spc="-75">
                <a:solidFill>
                  <a:srgbClr val="D7E5D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D7E5D8"/>
                </a:solidFill>
                <a:latin typeface="Tahoma"/>
                <a:cs typeface="Tahoma"/>
              </a:rPr>
              <a:t>veǐsión</a:t>
            </a:r>
            <a:r>
              <a:rPr dirty="0" sz="1350" spc="-75">
                <a:solidFill>
                  <a:srgbClr val="D7E5D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D7E5D8"/>
                </a:solidFill>
                <a:latin typeface="Tahoma"/>
                <a:cs typeface="Tahoma"/>
              </a:rPr>
              <a:t>más</a:t>
            </a:r>
            <a:r>
              <a:rPr dirty="0" sz="1350" spc="-70">
                <a:solidFill>
                  <a:srgbClr val="D7E5D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D7E5D8"/>
                </a:solidFill>
                <a:latin typeface="Tahoma"/>
                <a:cs typeface="Tahoma"/>
              </a:rPr>
              <a:t>ǐeciente,</a:t>
            </a:r>
            <a:r>
              <a:rPr dirty="0" sz="1350" spc="-140">
                <a:solidFill>
                  <a:srgbClr val="D7E5D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D7E5D8"/>
                </a:solidFill>
                <a:latin typeface="Tahoma"/>
                <a:cs typeface="Tahoma"/>
              </a:rPr>
              <a:t>TLS</a:t>
            </a:r>
            <a:r>
              <a:rPr dirty="0" sz="1350" spc="-75">
                <a:solidFill>
                  <a:srgbClr val="D7E5D8"/>
                </a:solidFill>
                <a:latin typeface="Tahoma"/>
                <a:cs typeface="Tahoma"/>
              </a:rPr>
              <a:t> </a:t>
            </a:r>
            <a:r>
              <a:rPr dirty="0" sz="1350" spc="-165">
                <a:solidFill>
                  <a:srgbClr val="D7E5D8"/>
                </a:solidFill>
                <a:latin typeface="Tahoma"/>
                <a:cs typeface="Tahoma"/>
              </a:rPr>
              <a:t>1.3, </a:t>
            </a:r>
            <a:r>
              <a:rPr dirty="0" sz="1350" spc="50">
                <a:solidFill>
                  <a:srgbClr val="D7E5D8"/>
                </a:solidFill>
                <a:latin typeface="Tahoma"/>
                <a:cs typeface="Tahoma"/>
              </a:rPr>
              <a:t>ofǐece</a:t>
            </a:r>
            <a:r>
              <a:rPr dirty="0" sz="1350" spc="10">
                <a:solidFill>
                  <a:srgbClr val="D7E5D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D7E5D8"/>
                </a:solidFill>
                <a:latin typeface="Tahoma"/>
                <a:cs typeface="Tahoma"/>
              </a:rPr>
              <a:t>mayoǐ</a:t>
            </a:r>
            <a:r>
              <a:rPr dirty="0" sz="1350" spc="15">
                <a:solidFill>
                  <a:srgbClr val="D7E5D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D7E5D8"/>
                </a:solidFill>
                <a:latin typeface="Tahoma"/>
                <a:cs typeface="Tahoma"/>
              </a:rPr>
              <a:t>velocidad</a:t>
            </a:r>
            <a:r>
              <a:rPr dirty="0" sz="1350" spc="15">
                <a:solidFill>
                  <a:srgbClr val="D7E5D8"/>
                </a:solidFill>
                <a:latin typeface="Tahoma"/>
                <a:cs typeface="Tahoma"/>
              </a:rPr>
              <a:t> </a:t>
            </a:r>
            <a:r>
              <a:rPr dirty="0" sz="1350" spc="-50">
                <a:solidFill>
                  <a:srgbClr val="D7E5D8"/>
                </a:solidFill>
                <a:latin typeface="Tahoma"/>
                <a:cs typeface="Tahoma"/>
              </a:rPr>
              <a:t>y </a:t>
            </a:r>
            <a:r>
              <a:rPr dirty="0" sz="1350">
                <a:solidFill>
                  <a:srgbClr val="D7E5D8"/>
                </a:solidFill>
                <a:latin typeface="Tahoma"/>
                <a:cs typeface="Tahoma"/>
              </a:rPr>
              <a:t>seguǐidad</a:t>
            </a:r>
            <a:r>
              <a:rPr dirty="0" sz="1350" spc="-50">
                <a:solidFill>
                  <a:srgbClr val="D7E5D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D7E5D8"/>
                </a:solidFill>
                <a:latin typeface="Tahoma"/>
                <a:cs typeface="Tahoma"/>
              </a:rPr>
              <a:t>en</a:t>
            </a:r>
            <a:r>
              <a:rPr dirty="0" sz="1350" spc="-50">
                <a:solidFill>
                  <a:srgbClr val="D7E5D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D7E5D8"/>
                </a:solidFill>
                <a:latin typeface="Tahoma"/>
                <a:cs typeface="Tahoma"/>
              </a:rPr>
              <a:t>las</a:t>
            </a:r>
            <a:r>
              <a:rPr dirty="0" sz="1350" spc="-50">
                <a:solidFill>
                  <a:srgbClr val="D7E5D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D7E5D8"/>
                </a:solidFill>
                <a:latin typeface="Tahoma"/>
                <a:cs typeface="Tahoma"/>
              </a:rPr>
              <a:t>conexiones.</a:t>
            </a:r>
            <a:endParaRPr sz="1350">
              <a:latin typeface="Tahoma"/>
              <a:cs typeface="Tahoma"/>
            </a:endParaRPr>
          </a:p>
        </p:txBody>
      </p:sp>
      <p:pic>
        <p:nvPicPr>
          <p:cNvPr id="22" name="object 22" descr="">
            <a:hlinkClick r:id="rId4"/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580244" y="6407657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1430000" cy="7772400"/>
          </a:xfrm>
          <a:custGeom>
            <a:avLst/>
            <a:gdLst/>
            <a:ahLst/>
            <a:cxnLst/>
            <a:rect l="l" t="t" r="r" b="b"/>
            <a:pathLst>
              <a:path w="11430000" h="7772400">
                <a:moveTo>
                  <a:pt x="11430000" y="0"/>
                </a:moveTo>
                <a:lnTo>
                  <a:pt x="0" y="0"/>
                </a:lnTo>
                <a:lnTo>
                  <a:pt x="0" y="7772400"/>
                </a:lnTo>
                <a:lnTo>
                  <a:pt x="11430000" y="77724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151F24">
              <a:alpha val="94898"/>
            </a:srgbClr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7143750" y="0"/>
            <a:ext cx="4286250" cy="7772400"/>
            <a:chOff x="7143750" y="0"/>
            <a:chExt cx="4286250" cy="7772400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43750" y="0"/>
              <a:ext cx="4286249" cy="7772398"/>
            </a:xfrm>
            <a:prstGeom prst="rect">
              <a:avLst/>
            </a:prstGeom>
          </p:spPr>
        </p:pic>
        <p:pic>
          <p:nvPicPr>
            <p:cNvPr id="5" name="object 5" descr="">
              <a:hlinkClick r:id="rId3"/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580244" y="7258050"/>
              <a:ext cx="1754504" cy="41910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87375" y="415925"/>
            <a:ext cx="5671820" cy="111125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6300"/>
              </a:lnSpc>
              <a:spcBef>
                <a:spcPts val="95"/>
              </a:spcBef>
            </a:pPr>
            <a:r>
              <a:rPr dirty="0" spc="1260"/>
              <a:t>Funcionafiiento </a:t>
            </a:r>
            <a:r>
              <a:rPr dirty="0" spc="1839"/>
              <a:t>de</a:t>
            </a:r>
            <a:r>
              <a:rPr dirty="0" spc="-625"/>
              <a:t> </a:t>
            </a:r>
            <a:r>
              <a:rPr dirty="0" spc="1580"/>
              <a:t>SSL/TLS</a:t>
            </a:r>
          </a:p>
        </p:txBody>
      </p:sp>
      <p:grpSp>
        <p:nvGrpSpPr>
          <p:cNvPr id="7" name="object 7" descr=""/>
          <p:cNvGrpSpPr/>
          <p:nvPr/>
        </p:nvGrpSpPr>
        <p:grpSpPr>
          <a:xfrm>
            <a:off x="594677" y="1804352"/>
            <a:ext cx="868044" cy="1382395"/>
            <a:chOff x="594677" y="1804352"/>
            <a:chExt cx="868044" cy="1382395"/>
          </a:xfrm>
        </p:grpSpPr>
        <p:sp>
          <p:nvSpPr>
            <p:cNvPr id="8" name="object 8" descr=""/>
            <p:cNvSpPr/>
            <p:nvPr/>
          </p:nvSpPr>
          <p:spPr>
            <a:xfrm>
              <a:off x="600075" y="1809749"/>
              <a:ext cx="857250" cy="1371600"/>
            </a:xfrm>
            <a:custGeom>
              <a:avLst/>
              <a:gdLst/>
              <a:ahLst/>
              <a:cxnLst/>
              <a:rect l="l" t="t" r="r" b="b"/>
              <a:pathLst>
                <a:path w="857250" h="1371600">
                  <a:moveTo>
                    <a:pt x="857250" y="0"/>
                  </a:moveTo>
                  <a:lnTo>
                    <a:pt x="428625" y="171450"/>
                  </a:lnTo>
                  <a:lnTo>
                    <a:pt x="0" y="0"/>
                  </a:lnTo>
                  <a:lnTo>
                    <a:pt x="0" y="1200150"/>
                  </a:lnTo>
                  <a:lnTo>
                    <a:pt x="428625" y="1371600"/>
                  </a:lnTo>
                  <a:lnTo>
                    <a:pt x="857250" y="1200150"/>
                  </a:lnTo>
                  <a:lnTo>
                    <a:pt x="857250" y="0"/>
                  </a:lnTo>
                  <a:close/>
                </a:path>
              </a:pathLst>
            </a:custGeom>
            <a:solidFill>
              <a:srgbClr val="53780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600075" y="1809749"/>
              <a:ext cx="857250" cy="1371600"/>
            </a:xfrm>
            <a:custGeom>
              <a:avLst/>
              <a:gdLst/>
              <a:ahLst/>
              <a:cxnLst/>
              <a:rect l="l" t="t" r="r" b="b"/>
              <a:pathLst>
                <a:path w="857250" h="1371600">
                  <a:moveTo>
                    <a:pt x="0" y="1200150"/>
                  </a:moveTo>
                  <a:lnTo>
                    <a:pt x="428625" y="1371600"/>
                  </a:lnTo>
                  <a:lnTo>
                    <a:pt x="857250" y="1200150"/>
                  </a:lnTo>
                  <a:lnTo>
                    <a:pt x="857250" y="0"/>
                  </a:lnTo>
                  <a:lnTo>
                    <a:pt x="428625" y="171450"/>
                  </a:lnTo>
                  <a:lnTo>
                    <a:pt x="0" y="0"/>
                  </a:lnTo>
                  <a:lnTo>
                    <a:pt x="0" y="1200150"/>
                  </a:lnTo>
                  <a:close/>
                </a:path>
              </a:pathLst>
            </a:custGeom>
            <a:ln w="10715">
              <a:solidFill>
                <a:srgbClr val="6D902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947836" y="2301875"/>
            <a:ext cx="161925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20">
                <a:solidFill>
                  <a:srgbClr val="FFFFFF"/>
                </a:solidFill>
                <a:latin typeface="SimSun-ExtB"/>
                <a:cs typeface="SimSun-ExtB"/>
              </a:rPr>
              <a:t>1</a:t>
            </a:r>
            <a:endParaRPr sz="2000">
              <a:latin typeface="SimSun-ExtB"/>
              <a:cs typeface="SimSun-ExtB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701800" y="1954212"/>
            <a:ext cx="3723640" cy="6362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335">
                <a:solidFill>
                  <a:srgbClr val="D7E5D8"/>
                </a:solidFill>
                <a:latin typeface="SimSun-ExtB"/>
                <a:cs typeface="SimSun-ExtB"/>
              </a:rPr>
              <a:t>Inicio</a:t>
            </a:r>
            <a:r>
              <a:rPr dirty="0" sz="1650" spc="-295">
                <a:solidFill>
                  <a:srgbClr val="D7E5D8"/>
                </a:solidFill>
                <a:latin typeface="SimSun-ExtB"/>
                <a:cs typeface="SimSun-ExtB"/>
              </a:rPr>
              <a:t> </a:t>
            </a:r>
            <a:r>
              <a:rPr dirty="0" sz="1650" spc="930">
                <a:solidFill>
                  <a:srgbClr val="D7E5D8"/>
                </a:solidFill>
                <a:latin typeface="SimSun-ExtB"/>
                <a:cs typeface="SimSun-ExtB"/>
              </a:rPr>
              <a:t>de</a:t>
            </a:r>
            <a:r>
              <a:rPr dirty="0" sz="1650" spc="-295">
                <a:solidFill>
                  <a:srgbClr val="D7E5D8"/>
                </a:solidFill>
                <a:latin typeface="SimSun-ExtB"/>
                <a:cs typeface="SimSun-ExtB"/>
              </a:rPr>
              <a:t> </a:t>
            </a:r>
            <a:r>
              <a:rPr dirty="0" sz="1650" spc="670">
                <a:solidFill>
                  <a:srgbClr val="D7E5D8"/>
                </a:solidFill>
                <a:latin typeface="SimSun-ExtB"/>
                <a:cs typeface="SimSun-ExtB"/>
              </a:rPr>
              <a:t>Conexión</a:t>
            </a:r>
            <a:endParaRPr sz="1650">
              <a:latin typeface="SimSun-ExtB"/>
              <a:cs typeface="SimSun-ExtB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</a:pPr>
            <a:r>
              <a:rPr dirty="0" sz="1350">
                <a:solidFill>
                  <a:srgbClr val="D7E5D8"/>
                </a:solidFill>
                <a:latin typeface="Tahoma"/>
                <a:cs typeface="Tahoma"/>
              </a:rPr>
              <a:t>El</a:t>
            </a:r>
            <a:r>
              <a:rPr dirty="0" sz="1350" spc="-45">
                <a:solidFill>
                  <a:srgbClr val="D7E5D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D7E5D8"/>
                </a:solidFill>
                <a:latin typeface="Tahoma"/>
                <a:cs typeface="Tahoma"/>
              </a:rPr>
              <a:t>cliente</a:t>
            </a:r>
            <a:r>
              <a:rPr dirty="0" sz="1350" spc="-40">
                <a:solidFill>
                  <a:srgbClr val="D7E5D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D7E5D8"/>
                </a:solidFill>
                <a:latin typeface="Tahoma"/>
                <a:cs typeface="Tahoma"/>
              </a:rPr>
              <a:t>solicita</a:t>
            </a:r>
            <a:r>
              <a:rPr dirty="0" sz="1350" spc="-40">
                <a:solidFill>
                  <a:srgbClr val="D7E5D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D7E5D8"/>
                </a:solidFill>
                <a:latin typeface="Tahoma"/>
                <a:cs typeface="Tahoma"/>
              </a:rPr>
              <a:t>una</a:t>
            </a:r>
            <a:r>
              <a:rPr dirty="0" sz="1350" spc="-40">
                <a:solidFill>
                  <a:srgbClr val="D7E5D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D7E5D8"/>
                </a:solidFill>
                <a:latin typeface="Tahoma"/>
                <a:cs typeface="Tahoma"/>
              </a:rPr>
              <a:t>conexión</a:t>
            </a:r>
            <a:r>
              <a:rPr dirty="0" sz="1350" spc="-45">
                <a:solidFill>
                  <a:srgbClr val="D7E5D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D7E5D8"/>
                </a:solidFill>
                <a:latin typeface="Tahoma"/>
                <a:cs typeface="Tahoma"/>
              </a:rPr>
              <a:t>seguǐa</a:t>
            </a:r>
            <a:r>
              <a:rPr dirty="0" sz="1350" spc="-40">
                <a:solidFill>
                  <a:srgbClr val="D7E5D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D7E5D8"/>
                </a:solidFill>
                <a:latin typeface="Tahoma"/>
                <a:cs typeface="Tahoma"/>
              </a:rPr>
              <a:t>al</a:t>
            </a:r>
            <a:r>
              <a:rPr dirty="0" sz="1350" spc="-40">
                <a:solidFill>
                  <a:srgbClr val="D7E5D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D7E5D8"/>
                </a:solidFill>
                <a:latin typeface="Tahoma"/>
                <a:cs typeface="Tahoma"/>
              </a:rPr>
              <a:t>seǐvidoǐ.</a:t>
            </a:r>
            <a:endParaRPr sz="1350">
              <a:latin typeface="Tahoma"/>
              <a:cs typeface="Tahoma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594677" y="3175952"/>
            <a:ext cx="868044" cy="1382395"/>
            <a:chOff x="594677" y="3175952"/>
            <a:chExt cx="868044" cy="1382395"/>
          </a:xfrm>
        </p:grpSpPr>
        <p:sp>
          <p:nvSpPr>
            <p:cNvPr id="13" name="object 13" descr=""/>
            <p:cNvSpPr/>
            <p:nvPr/>
          </p:nvSpPr>
          <p:spPr>
            <a:xfrm>
              <a:off x="600075" y="3181349"/>
              <a:ext cx="857250" cy="1371600"/>
            </a:xfrm>
            <a:custGeom>
              <a:avLst/>
              <a:gdLst/>
              <a:ahLst/>
              <a:cxnLst/>
              <a:rect l="l" t="t" r="r" b="b"/>
              <a:pathLst>
                <a:path w="857250" h="1371600">
                  <a:moveTo>
                    <a:pt x="857250" y="0"/>
                  </a:moveTo>
                  <a:lnTo>
                    <a:pt x="428625" y="171450"/>
                  </a:lnTo>
                  <a:lnTo>
                    <a:pt x="0" y="0"/>
                  </a:lnTo>
                  <a:lnTo>
                    <a:pt x="0" y="1200150"/>
                  </a:lnTo>
                  <a:lnTo>
                    <a:pt x="428625" y="1371600"/>
                  </a:lnTo>
                  <a:lnTo>
                    <a:pt x="857250" y="1200150"/>
                  </a:lnTo>
                  <a:lnTo>
                    <a:pt x="857250" y="0"/>
                  </a:lnTo>
                  <a:close/>
                </a:path>
              </a:pathLst>
            </a:custGeom>
            <a:solidFill>
              <a:srgbClr val="53780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600075" y="3181349"/>
              <a:ext cx="857250" cy="1371600"/>
            </a:xfrm>
            <a:custGeom>
              <a:avLst/>
              <a:gdLst/>
              <a:ahLst/>
              <a:cxnLst/>
              <a:rect l="l" t="t" r="r" b="b"/>
              <a:pathLst>
                <a:path w="857250" h="1371600">
                  <a:moveTo>
                    <a:pt x="0" y="1200150"/>
                  </a:moveTo>
                  <a:lnTo>
                    <a:pt x="428625" y="1371600"/>
                  </a:lnTo>
                  <a:lnTo>
                    <a:pt x="857250" y="1200150"/>
                  </a:lnTo>
                  <a:lnTo>
                    <a:pt x="857250" y="0"/>
                  </a:lnTo>
                  <a:lnTo>
                    <a:pt x="428625" y="171450"/>
                  </a:lnTo>
                  <a:lnTo>
                    <a:pt x="0" y="0"/>
                  </a:lnTo>
                  <a:lnTo>
                    <a:pt x="0" y="1200150"/>
                  </a:lnTo>
                  <a:close/>
                </a:path>
              </a:pathLst>
            </a:custGeom>
            <a:ln w="10715">
              <a:solidFill>
                <a:srgbClr val="6D902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 txBox="1"/>
          <p:nvPr/>
        </p:nvSpPr>
        <p:spPr>
          <a:xfrm>
            <a:off x="886965" y="3673475"/>
            <a:ext cx="283845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980">
                <a:solidFill>
                  <a:srgbClr val="FFFFFF"/>
                </a:solidFill>
                <a:latin typeface="SimSun-ExtB"/>
                <a:cs typeface="SimSun-ExtB"/>
              </a:rPr>
              <a:t>2</a:t>
            </a:r>
            <a:endParaRPr sz="2000">
              <a:latin typeface="SimSun-ExtB"/>
              <a:cs typeface="SimSun-ExtB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1701800" y="3325812"/>
            <a:ext cx="4709160" cy="90296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540">
                <a:solidFill>
                  <a:srgbClr val="D7E5D8"/>
                </a:solidFill>
                <a:latin typeface="SimSun-ExtB"/>
                <a:cs typeface="SimSun-ExtB"/>
              </a:rPr>
              <a:t>Intercafibio</a:t>
            </a:r>
            <a:r>
              <a:rPr dirty="0" sz="1650" spc="-280">
                <a:solidFill>
                  <a:srgbClr val="D7E5D8"/>
                </a:solidFill>
                <a:latin typeface="SimSun-ExtB"/>
                <a:cs typeface="SimSun-ExtB"/>
              </a:rPr>
              <a:t> </a:t>
            </a:r>
            <a:r>
              <a:rPr dirty="0" sz="1650" spc="930">
                <a:solidFill>
                  <a:srgbClr val="D7E5D8"/>
                </a:solidFill>
                <a:latin typeface="SimSun-ExtB"/>
                <a:cs typeface="SimSun-ExtB"/>
              </a:rPr>
              <a:t>de</a:t>
            </a:r>
            <a:r>
              <a:rPr dirty="0" sz="1650" spc="-275">
                <a:solidFill>
                  <a:srgbClr val="D7E5D8"/>
                </a:solidFill>
                <a:latin typeface="SimSun-ExtB"/>
                <a:cs typeface="SimSun-ExtB"/>
              </a:rPr>
              <a:t> </a:t>
            </a:r>
            <a:r>
              <a:rPr dirty="0" sz="1650" spc="695">
                <a:solidFill>
                  <a:srgbClr val="D7E5D8"/>
                </a:solidFill>
                <a:latin typeface="SimSun-ExtB"/>
                <a:cs typeface="SimSun-ExtB"/>
              </a:rPr>
              <a:t>Claves</a:t>
            </a:r>
            <a:endParaRPr sz="1650">
              <a:latin typeface="SimSun-ExtB"/>
              <a:cs typeface="SimSun-ExtB"/>
            </a:endParaRPr>
          </a:p>
          <a:p>
            <a:pPr marL="12700" marR="5080">
              <a:lnSpc>
                <a:spcPct val="129600"/>
              </a:lnSpc>
              <a:spcBef>
                <a:spcPts val="690"/>
              </a:spcBef>
            </a:pPr>
            <a:r>
              <a:rPr dirty="0" sz="1350" spc="-10">
                <a:solidFill>
                  <a:srgbClr val="D7E5D8"/>
                </a:solidFill>
                <a:latin typeface="Tahoma"/>
                <a:cs typeface="Tahoma"/>
              </a:rPr>
              <a:t>Se</a:t>
            </a:r>
            <a:r>
              <a:rPr dirty="0" sz="1350" spc="-65">
                <a:solidFill>
                  <a:srgbClr val="D7E5D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D7E5D8"/>
                </a:solidFill>
                <a:latin typeface="Tahoma"/>
                <a:cs typeface="Tahoma"/>
              </a:rPr>
              <a:t>negocia</a:t>
            </a:r>
            <a:r>
              <a:rPr dirty="0" sz="1350" spc="-60">
                <a:solidFill>
                  <a:srgbClr val="D7E5D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D7E5D8"/>
                </a:solidFill>
                <a:latin typeface="Tahoma"/>
                <a:cs typeface="Tahoma"/>
              </a:rPr>
              <a:t>un</a:t>
            </a:r>
            <a:r>
              <a:rPr dirty="0" sz="1350" spc="-65">
                <a:solidFill>
                  <a:srgbClr val="D7E5D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D7E5D8"/>
                </a:solidFill>
                <a:latin typeface="Tahoma"/>
                <a:cs typeface="Tahoma"/>
              </a:rPr>
              <a:t>conjunto</a:t>
            </a:r>
            <a:r>
              <a:rPr dirty="0" sz="1350" spc="-60">
                <a:solidFill>
                  <a:srgbClr val="D7E5D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D7E5D8"/>
                </a:solidFill>
                <a:latin typeface="Tahoma"/>
                <a:cs typeface="Tahoma"/>
              </a:rPr>
              <a:t>de</a:t>
            </a:r>
            <a:r>
              <a:rPr dirty="0" sz="1350" spc="-60">
                <a:solidFill>
                  <a:srgbClr val="D7E5D8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D7E5D8"/>
                </a:solidFill>
                <a:latin typeface="Tahoma"/>
                <a:cs typeface="Tahoma"/>
              </a:rPr>
              <a:t>cifǐado</a:t>
            </a:r>
            <a:r>
              <a:rPr dirty="0" sz="1350" spc="-65">
                <a:solidFill>
                  <a:srgbClr val="D7E5D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D7E5D8"/>
                </a:solidFill>
                <a:latin typeface="Tahoma"/>
                <a:cs typeface="Tahoma"/>
              </a:rPr>
              <a:t>y</a:t>
            </a:r>
            <a:r>
              <a:rPr dirty="0" sz="1350" spc="-60">
                <a:solidFill>
                  <a:srgbClr val="D7E5D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D7E5D8"/>
                </a:solidFill>
                <a:latin typeface="Tahoma"/>
                <a:cs typeface="Tahoma"/>
              </a:rPr>
              <a:t>se</a:t>
            </a:r>
            <a:r>
              <a:rPr dirty="0" sz="1350" spc="-60">
                <a:solidFill>
                  <a:srgbClr val="D7E5D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D7E5D8"/>
                </a:solidFill>
                <a:latin typeface="Tahoma"/>
                <a:cs typeface="Tahoma"/>
              </a:rPr>
              <a:t>inteǐcambian</a:t>
            </a:r>
            <a:r>
              <a:rPr dirty="0" sz="1350" spc="-65">
                <a:solidFill>
                  <a:srgbClr val="D7E5D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D7E5D8"/>
                </a:solidFill>
                <a:latin typeface="Tahoma"/>
                <a:cs typeface="Tahoma"/>
              </a:rPr>
              <a:t>claves</a:t>
            </a:r>
            <a:r>
              <a:rPr dirty="0" sz="1350" spc="-60">
                <a:solidFill>
                  <a:srgbClr val="D7E5D8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D7E5D8"/>
                </a:solidFill>
                <a:latin typeface="Tahoma"/>
                <a:cs typeface="Tahoma"/>
              </a:rPr>
              <a:t>de </a:t>
            </a:r>
            <a:r>
              <a:rPr dirty="0" sz="1350" spc="-10">
                <a:solidFill>
                  <a:srgbClr val="D7E5D8"/>
                </a:solidFill>
                <a:latin typeface="Tahoma"/>
                <a:cs typeface="Tahoma"/>
              </a:rPr>
              <a:t>sesión.</a:t>
            </a:r>
            <a:endParaRPr sz="1350">
              <a:latin typeface="Tahoma"/>
              <a:cs typeface="Tahoma"/>
            </a:endParaRPr>
          </a:p>
        </p:txBody>
      </p:sp>
      <p:grpSp>
        <p:nvGrpSpPr>
          <p:cNvPr id="17" name="object 17" descr=""/>
          <p:cNvGrpSpPr/>
          <p:nvPr/>
        </p:nvGrpSpPr>
        <p:grpSpPr>
          <a:xfrm>
            <a:off x="594677" y="4547552"/>
            <a:ext cx="868044" cy="1382395"/>
            <a:chOff x="594677" y="4547552"/>
            <a:chExt cx="868044" cy="1382395"/>
          </a:xfrm>
        </p:grpSpPr>
        <p:sp>
          <p:nvSpPr>
            <p:cNvPr id="18" name="object 18" descr=""/>
            <p:cNvSpPr/>
            <p:nvPr/>
          </p:nvSpPr>
          <p:spPr>
            <a:xfrm>
              <a:off x="600075" y="4552949"/>
              <a:ext cx="857250" cy="1371600"/>
            </a:xfrm>
            <a:custGeom>
              <a:avLst/>
              <a:gdLst/>
              <a:ahLst/>
              <a:cxnLst/>
              <a:rect l="l" t="t" r="r" b="b"/>
              <a:pathLst>
                <a:path w="857250" h="1371600">
                  <a:moveTo>
                    <a:pt x="857250" y="0"/>
                  </a:moveTo>
                  <a:lnTo>
                    <a:pt x="428625" y="171450"/>
                  </a:lnTo>
                  <a:lnTo>
                    <a:pt x="0" y="0"/>
                  </a:lnTo>
                  <a:lnTo>
                    <a:pt x="0" y="1200150"/>
                  </a:lnTo>
                  <a:lnTo>
                    <a:pt x="428625" y="1371600"/>
                  </a:lnTo>
                  <a:lnTo>
                    <a:pt x="857250" y="1200150"/>
                  </a:lnTo>
                  <a:lnTo>
                    <a:pt x="857250" y="0"/>
                  </a:lnTo>
                  <a:close/>
                </a:path>
              </a:pathLst>
            </a:custGeom>
            <a:solidFill>
              <a:srgbClr val="53780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600075" y="4552949"/>
              <a:ext cx="857250" cy="1371600"/>
            </a:xfrm>
            <a:custGeom>
              <a:avLst/>
              <a:gdLst/>
              <a:ahLst/>
              <a:cxnLst/>
              <a:rect l="l" t="t" r="r" b="b"/>
              <a:pathLst>
                <a:path w="857250" h="1371600">
                  <a:moveTo>
                    <a:pt x="0" y="1200150"/>
                  </a:moveTo>
                  <a:lnTo>
                    <a:pt x="428625" y="1371600"/>
                  </a:lnTo>
                  <a:lnTo>
                    <a:pt x="857250" y="1200150"/>
                  </a:lnTo>
                  <a:lnTo>
                    <a:pt x="857250" y="0"/>
                  </a:lnTo>
                  <a:lnTo>
                    <a:pt x="428625" y="171450"/>
                  </a:lnTo>
                  <a:lnTo>
                    <a:pt x="0" y="0"/>
                  </a:lnTo>
                  <a:lnTo>
                    <a:pt x="0" y="1200150"/>
                  </a:lnTo>
                  <a:close/>
                </a:path>
              </a:pathLst>
            </a:custGeom>
            <a:ln w="10715">
              <a:solidFill>
                <a:srgbClr val="6D902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 descr=""/>
          <p:cNvSpPr txBox="1"/>
          <p:nvPr/>
        </p:nvSpPr>
        <p:spPr>
          <a:xfrm>
            <a:off x="880268" y="5045075"/>
            <a:ext cx="297180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1080">
                <a:solidFill>
                  <a:srgbClr val="FFFFFF"/>
                </a:solidFill>
                <a:latin typeface="SimSun-ExtB"/>
                <a:cs typeface="SimSun-ExtB"/>
              </a:rPr>
              <a:t>3</a:t>
            </a:r>
            <a:endParaRPr sz="2000">
              <a:latin typeface="SimSun-ExtB"/>
              <a:cs typeface="SimSun-ExtB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1701800" y="4697412"/>
            <a:ext cx="4144645" cy="6362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545">
                <a:solidFill>
                  <a:srgbClr val="D7E5D8"/>
                </a:solidFill>
                <a:latin typeface="SimSun-ExtB"/>
                <a:cs typeface="SimSun-ExtB"/>
              </a:rPr>
              <a:t>Autenticación</a:t>
            </a:r>
            <a:endParaRPr sz="1650">
              <a:latin typeface="SimSun-ExtB"/>
              <a:cs typeface="SimSun-ExtB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</a:pPr>
            <a:r>
              <a:rPr dirty="0" sz="1350">
                <a:solidFill>
                  <a:srgbClr val="D7E5D8"/>
                </a:solidFill>
                <a:latin typeface="Tahoma"/>
                <a:cs typeface="Tahoma"/>
              </a:rPr>
              <a:t>El</a:t>
            </a:r>
            <a:r>
              <a:rPr dirty="0" sz="1350" spc="30">
                <a:solidFill>
                  <a:srgbClr val="D7E5D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D7E5D8"/>
                </a:solidFill>
                <a:latin typeface="Tahoma"/>
                <a:cs typeface="Tahoma"/>
              </a:rPr>
              <a:t>seǐvidoǐ</a:t>
            </a:r>
            <a:r>
              <a:rPr dirty="0" sz="1350" spc="35">
                <a:solidFill>
                  <a:srgbClr val="D7E5D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D7E5D8"/>
                </a:solidFill>
                <a:latin typeface="Tahoma"/>
                <a:cs typeface="Tahoma"/>
              </a:rPr>
              <a:t>se</a:t>
            </a:r>
            <a:r>
              <a:rPr dirty="0" sz="1350" spc="30">
                <a:solidFill>
                  <a:srgbClr val="D7E5D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D7E5D8"/>
                </a:solidFill>
                <a:latin typeface="Tahoma"/>
                <a:cs typeface="Tahoma"/>
              </a:rPr>
              <a:t>autentica</a:t>
            </a:r>
            <a:r>
              <a:rPr dirty="0" sz="1350" spc="35">
                <a:solidFill>
                  <a:srgbClr val="D7E5D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D7E5D8"/>
                </a:solidFill>
                <a:latin typeface="Tahoma"/>
                <a:cs typeface="Tahoma"/>
              </a:rPr>
              <a:t>mediante</a:t>
            </a:r>
            <a:r>
              <a:rPr dirty="0" sz="1350" spc="35">
                <a:solidFill>
                  <a:srgbClr val="D7E5D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D7E5D8"/>
                </a:solidFill>
                <a:latin typeface="Tahoma"/>
                <a:cs typeface="Tahoma"/>
              </a:rPr>
              <a:t>su</a:t>
            </a:r>
            <a:r>
              <a:rPr dirty="0" sz="1350" spc="30">
                <a:solidFill>
                  <a:srgbClr val="D7E5D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D7E5D8"/>
                </a:solidFill>
                <a:latin typeface="Tahoma"/>
                <a:cs typeface="Tahoma"/>
              </a:rPr>
              <a:t>ceǐtificado</a:t>
            </a:r>
            <a:r>
              <a:rPr dirty="0" sz="1350" spc="35">
                <a:solidFill>
                  <a:srgbClr val="D7E5D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D7E5D8"/>
                </a:solidFill>
                <a:latin typeface="Tahoma"/>
                <a:cs typeface="Tahoma"/>
              </a:rPr>
              <a:t>digital.</a:t>
            </a:r>
            <a:endParaRPr sz="1350">
              <a:latin typeface="Tahoma"/>
              <a:cs typeface="Tahoma"/>
            </a:endParaRPr>
          </a:p>
        </p:txBody>
      </p:sp>
      <p:grpSp>
        <p:nvGrpSpPr>
          <p:cNvPr id="22" name="object 22" descr=""/>
          <p:cNvGrpSpPr/>
          <p:nvPr/>
        </p:nvGrpSpPr>
        <p:grpSpPr>
          <a:xfrm>
            <a:off x="594717" y="5919192"/>
            <a:ext cx="868044" cy="1382395"/>
            <a:chOff x="594717" y="5919192"/>
            <a:chExt cx="868044" cy="1382395"/>
          </a:xfrm>
        </p:grpSpPr>
        <p:sp>
          <p:nvSpPr>
            <p:cNvPr id="23" name="object 23" descr=""/>
            <p:cNvSpPr/>
            <p:nvPr/>
          </p:nvSpPr>
          <p:spPr>
            <a:xfrm>
              <a:off x="600075" y="5924550"/>
              <a:ext cx="857250" cy="1371600"/>
            </a:xfrm>
            <a:custGeom>
              <a:avLst/>
              <a:gdLst/>
              <a:ahLst/>
              <a:cxnLst/>
              <a:rect l="l" t="t" r="r" b="b"/>
              <a:pathLst>
                <a:path w="857250" h="1371600">
                  <a:moveTo>
                    <a:pt x="857250" y="0"/>
                  </a:moveTo>
                  <a:lnTo>
                    <a:pt x="428625" y="171450"/>
                  </a:lnTo>
                  <a:lnTo>
                    <a:pt x="0" y="0"/>
                  </a:lnTo>
                  <a:lnTo>
                    <a:pt x="0" y="1200150"/>
                  </a:lnTo>
                  <a:lnTo>
                    <a:pt x="428625" y="1371600"/>
                  </a:lnTo>
                  <a:lnTo>
                    <a:pt x="857250" y="1200150"/>
                  </a:lnTo>
                  <a:lnTo>
                    <a:pt x="857250" y="0"/>
                  </a:lnTo>
                  <a:close/>
                </a:path>
              </a:pathLst>
            </a:custGeom>
            <a:solidFill>
              <a:srgbClr val="53780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600075" y="5924550"/>
              <a:ext cx="857250" cy="1371600"/>
            </a:xfrm>
            <a:custGeom>
              <a:avLst/>
              <a:gdLst/>
              <a:ahLst/>
              <a:cxnLst/>
              <a:rect l="l" t="t" r="r" b="b"/>
              <a:pathLst>
                <a:path w="857250" h="1371600">
                  <a:moveTo>
                    <a:pt x="0" y="1200150"/>
                  </a:moveTo>
                  <a:lnTo>
                    <a:pt x="428625" y="1371600"/>
                  </a:lnTo>
                  <a:lnTo>
                    <a:pt x="857250" y="1200150"/>
                  </a:lnTo>
                  <a:lnTo>
                    <a:pt x="857250" y="0"/>
                  </a:lnTo>
                  <a:lnTo>
                    <a:pt x="428625" y="171450"/>
                  </a:lnTo>
                  <a:lnTo>
                    <a:pt x="0" y="0"/>
                  </a:lnTo>
                  <a:lnTo>
                    <a:pt x="0" y="1200150"/>
                  </a:lnTo>
                  <a:close/>
                </a:path>
              </a:pathLst>
            </a:custGeom>
            <a:ln w="10715">
              <a:solidFill>
                <a:srgbClr val="6D902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 descr=""/>
          <p:cNvSpPr txBox="1"/>
          <p:nvPr/>
        </p:nvSpPr>
        <p:spPr>
          <a:xfrm>
            <a:off x="875209" y="6416675"/>
            <a:ext cx="307340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1160">
                <a:solidFill>
                  <a:srgbClr val="FFFFFF"/>
                </a:solidFill>
                <a:latin typeface="SimSun-ExtB"/>
                <a:cs typeface="SimSun-ExtB"/>
              </a:rPr>
              <a:t>4</a:t>
            </a:r>
            <a:endParaRPr sz="2000">
              <a:latin typeface="SimSun-ExtB"/>
              <a:cs typeface="SimSun-ExtB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1701800" y="6069012"/>
            <a:ext cx="4740275" cy="6362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635">
                <a:solidFill>
                  <a:srgbClr val="D7E5D8"/>
                </a:solidFill>
                <a:latin typeface="SimSun-ExtB"/>
                <a:cs typeface="SimSun-ExtB"/>
              </a:rPr>
              <a:t>Cofiunicación</a:t>
            </a:r>
            <a:r>
              <a:rPr dirty="0" sz="1650" spc="-245">
                <a:solidFill>
                  <a:srgbClr val="D7E5D8"/>
                </a:solidFill>
                <a:latin typeface="SimSun-ExtB"/>
                <a:cs typeface="SimSun-ExtB"/>
              </a:rPr>
              <a:t> </a:t>
            </a:r>
            <a:r>
              <a:rPr dirty="0" sz="1650" spc="745">
                <a:solidFill>
                  <a:srgbClr val="D7E5D8"/>
                </a:solidFill>
                <a:latin typeface="SimSun-ExtB"/>
                <a:cs typeface="SimSun-ExtB"/>
              </a:rPr>
              <a:t>Segura</a:t>
            </a:r>
            <a:endParaRPr sz="1650">
              <a:latin typeface="SimSun-ExtB"/>
              <a:cs typeface="SimSun-ExtB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</a:pPr>
            <a:r>
              <a:rPr dirty="0" sz="1350" spc="-10">
                <a:solidFill>
                  <a:srgbClr val="D7E5D8"/>
                </a:solidFill>
                <a:latin typeface="Tahoma"/>
                <a:cs typeface="Tahoma"/>
              </a:rPr>
              <a:t>Se</a:t>
            </a:r>
            <a:r>
              <a:rPr dirty="0" sz="1350" spc="-15">
                <a:solidFill>
                  <a:srgbClr val="D7E5D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D7E5D8"/>
                </a:solidFill>
                <a:latin typeface="Tahoma"/>
                <a:cs typeface="Tahoma"/>
              </a:rPr>
              <a:t>establece</a:t>
            </a:r>
            <a:r>
              <a:rPr dirty="0" sz="1350" spc="-10">
                <a:solidFill>
                  <a:srgbClr val="D7E5D8"/>
                </a:solidFill>
                <a:latin typeface="Tahoma"/>
                <a:cs typeface="Tahoma"/>
              </a:rPr>
              <a:t> un </a:t>
            </a:r>
            <a:r>
              <a:rPr dirty="0" sz="1350">
                <a:solidFill>
                  <a:srgbClr val="D7E5D8"/>
                </a:solidFill>
                <a:latin typeface="Tahoma"/>
                <a:cs typeface="Tahoma"/>
              </a:rPr>
              <a:t>canal</a:t>
            </a:r>
            <a:r>
              <a:rPr dirty="0" sz="1350" spc="-10">
                <a:solidFill>
                  <a:srgbClr val="D7E5D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D7E5D8"/>
                </a:solidFill>
                <a:latin typeface="Tahoma"/>
                <a:cs typeface="Tahoma"/>
              </a:rPr>
              <a:t>encǐiptado</a:t>
            </a:r>
            <a:r>
              <a:rPr dirty="0" sz="1350" spc="-10">
                <a:solidFill>
                  <a:srgbClr val="D7E5D8"/>
                </a:solidFill>
                <a:latin typeface="Tahoma"/>
                <a:cs typeface="Tahoma"/>
              </a:rPr>
              <a:t> </a:t>
            </a:r>
            <a:r>
              <a:rPr dirty="0" sz="1350" spc="60">
                <a:solidFill>
                  <a:srgbClr val="D7E5D8"/>
                </a:solidFill>
                <a:latin typeface="Tahoma"/>
                <a:cs typeface="Tahoma"/>
              </a:rPr>
              <a:t>paǐa</a:t>
            </a:r>
            <a:r>
              <a:rPr dirty="0" sz="1350" spc="-15">
                <a:solidFill>
                  <a:srgbClr val="D7E5D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D7E5D8"/>
                </a:solidFill>
                <a:latin typeface="Tahoma"/>
                <a:cs typeface="Tahoma"/>
              </a:rPr>
              <a:t>la</a:t>
            </a:r>
            <a:r>
              <a:rPr dirty="0" sz="1350" spc="-10">
                <a:solidFill>
                  <a:srgbClr val="D7E5D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D7E5D8"/>
                </a:solidFill>
                <a:latin typeface="Tahoma"/>
                <a:cs typeface="Tahoma"/>
              </a:rPr>
              <a:t>tǐansmisión</a:t>
            </a:r>
            <a:r>
              <a:rPr dirty="0" sz="1350" spc="-10">
                <a:solidFill>
                  <a:srgbClr val="D7E5D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D7E5D8"/>
                </a:solidFill>
                <a:latin typeface="Tahoma"/>
                <a:cs typeface="Tahoma"/>
              </a:rPr>
              <a:t>de</a:t>
            </a:r>
            <a:r>
              <a:rPr dirty="0" sz="1350" spc="-10">
                <a:solidFill>
                  <a:srgbClr val="D7E5D8"/>
                </a:solidFill>
                <a:latin typeface="Tahoma"/>
                <a:cs typeface="Tahoma"/>
              </a:rPr>
              <a:t> datos.</a:t>
            </a:r>
            <a:endParaRPr sz="13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30000" y="0"/>
                </a:moveTo>
                <a:lnTo>
                  <a:pt x="0" y="0"/>
                </a:lnTo>
                <a:lnTo>
                  <a:pt x="0" y="6438900"/>
                </a:lnTo>
                <a:lnTo>
                  <a:pt x="11430000" y="64389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151F24">
              <a:alpha val="948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19572" y="1597025"/>
            <a:ext cx="7322184" cy="1073150"/>
          </a:xfrm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 marR="5080">
              <a:lnSpc>
                <a:spcPts val="4200"/>
              </a:lnSpc>
              <a:spcBef>
                <a:spcPts val="50"/>
              </a:spcBef>
            </a:pPr>
            <a:r>
              <a:rPr dirty="0" spc="1270"/>
              <a:t>Tipos</a:t>
            </a:r>
            <a:r>
              <a:rPr dirty="0" spc="-630"/>
              <a:t> </a:t>
            </a:r>
            <a:r>
              <a:rPr dirty="0" spc="1839"/>
              <a:t>de</a:t>
            </a:r>
            <a:r>
              <a:rPr dirty="0" spc="-620"/>
              <a:t> </a:t>
            </a:r>
            <a:r>
              <a:rPr dirty="0" spc="950"/>
              <a:t>CertiĒicados </a:t>
            </a:r>
            <a:r>
              <a:rPr dirty="0" spc="1580"/>
              <a:t>SSL/TLS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1019572" y="3097212"/>
            <a:ext cx="2675255" cy="12553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620">
                <a:solidFill>
                  <a:srgbClr val="F0F4F1"/>
                </a:solidFill>
                <a:latin typeface="SimSun-ExtB"/>
                <a:cs typeface="SimSun-ExtB"/>
              </a:rPr>
              <a:t>Estándar</a:t>
            </a:r>
            <a:endParaRPr sz="1650">
              <a:latin typeface="SimSun-ExtB"/>
              <a:cs typeface="SimSun-ExtB"/>
            </a:endParaRPr>
          </a:p>
          <a:p>
            <a:pPr marL="12700" marR="5080">
              <a:lnSpc>
                <a:spcPct val="134300"/>
              </a:lnSpc>
              <a:spcBef>
                <a:spcPts val="1140"/>
              </a:spcBef>
            </a:pPr>
            <a:r>
              <a:rPr dirty="0" sz="1350">
                <a:solidFill>
                  <a:srgbClr val="D7E5D8"/>
                </a:solidFill>
                <a:latin typeface="Microsoft Sans Serif"/>
                <a:cs typeface="Microsoft Sans Serif"/>
              </a:rPr>
              <a:t>Pǐotege</a:t>
            </a:r>
            <a:r>
              <a:rPr dirty="0" sz="1350" spc="-6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-10">
                <a:solidFill>
                  <a:srgbClr val="D7E5D8"/>
                </a:solidFill>
                <a:latin typeface="Microsoft Sans Serif"/>
                <a:cs typeface="Microsoft Sans Serif"/>
              </a:rPr>
              <a:t>un</a:t>
            </a:r>
            <a:r>
              <a:rPr dirty="0" sz="1350" spc="-5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-25">
                <a:solidFill>
                  <a:srgbClr val="D7E5D8"/>
                </a:solidFill>
                <a:latin typeface="Microsoft Sans Serif"/>
                <a:cs typeface="Microsoft Sans Serif"/>
              </a:rPr>
              <a:t>solo</a:t>
            </a:r>
            <a:r>
              <a:rPr dirty="0" sz="1350" spc="-5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350">
                <a:solidFill>
                  <a:srgbClr val="D7E5D8"/>
                </a:solidFill>
                <a:latin typeface="Microsoft Sans Serif"/>
                <a:cs typeface="Microsoft Sans Serif"/>
              </a:rPr>
              <a:t>dominio.</a:t>
            </a:r>
            <a:r>
              <a:rPr dirty="0" sz="1350" spc="-5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350">
                <a:solidFill>
                  <a:srgbClr val="D7E5D8"/>
                </a:solidFill>
                <a:latin typeface="Microsoft Sans Serif"/>
                <a:cs typeface="Microsoft Sans Serif"/>
              </a:rPr>
              <a:t>Ideal</a:t>
            </a:r>
            <a:r>
              <a:rPr dirty="0" sz="1350" spc="-6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-20">
                <a:solidFill>
                  <a:srgbClr val="D7E5D8"/>
                </a:solidFill>
                <a:latin typeface="Microsoft Sans Serif"/>
                <a:cs typeface="Microsoft Sans Serif"/>
              </a:rPr>
              <a:t>paǐa sitios</a:t>
            </a:r>
            <a:r>
              <a:rPr dirty="0" sz="1350" spc="-5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350">
                <a:solidFill>
                  <a:srgbClr val="D7E5D8"/>
                </a:solidFill>
                <a:latin typeface="Microsoft Sans Serif"/>
                <a:cs typeface="Microsoft Sans Serif"/>
              </a:rPr>
              <a:t>web</a:t>
            </a:r>
            <a:r>
              <a:rPr dirty="0" sz="1350" spc="-5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-20">
                <a:solidFill>
                  <a:srgbClr val="D7E5D8"/>
                </a:solidFill>
                <a:latin typeface="Microsoft Sans Serif"/>
                <a:cs typeface="Microsoft Sans Serif"/>
              </a:rPr>
              <a:t>pequeños</a:t>
            </a:r>
            <a:r>
              <a:rPr dirty="0" sz="1350" spc="-5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350">
                <a:solidFill>
                  <a:srgbClr val="D7E5D8"/>
                </a:solidFill>
                <a:latin typeface="Microsoft Sans Serif"/>
                <a:cs typeface="Microsoft Sans Serif"/>
              </a:rPr>
              <a:t>o</a:t>
            </a:r>
            <a:r>
              <a:rPr dirty="0" sz="1350" spc="-5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-10">
                <a:solidFill>
                  <a:srgbClr val="D7E5D8"/>
                </a:solidFill>
                <a:latin typeface="Microsoft Sans Serif"/>
                <a:cs typeface="Microsoft Sans Serif"/>
              </a:rPr>
              <a:t>blogs peǐsonales.</a:t>
            </a:r>
            <a:endParaRPr sz="1350">
              <a:latin typeface="Microsoft Sans Serif"/>
              <a:cs typeface="Microsoft Sans Serif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289920" y="3097212"/>
            <a:ext cx="2811145" cy="12553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720">
                <a:solidFill>
                  <a:srgbClr val="F0F4F1"/>
                </a:solidFill>
                <a:latin typeface="SimSun-ExtB"/>
                <a:cs typeface="SimSun-ExtB"/>
              </a:rPr>
              <a:t>Wildcard</a:t>
            </a:r>
            <a:endParaRPr sz="1650">
              <a:latin typeface="SimSun-ExtB"/>
              <a:cs typeface="SimSun-ExtB"/>
            </a:endParaRPr>
          </a:p>
          <a:p>
            <a:pPr marL="12700" marR="5080">
              <a:lnSpc>
                <a:spcPct val="134300"/>
              </a:lnSpc>
              <a:spcBef>
                <a:spcPts val="1140"/>
              </a:spcBef>
            </a:pPr>
            <a:r>
              <a:rPr dirty="0" sz="1350">
                <a:solidFill>
                  <a:srgbClr val="D7E5D8"/>
                </a:solidFill>
                <a:latin typeface="Microsoft Sans Serif"/>
                <a:cs typeface="Microsoft Sans Serif"/>
              </a:rPr>
              <a:t>Cubǐe</a:t>
            </a:r>
            <a:r>
              <a:rPr dirty="0" sz="1350" spc="-4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-10">
                <a:solidFill>
                  <a:srgbClr val="D7E5D8"/>
                </a:solidFill>
                <a:latin typeface="Microsoft Sans Serif"/>
                <a:cs typeface="Microsoft Sans Serif"/>
              </a:rPr>
              <a:t>un</a:t>
            </a:r>
            <a:r>
              <a:rPr dirty="0" sz="1350" spc="-4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350">
                <a:solidFill>
                  <a:srgbClr val="D7E5D8"/>
                </a:solidFill>
                <a:latin typeface="Microsoft Sans Serif"/>
                <a:cs typeface="Microsoft Sans Serif"/>
              </a:rPr>
              <a:t>dominio</a:t>
            </a:r>
            <a:r>
              <a:rPr dirty="0" sz="1350" spc="-4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350">
                <a:solidFill>
                  <a:srgbClr val="D7E5D8"/>
                </a:solidFill>
                <a:latin typeface="Microsoft Sans Serif"/>
                <a:cs typeface="Microsoft Sans Serif"/>
              </a:rPr>
              <a:t>y</a:t>
            </a:r>
            <a:r>
              <a:rPr dirty="0" sz="1350" spc="-4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-60">
                <a:solidFill>
                  <a:srgbClr val="D7E5D8"/>
                </a:solidFill>
                <a:latin typeface="Microsoft Sans Serif"/>
                <a:cs typeface="Microsoft Sans Serif"/>
              </a:rPr>
              <a:t>sus</a:t>
            </a:r>
            <a:r>
              <a:rPr dirty="0" sz="1350" spc="-4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-10">
                <a:solidFill>
                  <a:srgbClr val="D7E5D8"/>
                </a:solidFill>
                <a:latin typeface="Microsoft Sans Serif"/>
                <a:cs typeface="Microsoft Sans Serif"/>
              </a:rPr>
              <a:t>subdominios. </a:t>
            </a:r>
            <a:r>
              <a:rPr dirty="0" sz="1350" spc="10">
                <a:solidFill>
                  <a:srgbClr val="D7E5D8"/>
                </a:solidFill>
                <a:latin typeface="Microsoft Sans Serif"/>
                <a:cs typeface="Microsoft Sans Serif"/>
              </a:rPr>
              <a:t>Peǐfecto</a:t>
            </a:r>
            <a:r>
              <a:rPr dirty="0" sz="1350" spc="7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10">
                <a:solidFill>
                  <a:srgbClr val="D7E5D8"/>
                </a:solidFill>
                <a:latin typeface="Microsoft Sans Serif"/>
                <a:cs typeface="Microsoft Sans Serif"/>
              </a:rPr>
              <a:t>paǐa</a:t>
            </a:r>
            <a:r>
              <a:rPr dirty="0" sz="1350" spc="7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10">
                <a:solidFill>
                  <a:srgbClr val="D7E5D8"/>
                </a:solidFill>
                <a:latin typeface="Microsoft Sans Serif"/>
                <a:cs typeface="Microsoft Sans Serif"/>
              </a:rPr>
              <a:t>platafoǐmas</a:t>
            </a:r>
            <a:r>
              <a:rPr dirty="0" sz="1350" spc="7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-25">
                <a:solidFill>
                  <a:srgbClr val="D7E5D8"/>
                </a:solidFill>
                <a:latin typeface="Microsoft Sans Serif"/>
                <a:cs typeface="Microsoft Sans Serif"/>
              </a:rPr>
              <a:t>con </a:t>
            </a:r>
            <a:r>
              <a:rPr dirty="0" sz="1350">
                <a:solidFill>
                  <a:srgbClr val="D7E5D8"/>
                </a:solidFill>
                <a:latin typeface="Microsoft Sans Serif"/>
                <a:cs typeface="Microsoft Sans Serif"/>
              </a:rPr>
              <a:t>múltiples</a:t>
            </a:r>
            <a:r>
              <a:rPr dirty="0" sz="1350" spc="-4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-10">
                <a:solidFill>
                  <a:srgbClr val="D7E5D8"/>
                </a:solidFill>
                <a:latin typeface="Microsoft Sans Serif"/>
                <a:cs typeface="Microsoft Sans Serif"/>
              </a:rPr>
              <a:t>seǐvicios.</a:t>
            </a:r>
            <a:endParaRPr sz="1350">
              <a:latin typeface="Microsoft Sans Serif"/>
              <a:cs typeface="Microsoft Sans Serif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7560271" y="3097212"/>
            <a:ext cx="2371090" cy="549275"/>
          </a:xfrm>
          <a:prstGeom prst="rect">
            <a:avLst/>
          </a:prstGeom>
        </p:spPr>
        <p:txBody>
          <a:bodyPr wrap="square" lIns="0" tIns="1905" rIns="0" bIns="0" rtlCol="0" vert="horz">
            <a:spAutoFit/>
          </a:bodyPr>
          <a:lstStyle/>
          <a:p>
            <a:pPr marL="12700" marR="5080">
              <a:lnSpc>
                <a:spcPct val="106100"/>
              </a:lnSpc>
              <a:spcBef>
                <a:spcPts val="15"/>
              </a:spcBef>
            </a:pPr>
            <a:r>
              <a:rPr dirty="0" sz="1650" spc="1110">
                <a:solidFill>
                  <a:srgbClr val="F0F4F1"/>
                </a:solidFill>
                <a:latin typeface="SimSun-ExtB"/>
                <a:cs typeface="SimSun-ExtB"/>
              </a:rPr>
              <a:t>EV</a:t>
            </a:r>
            <a:r>
              <a:rPr dirty="0" sz="1650" spc="-300">
                <a:solidFill>
                  <a:srgbClr val="F0F4F1"/>
                </a:solidFill>
                <a:latin typeface="SimSun-ExtB"/>
                <a:cs typeface="SimSun-ExtB"/>
              </a:rPr>
              <a:t> </a:t>
            </a:r>
            <a:r>
              <a:rPr dirty="0" sz="1650" spc="720">
                <a:solidFill>
                  <a:srgbClr val="F0F4F1"/>
                </a:solidFill>
                <a:latin typeface="SimSun-ExtB"/>
                <a:cs typeface="SimSun-ExtB"/>
              </a:rPr>
              <a:t>(Extended </a:t>
            </a:r>
            <a:r>
              <a:rPr dirty="0" sz="1650" spc="450">
                <a:solidFill>
                  <a:srgbClr val="F0F4F1"/>
                </a:solidFill>
                <a:latin typeface="SimSun-ExtB"/>
                <a:cs typeface="SimSun-ExtB"/>
              </a:rPr>
              <a:t>Validation)</a:t>
            </a:r>
            <a:endParaRPr sz="1650">
              <a:latin typeface="SimSun-ExtB"/>
              <a:cs typeface="SimSun-ExtB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7560271" y="3783965"/>
            <a:ext cx="2475230" cy="835025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marL="12700" marR="5080">
              <a:lnSpc>
                <a:spcPct val="131900"/>
              </a:lnSpc>
              <a:spcBef>
                <a:spcPts val="60"/>
              </a:spcBef>
            </a:pPr>
            <a:r>
              <a:rPr dirty="0" sz="1350">
                <a:solidFill>
                  <a:srgbClr val="D7E5D8"/>
                </a:solidFill>
                <a:latin typeface="Microsoft Sans Serif"/>
                <a:cs typeface="Microsoft Sans Serif"/>
              </a:rPr>
              <a:t>Ofǐece</a:t>
            </a:r>
            <a:r>
              <a:rPr dirty="0" sz="1350" spc="3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350">
                <a:solidFill>
                  <a:srgbClr val="D7E5D8"/>
                </a:solidFill>
                <a:latin typeface="Microsoft Sans Serif"/>
                <a:cs typeface="Microsoft Sans Serif"/>
              </a:rPr>
              <a:t>la</a:t>
            </a:r>
            <a:r>
              <a:rPr dirty="0" sz="1350" spc="4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350">
                <a:solidFill>
                  <a:srgbClr val="D7E5D8"/>
                </a:solidFill>
                <a:latin typeface="Microsoft Sans Serif"/>
                <a:cs typeface="Microsoft Sans Serif"/>
              </a:rPr>
              <a:t>mayoǐ</a:t>
            </a:r>
            <a:r>
              <a:rPr dirty="0" sz="1350" spc="4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-10">
                <a:solidFill>
                  <a:srgbClr val="D7E5D8"/>
                </a:solidFill>
                <a:latin typeface="Microsoft Sans Serif"/>
                <a:cs typeface="Microsoft Sans Serif"/>
              </a:rPr>
              <a:t>confianza. </a:t>
            </a:r>
            <a:r>
              <a:rPr dirty="0" sz="1350">
                <a:solidFill>
                  <a:srgbClr val="D7E5D8"/>
                </a:solidFill>
                <a:latin typeface="Microsoft Sans Serif"/>
                <a:cs typeface="Microsoft Sans Serif"/>
              </a:rPr>
              <a:t>Recomendado</a:t>
            </a:r>
            <a:r>
              <a:rPr dirty="0" sz="1350" spc="-1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350">
                <a:solidFill>
                  <a:srgbClr val="D7E5D8"/>
                </a:solidFill>
                <a:latin typeface="Microsoft Sans Serif"/>
                <a:cs typeface="Microsoft Sans Serif"/>
              </a:rPr>
              <a:t>paǐa</a:t>
            </a:r>
            <a:r>
              <a:rPr dirty="0" sz="1350" spc="-1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-20">
                <a:solidFill>
                  <a:srgbClr val="D7E5D8"/>
                </a:solidFill>
                <a:latin typeface="Microsoft Sans Serif"/>
                <a:cs typeface="Microsoft Sans Serif"/>
              </a:rPr>
              <a:t>sitios</a:t>
            </a:r>
            <a:r>
              <a:rPr dirty="0" sz="1350" spc="-1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-25">
                <a:solidFill>
                  <a:srgbClr val="D7E5D8"/>
                </a:solidFill>
                <a:latin typeface="Microsoft Sans Serif"/>
                <a:cs typeface="Microsoft Sans Serif"/>
              </a:rPr>
              <a:t>de </a:t>
            </a:r>
            <a:r>
              <a:rPr dirty="0" sz="1350">
                <a:solidFill>
                  <a:srgbClr val="D7E5D8"/>
                </a:solidFill>
                <a:latin typeface="Microsoft Sans Serif"/>
                <a:cs typeface="Microsoft Sans Serif"/>
              </a:rPr>
              <a:t>comeǐcio</a:t>
            </a:r>
            <a:r>
              <a:rPr dirty="0" sz="1350" spc="9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350">
                <a:solidFill>
                  <a:srgbClr val="D7E5D8"/>
                </a:solidFill>
                <a:latin typeface="Microsoft Sans Serif"/>
                <a:cs typeface="Microsoft Sans Serif"/>
              </a:rPr>
              <a:t>electǐónico</a:t>
            </a:r>
            <a:r>
              <a:rPr dirty="0" sz="1350" spc="9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350">
                <a:solidFill>
                  <a:srgbClr val="D7E5D8"/>
                </a:solidFill>
                <a:latin typeface="Microsoft Sans Serif"/>
                <a:cs typeface="Microsoft Sans Serif"/>
              </a:rPr>
              <a:t>y</a:t>
            </a:r>
            <a:r>
              <a:rPr dirty="0" sz="1350" spc="10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-10">
                <a:solidFill>
                  <a:srgbClr val="D7E5D8"/>
                </a:solidFill>
                <a:latin typeface="Microsoft Sans Serif"/>
                <a:cs typeface="Microsoft Sans Serif"/>
              </a:rPr>
              <a:t>finanzas.</a:t>
            </a:r>
            <a:endParaRPr sz="1350">
              <a:latin typeface="Microsoft Sans Serif"/>
              <a:cs typeface="Microsoft Sans Serif"/>
            </a:endParaRPr>
          </a:p>
        </p:txBody>
      </p:sp>
      <p:pic>
        <p:nvPicPr>
          <p:cNvPr id="8" name="object 8" descr="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1430000" cy="8382000"/>
          </a:xfrm>
          <a:custGeom>
            <a:avLst/>
            <a:gdLst/>
            <a:ahLst/>
            <a:cxnLst/>
            <a:rect l="l" t="t" r="r" b="b"/>
            <a:pathLst>
              <a:path w="11430000" h="8382000">
                <a:moveTo>
                  <a:pt x="11430000" y="0"/>
                </a:moveTo>
                <a:lnTo>
                  <a:pt x="0" y="0"/>
                </a:lnTo>
                <a:lnTo>
                  <a:pt x="0" y="8382000"/>
                </a:lnTo>
                <a:lnTo>
                  <a:pt x="11430000" y="83820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151F24">
              <a:alpha val="94898"/>
            </a:srgbClr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7143750" y="0"/>
            <a:ext cx="4286250" cy="8382000"/>
            <a:chOff x="7143750" y="0"/>
            <a:chExt cx="4286250" cy="8382000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43750" y="0"/>
              <a:ext cx="4286249" cy="8381999"/>
            </a:xfrm>
            <a:prstGeom prst="rect">
              <a:avLst/>
            </a:prstGeom>
          </p:spPr>
        </p:pic>
        <p:pic>
          <p:nvPicPr>
            <p:cNvPr id="5" name="object 5" descr="">
              <a:hlinkClick r:id="rId3"/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580244" y="7867650"/>
              <a:ext cx="1754504" cy="41910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87375" y="444500"/>
            <a:ext cx="5913120" cy="1616075"/>
          </a:xfrm>
          <a:prstGeom prst="rect"/>
        </p:spPr>
        <p:txBody>
          <a:bodyPr wrap="square" lIns="0" tIns="14605" rIns="0" bIns="0" rtlCol="0" vert="horz">
            <a:spAutoFit/>
          </a:bodyPr>
          <a:lstStyle/>
          <a:p>
            <a:pPr marL="12700" marR="5080">
              <a:lnSpc>
                <a:spcPts val="4200"/>
              </a:lnSpc>
              <a:spcBef>
                <a:spcPts val="115"/>
              </a:spcBef>
            </a:pPr>
            <a:r>
              <a:rPr dirty="0" spc="915"/>
              <a:t>Oble⭲ciõ⭲</a:t>
            </a:r>
            <a:r>
              <a:rPr dirty="0" spc="-625"/>
              <a:t> </a:t>
            </a:r>
            <a:r>
              <a:rPr dirty="0" spc="1405"/>
              <a:t>Q </a:t>
            </a:r>
            <a:r>
              <a:rPr dirty="0" spc="730"/>
              <a:t>Co⭲Ēig-</a:t>
            </a:r>
            <a:r>
              <a:rPr dirty="0" spc="755"/>
              <a:t>raciõ⭲</a:t>
            </a:r>
            <a:r>
              <a:rPr dirty="0" spc="-590"/>
              <a:t> </a:t>
            </a:r>
            <a:r>
              <a:rPr dirty="0" spc="1814"/>
              <a:t>de</a:t>
            </a:r>
          </a:p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pc="950"/>
              <a:t>CerliĒicados</a:t>
            </a:r>
          </a:p>
        </p:txBody>
      </p:sp>
      <p:grpSp>
        <p:nvGrpSpPr>
          <p:cNvPr id="7" name="object 7" descr=""/>
          <p:cNvGrpSpPr/>
          <p:nvPr/>
        </p:nvGrpSpPr>
        <p:grpSpPr>
          <a:xfrm>
            <a:off x="664368" y="2343150"/>
            <a:ext cx="972185" cy="5562600"/>
            <a:chOff x="664368" y="2343150"/>
            <a:chExt cx="972185" cy="5562600"/>
          </a:xfrm>
        </p:grpSpPr>
        <p:sp>
          <p:nvSpPr>
            <p:cNvPr id="8" name="object 8" descr=""/>
            <p:cNvSpPr/>
            <p:nvPr/>
          </p:nvSpPr>
          <p:spPr>
            <a:xfrm>
              <a:off x="847725" y="2343149"/>
              <a:ext cx="788670" cy="5562600"/>
            </a:xfrm>
            <a:custGeom>
              <a:avLst/>
              <a:gdLst/>
              <a:ahLst/>
              <a:cxnLst/>
              <a:rect l="l" t="t" r="r" b="b"/>
              <a:pathLst>
                <a:path w="788669" h="5562600">
                  <a:moveTo>
                    <a:pt x="19050" y="6896"/>
                  </a:moveTo>
                  <a:lnTo>
                    <a:pt x="18122" y="4648"/>
                  </a:lnTo>
                  <a:lnTo>
                    <a:pt x="14401" y="927"/>
                  </a:lnTo>
                  <a:lnTo>
                    <a:pt x="12153" y="0"/>
                  </a:lnTo>
                  <a:lnTo>
                    <a:pt x="6896" y="0"/>
                  </a:lnTo>
                  <a:lnTo>
                    <a:pt x="4648" y="927"/>
                  </a:lnTo>
                  <a:lnTo>
                    <a:pt x="927" y="4648"/>
                  </a:lnTo>
                  <a:lnTo>
                    <a:pt x="0" y="6896"/>
                  </a:lnTo>
                  <a:lnTo>
                    <a:pt x="0" y="5553075"/>
                  </a:lnTo>
                  <a:lnTo>
                    <a:pt x="0" y="5555704"/>
                  </a:lnTo>
                  <a:lnTo>
                    <a:pt x="927" y="5557952"/>
                  </a:lnTo>
                  <a:lnTo>
                    <a:pt x="4648" y="5561673"/>
                  </a:lnTo>
                  <a:lnTo>
                    <a:pt x="6896" y="5562600"/>
                  </a:lnTo>
                  <a:lnTo>
                    <a:pt x="12153" y="5562600"/>
                  </a:lnTo>
                  <a:lnTo>
                    <a:pt x="14401" y="5561673"/>
                  </a:lnTo>
                  <a:lnTo>
                    <a:pt x="18122" y="5557952"/>
                  </a:lnTo>
                  <a:lnTo>
                    <a:pt x="19050" y="5555704"/>
                  </a:lnTo>
                  <a:lnTo>
                    <a:pt x="19050" y="6896"/>
                  </a:lnTo>
                  <a:close/>
                </a:path>
                <a:path w="788669" h="5562600">
                  <a:moveTo>
                    <a:pt x="788200" y="378371"/>
                  </a:moveTo>
                  <a:lnTo>
                    <a:pt x="787260" y="376123"/>
                  </a:lnTo>
                  <a:lnTo>
                    <a:pt x="783539" y="372402"/>
                  </a:lnTo>
                  <a:lnTo>
                    <a:pt x="781304" y="371475"/>
                  </a:lnTo>
                  <a:lnTo>
                    <a:pt x="195008" y="371475"/>
                  </a:lnTo>
                  <a:lnTo>
                    <a:pt x="192760" y="372402"/>
                  </a:lnTo>
                  <a:lnTo>
                    <a:pt x="189039" y="376123"/>
                  </a:lnTo>
                  <a:lnTo>
                    <a:pt x="188112" y="378371"/>
                  </a:lnTo>
                  <a:lnTo>
                    <a:pt x="188112" y="381000"/>
                  </a:lnTo>
                  <a:lnTo>
                    <a:pt x="188112" y="383628"/>
                  </a:lnTo>
                  <a:lnTo>
                    <a:pt x="189039" y="385876"/>
                  </a:lnTo>
                  <a:lnTo>
                    <a:pt x="192760" y="389610"/>
                  </a:lnTo>
                  <a:lnTo>
                    <a:pt x="195008" y="390525"/>
                  </a:lnTo>
                  <a:lnTo>
                    <a:pt x="781304" y="390525"/>
                  </a:lnTo>
                  <a:lnTo>
                    <a:pt x="783539" y="389610"/>
                  </a:lnTo>
                  <a:lnTo>
                    <a:pt x="787260" y="385876"/>
                  </a:lnTo>
                  <a:lnTo>
                    <a:pt x="788200" y="383628"/>
                  </a:lnTo>
                  <a:lnTo>
                    <a:pt x="788200" y="378371"/>
                  </a:lnTo>
                  <a:close/>
                </a:path>
              </a:pathLst>
            </a:custGeom>
            <a:solidFill>
              <a:srgbClr val="6D90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669131" y="2538412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29380" y="0"/>
                  </a:moveTo>
                  <a:lnTo>
                    <a:pt x="51619" y="0"/>
                  </a:lnTo>
                  <a:lnTo>
                    <a:pt x="48026" y="355"/>
                  </a:lnTo>
                  <a:lnTo>
                    <a:pt x="13618" y="18745"/>
                  </a:lnTo>
                  <a:lnTo>
                    <a:pt x="0" y="51612"/>
                  </a:lnTo>
                  <a:lnTo>
                    <a:pt x="0" y="325755"/>
                  </a:lnTo>
                  <a:lnTo>
                    <a:pt x="0" y="329387"/>
                  </a:lnTo>
                  <a:lnTo>
                    <a:pt x="18747" y="367385"/>
                  </a:lnTo>
                  <a:lnTo>
                    <a:pt x="51619" y="381000"/>
                  </a:lnTo>
                  <a:lnTo>
                    <a:pt x="329380" y="381000"/>
                  </a:lnTo>
                  <a:lnTo>
                    <a:pt x="367381" y="362254"/>
                  </a:lnTo>
                  <a:lnTo>
                    <a:pt x="381000" y="329387"/>
                  </a:lnTo>
                  <a:lnTo>
                    <a:pt x="381000" y="51612"/>
                  </a:lnTo>
                  <a:lnTo>
                    <a:pt x="362252" y="13614"/>
                  </a:lnTo>
                  <a:lnTo>
                    <a:pt x="332973" y="355"/>
                  </a:lnTo>
                  <a:lnTo>
                    <a:pt x="329380" y="0"/>
                  </a:lnTo>
                  <a:close/>
                </a:path>
              </a:pathLst>
            </a:custGeom>
            <a:solidFill>
              <a:srgbClr val="53780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669131" y="2538412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0" y="325755"/>
                  </a:moveTo>
                  <a:lnTo>
                    <a:pt x="0" y="55245"/>
                  </a:lnTo>
                  <a:lnTo>
                    <a:pt x="0" y="51612"/>
                  </a:lnTo>
                  <a:lnTo>
                    <a:pt x="351" y="48031"/>
                  </a:lnTo>
                  <a:lnTo>
                    <a:pt x="1061" y="44462"/>
                  </a:lnTo>
                  <a:lnTo>
                    <a:pt x="1771" y="40906"/>
                  </a:lnTo>
                  <a:lnTo>
                    <a:pt x="2818" y="37452"/>
                  </a:lnTo>
                  <a:lnTo>
                    <a:pt x="4207" y="34099"/>
                  </a:lnTo>
                  <a:lnTo>
                    <a:pt x="5590" y="30746"/>
                  </a:lnTo>
                  <a:lnTo>
                    <a:pt x="34102" y="4203"/>
                  </a:lnTo>
                  <a:lnTo>
                    <a:pt x="44465" y="1066"/>
                  </a:lnTo>
                  <a:lnTo>
                    <a:pt x="48026" y="355"/>
                  </a:lnTo>
                  <a:lnTo>
                    <a:pt x="51619" y="0"/>
                  </a:lnTo>
                  <a:lnTo>
                    <a:pt x="55245" y="0"/>
                  </a:lnTo>
                  <a:lnTo>
                    <a:pt x="325755" y="0"/>
                  </a:lnTo>
                  <a:lnTo>
                    <a:pt x="329380" y="0"/>
                  </a:lnTo>
                  <a:lnTo>
                    <a:pt x="332973" y="355"/>
                  </a:lnTo>
                  <a:lnTo>
                    <a:pt x="336534" y="1066"/>
                  </a:lnTo>
                  <a:lnTo>
                    <a:pt x="340092" y="1765"/>
                  </a:lnTo>
                  <a:lnTo>
                    <a:pt x="371688" y="24549"/>
                  </a:lnTo>
                  <a:lnTo>
                    <a:pt x="381000" y="51612"/>
                  </a:lnTo>
                  <a:lnTo>
                    <a:pt x="381000" y="55245"/>
                  </a:lnTo>
                  <a:lnTo>
                    <a:pt x="381000" y="325755"/>
                  </a:lnTo>
                  <a:lnTo>
                    <a:pt x="381000" y="329387"/>
                  </a:lnTo>
                  <a:lnTo>
                    <a:pt x="380648" y="332968"/>
                  </a:lnTo>
                  <a:lnTo>
                    <a:pt x="379938" y="336524"/>
                  </a:lnTo>
                  <a:lnTo>
                    <a:pt x="379228" y="340093"/>
                  </a:lnTo>
                  <a:lnTo>
                    <a:pt x="378181" y="343547"/>
                  </a:lnTo>
                  <a:lnTo>
                    <a:pt x="376793" y="346887"/>
                  </a:lnTo>
                  <a:lnTo>
                    <a:pt x="375404" y="350253"/>
                  </a:lnTo>
                  <a:lnTo>
                    <a:pt x="346897" y="376796"/>
                  </a:lnTo>
                  <a:lnTo>
                    <a:pt x="336534" y="379933"/>
                  </a:lnTo>
                  <a:lnTo>
                    <a:pt x="332973" y="380644"/>
                  </a:lnTo>
                  <a:lnTo>
                    <a:pt x="329380" y="381000"/>
                  </a:lnTo>
                  <a:lnTo>
                    <a:pt x="325755" y="381000"/>
                  </a:lnTo>
                  <a:lnTo>
                    <a:pt x="55245" y="381000"/>
                  </a:lnTo>
                  <a:lnTo>
                    <a:pt x="51619" y="381000"/>
                  </a:lnTo>
                  <a:lnTo>
                    <a:pt x="48026" y="380644"/>
                  </a:lnTo>
                  <a:lnTo>
                    <a:pt x="44465" y="379933"/>
                  </a:lnTo>
                  <a:lnTo>
                    <a:pt x="40907" y="379234"/>
                  </a:lnTo>
                  <a:lnTo>
                    <a:pt x="9311" y="356450"/>
                  </a:lnTo>
                  <a:lnTo>
                    <a:pt x="4207" y="346887"/>
                  </a:lnTo>
                  <a:lnTo>
                    <a:pt x="2818" y="343547"/>
                  </a:lnTo>
                  <a:lnTo>
                    <a:pt x="1771" y="340093"/>
                  </a:lnTo>
                  <a:lnTo>
                    <a:pt x="1061" y="336524"/>
                  </a:lnTo>
                  <a:lnTo>
                    <a:pt x="351" y="332968"/>
                  </a:lnTo>
                  <a:lnTo>
                    <a:pt x="0" y="329387"/>
                  </a:lnTo>
                  <a:lnTo>
                    <a:pt x="0" y="325755"/>
                  </a:lnTo>
                  <a:close/>
                </a:path>
              </a:pathLst>
            </a:custGeom>
            <a:ln w="9525">
              <a:solidFill>
                <a:srgbClr val="6D902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776386" y="2540000"/>
            <a:ext cx="161925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20">
                <a:solidFill>
                  <a:srgbClr val="FFFFFF"/>
                </a:solidFill>
                <a:latin typeface="SimSun-ExtB"/>
                <a:cs typeface="SimSun-ExtB"/>
              </a:rPr>
              <a:t>l</a:t>
            </a:r>
            <a:endParaRPr sz="2000">
              <a:latin typeface="SimSun-ExtB"/>
              <a:cs typeface="SimSun-ExtB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787525" y="2487612"/>
            <a:ext cx="4653280" cy="91249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505">
                <a:solidFill>
                  <a:srgbClr val="D7E5D8"/>
                </a:solidFill>
                <a:latin typeface="SimSun-ExtB"/>
                <a:cs typeface="SimSun-ExtB"/>
              </a:rPr>
              <a:t>“e⭲erar</a:t>
            </a:r>
            <a:r>
              <a:rPr dirty="0" sz="1650" spc="-280">
                <a:solidFill>
                  <a:srgbClr val="D7E5D8"/>
                </a:solidFill>
                <a:latin typeface="SimSun-ExtB"/>
                <a:cs typeface="SimSun-ExtB"/>
              </a:rPr>
              <a:t> </a:t>
            </a:r>
            <a:r>
              <a:rPr dirty="0" sz="1650" spc="1170">
                <a:solidFill>
                  <a:srgbClr val="D7E5D8"/>
                </a:solidFill>
                <a:latin typeface="SimSun-ExtB"/>
                <a:cs typeface="SimSun-ExtB"/>
              </a:rPr>
              <a:t>CSR</a:t>
            </a:r>
            <a:endParaRPr sz="1650">
              <a:latin typeface="SimSun-ExtB"/>
              <a:cs typeface="SimSun-ExtB"/>
            </a:endParaRPr>
          </a:p>
          <a:p>
            <a:pPr marL="12700" marR="5080">
              <a:lnSpc>
                <a:spcPct val="134300"/>
              </a:lnSpc>
              <a:spcBef>
                <a:spcPts val="615"/>
              </a:spcBef>
            </a:pPr>
            <a:r>
              <a:rPr dirty="0" sz="1350">
                <a:solidFill>
                  <a:srgbClr val="D7E5D8"/>
                </a:solidFill>
                <a:latin typeface="Microsoft Sans Serif"/>
                <a:cs typeface="Microsoft Sans Serif"/>
              </a:rPr>
              <a:t>Cǐea</a:t>
            </a:r>
            <a:r>
              <a:rPr dirty="0" sz="1350" spc="-1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350">
                <a:solidFill>
                  <a:srgbClr val="D7E5D8"/>
                </a:solidFill>
                <a:latin typeface="Microsoft Sans Serif"/>
                <a:cs typeface="Microsoft Sans Serif"/>
              </a:rPr>
              <a:t>una</a:t>
            </a:r>
            <a:r>
              <a:rPr dirty="0" sz="1350" spc="-1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350">
                <a:solidFill>
                  <a:srgbClr val="D7E5D8"/>
                </a:solidFill>
                <a:latin typeface="Microsoft Sans Serif"/>
                <a:cs typeface="Microsoft Sans Serif"/>
              </a:rPr>
              <a:t>solicitud</a:t>
            </a:r>
            <a:r>
              <a:rPr dirty="0" sz="1350" spc="-1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350">
                <a:solidFill>
                  <a:srgbClr val="D7E5D8"/>
                </a:solidFill>
                <a:latin typeface="Microsoft Sans Serif"/>
                <a:cs typeface="Microsoft Sans Serif"/>
              </a:rPr>
              <a:t>de</a:t>
            </a:r>
            <a:r>
              <a:rPr dirty="0" sz="1350" spc="-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55">
                <a:solidFill>
                  <a:srgbClr val="D7E5D8"/>
                </a:solidFill>
                <a:latin typeface="Microsoft Sans Serif"/>
                <a:cs typeface="Microsoft Sans Serif"/>
              </a:rPr>
              <a:t>fiǐma</a:t>
            </a:r>
            <a:r>
              <a:rPr dirty="0" sz="1350" spc="-1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350">
                <a:solidFill>
                  <a:srgbClr val="D7E5D8"/>
                </a:solidFill>
                <a:latin typeface="Microsoft Sans Serif"/>
                <a:cs typeface="Microsoft Sans Serif"/>
              </a:rPr>
              <a:t>de</a:t>
            </a:r>
            <a:r>
              <a:rPr dirty="0" sz="1350" spc="-1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350">
                <a:solidFill>
                  <a:srgbClr val="D7E5D8"/>
                </a:solidFill>
                <a:latin typeface="Microsoft Sans Serif"/>
                <a:cs typeface="Microsoft Sans Serif"/>
              </a:rPr>
              <a:t>ceǐtificado</a:t>
            </a:r>
            <a:r>
              <a:rPr dirty="0" sz="1350" spc="-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-95">
                <a:solidFill>
                  <a:srgbClr val="D7E5D8"/>
                </a:solidFill>
                <a:latin typeface="Microsoft Sans Serif"/>
                <a:cs typeface="Microsoft Sans Serif"/>
              </a:rPr>
              <a:t>(CSR)</a:t>
            </a:r>
            <a:r>
              <a:rPr dirty="0" sz="1350" spc="-1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-20">
                <a:solidFill>
                  <a:srgbClr val="D7E5D8"/>
                </a:solidFill>
                <a:latin typeface="Microsoft Sans Serif"/>
                <a:cs typeface="Microsoft Sans Serif"/>
              </a:rPr>
              <a:t>en</a:t>
            </a:r>
            <a:r>
              <a:rPr dirty="0" sz="1350" spc="-1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350">
                <a:solidFill>
                  <a:srgbClr val="D7E5D8"/>
                </a:solidFill>
                <a:latin typeface="Microsoft Sans Serif"/>
                <a:cs typeface="Microsoft Sans Serif"/>
              </a:rPr>
              <a:t>tu</a:t>
            </a:r>
            <a:r>
              <a:rPr dirty="0" sz="1350" spc="-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-10">
                <a:solidFill>
                  <a:srgbClr val="D7E5D8"/>
                </a:solidFill>
                <a:latin typeface="Microsoft Sans Serif"/>
                <a:cs typeface="Microsoft Sans Serif"/>
              </a:rPr>
              <a:t>seǐvidoǐ </a:t>
            </a:r>
            <a:r>
              <a:rPr dirty="0" sz="1350" spc="-20">
                <a:solidFill>
                  <a:srgbClr val="D7E5D8"/>
                </a:solidFill>
                <a:latin typeface="Microsoft Sans Serif"/>
                <a:cs typeface="Microsoft Sans Serif"/>
              </a:rPr>
              <a:t>web.</a:t>
            </a:r>
            <a:endParaRPr sz="1350">
              <a:latin typeface="Microsoft Sans Serif"/>
              <a:cs typeface="Microsoft Sans Serif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664368" y="3971925"/>
            <a:ext cx="972185" cy="381000"/>
            <a:chOff x="664368" y="3971925"/>
            <a:chExt cx="972185" cy="381000"/>
          </a:xfrm>
        </p:grpSpPr>
        <p:sp>
          <p:nvSpPr>
            <p:cNvPr id="14" name="object 14" descr=""/>
            <p:cNvSpPr/>
            <p:nvPr/>
          </p:nvSpPr>
          <p:spPr>
            <a:xfrm>
              <a:off x="1035843" y="4152900"/>
              <a:ext cx="600710" cy="19050"/>
            </a:xfrm>
            <a:custGeom>
              <a:avLst/>
              <a:gdLst/>
              <a:ahLst/>
              <a:cxnLst/>
              <a:rect l="l" t="t" r="r" b="b"/>
              <a:pathLst>
                <a:path w="600710" h="19050">
                  <a:moveTo>
                    <a:pt x="593185" y="0"/>
                  </a:moveTo>
                  <a:lnTo>
                    <a:pt x="6896" y="0"/>
                  </a:lnTo>
                  <a:lnTo>
                    <a:pt x="4648" y="927"/>
                  </a:lnTo>
                  <a:lnTo>
                    <a:pt x="927" y="4648"/>
                  </a:lnTo>
                  <a:lnTo>
                    <a:pt x="0" y="6896"/>
                  </a:lnTo>
                  <a:lnTo>
                    <a:pt x="0" y="9525"/>
                  </a:lnTo>
                  <a:lnTo>
                    <a:pt x="0" y="12153"/>
                  </a:lnTo>
                  <a:lnTo>
                    <a:pt x="927" y="14401"/>
                  </a:lnTo>
                  <a:lnTo>
                    <a:pt x="4648" y="18122"/>
                  </a:lnTo>
                  <a:lnTo>
                    <a:pt x="6896" y="19050"/>
                  </a:lnTo>
                  <a:lnTo>
                    <a:pt x="593185" y="19050"/>
                  </a:lnTo>
                  <a:lnTo>
                    <a:pt x="595420" y="18122"/>
                  </a:lnTo>
                  <a:lnTo>
                    <a:pt x="599141" y="14401"/>
                  </a:lnTo>
                  <a:lnTo>
                    <a:pt x="600081" y="12153"/>
                  </a:lnTo>
                  <a:lnTo>
                    <a:pt x="600081" y="6896"/>
                  </a:lnTo>
                  <a:lnTo>
                    <a:pt x="599141" y="4648"/>
                  </a:lnTo>
                  <a:lnTo>
                    <a:pt x="595420" y="927"/>
                  </a:lnTo>
                  <a:lnTo>
                    <a:pt x="593185" y="0"/>
                  </a:lnTo>
                  <a:close/>
                </a:path>
              </a:pathLst>
            </a:custGeom>
            <a:solidFill>
              <a:srgbClr val="6D90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669131" y="3976687"/>
              <a:ext cx="381000" cy="371475"/>
            </a:xfrm>
            <a:custGeom>
              <a:avLst/>
              <a:gdLst/>
              <a:ahLst/>
              <a:cxnLst/>
              <a:rect l="l" t="t" r="r" b="b"/>
              <a:pathLst>
                <a:path w="381000" h="371475">
                  <a:moveTo>
                    <a:pt x="329380" y="0"/>
                  </a:moveTo>
                  <a:lnTo>
                    <a:pt x="51619" y="0"/>
                  </a:lnTo>
                  <a:lnTo>
                    <a:pt x="48026" y="355"/>
                  </a:lnTo>
                  <a:lnTo>
                    <a:pt x="13618" y="18745"/>
                  </a:lnTo>
                  <a:lnTo>
                    <a:pt x="0" y="51612"/>
                  </a:lnTo>
                  <a:lnTo>
                    <a:pt x="0" y="316230"/>
                  </a:lnTo>
                  <a:lnTo>
                    <a:pt x="0" y="319862"/>
                  </a:lnTo>
                  <a:lnTo>
                    <a:pt x="18747" y="357860"/>
                  </a:lnTo>
                  <a:lnTo>
                    <a:pt x="51619" y="371475"/>
                  </a:lnTo>
                  <a:lnTo>
                    <a:pt x="329380" y="371475"/>
                  </a:lnTo>
                  <a:lnTo>
                    <a:pt x="367381" y="352729"/>
                  </a:lnTo>
                  <a:lnTo>
                    <a:pt x="381000" y="319862"/>
                  </a:lnTo>
                  <a:lnTo>
                    <a:pt x="381000" y="51612"/>
                  </a:lnTo>
                  <a:lnTo>
                    <a:pt x="362252" y="13614"/>
                  </a:lnTo>
                  <a:lnTo>
                    <a:pt x="332973" y="355"/>
                  </a:lnTo>
                  <a:lnTo>
                    <a:pt x="329380" y="0"/>
                  </a:lnTo>
                  <a:close/>
                </a:path>
              </a:pathLst>
            </a:custGeom>
            <a:solidFill>
              <a:srgbClr val="53780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669131" y="3976687"/>
              <a:ext cx="381000" cy="371475"/>
            </a:xfrm>
            <a:custGeom>
              <a:avLst/>
              <a:gdLst/>
              <a:ahLst/>
              <a:cxnLst/>
              <a:rect l="l" t="t" r="r" b="b"/>
              <a:pathLst>
                <a:path w="381000" h="371475">
                  <a:moveTo>
                    <a:pt x="0" y="316230"/>
                  </a:moveTo>
                  <a:lnTo>
                    <a:pt x="0" y="55245"/>
                  </a:lnTo>
                  <a:lnTo>
                    <a:pt x="0" y="51612"/>
                  </a:lnTo>
                  <a:lnTo>
                    <a:pt x="351" y="48031"/>
                  </a:lnTo>
                  <a:lnTo>
                    <a:pt x="1061" y="44462"/>
                  </a:lnTo>
                  <a:lnTo>
                    <a:pt x="1771" y="40906"/>
                  </a:lnTo>
                  <a:lnTo>
                    <a:pt x="2818" y="37452"/>
                  </a:lnTo>
                  <a:lnTo>
                    <a:pt x="4207" y="34099"/>
                  </a:lnTo>
                  <a:lnTo>
                    <a:pt x="5590" y="30746"/>
                  </a:lnTo>
                  <a:lnTo>
                    <a:pt x="34102" y="4203"/>
                  </a:lnTo>
                  <a:lnTo>
                    <a:pt x="44465" y="1066"/>
                  </a:lnTo>
                  <a:lnTo>
                    <a:pt x="48026" y="355"/>
                  </a:lnTo>
                  <a:lnTo>
                    <a:pt x="51619" y="0"/>
                  </a:lnTo>
                  <a:lnTo>
                    <a:pt x="55245" y="0"/>
                  </a:lnTo>
                  <a:lnTo>
                    <a:pt x="325755" y="0"/>
                  </a:lnTo>
                  <a:lnTo>
                    <a:pt x="329380" y="0"/>
                  </a:lnTo>
                  <a:lnTo>
                    <a:pt x="332973" y="355"/>
                  </a:lnTo>
                  <a:lnTo>
                    <a:pt x="336534" y="1066"/>
                  </a:lnTo>
                  <a:lnTo>
                    <a:pt x="340092" y="1765"/>
                  </a:lnTo>
                  <a:lnTo>
                    <a:pt x="371688" y="24549"/>
                  </a:lnTo>
                  <a:lnTo>
                    <a:pt x="381000" y="51612"/>
                  </a:lnTo>
                  <a:lnTo>
                    <a:pt x="381000" y="55245"/>
                  </a:lnTo>
                  <a:lnTo>
                    <a:pt x="381000" y="316230"/>
                  </a:lnTo>
                  <a:lnTo>
                    <a:pt x="381000" y="319862"/>
                  </a:lnTo>
                  <a:lnTo>
                    <a:pt x="380648" y="323443"/>
                  </a:lnTo>
                  <a:lnTo>
                    <a:pt x="379938" y="326999"/>
                  </a:lnTo>
                  <a:lnTo>
                    <a:pt x="379228" y="330568"/>
                  </a:lnTo>
                  <a:lnTo>
                    <a:pt x="378181" y="334022"/>
                  </a:lnTo>
                  <a:lnTo>
                    <a:pt x="376793" y="337362"/>
                  </a:lnTo>
                  <a:lnTo>
                    <a:pt x="375404" y="340728"/>
                  </a:lnTo>
                  <a:lnTo>
                    <a:pt x="346897" y="367271"/>
                  </a:lnTo>
                  <a:lnTo>
                    <a:pt x="336534" y="370408"/>
                  </a:lnTo>
                  <a:lnTo>
                    <a:pt x="332973" y="371119"/>
                  </a:lnTo>
                  <a:lnTo>
                    <a:pt x="329380" y="371475"/>
                  </a:lnTo>
                  <a:lnTo>
                    <a:pt x="325755" y="371475"/>
                  </a:lnTo>
                  <a:lnTo>
                    <a:pt x="55245" y="371475"/>
                  </a:lnTo>
                  <a:lnTo>
                    <a:pt x="51619" y="371475"/>
                  </a:lnTo>
                  <a:lnTo>
                    <a:pt x="48026" y="371119"/>
                  </a:lnTo>
                  <a:lnTo>
                    <a:pt x="44465" y="370408"/>
                  </a:lnTo>
                  <a:lnTo>
                    <a:pt x="40907" y="369709"/>
                  </a:lnTo>
                  <a:lnTo>
                    <a:pt x="9311" y="346925"/>
                  </a:lnTo>
                  <a:lnTo>
                    <a:pt x="4207" y="337362"/>
                  </a:lnTo>
                  <a:lnTo>
                    <a:pt x="2818" y="334022"/>
                  </a:lnTo>
                  <a:lnTo>
                    <a:pt x="1771" y="330568"/>
                  </a:lnTo>
                  <a:lnTo>
                    <a:pt x="1061" y="326999"/>
                  </a:lnTo>
                  <a:lnTo>
                    <a:pt x="351" y="323443"/>
                  </a:lnTo>
                  <a:lnTo>
                    <a:pt x="0" y="319862"/>
                  </a:lnTo>
                  <a:lnTo>
                    <a:pt x="0" y="316230"/>
                  </a:lnTo>
                  <a:close/>
                </a:path>
              </a:pathLst>
            </a:custGeom>
            <a:ln w="9525">
              <a:solidFill>
                <a:srgbClr val="6D902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 txBox="1"/>
          <p:nvPr/>
        </p:nvSpPr>
        <p:spPr>
          <a:xfrm>
            <a:off x="715515" y="3968750"/>
            <a:ext cx="283845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980">
                <a:solidFill>
                  <a:srgbClr val="FFFFFF"/>
                </a:solidFill>
                <a:latin typeface="SimSun-ExtB"/>
                <a:cs typeface="SimSun-ExtB"/>
              </a:rPr>
              <a:t>2</a:t>
            </a:r>
            <a:endParaRPr sz="2000">
              <a:latin typeface="SimSun-ExtB"/>
              <a:cs typeface="SimSun-ExtB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1787525" y="3916362"/>
            <a:ext cx="4692015" cy="91249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700">
                <a:solidFill>
                  <a:srgbClr val="D7E5D8"/>
                </a:solidFill>
                <a:latin typeface="SimSun-ExtB"/>
                <a:cs typeface="SimSun-ExtB"/>
              </a:rPr>
              <a:t>Cofiprar</a:t>
            </a:r>
            <a:r>
              <a:rPr dirty="0" sz="1650" spc="-295">
                <a:solidFill>
                  <a:srgbClr val="D7E5D8"/>
                </a:solidFill>
                <a:latin typeface="SimSun-ExtB"/>
                <a:cs typeface="SimSun-ExtB"/>
              </a:rPr>
              <a:t> </a:t>
            </a:r>
            <a:r>
              <a:rPr dirty="0" sz="1650" spc="475">
                <a:solidFill>
                  <a:srgbClr val="D7E5D8"/>
                </a:solidFill>
                <a:latin typeface="SimSun-ExtB"/>
                <a:cs typeface="SimSun-ExtB"/>
              </a:rPr>
              <a:t>CerliĒicado</a:t>
            </a:r>
            <a:endParaRPr sz="1650">
              <a:latin typeface="SimSun-ExtB"/>
              <a:cs typeface="SimSun-ExtB"/>
            </a:endParaRPr>
          </a:p>
          <a:p>
            <a:pPr marL="12700" marR="5080">
              <a:lnSpc>
                <a:spcPct val="134300"/>
              </a:lnSpc>
              <a:spcBef>
                <a:spcPts val="615"/>
              </a:spcBef>
            </a:pPr>
            <a:r>
              <a:rPr dirty="0" sz="1350">
                <a:solidFill>
                  <a:srgbClr val="D7E5D8"/>
                </a:solidFill>
                <a:latin typeface="Microsoft Sans Serif"/>
                <a:cs typeface="Microsoft Sans Serif"/>
              </a:rPr>
              <a:t>Adquieǐe</a:t>
            </a:r>
            <a:r>
              <a:rPr dirty="0" sz="1350" spc="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-10">
                <a:solidFill>
                  <a:srgbClr val="D7E5D8"/>
                </a:solidFill>
                <a:latin typeface="Microsoft Sans Serif"/>
                <a:cs typeface="Microsoft Sans Serif"/>
              </a:rPr>
              <a:t>un</a:t>
            </a:r>
            <a:r>
              <a:rPr dirty="0" sz="1350" spc="1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350">
                <a:solidFill>
                  <a:srgbClr val="D7E5D8"/>
                </a:solidFill>
                <a:latin typeface="Microsoft Sans Serif"/>
                <a:cs typeface="Microsoft Sans Serif"/>
              </a:rPr>
              <a:t>ceǐtificado</a:t>
            </a:r>
            <a:r>
              <a:rPr dirty="0" sz="1350" spc="1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-114">
                <a:solidFill>
                  <a:srgbClr val="D7E5D8"/>
                </a:solidFill>
                <a:latin typeface="Microsoft Sans Serif"/>
                <a:cs typeface="Microsoft Sans Serif"/>
              </a:rPr>
              <a:t>SSL</a:t>
            </a:r>
            <a:r>
              <a:rPr dirty="0" sz="1350" spc="1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350">
                <a:solidFill>
                  <a:srgbClr val="D7E5D8"/>
                </a:solidFill>
                <a:latin typeface="Microsoft Sans Serif"/>
                <a:cs typeface="Microsoft Sans Serif"/>
              </a:rPr>
              <a:t>de</a:t>
            </a:r>
            <a:r>
              <a:rPr dirty="0" sz="1350" spc="1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350">
                <a:solidFill>
                  <a:srgbClr val="D7E5D8"/>
                </a:solidFill>
                <a:latin typeface="Microsoft Sans Serif"/>
                <a:cs typeface="Microsoft Sans Serif"/>
              </a:rPr>
              <a:t>una</a:t>
            </a:r>
            <a:r>
              <a:rPr dirty="0" sz="1350" spc="1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350">
                <a:solidFill>
                  <a:srgbClr val="D7E5D8"/>
                </a:solidFill>
                <a:latin typeface="Microsoft Sans Serif"/>
                <a:cs typeface="Microsoft Sans Serif"/>
              </a:rPr>
              <a:t>Autoǐidad</a:t>
            </a:r>
            <a:r>
              <a:rPr dirty="0" sz="1350" spc="1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350">
                <a:solidFill>
                  <a:srgbClr val="D7E5D8"/>
                </a:solidFill>
                <a:latin typeface="Microsoft Sans Serif"/>
                <a:cs typeface="Microsoft Sans Serif"/>
              </a:rPr>
              <a:t>de</a:t>
            </a:r>
            <a:r>
              <a:rPr dirty="0" sz="1350" spc="1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-10">
                <a:solidFill>
                  <a:srgbClr val="D7E5D8"/>
                </a:solidFill>
                <a:latin typeface="Microsoft Sans Serif"/>
                <a:cs typeface="Microsoft Sans Serif"/>
              </a:rPr>
              <a:t>Ceǐtificación </a:t>
            </a:r>
            <a:r>
              <a:rPr dirty="0" sz="1350" spc="-75">
                <a:solidFill>
                  <a:srgbClr val="D7E5D8"/>
                </a:solidFill>
                <a:latin typeface="Microsoft Sans Serif"/>
                <a:cs typeface="Microsoft Sans Serif"/>
              </a:rPr>
              <a:t>(CA)</a:t>
            </a:r>
            <a:r>
              <a:rPr dirty="0" sz="1350" spc="-5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-10">
                <a:solidFill>
                  <a:srgbClr val="D7E5D8"/>
                </a:solidFill>
                <a:latin typeface="Microsoft Sans Serif"/>
                <a:cs typeface="Microsoft Sans Serif"/>
              </a:rPr>
              <a:t>confiable.</a:t>
            </a:r>
            <a:endParaRPr sz="1350">
              <a:latin typeface="Microsoft Sans Serif"/>
              <a:cs typeface="Microsoft Sans Serif"/>
            </a:endParaRPr>
          </a:p>
        </p:txBody>
      </p:sp>
      <p:grpSp>
        <p:nvGrpSpPr>
          <p:cNvPr id="19" name="object 19" descr=""/>
          <p:cNvGrpSpPr/>
          <p:nvPr/>
        </p:nvGrpSpPr>
        <p:grpSpPr>
          <a:xfrm>
            <a:off x="664368" y="5400675"/>
            <a:ext cx="972185" cy="390525"/>
            <a:chOff x="664368" y="5400675"/>
            <a:chExt cx="972185" cy="390525"/>
          </a:xfrm>
        </p:grpSpPr>
        <p:sp>
          <p:nvSpPr>
            <p:cNvPr id="20" name="object 20" descr=""/>
            <p:cNvSpPr/>
            <p:nvPr/>
          </p:nvSpPr>
          <p:spPr>
            <a:xfrm>
              <a:off x="1035843" y="5581650"/>
              <a:ext cx="600710" cy="19050"/>
            </a:xfrm>
            <a:custGeom>
              <a:avLst/>
              <a:gdLst/>
              <a:ahLst/>
              <a:cxnLst/>
              <a:rect l="l" t="t" r="r" b="b"/>
              <a:pathLst>
                <a:path w="600710" h="19050">
                  <a:moveTo>
                    <a:pt x="593185" y="0"/>
                  </a:moveTo>
                  <a:lnTo>
                    <a:pt x="6896" y="0"/>
                  </a:lnTo>
                  <a:lnTo>
                    <a:pt x="4648" y="927"/>
                  </a:lnTo>
                  <a:lnTo>
                    <a:pt x="927" y="4648"/>
                  </a:lnTo>
                  <a:lnTo>
                    <a:pt x="0" y="6896"/>
                  </a:lnTo>
                  <a:lnTo>
                    <a:pt x="0" y="9525"/>
                  </a:lnTo>
                  <a:lnTo>
                    <a:pt x="0" y="12153"/>
                  </a:lnTo>
                  <a:lnTo>
                    <a:pt x="927" y="14401"/>
                  </a:lnTo>
                  <a:lnTo>
                    <a:pt x="4648" y="18122"/>
                  </a:lnTo>
                  <a:lnTo>
                    <a:pt x="6896" y="19050"/>
                  </a:lnTo>
                  <a:lnTo>
                    <a:pt x="593185" y="19050"/>
                  </a:lnTo>
                  <a:lnTo>
                    <a:pt x="595420" y="18122"/>
                  </a:lnTo>
                  <a:lnTo>
                    <a:pt x="599141" y="14401"/>
                  </a:lnTo>
                  <a:lnTo>
                    <a:pt x="600081" y="12153"/>
                  </a:lnTo>
                  <a:lnTo>
                    <a:pt x="600081" y="6896"/>
                  </a:lnTo>
                  <a:lnTo>
                    <a:pt x="599141" y="4648"/>
                  </a:lnTo>
                  <a:lnTo>
                    <a:pt x="595420" y="927"/>
                  </a:lnTo>
                  <a:lnTo>
                    <a:pt x="593185" y="0"/>
                  </a:lnTo>
                  <a:close/>
                </a:path>
              </a:pathLst>
            </a:custGeom>
            <a:solidFill>
              <a:srgbClr val="6D90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669131" y="5405437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29380" y="0"/>
                  </a:moveTo>
                  <a:lnTo>
                    <a:pt x="51619" y="0"/>
                  </a:lnTo>
                  <a:lnTo>
                    <a:pt x="48026" y="355"/>
                  </a:lnTo>
                  <a:lnTo>
                    <a:pt x="13618" y="18745"/>
                  </a:lnTo>
                  <a:lnTo>
                    <a:pt x="0" y="51612"/>
                  </a:lnTo>
                  <a:lnTo>
                    <a:pt x="0" y="325755"/>
                  </a:lnTo>
                  <a:lnTo>
                    <a:pt x="0" y="329387"/>
                  </a:lnTo>
                  <a:lnTo>
                    <a:pt x="18747" y="367385"/>
                  </a:lnTo>
                  <a:lnTo>
                    <a:pt x="51619" y="381000"/>
                  </a:lnTo>
                  <a:lnTo>
                    <a:pt x="329380" y="381000"/>
                  </a:lnTo>
                  <a:lnTo>
                    <a:pt x="367381" y="362254"/>
                  </a:lnTo>
                  <a:lnTo>
                    <a:pt x="381000" y="329387"/>
                  </a:lnTo>
                  <a:lnTo>
                    <a:pt x="381000" y="51612"/>
                  </a:lnTo>
                  <a:lnTo>
                    <a:pt x="362252" y="13614"/>
                  </a:lnTo>
                  <a:lnTo>
                    <a:pt x="332973" y="355"/>
                  </a:lnTo>
                  <a:lnTo>
                    <a:pt x="329380" y="0"/>
                  </a:lnTo>
                  <a:close/>
                </a:path>
              </a:pathLst>
            </a:custGeom>
            <a:solidFill>
              <a:srgbClr val="53780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669131" y="5405437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0" y="325755"/>
                  </a:moveTo>
                  <a:lnTo>
                    <a:pt x="0" y="55245"/>
                  </a:lnTo>
                  <a:lnTo>
                    <a:pt x="0" y="51612"/>
                  </a:lnTo>
                  <a:lnTo>
                    <a:pt x="351" y="48031"/>
                  </a:lnTo>
                  <a:lnTo>
                    <a:pt x="1061" y="44462"/>
                  </a:lnTo>
                  <a:lnTo>
                    <a:pt x="1771" y="40906"/>
                  </a:lnTo>
                  <a:lnTo>
                    <a:pt x="2818" y="37452"/>
                  </a:lnTo>
                  <a:lnTo>
                    <a:pt x="4207" y="34099"/>
                  </a:lnTo>
                  <a:lnTo>
                    <a:pt x="5590" y="30746"/>
                  </a:lnTo>
                  <a:lnTo>
                    <a:pt x="24551" y="9309"/>
                  </a:lnTo>
                  <a:lnTo>
                    <a:pt x="27567" y="7289"/>
                  </a:lnTo>
                  <a:lnTo>
                    <a:pt x="44465" y="1066"/>
                  </a:lnTo>
                  <a:lnTo>
                    <a:pt x="48026" y="355"/>
                  </a:lnTo>
                  <a:lnTo>
                    <a:pt x="51619" y="0"/>
                  </a:lnTo>
                  <a:lnTo>
                    <a:pt x="55245" y="0"/>
                  </a:lnTo>
                  <a:lnTo>
                    <a:pt x="325755" y="0"/>
                  </a:lnTo>
                  <a:lnTo>
                    <a:pt x="329380" y="0"/>
                  </a:lnTo>
                  <a:lnTo>
                    <a:pt x="332973" y="355"/>
                  </a:lnTo>
                  <a:lnTo>
                    <a:pt x="336534" y="1066"/>
                  </a:lnTo>
                  <a:lnTo>
                    <a:pt x="340092" y="1765"/>
                  </a:lnTo>
                  <a:lnTo>
                    <a:pt x="356448" y="9309"/>
                  </a:lnTo>
                  <a:lnTo>
                    <a:pt x="359464" y="11328"/>
                  </a:lnTo>
                  <a:lnTo>
                    <a:pt x="379938" y="44462"/>
                  </a:lnTo>
                  <a:lnTo>
                    <a:pt x="381000" y="51612"/>
                  </a:lnTo>
                  <a:lnTo>
                    <a:pt x="381000" y="55245"/>
                  </a:lnTo>
                  <a:lnTo>
                    <a:pt x="381000" y="325755"/>
                  </a:lnTo>
                  <a:lnTo>
                    <a:pt x="381000" y="329387"/>
                  </a:lnTo>
                  <a:lnTo>
                    <a:pt x="380648" y="332968"/>
                  </a:lnTo>
                  <a:lnTo>
                    <a:pt x="379938" y="336524"/>
                  </a:lnTo>
                  <a:lnTo>
                    <a:pt x="379228" y="340093"/>
                  </a:lnTo>
                  <a:lnTo>
                    <a:pt x="378181" y="343547"/>
                  </a:lnTo>
                  <a:lnTo>
                    <a:pt x="376793" y="346887"/>
                  </a:lnTo>
                  <a:lnTo>
                    <a:pt x="375404" y="350253"/>
                  </a:lnTo>
                  <a:lnTo>
                    <a:pt x="346897" y="376796"/>
                  </a:lnTo>
                  <a:lnTo>
                    <a:pt x="336534" y="379933"/>
                  </a:lnTo>
                  <a:lnTo>
                    <a:pt x="332973" y="380644"/>
                  </a:lnTo>
                  <a:lnTo>
                    <a:pt x="329380" y="381000"/>
                  </a:lnTo>
                  <a:lnTo>
                    <a:pt x="325755" y="381000"/>
                  </a:lnTo>
                  <a:lnTo>
                    <a:pt x="55245" y="381000"/>
                  </a:lnTo>
                  <a:lnTo>
                    <a:pt x="51619" y="381000"/>
                  </a:lnTo>
                  <a:lnTo>
                    <a:pt x="48026" y="380644"/>
                  </a:lnTo>
                  <a:lnTo>
                    <a:pt x="44465" y="379933"/>
                  </a:lnTo>
                  <a:lnTo>
                    <a:pt x="40907" y="379234"/>
                  </a:lnTo>
                  <a:lnTo>
                    <a:pt x="9311" y="356450"/>
                  </a:lnTo>
                  <a:lnTo>
                    <a:pt x="4207" y="346887"/>
                  </a:lnTo>
                  <a:lnTo>
                    <a:pt x="2818" y="343547"/>
                  </a:lnTo>
                  <a:lnTo>
                    <a:pt x="1771" y="340093"/>
                  </a:lnTo>
                  <a:lnTo>
                    <a:pt x="1061" y="336524"/>
                  </a:lnTo>
                  <a:lnTo>
                    <a:pt x="351" y="332968"/>
                  </a:lnTo>
                  <a:lnTo>
                    <a:pt x="0" y="329387"/>
                  </a:lnTo>
                  <a:lnTo>
                    <a:pt x="0" y="325755"/>
                  </a:lnTo>
                  <a:close/>
                </a:path>
              </a:pathLst>
            </a:custGeom>
            <a:ln w="9525">
              <a:solidFill>
                <a:srgbClr val="6D902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 descr=""/>
          <p:cNvSpPr txBox="1"/>
          <p:nvPr/>
        </p:nvSpPr>
        <p:spPr>
          <a:xfrm>
            <a:off x="708818" y="5407025"/>
            <a:ext cx="297180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1080">
                <a:solidFill>
                  <a:srgbClr val="FFFFFF"/>
                </a:solidFill>
                <a:latin typeface="SimSun-ExtB"/>
                <a:cs typeface="SimSun-ExtB"/>
              </a:rPr>
              <a:t>3</a:t>
            </a:r>
            <a:endParaRPr sz="2000">
              <a:latin typeface="SimSun-ExtB"/>
              <a:cs typeface="SimSun-ExtB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1787525" y="5354637"/>
            <a:ext cx="4083685" cy="91249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315">
                <a:solidFill>
                  <a:srgbClr val="D7E5D8"/>
                </a:solidFill>
                <a:latin typeface="SimSun-ExtB"/>
                <a:cs typeface="SimSun-ExtB"/>
              </a:rPr>
              <a:t>I⭲slalar</a:t>
            </a:r>
            <a:r>
              <a:rPr dirty="0" sz="1650" spc="-305">
                <a:solidFill>
                  <a:srgbClr val="D7E5D8"/>
                </a:solidFill>
                <a:latin typeface="SimSun-ExtB"/>
                <a:cs typeface="SimSun-ExtB"/>
              </a:rPr>
              <a:t> </a:t>
            </a:r>
            <a:r>
              <a:rPr dirty="0" sz="1650" spc="475">
                <a:solidFill>
                  <a:srgbClr val="D7E5D8"/>
                </a:solidFill>
                <a:latin typeface="SimSun-ExtB"/>
                <a:cs typeface="SimSun-ExtB"/>
              </a:rPr>
              <a:t>CerliĒicado</a:t>
            </a:r>
            <a:endParaRPr sz="1650">
              <a:latin typeface="SimSun-ExtB"/>
              <a:cs typeface="SimSun-ExtB"/>
            </a:endParaRPr>
          </a:p>
          <a:p>
            <a:pPr marL="12700" marR="5080">
              <a:lnSpc>
                <a:spcPct val="134300"/>
              </a:lnSpc>
              <a:spcBef>
                <a:spcPts val="615"/>
              </a:spcBef>
            </a:pPr>
            <a:r>
              <a:rPr dirty="0" sz="1350">
                <a:solidFill>
                  <a:srgbClr val="D7E5D8"/>
                </a:solidFill>
                <a:latin typeface="Microsoft Sans Serif"/>
                <a:cs typeface="Microsoft Sans Serif"/>
              </a:rPr>
              <a:t>Configuǐa</a:t>
            </a:r>
            <a:r>
              <a:rPr dirty="0" sz="1350" spc="4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-20">
                <a:solidFill>
                  <a:srgbClr val="D7E5D8"/>
                </a:solidFill>
                <a:latin typeface="Microsoft Sans Serif"/>
                <a:cs typeface="Microsoft Sans Serif"/>
              </a:rPr>
              <a:t>el</a:t>
            </a:r>
            <a:r>
              <a:rPr dirty="0" sz="1350" spc="5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350">
                <a:solidFill>
                  <a:srgbClr val="D7E5D8"/>
                </a:solidFill>
                <a:latin typeface="Microsoft Sans Serif"/>
                <a:cs typeface="Microsoft Sans Serif"/>
              </a:rPr>
              <a:t>ceǐtificado</a:t>
            </a:r>
            <a:r>
              <a:rPr dirty="0" sz="1350" spc="5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-20">
                <a:solidFill>
                  <a:srgbClr val="D7E5D8"/>
                </a:solidFill>
                <a:latin typeface="Microsoft Sans Serif"/>
                <a:cs typeface="Microsoft Sans Serif"/>
              </a:rPr>
              <a:t>en</a:t>
            </a:r>
            <a:r>
              <a:rPr dirty="0" sz="1350" spc="5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350">
                <a:solidFill>
                  <a:srgbClr val="D7E5D8"/>
                </a:solidFill>
                <a:latin typeface="Microsoft Sans Serif"/>
                <a:cs typeface="Microsoft Sans Serif"/>
              </a:rPr>
              <a:t>tu</a:t>
            </a:r>
            <a:r>
              <a:rPr dirty="0" sz="1350" spc="5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350">
                <a:solidFill>
                  <a:srgbClr val="D7E5D8"/>
                </a:solidFill>
                <a:latin typeface="Microsoft Sans Serif"/>
                <a:cs typeface="Microsoft Sans Serif"/>
              </a:rPr>
              <a:t>seǐvidoǐ</a:t>
            </a:r>
            <a:r>
              <a:rPr dirty="0" sz="1350" spc="5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-30">
                <a:solidFill>
                  <a:srgbClr val="D7E5D8"/>
                </a:solidFill>
                <a:latin typeface="Microsoft Sans Serif"/>
                <a:cs typeface="Microsoft Sans Serif"/>
              </a:rPr>
              <a:t>(Apache,</a:t>
            </a:r>
            <a:r>
              <a:rPr dirty="0" sz="1350" spc="6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-10">
                <a:solidFill>
                  <a:srgbClr val="D7E5D8"/>
                </a:solidFill>
                <a:latin typeface="Microsoft Sans Serif"/>
                <a:cs typeface="Microsoft Sans Serif"/>
              </a:rPr>
              <a:t>Nginx) </a:t>
            </a:r>
            <a:r>
              <a:rPr dirty="0" sz="1350" spc="-20">
                <a:solidFill>
                  <a:srgbClr val="D7E5D8"/>
                </a:solidFill>
                <a:latin typeface="Microsoft Sans Serif"/>
                <a:cs typeface="Microsoft Sans Serif"/>
              </a:rPr>
              <a:t>siguiendo</a:t>
            </a:r>
            <a:r>
              <a:rPr dirty="0" sz="1350" spc="-1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-25">
                <a:solidFill>
                  <a:srgbClr val="D7E5D8"/>
                </a:solidFill>
                <a:latin typeface="Microsoft Sans Serif"/>
                <a:cs typeface="Microsoft Sans Serif"/>
              </a:rPr>
              <a:t>las</a:t>
            </a:r>
            <a:r>
              <a:rPr dirty="0" sz="1350" spc="-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350">
                <a:solidFill>
                  <a:srgbClr val="D7E5D8"/>
                </a:solidFill>
                <a:latin typeface="Microsoft Sans Serif"/>
                <a:cs typeface="Microsoft Sans Serif"/>
              </a:rPr>
              <a:t>instǐucciones</a:t>
            </a:r>
            <a:r>
              <a:rPr dirty="0" sz="1350" spc="-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-10">
                <a:solidFill>
                  <a:srgbClr val="D7E5D8"/>
                </a:solidFill>
                <a:latin typeface="Microsoft Sans Serif"/>
                <a:cs typeface="Microsoft Sans Serif"/>
              </a:rPr>
              <a:t>específicas.</a:t>
            </a:r>
            <a:endParaRPr sz="1350">
              <a:latin typeface="Microsoft Sans Serif"/>
              <a:cs typeface="Microsoft Sans Serif"/>
            </a:endParaRPr>
          </a:p>
        </p:txBody>
      </p:sp>
      <p:grpSp>
        <p:nvGrpSpPr>
          <p:cNvPr id="25" name="object 25" descr=""/>
          <p:cNvGrpSpPr/>
          <p:nvPr/>
        </p:nvGrpSpPr>
        <p:grpSpPr>
          <a:xfrm>
            <a:off x="664368" y="6838950"/>
            <a:ext cx="972185" cy="381000"/>
            <a:chOff x="664368" y="6838950"/>
            <a:chExt cx="972185" cy="381000"/>
          </a:xfrm>
        </p:grpSpPr>
        <p:sp>
          <p:nvSpPr>
            <p:cNvPr id="26" name="object 26" descr=""/>
            <p:cNvSpPr/>
            <p:nvPr/>
          </p:nvSpPr>
          <p:spPr>
            <a:xfrm>
              <a:off x="1035843" y="7019925"/>
              <a:ext cx="600710" cy="19050"/>
            </a:xfrm>
            <a:custGeom>
              <a:avLst/>
              <a:gdLst/>
              <a:ahLst/>
              <a:cxnLst/>
              <a:rect l="l" t="t" r="r" b="b"/>
              <a:pathLst>
                <a:path w="600710" h="19050">
                  <a:moveTo>
                    <a:pt x="593185" y="0"/>
                  </a:moveTo>
                  <a:lnTo>
                    <a:pt x="6896" y="0"/>
                  </a:lnTo>
                  <a:lnTo>
                    <a:pt x="4648" y="927"/>
                  </a:lnTo>
                  <a:lnTo>
                    <a:pt x="927" y="4648"/>
                  </a:lnTo>
                  <a:lnTo>
                    <a:pt x="0" y="6896"/>
                  </a:lnTo>
                  <a:lnTo>
                    <a:pt x="0" y="9525"/>
                  </a:lnTo>
                  <a:lnTo>
                    <a:pt x="0" y="12153"/>
                  </a:lnTo>
                  <a:lnTo>
                    <a:pt x="927" y="14401"/>
                  </a:lnTo>
                  <a:lnTo>
                    <a:pt x="4648" y="18122"/>
                  </a:lnTo>
                  <a:lnTo>
                    <a:pt x="6896" y="19050"/>
                  </a:lnTo>
                  <a:lnTo>
                    <a:pt x="593185" y="19050"/>
                  </a:lnTo>
                  <a:lnTo>
                    <a:pt x="595420" y="18122"/>
                  </a:lnTo>
                  <a:lnTo>
                    <a:pt x="599141" y="14401"/>
                  </a:lnTo>
                  <a:lnTo>
                    <a:pt x="600081" y="12153"/>
                  </a:lnTo>
                  <a:lnTo>
                    <a:pt x="600081" y="6896"/>
                  </a:lnTo>
                  <a:lnTo>
                    <a:pt x="599141" y="4648"/>
                  </a:lnTo>
                  <a:lnTo>
                    <a:pt x="595420" y="927"/>
                  </a:lnTo>
                  <a:lnTo>
                    <a:pt x="593185" y="0"/>
                  </a:lnTo>
                  <a:close/>
                </a:path>
              </a:pathLst>
            </a:custGeom>
            <a:solidFill>
              <a:srgbClr val="6D90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669131" y="6843712"/>
              <a:ext cx="381000" cy="371475"/>
            </a:xfrm>
            <a:custGeom>
              <a:avLst/>
              <a:gdLst/>
              <a:ahLst/>
              <a:cxnLst/>
              <a:rect l="l" t="t" r="r" b="b"/>
              <a:pathLst>
                <a:path w="381000" h="371475">
                  <a:moveTo>
                    <a:pt x="329380" y="0"/>
                  </a:moveTo>
                  <a:lnTo>
                    <a:pt x="51619" y="0"/>
                  </a:lnTo>
                  <a:lnTo>
                    <a:pt x="48026" y="355"/>
                  </a:lnTo>
                  <a:lnTo>
                    <a:pt x="13618" y="18745"/>
                  </a:lnTo>
                  <a:lnTo>
                    <a:pt x="0" y="51612"/>
                  </a:lnTo>
                  <a:lnTo>
                    <a:pt x="0" y="316230"/>
                  </a:lnTo>
                  <a:lnTo>
                    <a:pt x="0" y="319855"/>
                  </a:lnTo>
                  <a:lnTo>
                    <a:pt x="18747" y="357856"/>
                  </a:lnTo>
                  <a:lnTo>
                    <a:pt x="51619" y="371475"/>
                  </a:lnTo>
                  <a:lnTo>
                    <a:pt x="329380" y="371475"/>
                  </a:lnTo>
                  <a:lnTo>
                    <a:pt x="367381" y="352727"/>
                  </a:lnTo>
                  <a:lnTo>
                    <a:pt x="381000" y="319855"/>
                  </a:lnTo>
                  <a:lnTo>
                    <a:pt x="381000" y="51612"/>
                  </a:lnTo>
                  <a:lnTo>
                    <a:pt x="362252" y="13614"/>
                  </a:lnTo>
                  <a:lnTo>
                    <a:pt x="332973" y="355"/>
                  </a:lnTo>
                  <a:lnTo>
                    <a:pt x="329380" y="0"/>
                  </a:lnTo>
                  <a:close/>
                </a:path>
              </a:pathLst>
            </a:custGeom>
            <a:solidFill>
              <a:srgbClr val="53780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669131" y="6843712"/>
              <a:ext cx="381000" cy="371475"/>
            </a:xfrm>
            <a:custGeom>
              <a:avLst/>
              <a:gdLst/>
              <a:ahLst/>
              <a:cxnLst/>
              <a:rect l="l" t="t" r="r" b="b"/>
              <a:pathLst>
                <a:path w="381000" h="371475">
                  <a:moveTo>
                    <a:pt x="0" y="316230"/>
                  </a:moveTo>
                  <a:lnTo>
                    <a:pt x="0" y="55245"/>
                  </a:lnTo>
                  <a:lnTo>
                    <a:pt x="0" y="51612"/>
                  </a:lnTo>
                  <a:lnTo>
                    <a:pt x="351" y="48031"/>
                  </a:lnTo>
                  <a:lnTo>
                    <a:pt x="1061" y="44462"/>
                  </a:lnTo>
                  <a:lnTo>
                    <a:pt x="1771" y="40906"/>
                  </a:lnTo>
                  <a:lnTo>
                    <a:pt x="2818" y="37452"/>
                  </a:lnTo>
                  <a:lnTo>
                    <a:pt x="4207" y="34099"/>
                  </a:lnTo>
                  <a:lnTo>
                    <a:pt x="5590" y="30746"/>
                  </a:lnTo>
                  <a:lnTo>
                    <a:pt x="34102" y="4203"/>
                  </a:lnTo>
                  <a:lnTo>
                    <a:pt x="44465" y="1066"/>
                  </a:lnTo>
                  <a:lnTo>
                    <a:pt x="48026" y="355"/>
                  </a:lnTo>
                  <a:lnTo>
                    <a:pt x="51619" y="0"/>
                  </a:lnTo>
                  <a:lnTo>
                    <a:pt x="55245" y="0"/>
                  </a:lnTo>
                  <a:lnTo>
                    <a:pt x="325755" y="0"/>
                  </a:lnTo>
                  <a:lnTo>
                    <a:pt x="329380" y="0"/>
                  </a:lnTo>
                  <a:lnTo>
                    <a:pt x="332973" y="355"/>
                  </a:lnTo>
                  <a:lnTo>
                    <a:pt x="336534" y="1066"/>
                  </a:lnTo>
                  <a:lnTo>
                    <a:pt x="340092" y="1765"/>
                  </a:lnTo>
                  <a:lnTo>
                    <a:pt x="371688" y="24549"/>
                  </a:lnTo>
                  <a:lnTo>
                    <a:pt x="381000" y="51612"/>
                  </a:lnTo>
                  <a:lnTo>
                    <a:pt x="381000" y="55245"/>
                  </a:lnTo>
                  <a:lnTo>
                    <a:pt x="381000" y="316230"/>
                  </a:lnTo>
                  <a:lnTo>
                    <a:pt x="381000" y="319855"/>
                  </a:lnTo>
                  <a:lnTo>
                    <a:pt x="380648" y="323448"/>
                  </a:lnTo>
                  <a:lnTo>
                    <a:pt x="379938" y="327004"/>
                  </a:lnTo>
                  <a:lnTo>
                    <a:pt x="379228" y="330567"/>
                  </a:lnTo>
                  <a:lnTo>
                    <a:pt x="378181" y="334020"/>
                  </a:lnTo>
                  <a:lnTo>
                    <a:pt x="376793" y="337369"/>
                  </a:lnTo>
                  <a:lnTo>
                    <a:pt x="375404" y="340721"/>
                  </a:lnTo>
                  <a:lnTo>
                    <a:pt x="373702" y="343907"/>
                  </a:lnTo>
                  <a:lnTo>
                    <a:pt x="371688" y="346923"/>
                  </a:lnTo>
                  <a:lnTo>
                    <a:pt x="369674" y="349939"/>
                  </a:lnTo>
                  <a:lnTo>
                    <a:pt x="356448" y="362163"/>
                  </a:lnTo>
                  <a:lnTo>
                    <a:pt x="353432" y="364177"/>
                  </a:lnTo>
                  <a:lnTo>
                    <a:pt x="329380" y="371475"/>
                  </a:lnTo>
                  <a:lnTo>
                    <a:pt x="325755" y="371475"/>
                  </a:lnTo>
                  <a:lnTo>
                    <a:pt x="55245" y="371475"/>
                  </a:lnTo>
                  <a:lnTo>
                    <a:pt x="51619" y="371475"/>
                  </a:lnTo>
                  <a:lnTo>
                    <a:pt x="48026" y="371123"/>
                  </a:lnTo>
                  <a:lnTo>
                    <a:pt x="24551" y="362163"/>
                  </a:lnTo>
                  <a:lnTo>
                    <a:pt x="21535" y="360149"/>
                  </a:lnTo>
                  <a:lnTo>
                    <a:pt x="4207" y="337369"/>
                  </a:lnTo>
                  <a:lnTo>
                    <a:pt x="2818" y="334020"/>
                  </a:lnTo>
                  <a:lnTo>
                    <a:pt x="1771" y="330567"/>
                  </a:lnTo>
                  <a:lnTo>
                    <a:pt x="1061" y="327004"/>
                  </a:lnTo>
                  <a:lnTo>
                    <a:pt x="351" y="323448"/>
                  </a:lnTo>
                  <a:lnTo>
                    <a:pt x="0" y="319855"/>
                  </a:lnTo>
                  <a:lnTo>
                    <a:pt x="0" y="316230"/>
                  </a:lnTo>
                  <a:close/>
                </a:path>
              </a:pathLst>
            </a:custGeom>
            <a:ln w="9525">
              <a:solidFill>
                <a:srgbClr val="6D902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 descr=""/>
          <p:cNvSpPr txBox="1"/>
          <p:nvPr/>
        </p:nvSpPr>
        <p:spPr>
          <a:xfrm>
            <a:off x="703759" y="6835775"/>
            <a:ext cx="307340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150">
                <a:solidFill>
                  <a:srgbClr val="FFFFFF"/>
                </a:solidFill>
                <a:latin typeface="SimSun-ExtB"/>
                <a:cs typeface="SimSun-ExtB"/>
              </a:rPr>
              <a:t>¿</a:t>
            </a:r>
            <a:endParaRPr sz="2000">
              <a:latin typeface="SimSun-ExtB"/>
              <a:cs typeface="SimSun-ExtB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1787525" y="6783387"/>
            <a:ext cx="4695825" cy="91249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320">
                <a:solidFill>
                  <a:srgbClr val="D7E5D8"/>
                </a:solidFill>
                <a:latin typeface="SimSun-ExtB"/>
                <a:cs typeface="SimSun-ExtB"/>
              </a:rPr>
              <a:t>VeriĒicar</a:t>
            </a:r>
            <a:r>
              <a:rPr dirty="0" sz="1650" spc="-295">
                <a:solidFill>
                  <a:srgbClr val="D7E5D8"/>
                </a:solidFill>
                <a:latin typeface="SimSun-ExtB"/>
                <a:cs typeface="SimSun-ExtB"/>
              </a:rPr>
              <a:t> </a:t>
            </a:r>
            <a:r>
              <a:rPr dirty="0" sz="1650" spc="270">
                <a:solidFill>
                  <a:srgbClr val="D7E5D8"/>
                </a:solidFill>
                <a:latin typeface="SimSun-ExtB"/>
                <a:cs typeface="SimSun-ExtB"/>
              </a:rPr>
              <a:t>I⭲slalaciõ⭲</a:t>
            </a:r>
            <a:endParaRPr sz="1650">
              <a:latin typeface="SimSun-ExtB"/>
              <a:cs typeface="SimSun-ExtB"/>
            </a:endParaRPr>
          </a:p>
          <a:p>
            <a:pPr marL="12700" marR="5080">
              <a:lnSpc>
                <a:spcPct val="134300"/>
              </a:lnSpc>
              <a:spcBef>
                <a:spcPts val="615"/>
              </a:spcBef>
            </a:pPr>
            <a:r>
              <a:rPr dirty="0" sz="1350" spc="10">
                <a:solidFill>
                  <a:srgbClr val="D7E5D8"/>
                </a:solidFill>
                <a:latin typeface="Microsoft Sans Serif"/>
                <a:cs typeface="Microsoft Sans Serif"/>
              </a:rPr>
              <a:t>Compǐueba</a:t>
            </a:r>
            <a:r>
              <a:rPr dirty="0" sz="1350" spc="-2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10">
                <a:solidFill>
                  <a:srgbClr val="D7E5D8"/>
                </a:solidFill>
                <a:latin typeface="Microsoft Sans Serif"/>
                <a:cs typeface="Microsoft Sans Serif"/>
              </a:rPr>
              <a:t>la</a:t>
            </a:r>
            <a:r>
              <a:rPr dirty="0" sz="1350" spc="-2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55">
                <a:solidFill>
                  <a:srgbClr val="D7E5D8"/>
                </a:solidFill>
                <a:latin typeface="Microsoft Sans Serif"/>
                <a:cs typeface="Microsoft Sans Serif"/>
              </a:rPr>
              <a:t>coǐǐecta</a:t>
            </a:r>
            <a:r>
              <a:rPr dirty="0" sz="1350" spc="-2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350">
                <a:solidFill>
                  <a:srgbClr val="D7E5D8"/>
                </a:solidFill>
                <a:latin typeface="Microsoft Sans Serif"/>
                <a:cs typeface="Microsoft Sans Serif"/>
              </a:rPr>
              <a:t>instalación</a:t>
            </a:r>
            <a:r>
              <a:rPr dirty="0" sz="1350" spc="-2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10">
                <a:solidFill>
                  <a:srgbClr val="D7E5D8"/>
                </a:solidFill>
                <a:latin typeface="Microsoft Sans Serif"/>
                <a:cs typeface="Microsoft Sans Serif"/>
              </a:rPr>
              <a:t>utilizando</a:t>
            </a:r>
            <a:r>
              <a:rPr dirty="0" sz="1350" spc="-2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10">
                <a:solidFill>
                  <a:srgbClr val="D7E5D8"/>
                </a:solidFill>
                <a:latin typeface="Microsoft Sans Serif"/>
                <a:cs typeface="Microsoft Sans Serif"/>
              </a:rPr>
              <a:t>heǐǐamientas</a:t>
            </a:r>
            <a:r>
              <a:rPr dirty="0" sz="1350" spc="-1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-25">
                <a:solidFill>
                  <a:srgbClr val="D7E5D8"/>
                </a:solidFill>
                <a:latin typeface="Microsoft Sans Serif"/>
                <a:cs typeface="Microsoft Sans Serif"/>
              </a:rPr>
              <a:t>en </a:t>
            </a:r>
            <a:r>
              <a:rPr dirty="0" sz="1350" spc="-20">
                <a:solidFill>
                  <a:srgbClr val="D7E5D8"/>
                </a:solidFill>
                <a:latin typeface="Microsoft Sans Serif"/>
                <a:cs typeface="Microsoft Sans Serif"/>
              </a:rPr>
              <a:t>línea</a:t>
            </a:r>
            <a:r>
              <a:rPr dirty="0" sz="1350" spc="-5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350">
                <a:solidFill>
                  <a:srgbClr val="D7E5D8"/>
                </a:solidFill>
                <a:latin typeface="Microsoft Sans Serif"/>
                <a:cs typeface="Microsoft Sans Serif"/>
              </a:rPr>
              <a:t>de</a:t>
            </a:r>
            <a:r>
              <a:rPr dirty="0" sz="1350" spc="-4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-30">
                <a:solidFill>
                  <a:srgbClr val="D7E5D8"/>
                </a:solidFill>
                <a:latin typeface="Microsoft Sans Serif"/>
                <a:cs typeface="Microsoft Sans Serif"/>
              </a:rPr>
              <a:t>análisis</a:t>
            </a:r>
            <a:r>
              <a:rPr dirty="0" sz="1350" spc="-4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-20">
                <a:solidFill>
                  <a:srgbClr val="D7E5D8"/>
                </a:solidFill>
                <a:latin typeface="Microsoft Sans Serif"/>
                <a:cs typeface="Microsoft Sans Serif"/>
              </a:rPr>
              <a:t>SSL.</a:t>
            </a:r>
            <a:endParaRPr sz="13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-1"/>
            <a:ext cx="11430000" cy="7019925"/>
          </a:xfrm>
          <a:custGeom>
            <a:avLst/>
            <a:gdLst/>
            <a:ahLst/>
            <a:cxnLst/>
            <a:rect l="l" t="t" r="r" b="b"/>
            <a:pathLst>
              <a:path w="11430000" h="7019925">
                <a:moveTo>
                  <a:pt x="11430000" y="0"/>
                </a:moveTo>
                <a:lnTo>
                  <a:pt x="0" y="0"/>
                </a:lnTo>
                <a:lnTo>
                  <a:pt x="0" y="7019925"/>
                </a:lnTo>
                <a:lnTo>
                  <a:pt x="11430000" y="7019925"/>
                </a:lnTo>
                <a:lnTo>
                  <a:pt x="11430000" y="0"/>
                </a:lnTo>
                <a:close/>
              </a:path>
            </a:pathLst>
          </a:custGeom>
          <a:solidFill>
            <a:srgbClr val="151F24">
              <a:alpha val="94898"/>
            </a:srgbClr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7143750" y="0"/>
            <a:ext cx="4286250" cy="7019925"/>
            <a:chOff x="7143750" y="0"/>
            <a:chExt cx="4286250" cy="701992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43750" y="0"/>
              <a:ext cx="4286249" cy="7019922"/>
            </a:xfrm>
            <a:prstGeom prst="rect">
              <a:avLst/>
            </a:prstGeom>
          </p:spPr>
        </p:pic>
        <p:pic>
          <p:nvPicPr>
            <p:cNvPr id="5" name="object 5" descr="">
              <a:hlinkClick r:id="rId3"/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580244" y="6508241"/>
              <a:ext cx="1754504" cy="41910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87375" y="444500"/>
            <a:ext cx="5266055" cy="2139950"/>
          </a:xfrm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 marR="5080">
              <a:lnSpc>
                <a:spcPts val="4200"/>
              </a:lnSpc>
              <a:spcBef>
                <a:spcPts val="50"/>
              </a:spcBef>
            </a:pPr>
            <a:r>
              <a:rPr dirty="0" spc="975"/>
              <a:t>Validación</a:t>
            </a:r>
            <a:r>
              <a:rPr dirty="0" spc="-620"/>
              <a:t> </a:t>
            </a:r>
            <a:r>
              <a:rPr dirty="0" spc="1814"/>
              <a:t>de </a:t>
            </a:r>
            <a:r>
              <a:rPr dirty="0" spc="960"/>
              <a:t>CertiĒicados</a:t>
            </a:r>
            <a:r>
              <a:rPr dirty="0" spc="-630"/>
              <a:t> </a:t>
            </a:r>
            <a:r>
              <a:rPr dirty="0" spc="1405"/>
              <a:t>y </a:t>
            </a:r>
            <a:r>
              <a:rPr dirty="0" spc="1320"/>
              <a:t>Autoridades</a:t>
            </a:r>
            <a:r>
              <a:rPr dirty="0" spc="-595"/>
              <a:t> </a:t>
            </a:r>
            <a:r>
              <a:rPr dirty="0" spc="1814"/>
              <a:t>de </a:t>
            </a:r>
            <a:r>
              <a:rPr dirty="0" spc="730"/>
              <a:t>CertiĒicación</a:t>
            </a:r>
          </a:p>
        </p:txBody>
      </p:sp>
      <p:grpSp>
        <p:nvGrpSpPr>
          <p:cNvPr id="7" name="object 7" descr=""/>
          <p:cNvGrpSpPr/>
          <p:nvPr/>
        </p:nvGrpSpPr>
        <p:grpSpPr>
          <a:xfrm>
            <a:off x="600075" y="3067050"/>
            <a:ext cx="390525" cy="381000"/>
            <a:chOff x="600075" y="3067050"/>
            <a:chExt cx="390525" cy="381000"/>
          </a:xfrm>
        </p:grpSpPr>
        <p:sp>
          <p:nvSpPr>
            <p:cNvPr id="8" name="object 8" descr=""/>
            <p:cNvSpPr/>
            <p:nvPr/>
          </p:nvSpPr>
          <p:spPr>
            <a:xfrm>
              <a:off x="604837" y="3071812"/>
              <a:ext cx="381000" cy="371475"/>
            </a:xfrm>
            <a:custGeom>
              <a:avLst/>
              <a:gdLst/>
              <a:ahLst/>
              <a:cxnLst/>
              <a:rect l="l" t="t" r="r" b="b"/>
              <a:pathLst>
                <a:path w="381000" h="371475">
                  <a:moveTo>
                    <a:pt x="329380" y="0"/>
                  </a:moveTo>
                  <a:lnTo>
                    <a:pt x="51619" y="0"/>
                  </a:lnTo>
                  <a:lnTo>
                    <a:pt x="48026" y="355"/>
                  </a:lnTo>
                  <a:lnTo>
                    <a:pt x="13618" y="18745"/>
                  </a:lnTo>
                  <a:lnTo>
                    <a:pt x="0" y="51612"/>
                  </a:lnTo>
                  <a:lnTo>
                    <a:pt x="0" y="316230"/>
                  </a:lnTo>
                  <a:lnTo>
                    <a:pt x="0" y="319862"/>
                  </a:lnTo>
                  <a:lnTo>
                    <a:pt x="18747" y="357860"/>
                  </a:lnTo>
                  <a:lnTo>
                    <a:pt x="51619" y="371475"/>
                  </a:lnTo>
                  <a:lnTo>
                    <a:pt x="329380" y="371475"/>
                  </a:lnTo>
                  <a:lnTo>
                    <a:pt x="367381" y="352729"/>
                  </a:lnTo>
                  <a:lnTo>
                    <a:pt x="381000" y="319862"/>
                  </a:lnTo>
                  <a:lnTo>
                    <a:pt x="381000" y="51612"/>
                  </a:lnTo>
                  <a:lnTo>
                    <a:pt x="362252" y="13614"/>
                  </a:lnTo>
                  <a:lnTo>
                    <a:pt x="332973" y="355"/>
                  </a:lnTo>
                  <a:lnTo>
                    <a:pt x="329380" y="0"/>
                  </a:lnTo>
                  <a:close/>
                </a:path>
              </a:pathLst>
            </a:custGeom>
            <a:solidFill>
              <a:srgbClr val="53780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604837" y="3071812"/>
              <a:ext cx="381000" cy="371475"/>
            </a:xfrm>
            <a:custGeom>
              <a:avLst/>
              <a:gdLst/>
              <a:ahLst/>
              <a:cxnLst/>
              <a:rect l="l" t="t" r="r" b="b"/>
              <a:pathLst>
                <a:path w="381000" h="371475">
                  <a:moveTo>
                    <a:pt x="0" y="316230"/>
                  </a:moveTo>
                  <a:lnTo>
                    <a:pt x="0" y="55245"/>
                  </a:lnTo>
                  <a:lnTo>
                    <a:pt x="0" y="51612"/>
                  </a:lnTo>
                  <a:lnTo>
                    <a:pt x="351" y="48018"/>
                  </a:lnTo>
                  <a:lnTo>
                    <a:pt x="1061" y="44462"/>
                  </a:lnTo>
                  <a:lnTo>
                    <a:pt x="1771" y="40906"/>
                  </a:lnTo>
                  <a:lnTo>
                    <a:pt x="2818" y="37452"/>
                  </a:lnTo>
                  <a:lnTo>
                    <a:pt x="4207" y="34099"/>
                  </a:lnTo>
                  <a:lnTo>
                    <a:pt x="5590" y="30746"/>
                  </a:lnTo>
                  <a:lnTo>
                    <a:pt x="7292" y="27571"/>
                  </a:lnTo>
                  <a:lnTo>
                    <a:pt x="24551" y="9309"/>
                  </a:lnTo>
                  <a:lnTo>
                    <a:pt x="27567" y="7289"/>
                  </a:lnTo>
                  <a:lnTo>
                    <a:pt x="51619" y="0"/>
                  </a:lnTo>
                  <a:lnTo>
                    <a:pt x="55245" y="0"/>
                  </a:lnTo>
                  <a:lnTo>
                    <a:pt x="325755" y="0"/>
                  </a:lnTo>
                  <a:lnTo>
                    <a:pt x="329380" y="0"/>
                  </a:lnTo>
                  <a:lnTo>
                    <a:pt x="332973" y="355"/>
                  </a:lnTo>
                  <a:lnTo>
                    <a:pt x="356448" y="9309"/>
                  </a:lnTo>
                  <a:lnTo>
                    <a:pt x="359464" y="11328"/>
                  </a:lnTo>
                  <a:lnTo>
                    <a:pt x="379938" y="44462"/>
                  </a:lnTo>
                  <a:lnTo>
                    <a:pt x="380648" y="48018"/>
                  </a:lnTo>
                  <a:lnTo>
                    <a:pt x="381000" y="51612"/>
                  </a:lnTo>
                  <a:lnTo>
                    <a:pt x="381000" y="55245"/>
                  </a:lnTo>
                  <a:lnTo>
                    <a:pt x="381000" y="316230"/>
                  </a:lnTo>
                  <a:lnTo>
                    <a:pt x="381000" y="319862"/>
                  </a:lnTo>
                  <a:lnTo>
                    <a:pt x="380648" y="323456"/>
                  </a:lnTo>
                  <a:lnTo>
                    <a:pt x="379938" y="327012"/>
                  </a:lnTo>
                  <a:lnTo>
                    <a:pt x="379228" y="330568"/>
                  </a:lnTo>
                  <a:lnTo>
                    <a:pt x="356448" y="362165"/>
                  </a:lnTo>
                  <a:lnTo>
                    <a:pt x="353432" y="364185"/>
                  </a:lnTo>
                  <a:lnTo>
                    <a:pt x="336529" y="370408"/>
                  </a:lnTo>
                  <a:lnTo>
                    <a:pt x="332973" y="371119"/>
                  </a:lnTo>
                  <a:lnTo>
                    <a:pt x="329380" y="371475"/>
                  </a:lnTo>
                  <a:lnTo>
                    <a:pt x="325755" y="371475"/>
                  </a:lnTo>
                  <a:lnTo>
                    <a:pt x="55245" y="371475"/>
                  </a:lnTo>
                  <a:lnTo>
                    <a:pt x="51619" y="371475"/>
                  </a:lnTo>
                  <a:lnTo>
                    <a:pt x="48026" y="371119"/>
                  </a:lnTo>
                  <a:lnTo>
                    <a:pt x="44465" y="370408"/>
                  </a:lnTo>
                  <a:lnTo>
                    <a:pt x="40907" y="369709"/>
                  </a:lnTo>
                  <a:lnTo>
                    <a:pt x="24551" y="362165"/>
                  </a:lnTo>
                  <a:lnTo>
                    <a:pt x="21535" y="360146"/>
                  </a:lnTo>
                  <a:lnTo>
                    <a:pt x="4207" y="337375"/>
                  </a:lnTo>
                  <a:lnTo>
                    <a:pt x="2818" y="334022"/>
                  </a:lnTo>
                  <a:lnTo>
                    <a:pt x="1771" y="330568"/>
                  </a:lnTo>
                  <a:lnTo>
                    <a:pt x="1061" y="327012"/>
                  </a:lnTo>
                  <a:lnTo>
                    <a:pt x="351" y="323456"/>
                  </a:lnTo>
                  <a:lnTo>
                    <a:pt x="0" y="319862"/>
                  </a:lnTo>
                  <a:lnTo>
                    <a:pt x="0" y="316230"/>
                  </a:lnTo>
                  <a:close/>
                </a:path>
              </a:pathLst>
            </a:custGeom>
            <a:ln w="9525">
              <a:solidFill>
                <a:srgbClr val="6D902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712092" y="3073400"/>
            <a:ext cx="161925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20">
                <a:solidFill>
                  <a:srgbClr val="FFFFFF"/>
                </a:solidFill>
                <a:latin typeface="SimSun-ExtB"/>
                <a:cs typeface="SimSun-ExtB"/>
              </a:rPr>
              <a:t>1</a:t>
            </a:r>
            <a:endParaRPr sz="2000">
              <a:latin typeface="SimSun-ExtB"/>
              <a:cs typeface="SimSun-ExtB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144587" y="3040062"/>
            <a:ext cx="5277485" cy="90296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005">
                <a:solidFill>
                  <a:srgbClr val="D7E5D8"/>
                </a:solidFill>
                <a:latin typeface="SimSun-ExtB"/>
                <a:cs typeface="SimSun-ExtB"/>
              </a:rPr>
              <a:t>Cadena</a:t>
            </a:r>
            <a:r>
              <a:rPr dirty="0" sz="1650" spc="-300">
                <a:solidFill>
                  <a:srgbClr val="D7E5D8"/>
                </a:solidFill>
                <a:latin typeface="SimSun-ExtB"/>
                <a:cs typeface="SimSun-ExtB"/>
              </a:rPr>
              <a:t> </a:t>
            </a:r>
            <a:r>
              <a:rPr dirty="0" sz="1650" spc="930">
                <a:solidFill>
                  <a:srgbClr val="D7E5D8"/>
                </a:solidFill>
                <a:latin typeface="SimSun-ExtB"/>
                <a:cs typeface="SimSun-ExtB"/>
              </a:rPr>
              <a:t>de</a:t>
            </a:r>
            <a:r>
              <a:rPr dirty="0" sz="1650" spc="-300">
                <a:solidFill>
                  <a:srgbClr val="D7E5D8"/>
                </a:solidFill>
                <a:latin typeface="SimSun-ExtB"/>
                <a:cs typeface="SimSun-ExtB"/>
              </a:rPr>
              <a:t> </a:t>
            </a:r>
            <a:r>
              <a:rPr dirty="0" sz="1650" spc="640">
                <a:solidFill>
                  <a:srgbClr val="D7E5D8"/>
                </a:solidFill>
                <a:latin typeface="SimSun-ExtB"/>
                <a:cs typeface="SimSun-ExtB"/>
              </a:rPr>
              <a:t>ConĒianza</a:t>
            </a:r>
            <a:endParaRPr sz="1650">
              <a:latin typeface="SimSun-ExtB"/>
              <a:cs typeface="SimSun-ExtB"/>
            </a:endParaRPr>
          </a:p>
          <a:p>
            <a:pPr marL="12700" marR="5080">
              <a:lnSpc>
                <a:spcPct val="129600"/>
              </a:lnSpc>
              <a:spcBef>
                <a:spcPts val="690"/>
              </a:spcBef>
            </a:pPr>
            <a:r>
              <a:rPr dirty="0" sz="1350" spc="-35">
                <a:solidFill>
                  <a:srgbClr val="D7E5D8"/>
                </a:solidFill>
                <a:latin typeface="Microsoft Sans Serif"/>
                <a:cs typeface="Microsoft Sans Serif"/>
              </a:rPr>
              <a:t>Las</a:t>
            </a:r>
            <a:r>
              <a:rPr dirty="0" sz="1350" spc="-1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-75">
                <a:solidFill>
                  <a:srgbClr val="D7E5D8"/>
                </a:solidFill>
                <a:latin typeface="Microsoft Sans Serif"/>
                <a:cs typeface="Microsoft Sans Serif"/>
              </a:rPr>
              <a:t>CA</a:t>
            </a:r>
            <a:r>
              <a:rPr dirty="0" sz="1350" spc="-1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350">
                <a:solidFill>
                  <a:srgbClr val="D7E5D8"/>
                </a:solidFill>
                <a:latin typeface="Microsoft Sans Serif"/>
                <a:cs typeface="Microsoft Sans Serif"/>
              </a:rPr>
              <a:t>ǐaíz</a:t>
            </a:r>
            <a:r>
              <a:rPr dirty="0" sz="1350" spc="-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350">
                <a:solidFill>
                  <a:srgbClr val="D7E5D8"/>
                </a:solidFill>
                <a:latin typeface="Microsoft Sans Serif"/>
                <a:cs typeface="Microsoft Sans Serif"/>
              </a:rPr>
              <a:t>fiǐman</a:t>
            </a:r>
            <a:r>
              <a:rPr dirty="0" sz="1350" spc="-1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350">
                <a:solidFill>
                  <a:srgbClr val="D7E5D8"/>
                </a:solidFill>
                <a:latin typeface="Microsoft Sans Serif"/>
                <a:cs typeface="Microsoft Sans Serif"/>
              </a:rPr>
              <a:t>ceǐtificados</a:t>
            </a:r>
            <a:r>
              <a:rPr dirty="0" sz="1350" spc="-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350">
                <a:solidFill>
                  <a:srgbClr val="D7E5D8"/>
                </a:solidFill>
                <a:latin typeface="Microsoft Sans Serif"/>
                <a:cs typeface="Microsoft Sans Serif"/>
              </a:rPr>
              <a:t>de</a:t>
            </a:r>
            <a:r>
              <a:rPr dirty="0" sz="1350" spc="-1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-75">
                <a:solidFill>
                  <a:srgbClr val="D7E5D8"/>
                </a:solidFill>
                <a:latin typeface="Microsoft Sans Serif"/>
                <a:cs typeface="Microsoft Sans Serif"/>
              </a:rPr>
              <a:t>CA</a:t>
            </a:r>
            <a:r>
              <a:rPr dirty="0" sz="1350" spc="-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350">
                <a:solidFill>
                  <a:srgbClr val="D7E5D8"/>
                </a:solidFill>
                <a:latin typeface="Microsoft Sans Serif"/>
                <a:cs typeface="Microsoft Sans Serif"/>
              </a:rPr>
              <a:t>inteǐmedias,</a:t>
            </a:r>
            <a:r>
              <a:rPr dirty="0" sz="1350" spc="-1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350">
                <a:solidFill>
                  <a:srgbClr val="D7E5D8"/>
                </a:solidFill>
                <a:latin typeface="Microsoft Sans Serif"/>
                <a:cs typeface="Microsoft Sans Serif"/>
              </a:rPr>
              <a:t>que</a:t>
            </a:r>
            <a:r>
              <a:rPr dirty="0" sz="1350" spc="-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350">
                <a:solidFill>
                  <a:srgbClr val="D7E5D8"/>
                </a:solidFill>
                <a:latin typeface="Microsoft Sans Serif"/>
                <a:cs typeface="Microsoft Sans Serif"/>
              </a:rPr>
              <a:t>a</a:t>
            </a:r>
            <a:r>
              <a:rPr dirty="0" sz="1350" spc="-1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-45">
                <a:solidFill>
                  <a:srgbClr val="D7E5D8"/>
                </a:solidFill>
                <a:latin typeface="Microsoft Sans Serif"/>
                <a:cs typeface="Microsoft Sans Serif"/>
              </a:rPr>
              <a:t>su</a:t>
            </a:r>
            <a:r>
              <a:rPr dirty="0" sz="1350" spc="-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-35">
                <a:solidFill>
                  <a:srgbClr val="D7E5D8"/>
                </a:solidFill>
                <a:latin typeface="Microsoft Sans Serif"/>
                <a:cs typeface="Microsoft Sans Serif"/>
              </a:rPr>
              <a:t>vez</a:t>
            </a:r>
            <a:r>
              <a:rPr dirty="0" sz="1350" spc="-10">
                <a:solidFill>
                  <a:srgbClr val="D7E5D8"/>
                </a:solidFill>
                <a:latin typeface="Microsoft Sans Serif"/>
                <a:cs typeface="Microsoft Sans Serif"/>
              </a:rPr>
              <a:t> fiǐman </a:t>
            </a:r>
            <a:r>
              <a:rPr dirty="0" sz="1350" spc="10">
                <a:solidFill>
                  <a:srgbClr val="D7E5D8"/>
                </a:solidFill>
                <a:latin typeface="Microsoft Sans Serif"/>
                <a:cs typeface="Microsoft Sans Serif"/>
              </a:rPr>
              <a:t>ceǐtificados</a:t>
            </a:r>
            <a:r>
              <a:rPr dirty="0" sz="1350" spc="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350">
                <a:solidFill>
                  <a:srgbClr val="D7E5D8"/>
                </a:solidFill>
                <a:latin typeface="Microsoft Sans Serif"/>
                <a:cs typeface="Microsoft Sans Serif"/>
              </a:rPr>
              <a:t>de</a:t>
            </a:r>
            <a:r>
              <a:rPr dirty="0" sz="1350" spc="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350">
                <a:solidFill>
                  <a:srgbClr val="D7E5D8"/>
                </a:solidFill>
                <a:latin typeface="Microsoft Sans Serif"/>
                <a:cs typeface="Microsoft Sans Serif"/>
              </a:rPr>
              <a:t>usuaǐio</a:t>
            </a:r>
            <a:r>
              <a:rPr dirty="0" sz="1350" spc="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-10">
                <a:solidFill>
                  <a:srgbClr val="D7E5D8"/>
                </a:solidFill>
                <a:latin typeface="Microsoft Sans Serif"/>
                <a:cs typeface="Microsoft Sans Serif"/>
              </a:rPr>
              <a:t>final.</a:t>
            </a:r>
            <a:endParaRPr sz="1350">
              <a:latin typeface="Microsoft Sans Serif"/>
              <a:cs typeface="Microsoft Sans Serif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600075" y="4352925"/>
            <a:ext cx="390525" cy="381000"/>
            <a:chOff x="600075" y="4352925"/>
            <a:chExt cx="390525" cy="381000"/>
          </a:xfrm>
        </p:grpSpPr>
        <p:sp>
          <p:nvSpPr>
            <p:cNvPr id="13" name="object 13" descr=""/>
            <p:cNvSpPr/>
            <p:nvPr/>
          </p:nvSpPr>
          <p:spPr>
            <a:xfrm>
              <a:off x="604837" y="4357687"/>
              <a:ext cx="381000" cy="371475"/>
            </a:xfrm>
            <a:custGeom>
              <a:avLst/>
              <a:gdLst/>
              <a:ahLst/>
              <a:cxnLst/>
              <a:rect l="l" t="t" r="r" b="b"/>
              <a:pathLst>
                <a:path w="381000" h="371475">
                  <a:moveTo>
                    <a:pt x="329380" y="0"/>
                  </a:moveTo>
                  <a:lnTo>
                    <a:pt x="51619" y="0"/>
                  </a:lnTo>
                  <a:lnTo>
                    <a:pt x="48026" y="355"/>
                  </a:lnTo>
                  <a:lnTo>
                    <a:pt x="13618" y="18745"/>
                  </a:lnTo>
                  <a:lnTo>
                    <a:pt x="0" y="51612"/>
                  </a:lnTo>
                  <a:lnTo>
                    <a:pt x="0" y="316230"/>
                  </a:lnTo>
                  <a:lnTo>
                    <a:pt x="0" y="319862"/>
                  </a:lnTo>
                  <a:lnTo>
                    <a:pt x="18747" y="357860"/>
                  </a:lnTo>
                  <a:lnTo>
                    <a:pt x="51619" y="371475"/>
                  </a:lnTo>
                  <a:lnTo>
                    <a:pt x="329380" y="371475"/>
                  </a:lnTo>
                  <a:lnTo>
                    <a:pt x="367381" y="352729"/>
                  </a:lnTo>
                  <a:lnTo>
                    <a:pt x="381000" y="319862"/>
                  </a:lnTo>
                  <a:lnTo>
                    <a:pt x="381000" y="51612"/>
                  </a:lnTo>
                  <a:lnTo>
                    <a:pt x="362252" y="13614"/>
                  </a:lnTo>
                  <a:lnTo>
                    <a:pt x="332973" y="355"/>
                  </a:lnTo>
                  <a:lnTo>
                    <a:pt x="329380" y="0"/>
                  </a:lnTo>
                  <a:close/>
                </a:path>
              </a:pathLst>
            </a:custGeom>
            <a:solidFill>
              <a:srgbClr val="53780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604837" y="4357687"/>
              <a:ext cx="381000" cy="371475"/>
            </a:xfrm>
            <a:custGeom>
              <a:avLst/>
              <a:gdLst/>
              <a:ahLst/>
              <a:cxnLst/>
              <a:rect l="l" t="t" r="r" b="b"/>
              <a:pathLst>
                <a:path w="381000" h="371475">
                  <a:moveTo>
                    <a:pt x="0" y="316230"/>
                  </a:moveTo>
                  <a:lnTo>
                    <a:pt x="0" y="55245"/>
                  </a:lnTo>
                  <a:lnTo>
                    <a:pt x="0" y="51612"/>
                  </a:lnTo>
                  <a:lnTo>
                    <a:pt x="351" y="48018"/>
                  </a:lnTo>
                  <a:lnTo>
                    <a:pt x="1061" y="44462"/>
                  </a:lnTo>
                  <a:lnTo>
                    <a:pt x="1771" y="40906"/>
                  </a:lnTo>
                  <a:lnTo>
                    <a:pt x="2818" y="37452"/>
                  </a:lnTo>
                  <a:lnTo>
                    <a:pt x="4207" y="34099"/>
                  </a:lnTo>
                  <a:lnTo>
                    <a:pt x="5590" y="30746"/>
                  </a:lnTo>
                  <a:lnTo>
                    <a:pt x="24551" y="9309"/>
                  </a:lnTo>
                  <a:lnTo>
                    <a:pt x="27567" y="7289"/>
                  </a:lnTo>
                  <a:lnTo>
                    <a:pt x="51619" y="0"/>
                  </a:lnTo>
                  <a:lnTo>
                    <a:pt x="55245" y="0"/>
                  </a:lnTo>
                  <a:lnTo>
                    <a:pt x="325755" y="0"/>
                  </a:lnTo>
                  <a:lnTo>
                    <a:pt x="329380" y="0"/>
                  </a:lnTo>
                  <a:lnTo>
                    <a:pt x="332973" y="355"/>
                  </a:lnTo>
                  <a:lnTo>
                    <a:pt x="356448" y="9309"/>
                  </a:lnTo>
                  <a:lnTo>
                    <a:pt x="359464" y="11328"/>
                  </a:lnTo>
                  <a:lnTo>
                    <a:pt x="379938" y="44462"/>
                  </a:lnTo>
                  <a:lnTo>
                    <a:pt x="381000" y="51612"/>
                  </a:lnTo>
                  <a:lnTo>
                    <a:pt x="381000" y="55245"/>
                  </a:lnTo>
                  <a:lnTo>
                    <a:pt x="381000" y="316230"/>
                  </a:lnTo>
                  <a:lnTo>
                    <a:pt x="381000" y="319862"/>
                  </a:lnTo>
                  <a:lnTo>
                    <a:pt x="380648" y="323456"/>
                  </a:lnTo>
                  <a:lnTo>
                    <a:pt x="379938" y="327012"/>
                  </a:lnTo>
                  <a:lnTo>
                    <a:pt x="379228" y="330568"/>
                  </a:lnTo>
                  <a:lnTo>
                    <a:pt x="356448" y="362165"/>
                  </a:lnTo>
                  <a:lnTo>
                    <a:pt x="353432" y="364185"/>
                  </a:lnTo>
                  <a:lnTo>
                    <a:pt x="336529" y="370408"/>
                  </a:lnTo>
                  <a:lnTo>
                    <a:pt x="332973" y="371119"/>
                  </a:lnTo>
                  <a:lnTo>
                    <a:pt x="329380" y="371475"/>
                  </a:lnTo>
                  <a:lnTo>
                    <a:pt x="325755" y="371475"/>
                  </a:lnTo>
                  <a:lnTo>
                    <a:pt x="55245" y="371475"/>
                  </a:lnTo>
                  <a:lnTo>
                    <a:pt x="51619" y="371475"/>
                  </a:lnTo>
                  <a:lnTo>
                    <a:pt x="48026" y="371119"/>
                  </a:lnTo>
                  <a:lnTo>
                    <a:pt x="44465" y="370408"/>
                  </a:lnTo>
                  <a:lnTo>
                    <a:pt x="40907" y="369709"/>
                  </a:lnTo>
                  <a:lnTo>
                    <a:pt x="24551" y="362165"/>
                  </a:lnTo>
                  <a:lnTo>
                    <a:pt x="21535" y="360146"/>
                  </a:lnTo>
                  <a:lnTo>
                    <a:pt x="4207" y="337375"/>
                  </a:lnTo>
                  <a:lnTo>
                    <a:pt x="2818" y="334022"/>
                  </a:lnTo>
                  <a:lnTo>
                    <a:pt x="1771" y="330568"/>
                  </a:lnTo>
                  <a:lnTo>
                    <a:pt x="1061" y="327012"/>
                  </a:lnTo>
                  <a:lnTo>
                    <a:pt x="351" y="323456"/>
                  </a:lnTo>
                  <a:lnTo>
                    <a:pt x="0" y="319862"/>
                  </a:lnTo>
                  <a:lnTo>
                    <a:pt x="0" y="316230"/>
                  </a:lnTo>
                  <a:close/>
                </a:path>
              </a:pathLst>
            </a:custGeom>
            <a:ln w="9525">
              <a:solidFill>
                <a:srgbClr val="6D902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 txBox="1"/>
          <p:nvPr/>
        </p:nvSpPr>
        <p:spPr>
          <a:xfrm>
            <a:off x="651221" y="4349750"/>
            <a:ext cx="283845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980">
                <a:solidFill>
                  <a:srgbClr val="FFFFFF"/>
                </a:solidFill>
                <a:latin typeface="SimSun-ExtB"/>
                <a:cs typeface="SimSun-ExtB"/>
              </a:rPr>
              <a:t>2</a:t>
            </a:r>
            <a:endParaRPr sz="2000">
              <a:latin typeface="SimSun-ExtB"/>
              <a:cs typeface="SimSun-ExtB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1144587" y="4325937"/>
            <a:ext cx="4646930" cy="90296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355">
                <a:solidFill>
                  <a:srgbClr val="D7E5D8"/>
                </a:solidFill>
                <a:latin typeface="SimSun-ExtB"/>
                <a:cs typeface="SimSun-ExtB"/>
              </a:rPr>
              <a:t>VeriĒicación</a:t>
            </a:r>
            <a:r>
              <a:rPr dirty="0" sz="1650" spc="-295">
                <a:solidFill>
                  <a:srgbClr val="D7E5D8"/>
                </a:solidFill>
                <a:latin typeface="SimSun-ExtB"/>
                <a:cs typeface="SimSun-ExtB"/>
              </a:rPr>
              <a:t> </a:t>
            </a:r>
            <a:r>
              <a:rPr dirty="0" sz="1650" spc="930">
                <a:solidFill>
                  <a:srgbClr val="D7E5D8"/>
                </a:solidFill>
                <a:latin typeface="SimSun-ExtB"/>
                <a:cs typeface="SimSun-ExtB"/>
              </a:rPr>
              <a:t>de</a:t>
            </a:r>
            <a:r>
              <a:rPr dirty="0" sz="1650" spc="-290">
                <a:solidFill>
                  <a:srgbClr val="D7E5D8"/>
                </a:solidFill>
                <a:latin typeface="SimSun-ExtB"/>
                <a:cs typeface="SimSun-ExtB"/>
              </a:rPr>
              <a:t> </a:t>
            </a:r>
            <a:r>
              <a:rPr dirty="0" sz="1650" spc="615">
                <a:solidFill>
                  <a:srgbClr val="D7E5D8"/>
                </a:solidFill>
                <a:latin typeface="SimSun-ExtB"/>
                <a:cs typeface="SimSun-ExtB"/>
              </a:rPr>
              <a:t>Identidad</a:t>
            </a:r>
            <a:endParaRPr sz="1650">
              <a:latin typeface="SimSun-ExtB"/>
              <a:cs typeface="SimSun-ExtB"/>
            </a:endParaRPr>
          </a:p>
          <a:p>
            <a:pPr marL="12700" marR="5080">
              <a:lnSpc>
                <a:spcPct val="134300"/>
              </a:lnSpc>
              <a:spcBef>
                <a:spcPts val="540"/>
              </a:spcBef>
            </a:pPr>
            <a:r>
              <a:rPr dirty="0" sz="1350" spc="-35">
                <a:solidFill>
                  <a:srgbClr val="D7E5D8"/>
                </a:solidFill>
                <a:latin typeface="Microsoft Sans Serif"/>
                <a:cs typeface="Microsoft Sans Serif"/>
              </a:rPr>
              <a:t>Las</a:t>
            </a:r>
            <a:r>
              <a:rPr dirty="0" sz="1350" spc="-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-75">
                <a:solidFill>
                  <a:srgbClr val="D7E5D8"/>
                </a:solidFill>
                <a:latin typeface="Microsoft Sans Serif"/>
                <a:cs typeface="Microsoft Sans Serif"/>
              </a:rPr>
              <a:t>CA</a:t>
            </a:r>
            <a:r>
              <a:rPr dirty="0" sz="1350" spc="-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350">
                <a:solidFill>
                  <a:srgbClr val="D7E5D8"/>
                </a:solidFill>
                <a:latin typeface="Microsoft Sans Serif"/>
                <a:cs typeface="Microsoft Sans Serif"/>
              </a:rPr>
              <a:t>ǐealizan</a:t>
            </a:r>
            <a:r>
              <a:rPr dirty="0" sz="1350" spc="-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350">
                <a:solidFill>
                  <a:srgbClr val="D7E5D8"/>
                </a:solidFill>
                <a:latin typeface="Microsoft Sans Serif"/>
                <a:cs typeface="Microsoft Sans Serif"/>
              </a:rPr>
              <a:t>compǐobaciones de</a:t>
            </a:r>
            <a:r>
              <a:rPr dirty="0" sz="1350" spc="-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350">
                <a:solidFill>
                  <a:srgbClr val="D7E5D8"/>
                </a:solidFill>
                <a:latin typeface="Microsoft Sans Serif"/>
                <a:cs typeface="Microsoft Sans Serif"/>
              </a:rPr>
              <a:t>identidad</a:t>
            </a:r>
            <a:r>
              <a:rPr dirty="0" sz="1350" spc="-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-10">
                <a:solidFill>
                  <a:srgbClr val="D7E5D8"/>
                </a:solidFill>
                <a:latin typeface="Microsoft Sans Serif"/>
                <a:cs typeface="Microsoft Sans Serif"/>
              </a:rPr>
              <a:t>antes</a:t>
            </a:r>
            <a:r>
              <a:rPr dirty="0" sz="1350">
                <a:solidFill>
                  <a:srgbClr val="D7E5D8"/>
                </a:solidFill>
                <a:latin typeface="Microsoft Sans Serif"/>
                <a:cs typeface="Microsoft Sans Serif"/>
              </a:rPr>
              <a:t> de</a:t>
            </a:r>
            <a:r>
              <a:rPr dirty="0" sz="1350" spc="-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-10">
                <a:solidFill>
                  <a:srgbClr val="D7E5D8"/>
                </a:solidFill>
                <a:latin typeface="Microsoft Sans Serif"/>
                <a:cs typeface="Microsoft Sans Serif"/>
              </a:rPr>
              <a:t>emitiǐ </a:t>
            </a:r>
            <a:r>
              <a:rPr dirty="0" sz="1350">
                <a:solidFill>
                  <a:srgbClr val="D7E5D8"/>
                </a:solidFill>
                <a:latin typeface="Microsoft Sans Serif"/>
                <a:cs typeface="Microsoft Sans Serif"/>
              </a:rPr>
              <a:t>ceǐtificados,</a:t>
            </a:r>
            <a:r>
              <a:rPr dirty="0" sz="1350" spc="8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350">
                <a:solidFill>
                  <a:srgbClr val="D7E5D8"/>
                </a:solidFill>
                <a:latin typeface="Microsoft Sans Serif"/>
                <a:cs typeface="Microsoft Sans Serif"/>
              </a:rPr>
              <a:t>especialmente</a:t>
            </a:r>
            <a:r>
              <a:rPr dirty="0" sz="1350" spc="8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350">
                <a:solidFill>
                  <a:srgbClr val="D7E5D8"/>
                </a:solidFill>
                <a:latin typeface="Microsoft Sans Serif"/>
                <a:cs typeface="Microsoft Sans Serif"/>
              </a:rPr>
              <a:t>paǐa</a:t>
            </a:r>
            <a:r>
              <a:rPr dirty="0" sz="1350" spc="8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-25">
                <a:solidFill>
                  <a:srgbClr val="D7E5D8"/>
                </a:solidFill>
                <a:latin typeface="Microsoft Sans Serif"/>
                <a:cs typeface="Microsoft Sans Serif"/>
              </a:rPr>
              <a:t>EV.</a:t>
            </a:r>
            <a:endParaRPr sz="1350">
              <a:latin typeface="Microsoft Sans Serif"/>
              <a:cs typeface="Microsoft Sans Serif"/>
            </a:endParaRPr>
          </a:p>
        </p:txBody>
      </p:sp>
      <p:grpSp>
        <p:nvGrpSpPr>
          <p:cNvPr id="17" name="object 17" descr=""/>
          <p:cNvGrpSpPr/>
          <p:nvPr/>
        </p:nvGrpSpPr>
        <p:grpSpPr>
          <a:xfrm>
            <a:off x="600075" y="5629275"/>
            <a:ext cx="390525" cy="390525"/>
            <a:chOff x="600075" y="5629275"/>
            <a:chExt cx="390525" cy="390525"/>
          </a:xfrm>
        </p:grpSpPr>
        <p:sp>
          <p:nvSpPr>
            <p:cNvPr id="18" name="object 18" descr=""/>
            <p:cNvSpPr/>
            <p:nvPr/>
          </p:nvSpPr>
          <p:spPr>
            <a:xfrm>
              <a:off x="604837" y="5634037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29380" y="0"/>
                  </a:moveTo>
                  <a:lnTo>
                    <a:pt x="51619" y="0"/>
                  </a:lnTo>
                  <a:lnTo>
                    <a:pt x="48026" y="355"/>
                  </a:lnTo>
                  <a:lnTo>
                    <a:pt x="13618" y="18745"/>
                  </a:lnTo>
                  <a:lnTo>
                    <a:pt x="0" y="51612"/>
                  </a:lnTo>
                  <a:lnTo>
                    <a:pt x="0" y="325752"/>
                  </a:lnTo>
                  <a:lnTo>
                    <a:pt x="0" y="329384"/>
                  </a:lnTo>
                  <a:lnTo>
                    <a:pt x="18747" y="367385"/>
                  </a:lnTo>
                  <a:lnTo>
                    <a:pt x="51619" y="380997"/>
                  </a:lnTo>
                  <a:lnTo>
                    <a:pt x="329380" y="380997"/>
                  </a:lnTo>
                  <a:lnTo>
                    <a:pt x="367381" y="362256"/>
                  </a:lnTo>
                  <a:lnTo>
                    <a:pt x="381000" y="329384"/>
                  </a:lnTo>
                  <a:lnTo>
                    <a:pt x="381000" y="51612"/>
                  </a:lnTo>
                  <a:lnTo>
                    <a:pt x="362252" y="13614"/>
                  </a:lnTo>
                  <a:lnTo>
                    <a:pt x="332973" y="355"/>
                  </a:lnTo>
                  <a:lnTo>
                    <a:pt x="329380" y="0"/>
                  </a:lnTo>
                  <a:close/>
                </a:path>
              </a:pathLst>
            </a:custGeom>
            <a:solidFill>
              <a:srgbClr val="53780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604837" y="5634037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0" y="325752"/>
                  </a:moveTo>
                  <a:lnTo>
                    <a:pt x="0" y="55245"/>
                  </a:lnTo>
                  <a:lnTo>
                    <a:pt x="0" y="51612"/>
                  </a:lnTo>
                  <a:lnTo>
                    <a:pt x="351" y="48018"/>
                  </a:lnTo>
                  <a:lnTo>
                    <a:pt x="1061" y="44462"/>
                  </a:lnTo>
                  <a:lnTo>
                    <a:pt x="1771" y="40906"/>
                  </a:lnTo>
                  <a:lnTo>
                    <a:pt x="2818" y="37452"/>
                  </a:lnTo>
                  <a:lnTo>
                    <a:pt x="4207" y="34099"/>
                  </a:lnTo>
                  <a:lnTo>
                    <a:pt x="5590" y="30746"/>
                  </a:lnTo>
                  <a:lnTo>
                    <a:pt x="7292" y="27571"/>
                  </a:lnTo>
                  <a:lnTo>
                    <a:pt x="24551" y="9309"/>
                  </a:lnTo>
                  <a:lnTo>
                    <a:pt x="27567" y="7289"/>
                  </a:lnTo>
                  <a:lnTo>
                    <a:pt x="51619" y="0"/>
                  </a:lnTo>
                  <a:lnTo>
                    <a:pt x="55245" y="0"/>
                  </a:lnTo>
                  <a:lnTo>
                    <a:pt x="325755" y="0"/>
                  </a:lnTo>
                  <a:lnTo>
                    <a:pt x="329380" y="0"/>
                  </a:lnTo>
                  <a:lnTo>
                    <a:pt x="332973" y="355"/>
                  </a:lnTo>
                  <a:lnTo>
                    <a:pt x="356448" y="9309"/>
                  </a:lnTo>
                  <a:lnTo>
                    <a:pt x="359464" y="11328"/>
                  </a:lnTo>
                  <a:lnTo>
                    <a:pt x="379938" y="44462"/>
                  </a:lnTo>
                  <a:lnTo>
                    <a:pt x="380648" y="48018"/>
                  </a:lnTo>
                  <a:lnTo>
                    <a:pt x="381000" y="51612"/>
                  </a:lnTo>
                  <a:lnTo>
                    <a:pt x="381000" y="55245"/>
                  </a:lnTo>
                  <a:lnTo>
                    <a:pt x="381000" y="325752"/>
                  </a:lnTo>
                  <a:lnTo>
                    <a:pt x="381000" y="329384"/>
                  </a:lnTo>
                  <a:lnTo>
                    <a:pt x="380648" y="332976"/>
                  </a:lnTo>
                  <a:lnTo>
                    <a:pt x="371688" y="356445"/>
                  </a:lnTo>
                  <a:lnTo>
                    <a:pt x="369674" y="359462"/>
                  </a:lnTo>
                  <a:lnTo>
                    <a:pt x="367381" y="362256"/>
                  </a:lnTo>
                  <a:lnTo>
                    <a:pt x="364817" y="364820"/>
                  </a:lnTo>
                  <a:lnTo>
                    <a:pt x="362252" y="367385"/>
                  </a:lnTo>
                  <a:lnTo>
                    <a:pt x="359464" y="369671"/>
                  </a:lnTo>
                  <a:lnTo>
                    <a:pt x="356448" y="371685"/>
                  </a:lnTo>
                  <a:lnTo>
                    <a:pt x="353432" y="373705"/>
                  </a:lnTo>
                  <a:lnTo>
                    <a:pt x="336529" y="379935"/>
                  </a:lnTo>
                  <a:lnTo>
                    <a:pt x="332973" y="380645"/>
                  </a:lnTo>
                  <a:lnTo>
                    <a:pt x="329380" y="380997"/>
                  </a:lnTo>
                  <a:lnTo>
                    <a:pt x="325755" y="380997"/>
                  </a:lnTo>
                  <a:lnTo>
                    <a:pt x="55245" y="380997"/>
                  </a:lnTo>
                  <a:lnTo>
                    <a:pt x="51619" y="380997"/>
                  </a:lnTo>
                  <a:lnTo>
                    <a:pt x="48026" y="380645"/>
                  </a:lnTo>
                  <a:lnTo>
                    <a:pt x="44465" y="379935"/>
                  </a:lnTo>
                  <a:lnTo>
                    <a:pt x="40907" y="379232"/>
                  </a:lnTo>
                  <a:lnTo>
                    <a:pt x="24551" y="371685"/>
                  </a:lnTo>
                  <a:lnTo>
                    <a:pt x="21535" y="369671"/>
                  </a:lnTo>
                  <a:lnTo>
                    <a:pt x="9311" y="356445"/>
                  </a:lnTo>
                  <a:lnTo>
                    <a:pt x="7292" y="353429"/>
                  </a:lnTo>
                  <a:lnTo>
                    <a:pt x="5590" y="350245"/>
                  </a:lnTo>
                  <a:lnTo>
                    <a:pt x="4207" y="346896"/>
                  </a:lnTo>
                  <a:lnTo>
                    <a:pt x="2818" y="343542"/>
                  </a:lnTo>
                  <a:lnTo>
                    <a:pt x="1771" y="340089"/>
                  </a:lnTo>
                  <a:lnTo>
                    <a:pt x="1061" y="336533"/>
                  </a:lnTo>
                  <a:lnTo>
                    <a:pt x="351" y="332976"/>
                  </a:lnTo>
                  <a:lnTo>
                    <a:pt x="0" y="329384"/>
                  </a:lnTo>
                  <a:lnTo>
                    <a:pt x="0" y="325752"/>
                  </a:lnTo>
                  <a:close/>
                </a:path>
              </a:pathLst>
            </a:custGeom>
            <a:ln w="9525">
              <a:solidFill>
                <a:srgbClr val="6D902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 descr=""/>
          <p:cNvSpPr txBox="1"/>
          <p:nvPr/>
        </p:nvSpPr>
        <p:spPr>
          <a:xfrm>
            <a:off x="644525" y="5635622"/>
            <a:ext cx="297180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1080">
                <a:solidFill>
                  <a:srgbClr val="FFFFFF"/>
                </a:solidFill>
                <a:latin typeface="SimSun-ExtB"/>
                <a:cs typeface="SimSun-ExtB"/>
              </a:rPr>
              <a:t>3</a:t>
            </a:r>
            <a:endParaRPr sz="2000">
              <a:latin typeface="SimSun-ExtB"/>
              <a:cs typeface="SimSun-ExtB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1144587" y="5602285"/>
            <a:ext cx="5217160" cy="91249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690">
                <a:solidFill>
                  <a:srgbClr val="D7E5D8"/>
                </a:solidFill>
                <a:latin typeface="SimSun-ExtB"/>
                <a:cs typeface="SimSun-ExtB"/>
              </a:rPr>
              <a:t>Revocación</a:t>
            </a:r>
            <a:r>
              <a:rPr dirty="0" sz="1650" spc="-315">
                <a:solidFill>
                  <a:srgbClr val="D7E5D8"/>
                </a:solidFill>
                <a:latin typeface="SimSun-ExtB"/>
                <a:cs typeface="SimSun-ExtB"/>
              </a:rPr>
              <a:t> </a:t>
            </a:r>
            <a:r>
              <a:rPr dirty="0" sz="1650" spc="930">
                <a:solidFill>
                  <a:srgbClr val="D7E5D8"/>
                </a:solidFill>
                <a:latin typeface="SimSun-ExtB"/>
                <a:cs typeface="SimSun-ExtB"/>
              </a:rPr>
              <a:t>de</a:t>
            </a:r>
            <a:r>
              <a:rPr dirty="0" sz="1650" spc="-300">
                <a:solidFill>
                  <a:srgbClr val="D7E5D8"/>
                </a:solidFill>
                <a:latin typeface="SimSun-ExtB"/>
                <a:cs typeface="SimSun-ExtB"/>
              </a:rPr>
              <a:t> </a:t>
            </a:r>
            <a:r>
              <a:rPr dirty="0" sz="1650" spc="484">
                <a:solidFill>
                  <a:srgbClr val="D7E5D8"/>
                </a:solidFill>
                <a:latin typeface="SimSun-ExtB"/>
                <a:cs typeface="SimSun-ExtB"/>
              </a:rPr>
              <a:t>CertiĒicados</a:t>
            </a:r>
            <a:endParaRPr sz="1650">
              <a:latin typeface="SimSun-ExtB"/>
              <a:cs typeface="SimSun-ExtB"/>
            </a:endParaRPr>
          </a:p>
          <a:p>
            <a:pPr marL="12700" marR="5080">
              <a:lnSpc>
                <a:spcPct val="134300"/>
              </a:lnSpc>
              <a:spcBef>
                <a:spcPts val="615"/>
              </a:spcBef>
            </a:pPr>
            <a:r>
              <a:rPr dirty="0" sz="1350" spc="-35">
                <a:solidFill>
                  <a:srgbClr val="D7E5D8"/>
                </a:solidFill>
                <a:latin typeface="Microsoft Sans Serif"/>
                <a:cs typeface="Microsoft Sans Serif"/>
              </a:rPr>
              <a:t>Las</a:t>
            </a:r>
            <a:r>
              <a:rPr dirty="0" sz="1350" spc="-2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-75">
                <a:solidFill>
                  <a:srgbClr val="D7E5D8"/>
                </a:solidFill>
                <a:latin typeface="Microsoft Sans Serif"/>
                <a:cs typeface="Microsoft Sans Serif"/>
              </a:rPr>
              <a:t>CA</a:t>
            </a:r>
            <a:r>
              <a:rPr dirty="0" sz="1350" spc="-2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350">
                <a:solidFill>
                  <a:srgbClr val="D7E5D8"/>
                </a:solidFill>
                <a:latin typeface="Microsoft Sans Serif"/>
                <a:cs typeface="Microsoft Sans Serif"/>
              </a:rPr>
              <a:t>mantienen</a:t>
            </a:r>
            <a:r>
              <a:rPr dirty="0" sz="1350" spc="-2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-20">
                <a:solidFill>
                  <a:srgbClr val="D7E5D8"/>
                </a:solidFill>
                <a:latin typeface="Microsoft Sans Serif"/>
                <a:cs typeface="Microsoft Sans Serif"/>
              </a:rPr>
              <a:t>listas</a:t>
            </a:r>
            <a:r>
              <a:rPr dirty="0" sz="1350" spc="-2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350">
                <a:solidFill>
                  <a:srgbClr val="D7E5D8"/>
                </a:solidFill>
                <a:latin typeface="Microsoft Sans Serif"/>
                <a:cs typeface="Microsoft Sans Serif"/>
              </a:rPr>
              <a:t>de</a:t>
            </a:r>
            <a:r>
              <a:rPr dirty="0" sz="1350" spc="-2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350">
                <a:solidFill>
                  <a:srgbClr val="D7E5D8"/>
                </a:solidFill>
                <a:latin typeface="Microsoft Sans Serif"/>
                <a:cs typeface="Microsoft Sans Serif"/>
              </a:rPr>
              <a:t>ǐevocación</a:t>
            </a:r>
            <a:r>
              <a:rPr dirty="0" sz="1350" spc="-2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-60">
                <a:solidFill>
                  <a:srgbClr val="D7E5D8"/>
                </a:solidFill>
                <a:latin typeface="Microsoft Sans Serif"/>
                <a:cs typeface="Microsoft Sans Serif"/>
              </a:rPr>
              <a:t>(CRL)</a:t>
            </a:r>
            <a:r>
              <a:rPr dirty="0" sz="1350" spc="-2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350">
                <a:solidFill>
                  <a:srgbClr val="D7E5D8"/>
                </a:solidFill>
                <a:latin typeface="Microsoft Sans Serif"/>
                <a:cs typeface="Microsoft Sans Serif"/>
              </a:rPr>
              <a:t>y</a:t>
            </a:r>
            <a:r>
              <a:rPr dirty="0" sz="1350" spc="-2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350">
                <a:solidFill>
                  <a:srgbClr val="D7E5D8"/>
                </a:solidFill>
                <a:latin typeface="Microsoft Sans Serif"/>
                <a:cs typeface="Microsoft Sans Serif"/>
              </a:rPr>
              <a:t>pǐotocolos</a:t>
            </a:r>
            <a:r>
              <a:rPr dirty="0" sz="1350" spc="-2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-100">
                <a:solidFill>
                  <a:srgbClr val="D7E5D8"/>
                </a:solidFill>
                <a:latin typeface="Microsoft Sans Serif"/>
                <a:cs typeface="Microsoft Sans Serif"/>
              </a:rPr>
              <a:t>OCSP</a:t>
            </a:r>
            <a:r>
              <a:rPr dirty="0" sz="1350" spc="-2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-20">
                <a:solidFill>
                  <a:srgbClr val="D7E5D8"/>
                </a:solidFill>
                <a:latin typeface="Microsoft Sans Serif"/>
                <a:cs typeface="Microsoft Sans Serif"/>
              </a:rPr>
              <a:t>paǐa </a:t>
            </a:r>
            <a:r>
              <a:rPr dirty="0" sz="1350" spc="10">
                <a:solidFill>
                  <a:srgbClr val="D7E5D8"/>
                </a:solidFill>
                <a:latin typeface="Microsoft Sans Serif"/>
                <a:cs typeface="Microsoft Sans Serif"/>
              </a:rPr>
              <a:t>ceǐtificados</a:t>
            </a:r>
            <a:r>
              <a:rPr dirty="0" sz="1350" spc="13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-10">
                <a:solidFill>
                  <a:srgbClr val="D7E5D8"/>
                </a:solidFill>
                <a:latin typeface="Microsoft Sans Serif"/>
                <a:cs typeface="Microsoft Sans Serif"/>
              </a:rPr>
              <a:t>compǐometidos.</a:t>
            </a:r>
            <a:endParaRPr sz="13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1"/>
            <a:ext cx="11430000" cy="6457950"/>
          </a:xfrm>
          <a:custGeom>
            <a:avLst/>
            <a:gdLst/>
            <a:ahLst/>
            <a:cxnLst/>
            <a:rect l="l" t="t" r="r" b="b"/>
            <a:pathLst>
              <a:path w="11430000" h="6457950">
                <a:moveTo>
                  <a:pt x="11430000" y="0"/>
                </a:moveTo>
                <a:lnTo>
                  <a:pt x="0" y="0"/>
                </a:lnTo>
                <a:lnTo>
                  <a:pt x="0" y="6457950"/>
                </a:lnTo>
                <a:lnTo>
                  <a:pt x="11430000" y="6457950"/>
                </a:lnTo>
                <a:lnTo>
                  <a:pt x="11430000" y="0"/>
                </a:lnTo>
                <a:close/>
              </a:path>
            </a:pathLst>
          </a:custGeom>
          <a:solidFill>
            <a:srgbClr val="151F24">
              <a:alpha val="94898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508"/>
            <a:ext cx="4286250" cy="6457441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873625" y="444500"/>
            <a:ext cx="5406390" cy="2139950"/>
          </a:xfrm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 marR="5080">
              <a:lnSpc>
                <a:spcPts val="4200"/>
              </a:lnSpc>
              <a:spcBef>
                <a:spcPts val="50"/>
              </a:spcBef>
            </a:pPr>
            <a:r>
              <a:rPr dirty="0" spc="1140"/>
              <a:t>Evaluación</a:t>
            </a:r>
            <a:r>
              <a:rPr dirty="0" spc="-610"/>
              <a:t> </a:t>
            </a:r>
            <a:r>
              <a:rPr dirty="0" spc="1814"/>
              <a:t>de </a:t>
            </a:r>
            <a:r>
              <a:rPr dirty="0" spc="1125"/>
              <a:t>Conocifiientos: </a:t>
            </a:r>
            <a:r>
              <a:rPr dirty="0" spc="1160"/>
              <a:t>Cuestionario </a:t>
            </a:r>
            <a:r>
              <a:rPr dirty="0" spc="1580"/>
              <a:t>SSL/TLS</a:t>
            </a:r>
          </a:p>
        </p:txBody>
      </p:sp>
      <p:sp>
        <p:nvSpPr>
          <p:cNvPr id="5" name="object 5" descr=""/>
          <p:cNvSpPr/>
          <p:nvPr/>
        </p:nvSpPr>
        <p:spPr>
          <a:xfrm>
            <a:off x="4891087" y="2881312"/>
            <a:ext cx="5934075" cy="3095625"/>
          </a:xfrm>
          <a:custGeom>
            <a:avLst/>
            <a:gdLst/>
            <a:ahLst/>
            <a:cxnLst/>
            <a:rect l="l" t="t" r="r" b="b"/>
            <a:pathLst>
              <a:path w="5934075" h="3095625">
                <a:moveTo>
                  <a:pt x="0" y="3040382"/>
                </a:moveTo>
                <a:lnTo>
                  <a:pt x="0" y="55245"/>
                </a:lnTo>
                <a:lnTo>
                  <a:pt x="0" y="51612"/>
                </a:lnTo>
                <a:lnTo>
                  <a:pt x="355" y="48018"/>
                </a:lnTo>
                <a:lnTo>
                  <a:pt x="1066" y="44462"/>
                </a:lnTo>
                <a:lnTo>
                  <a:pt x="1765" y="40906"/>
                </a:lnTo>
                <a:lnTo>
                  <a:pt x="2819" y="37452"/>
                </a:lnTo>
                <a:lnTo>
                  <a:pt x="27571" y="7289"/>
                </a:lnTo>
                <a:lnTo>
                  <a:pt x="44462" y="1066"/>
                </a:lnTo>
                <a:lnTo>
                  <a:pt x="48018" y="355"/>
                </a:lnTo>
                <a:lnTo>
                  <a:pt x="51612" y="0"/>
                </a:lnTo>
                <a:lnTo>
                  <a:pt x="55245" y="0"/>
                </a:lnTo>
                <a:lnTo>
                  <a:pt x="5878830" y="0"/>
                </a:lnTo>
                <a:lnTo>
                  <a:pt x="5882462" y="0"/>
                </a:lnTo>
                <a:lnTo>
                  <a:pt x="5886043" y="355"/>
                </a:lnTo>
                <a:lnTo>
                  <a:pt x="5889599" y="1066"/>
                </a:lnTo>
                <a:lnTo>
                  <a:pt x="5893168" y="1765"/>
                </a:lnTo>
                <a:lnTo>
                  <a:pt x="5896622" y="2819"/>
                </a:lnTo>
                <a:lnTo>
                  <a:pt x="5899962" y="4203"/>
                </a:lnTo>
                <a:lnTo>
                  <a:pt x="5903328" y="5588"/>
                </a:lnTo>
                <a:lnTo>
                  <a:pt x="5906503" y="7289"/>
                </a:lnTo>
                <a:lnTo>
                  <a:pt x="5909513" y="9309"/>
                </a:lnTo>
                <a:lnTo>
                  <a:pt x="5912535" y="11328"/>
                </a:lnTo>
                <a:lnTo>
                  <a:pt x="5915329" y="13614"/>
                </a:lnTo>
                <a:lnTo>
                  <a:pt x="5917895" y="16179"/>
                </a:lnTo>
                <a:lnTo>
                  <a:pt x="5920460" y="18745"/>
                </a:lnTo>
                <a:lnTo>
                  <a:pt x="5933008" y="44462"/>
                </a:lnTo>
                <a:lnTo>
                  <a:pt x="5933719" y="48018"/>
                </a:lnTo>
                <a:lnTo>
                  <a:pt x="5934075" y="51612"/>
                </a:lnTo>
                <a:lnTo>
                  <a:pt x="5934075" y="55245"/>
                </a:lnTo>
                <a:lnTo>
                  <a:pt x="5934075" y="3040382"/>
                </a:lnTo>
                <a:lnTo>
                  <a:pt x="5934075" y="3044008"/>
                </a:lnTo>
                <a:lnTo>
                  <a:pt x="5933719" y="3047599"/>
                </a:lnTo>
                <a:lnTo>
                  <a:pt x="5933008" y="3051157"/>
                </a:lnTo>
                <a:lnTo>
                  <a:pt x="5932309" y="3054714"/>
                </a:lnTo>
                <a:lnTo>
                  <a:pt x="5917895" y="3079443"/>
                </a:lnTo>
                <a:lnTo>
                  <a:pt x="5915329" y="3082009"/>
                </a:lnTo>
                <a:lnTo>
                  <a:pt x="5912535" y="3084296"/>
                </a:lnTo>
                <a:lnTo>
                  <a:pt x="5909513" y="3086315"/>
                </a:lnTo>
                <a:lnTo>
                  <a:pt x="5906503" y="3088328"/>
                </a:lnTo>
                <a:lnTo>
                  <a:pt x="5903328" y="3090030"/>
                </a:lnTo>
                <a:lnTo>
                  <a:pt x="5899962" y="3091420"/>
                </a:lnTo>
                <a:lnTo>
                  <a:pt x="5896622" y="3092809"/>
                </a:lnTo>
                <a:lnTo>
                  <a:pt x="5893168" y="3093855"/>
                </a:lnTo>
                <a:lnTo>
                  <a:pt x="5889599" y="3094560"/>
                </a:lnTo>
                <a:lnTo>
                  <a:pt x="5886043" y="3095269"/>
                </a:lnTo>
                <a:lnTo>
                  <a:pt x="5882462" y="3095622"/>
                </a:lnTo>
                <a:lnTo>
                  <a:pt x="5878830" y="3095622"/>
                </a:lnTo>
                <a:lnTo>
                  <a:pt x="55245" y="3095622"/>
                </a:lnTo>
                <a:lnTo>
                  <a:pt x="51612" y="3095622"/>
                </a:lnTo>
                <a:lnTo>
                  <a:pt x="48018" y="3095269"/>
                </a:lnTo>
                <a:lnTo>
                  <a:pt x="44462" y="3094560"/>
                </a:lnTo>
                <a:lnTo>
                  <a:pt x="40906" y="3093855"/>
                </a:lnTo>
                <a:lnTo>
                  <a:pt x="16179" y="3079443"/>
                </a:lnTo>
                <a:lnTo>
                  <a:pt x="13614" y="3076879"/>
                </a:lnTo>
                <a:lnTo>
                  <a:pt x="1066" y="3051157"/>
                </a:lnTo>
                <a:lnTo>
                  <a:pt x="355" y="3047599"/>
                </a:lnTo>
                <a:lnTo>
                  <a:pt x="0" y="3044008"/>
                </a:lnTo>
                <a:lnTo>
                  <a:pt x="0" y="3040382"/>
                </a:lnTo>
                <a:close/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6" name="object 6" descr=""/>
          <p:cNvGraphicFramePr>
            <a:graphicFrameLocks noGrp="1"/>
          </p:cNvGraphicFramePr>
          <p:nvPr/>
        </p:nvGraphicFramePr>
        <p:xfrm>
          <a:off x="4895850" y="2886075"/>
          <a:ext cx="6000750" cy="30861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66720"/>
                <a:gridCol w="2957195"/>
              </a:tblGrid>
              <a:tr h="495300">
                <a:tc>
                  <a:txBody>
                    <a:bodyPr/>
                    <a:lstStyle/>
                    <a:p>
                      <a:pPr marL="170815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dirty="0" sz="1350" spc="-10">
                          <a:solidFill>
                            <a:srgbClr val="D7E5D8"/>
                          </a:solidFill>
                          <a:latin typeface="Microsoft Sans Serif"/>
                          <a:cs typeface="Microsoft Sans Serif"/>
                        </a:rPr>
                        <a:t>Pǐegunta</a:t>
                      </a:r>
                      <a:endParaRPr sz="135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123825">
                    <a:lnR w="9525">
                      <a:solidFill>
                        <a:srgbClr val="202A2F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71450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dirty="0" sz="1350" spc="-10">
                          <a:solidFill>
                            <a:srgbClr val="D7E5D8"/>
                          </a:solidFill>
                          <a:latin typeface="Microsoft Sans Serif"/>
                          <a:cs typeface="Microsoft Sans Serif"/>
                        </a:rPr>
                        <a:t>Respuesta</a:t>
                      </a:r>
                      <a:endParaRPr sz="135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123825">
                    <a:lnL w="9525">
                      <a:solidFill>
                        <a:srgbClr val="202A2F"/>
                      </a:solidFill>
                      <a:prstDash val="solid"/>
                    </a:lnL>
                    <a:solidFill>
                      <a:srgbClr val="FFFFFF">
                        <a:alpha val="3919"/>
                      </a:srgbClr>
                    </a:solidFill>
                  </a:tcPr>
                </a:tc>
              </a:tr>
              <a:tr h="771525">
                <a:tc>
                  <a:txBody>
                    <a:bodyPr/>
                    <a:lstStyle/>
                    <a:p>
                      <a:pPr marL="170815" marR="808355">
                        <a:lnSpc>
                          <a:spcPct val="134300"/>
                        </a:lnSpc>
                        <a:spcBef>
                          <a:spcPts val="495"/>
                        </a:spcBef>
                      </a:pPr>
                      <a:r>
                        <a:rPr dirty="0" sz="1350">
                          <a:solidFill>
                            <a:srgbClr val="D7E5D8"/>
                          </a:solidFill>
                          <a:latin typeface="Microsoft Sans Serif"/>
                          <a:cs typeface="Microsoft Sans Serif"/>
                        </a:rPr>
                        <a:t>¿Pǐincipal</a:t>
                      </a:r>
                      <a:r>
                        <a:rPr dirty="0" sz="1350" spc="60">
                          <a:solidFill>
                            <a:srgbClr val="D7E5D8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350">
                          <a:solidFill>
                            <a:srgbClr val="D7E5D8"/>
                          </a:solidFill>
                          <a:latin typeface="Microsoft Sans Serif"/>
                          <a:cs typeface="Microsoft Sans Serif"/>
                        </a:rPr>
                        <a:t>difeǐencia</a:t>
                      </a:r>
                      <a:r>
                        <a:rPr dirty="0" sz="1350" spc="65">
                          <a:solidFill>
                            <a:srgbClr val="D7E5D8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350" spc="-20">
                          <a:solidFill>
                            <a:srgbClr val="D7E5D8"/>
                          </a:solidFill>
                          <a:latin typeface="Microsoft Sans Serif"/>
                          <a:cs typeface="Microsoft Sans Serif"/>
                        </a:rPr>
                        <a:t>entǐe </a:t>
                      </a:r>
                      <a:r>
                        <a:rPr dirty="0" sz="1350" spc="20">
                          <a:solidFill>
                            <a:srgbClr val="D7E5D8"/>
                          </a:solidFill>
                          <a:latin typeface="Microsoft Sans Serif"/>
                          <a:cs typeface="Microsoft Sans Serif"/>
                        </a:rPr>
                        <a:t>ceǐtificado</a:t>
                      </a:r>
                      <a:r>
                        <a:rPr dirty="0" sz="1350" spc="45">
                          <a:solidFill>
                            <a:srgbClr val="D7E5D8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350" spc="20">
                          <a:solidFill>
                            <a:srgbClr val="D7E5D8"/>
                          </a:solidFill>
                          <a:latin typeface="Microsoft Sans Serif"/>
                          <a:cs typeface="Microsoft Sans Serif"/>
                        </a:rPr>
                        <a:t>wildcaǐd</a:t>
                      </a:r>
                      <a:r>
                        <a:rPr dirty="0" sz="1350" spc="45">
                          <a:solidFill>
                            <a:srgbClr val="D7E5D8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350" spc="10">
                          <a:solidFill>
                            <a:srgbClr val="D7E5D8"/>
                          </a:solidFill>
                          <a:latin typeface="Microsoft Sans Serif"/>
                          <a:cs typeface="Microsoft Sans Serif"/>
                        </a:rPr>
                        <a:t>y</a:t>
                      </a:r>
                      <a:r>
                        <a:rPr dirty="0" sz="1350" spc="45">
                          <a:solidFill>
                            <a:srgbClr val="D7E5D8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350" spc="-65">
                          <a:solidFill>
                            <a:srgbClr val="D7E5D8"/>
                          </a:solidFill>
                          <a:latin typeface="Microsoft Sans Serif"/>
                          <a:cs typeface="Microsoft Sans Serif"/>
                        </a:rPr>
                        <a:t>EV?</a:t>
                      </a:r>
                      <a:endParaRPr sz="135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62865">
                    <a:lnR w="9525">
                      <a:solidFill>
                        <a:srgbClr val="202A2F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542925">
                        <a:lnSpc>
                          <a:spcPct val="134300"/>
                        </a:lnSpc>
                        <a:spcBef>
                          <a:spcPts val="495"/>
                        </a:spcBef>
                      </a:pPr>
                      <a:r>
                        <a:rPr dirty="0" sz="1350">
                          <a:solidFill>
                            <a:srgbClr val="D7E5D8"/>
                          </a:solidFill>
                          <a:latin typeface="Microsoft Sans Serif"/>
                          <a:cs typeface="Microsoft Sans Serif"/>
                        </a:rPr>
                        <a:t>Cobeǐtuǐa</a:t>
                      </a:r>
                      <a:r>
                        <a:rPr dirty="0" sz="1350" spc="45">
                          <a:solidFill>
                            <a:srgbClr val="D7E5D8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350">
                          <a:solidFill>
                            <a:srgbClr val="D7E5D8"/>
                          </a:solidFill>
                          <a:latin typeface="Microsoft Sans Serif"/>
                          <a:cs typeface="Microsoft Sans Serif"/>
                        </a:rPr>
                        <a:t>de</a:t>
                      </a:r>
                      <a:r>
                        <a:rPr dirty="0" sz="1350" spc="45">
                          <a:solidFill>
                            <a:srgbClr val="D7E5D8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350" spc="-10">
                          <a:solidFill>
                            <a:srgbClr val="D7E5D8"/>
                          </a:solidFill>
                          <a:latin typeface="Microsoft Sans Serif"/>
                          <a:cs typeface="Microsoft Sans Serif"/>
                        </a:rPr>
                        <a:t>subdominios</a:t>
                      </a:r>
                      <a:r>
                        <a:rPr dirty="0" sz="1350" spc="45">
                          <a:solidFill>
                            <a:srgbClr val="D7E5D8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350" spc="-45">
                          <a:solidFill>
                            <a:srgbClr val="D7E5D8"/>
                          </a:solidFill>
                          <a:latin typeface="Microsoft Sans Serif"/>
                          <a:cs typeface="Microsoft Sans Serif"/>
                        </a:rPr>
                        <a:t>vs. </a:t>
                      </a:r>
                      <a:r>
                        <a:rPr dirty="0" sz="1350" spc="-25">
                          <a:solidFill>
                            <a:srgbClr val="D7E5D8"/>
                          </a:solidFill>
                          <a:latin typeface="Microsoft Sans Serif"/>
                          <a:cs typeface="Microsoft Sans Serif"/>
                        </a:rPr>
                        <a:t>nivel</a:t>
                      </a:r>
                      <a:r>
                        <a:rPr dirty="0" sz="1350" spc="-65">
                          <a:solidFill>
                            <a:srgbClr val="D7E5D8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350">
                          <a:solidFill>
                            <a:srgbClr val="D7E5D8"/>
                          </a:solidFill>
                          <a:latin typeface="Microsoft Sans Serif"/>
                          <a:cs typeface="Microsoft Sans Serif"/>
                        </a:rPr>
                        <a:t>de</a:t>
                      </a:r>
                      <a:r>
                        <a:rPr dirty="0" sz="1350" spc="-65">
                          <a:solidFill>
                            <a:srgbClr val="D7E5D8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350" spc="-10">
                          <a:solidFill>
                            <a:srgbClr val="D7E5D8"/>
                          </a:solidFill>
                          <a:latin typeface="Microsoft Sans Serif"/>
                          <a:cs typeface="Microsoft Sans Serif"/>
                        </a:rPr>
                        <a:t>validación</a:t>
                      </a:r>
                      <a:endParaRPr sz="135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62865">
                    <a:lnL w="9525">
                      <a:solidFill>
                        <a:srgbClr val="202A2F"/>
                      </a:solidFill>
                      <a:prstDash val="solid"/>
                    </a:lnL>
                    <a:solidFill>
                      <a:srgbClr val="000000">
                        <a:alpha val="3919"/>
                      </a:srgbClr>
                    </a:solidFill>
                  </a:tcPr>
                </a:tc>
              </a:tr>
              <a:tr h="771525">
                <a:tc>
                  <a:txBody>
                    <a:bodyPr/>
                    <a:lstStyle/>
                    <a:p>
                      <a:pPr marL="170815" marR="615315">
                        <a:lnSpc>
                          <a:spcPct val="134300"/>
                        </a:lnSpc>
                        <a:spcBef>
                          <a:spcPts val="495"/>
                        </a:spcBef>
                      </a:pPr>
                      <a:r>
                        <a:rPr dirty="0" sz="1350" spc="10">
                          <a:solidFill>
                            <a:srgbClr val="D7E5D8"/>
                          </a:solidFill>
                          <a:latin typeface="Microsoft Sans Serif"/>
                          <a:cs typeface="Microsoft Sans Serif"/>
                        </a:rPr>
                        <a:t>Impoǐtancia</a:t>
                      </a:r>
                      <a:r>
                        <a:rPr dirty="0" sz="1350" spc="-10">
                          <a:solidFill>
                            <a:srgbClr val="D7E5D8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350">
                          <a:solidFill>
                            <a:srgbClr val="D7E5D8"/>
                          </a:solidFill>
                          <a:latin typeface="Microsoft Sans Serif"/>
                          <a:cs typeface="Microsoft Sans Serif"/>
                        </a:rPr>
                        <a:t>de</a:t>
                      </a:r>
                      <a:r>
                        <a:rPr dirty="0" sz="1350" spc="-5">
                          <a:solidFill>
                            <a:srgbClr val="D7E5D8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350" spc="10">
                          <a:solidFill>
                            <a:srgbClr val="D7E5D8"/>
                          </a:solidFill>
                          <a:latin typeface="Microsoft Sans Serif"/>
                          <a:cs typeface="Microsoft Sans Serif"/>
                        </a:rPr>
                        <a:t>la</a:t>
                      </a:r>
                      <a:r>
                        <a:rPr dirty="0" sz="1350" spc="-10">
                          <a:solidFill>
                            <a:srgbClr val="D7E5D8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350" spc="10">
                          <a:solidFill>
                            <a:srgbClr val="D7E5D8"/>
                          </a:solidFill>
                          <a:latin typeface="Microsoft Sans Serif"/>
                          <a:cs typeface="Microsoft Sans Serif"/>
                        </a:rPr>
                        <a:t>cadena</a:t>
                      </a:r>
                      <a:r>
                        <a:rPr dirty="0" sz="1350" spc="-5">
                          <a:solidFill>
                            <a:srgbClr val="D7E5D8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350" spc="-25">
                          <a:solidFill>
                            <a:srgbClr val="D7E5D8"/>
                          </a:solidFill>
                          <a:latin typeface="Microsoft Sans Serif"/>
                          <a:cs typeface="Microsoft Sans Serif"/>
                        </a:rPr>
                        <a:t>de </a:t>
                      </a:r>
                      <a:r>
                        <a:rPr dirty="0" sz="1350" spc="-10">
                          <a:solidFill>
                            <a:srgbClr val="D7E5D8"/>
                          </a:solidFill>
                          <a:latin typeface="Microsoft Sans Serif"/>
                          <a:cs typeface="Microsoft Sans Serif"/>
                        </a:rPr>
                        <a:t>confianza</a:t>
                      </a:r>
                      <a:endParaRPr sz="135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62865">
                    <a:lnR w="9525">
                      <a:solidFill>
                        <a:srgbClr val="202A2F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372110">
                        <a:lnSpc>
                          <a:spcPct val="134300"/>
                        </a:lnSpc>
                        <a:spcBef>
                          <a:spcPts val="495"/>
                        </a:spcBef>
                      </a:pPr>
                      <a:r>
                        <a:rPr dirty="0" sz="1350" spc="-10">
                          <a:solidFill>
                            <a:srgbClr val="D7E5D8"/>
                          </a:solidFill>
                          <a:latin typeface="Microsoft Sans Serif"/>
                          <a:cs typeface="Microsoft Sans Serif"/>
                        </a:rPr>
                        <a:t>Establece</a:t>
                      </a:r>
                      <a:r>
                        <a:rPr dirty="0" sz="1350" spc="20">
                          <a:solidFill>
                            <a:srgbClr val="D7E5D8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350">
                          <a:solidFill>
                            <a:srgbClr val="D7E5D8"/>
                          </a:solidFill>
                          <a:latin typeface="Microsoft Sans Serif"/>
                          <a:cs typeface="Microsoft Sans Serif"/>
                        </a:rPr>
                        <a:t>la</a:t>
                      </a:r>
                      <a:r>
                        <a:rPr dirty="0" sz="1350" spc="20">
                          <a:solidFill>
                            <a:srgbClr val="D7E5D8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350">
                          <a:solidFill>
                            <a:srgbClr val="D7E5D8"/>
                          </a:solidFill>
                          <a:latin typeface="Microsoft Sans Serif"/>
                          <a:cs typeface="Microsoft Sans Serif"/>
                        </a:rPr>
                        <a:t>autenticidad</a:t>
                      </a:r>
                      <a:r>
                        <a:rPr dirty="0" sz="1350" spc="20">
                          <a:solidFill>
                            <a:srgbClr val="D7E5D8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350" spc="-50">
                          <a:solidFill>
                            <a:srgbClr val="D7E5D8"/>
                          </a:solidFill>
                          <a:latin typeface="Microsoft Sans Serif"/>
                          <a:cs typeface="Microsoft Sans Serif"/>
                        </a:rPr>
                        <a:t>y </a:t>
                      </a:r>
                      <a:r>
                        <a:rPr dirty="0" sz="1350">
                          <a:solidFill>
                            <a:srgbClr val="D7E5D8"/>
                          </a:solidFill>
                          <a:latin typeface="Microsoft Sans Serif"/>
                          <a:cs typeface="Microsoft Sans Serif"/>
                        </a:rPr>
                        <a:t>confiabilidad</a:t>
                      </a:r>
                      <a:r>
                        <a:rPr dirty="0" sz="1350" spc="-5">
                          <a:solidFill>
                            <a:srgbClr val="D7E5D8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350">
                          <a:solidFill>
                            <a:srgbClr val="D7E5D8"/>
                          </a:solidFill>
                          <a:latin typeface="Microsoft Sans Serif"/>
                          <a:cs typeface="Microsoft Sans Serif"/>
                        </a:rPr>
                        <a:t>de</a:t>
                      </a:r>
                      <a:r>
                        <a:rPr dirty="0" sz="1350" spc="-5">
                          <a:solidFill>
                            <a:srgbClr val="D7E5D8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350" spc="-35">
                          <a:solidFill>
                            <a:srgbClr val="D7E5D8"/>
                          </a:solidFill>
                          <a:latin typeface="Microsoft Sans Serif"/>
                          <a:cs typeface="Microsoft Sans Serif"/>
                        </a:rPr>
                        <a:t>los</a:t>
                      </a:r>
                      <a:r>
                        <a:rPr dirty="0" sz="1350" spc="-5">
                          <a:solidFill>
                            <a:srgbClr val="D7E5D8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350" spc="-10">
                          <a:solidFill>
                            <a:srgbClr val="D7E5D8"/>
                          </a:solidFill>
                          <a:latin typeface="Microsoft Sans Serif"/>
                          <a:cs typeface="Microsoft Sans Serif"/>
                        </a:rPr>
                        <a:t>ceǐtificados</a:t>
                      </a:r>
                      <a:endParaRPr sz="135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62865">
                    <a:lnL w="9525">
                      <a:solidFill>
                        <a:srgbClr val="202A2F"/>
                      </a:solidFill>
                      <a:prstDash val="solid"/>
                    </a:lnL>
                    <a:solidFill>
                      <a:srgbClr val="FFFFFF">
                        <a:alpha val="3919"/>
                      </a:srgbClr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pPr marL="170815" marR="769620">
                        <a:lnSpc>
                          <a:spcPct val="134300"/>
                        </a:lnSpc>
                        <a:spcBef>
                          <a:spcPts val="495"/>
                        </a:spcBef>
                      </a:pPr>
                      <a:r>
                        <a:rPr dirty="0" sz="1350">
                          <a:solidFill>
                            <a:srgbClr val="D7E5D8"/>
                          </a:solidFill>
                          <a:latin typeface="Microsoft Sans Serif"/>
                          <a:cs typeface="Microsoft Sans Serif"/>
                        </a:rPr>
                        <a:t>¿Cómo</a:t>
                      </a:r>
                      <a:r>
                        <a:rPr dirty="0" sz="1350" spc="-30">
                          <a:solidFill>
                            <a:srgbClr val="D7E5D8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350">
                          <a:solidFill>
                            <a:srgbClr val="D7E5D8"/>
                          </a:solidFill>
                          <a:latin typeface="Microsoft Sans Serif"/>
                          <a:cs typeface="Microsoft Sans Serif"/>
                        </a:rPr>
                        <a:t>pǐotege</a:t>
                      </a:r>
                      <a:r>
                        <a:rPr dirty="0" sz="1350" spc="-30">
                          <a:solidFill>
                            <a:srgbClr val="D7E5D8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350" spc="-65">
                          <a:solidFill>
                            <a:srgbClr val="D7E5D8"/>
                          </a:solidFill>
                          <a:latin typeface="Microsoft Sans Serif"/>
                          <a:cs typeface="Microsoft Sans Serif"/>
                        </a:rPr>
                        <a:t>SSL/TLS</a:t>
                      </a:r>
                      <a:r>
                        <a:rPr dirty="0" sz="1350" spc="-25">
                          <a:solidFill>
                            <a:srgbClr val="D7E5D8"/>
                          </a:solidFill>
                          <a:latin typeface="Microsoft Sans Serif"/>
                          <a:cs typeface="Microsoft Sans Serif"/>
                        </a:rPr>
                        <a:t> la </a:t>
                      </a:r>
                      <a:r>
                        <a:rPr dirty="0" sz="1350">
                          <a:solidFill>
                            <a:srgbClr val="D7E5D8"/>
                          </a:solidFill>
                          <a:latin typeface="Microsoft Sans Serif"/>
                          <a:cs typeface="Microsoft Sans Serif"/>
                        </a:rPr>
                        <a:t>integǐidad</a:t>
                      </a:r>
                      <a:r>
                        <a:rPr dirty="0" sz="1350" spc="20">
                          <a:solidFill>
                            <a:srgbClr val="D7E5D8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350">
                          <a:solidFill>
                            <a:srgbClr val="D7E5D8"/>
                          </a:solidFill>
                          <a:latin typeface="Microsoft Sans Serif"/>
                          <a:cs typeface="Microsoft Sans Serif"/>
                        </a:rPr>
                        <a:t>de</a:t>
                      </a:r>
                      <a:r>
                        <a:rPr dirty="0" sz="1350" spc="20">
                          <a:solidFill>
                            <a:srgbClr val="D7E5D8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350" spc="-10">
                          <a:solidFill>
                            <a:srgbClr val="D7E5D8"/>
                          </a:solidFill>
                          <a:latin typeface="Microsoft Sans Serif"/>
                          <a:cs typeface="Microsoft Sans Serif"/>
                        </a:rPr>
                        <a:t>datos?</a:t>
                      </a:r>
                      <a:endParaRPr sz="135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62865">
                    <a:lnR w="9525">
                      <a:solidFill>
                        <a:srgbClr val="202A2F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641985">
                        <a:lnSpc>
                          <a:spcPct val="134300"/>
                        </a:lnSpc>
                        <a:spcBef>
                          <a:spcPts val="495"/>
                        </a:spcBef>
                      </a:pPr>
                      <a:r>
                        <a:rPr dirty="0" sz="1350">
                          <a:solidFill>
                            <a:srgbClr val="D7E5D8"/>
                          </a:solidFill>
                          <a:latin typeface="Microsoft Sans Serif"/>
                          <a:cs typeface="Microsoft Sans Serif"/>
                        </a:rPr>
                        <a:t>Mediante</a:t>
                      </a:r>
                      <a:r>
                        <a:rPr dirty="0" sz="1350" spc="40">
                          <a:solidFill>
                            <a:srgbClr val="D7E5D8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350">
                          <a:solidFill>
                            <a:srgbClr val="D7E5D8"/>
                          </a:solidFill>
                          <a:latin typeface="Microsoft Sans Serif"/>
                          <a:cs typeface="Microsoft Sans Serif"/>
                        </a:rPr>
                        <a:t>fiǐmas</a:t>
                      </a:r>
                      <a:r>
                        <a:rPr dirty="0" sz="1350" spc="40">
                          <a:solidFill>
                            <a:srgbClr val="D7E5D8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350" spc="-10">
                          <a:solidFill>
                            <a:srgbClr val="D7E5D8"/>
                          </a:solidFill>
                          <a:latin typeface="Microsoft Sans Serif"/>
                          <a:cs typeface="Microsoft Sans Serif"/>
                        </a:rPr>
                        <a:t>digitales</a:t>
                      </a:r>
                      <a:r>
                        <a:rPr dirty="0" sz="1350" spc="40">
                          <a:solidFill>
                            <a:srgbClr val="D7E5D8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350" spc="-50">
                          <a:solidFill>
                            <a:srgbClr val="D7E5D8"/>
                          </a:solidFill>
                          <a:latin typeface="Microsoft Sans Serif"/>
                          <a:cs typeface="Microsoft Sans Serif"/>
                        </a:rPr>
                        <a:t>y </a:t>
                      </a:r>
                      <a:r>
                        <a:rPr dirty="0" sz="1350">
                          <a:solidFill>
                            <a:srgbClr val="D7E5D8"/>
                          </a:solidFill>
                          <a:latin typeface="Microsoft Sans Serif"/>
                          <a:cs typeface="Microsoft Sans Serif"/>
                        </a:rPr>
                        <a:t>códigos</a:t>
                      </a:r>
                      <a:r>
                        <a:rPr dirty="0" sz="1350" spc="10">
                          <a:solidFill>
                            <a:srgbClr val="D7E5D8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350">
                          <a:solidFill>
                            <a:srgbClr val="D7E5D8"/>
                          </a:solidFill>
                          <a:latin typeface="Microsoft Sans Serif"/>
                          <a:cs typeface="Microsoft Sans Serif"/>
                        </a:rPr>
                        <a:t>de</a:t>
                      </a:r>
                      <a:r>
                        <a:rPr dirty="0" sz="1350" spc="15">
                          <a:solidFill>
                            <a:srgbClr val="D7E5D8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350">
                          <a:solidFill>
                            <a:srgbClr val="D7E5D8"/>
                          </a:solidFill>
                          <a:latin typeface="Microsoft Sans Serif"/>
                          <a:cs typeface="Microsoft Sans Serif"/>
                        </a:rPr>
                        <a:t>autenticación</a:t>
                      </a:r>
                      <a:r>
                        <a:rPr dirty="0" sz="1350" spc="15">
                          <a:solidFill>
                            <a:srgbClr val="D7E5D8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350" spc="-25">
                          <a:solidFill>
                            <a:srgbClr val="D7E5D8"/>
                          </a:solidFill>
                          <a:latin typeface="Microsoft Sans Serif"/>
                          <a:cs typeface="Microsoft Sans Serif"/>
                        </a:rPr>
                        <a:t>de </a:t>
                      </a:r>
                      <a:r>
                        <a:rPr dirty="0" sz="1350" spc="-10">
                          <a:solidFill>
                            <a:srgbClr val="D7E5D8"/>
                          </a:solidFill>
                          <a:latin typeface="Microsoft Sans Serif"/>
                          <a:cs typeface="Microsoft Sans Serif"/>
                        </a:rPr>
                        <a:t>mensajes</a:t>
                      </a:r>
                      <a:endParaRPr sz="135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62865">
                    <a:lnL w="9525">
                      <a:solidFill>
                        <a:srgbClr val="202A2F"/>
                      </a:solidFill>
                      <a:prstDash val="solid"/>
                    </a:lnL>
                    <a:solidFill>
                      <a:srgbClr val="000000">
                        <a:alpha val="3919"/>
                      </a:srgbClr>
                    </a:solidFill>
                  </a:tcPr>
                </a:tc>
              </a:tr>
            </a:tbl>
          </a:graphicData>
        </a:graphic>
      </p:graphicFrame>
      <p:pic>
        <p:nvPicPr>
          <p:cNvPr id="7" name="object 7" descr="">
            <a:hlinkClick r:id="rId3"/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80244" y="5950458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-1"/>
            <a:ext cx="11430000" cy="7019925"/>
          </a:xfrm>
          <a:custGeom>
            <a:avLst/>
            <a:gdLst/>
            <a:ahLst/>
            <a:cxnLst/>
            <a:rect l="l" t="t" r="r" b="b"/>
            <a:pathLst>
              <a:path w="11430000" h="7019925">
                <a:moveTo>
                  <a:pt x="11430000" y="0"/>
                </a:moveTo>
                <a:lnTo>
                  <a:pt x="0" y="0"/>
                </a:lnTo>
                <a:lnTo>
                  <a:pt x="0" y="7019925"/>
                </a:lnTo>
                <a:lnTo>
                  <a:pt x="11430000" y="7019925"/>
                </a:lnTo>
                <a:lnTo>
                  <a:pt x="11430000" y="0"/>
                </a:lnTo>
                <a:close/>
              </a:path>
            </a:pathLst>
          </a:custGeom>
          <a:solidFill>
            <a:srgbClr val="151F24">
              <a:alpha val="94898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1430000" cy="214312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 marR="5080">
              <a:lnSpc>
                <a:spcPts val="4200"/>
              </a:lnSpc>
              <a:spcBef>
                <a:spcPts val="50"/>
              </a:spcBef>
            </a:pPr>
            <a:r>
              <a:rPr dirty="0" spc="1370"/>
              <a:t>Mejores</a:t>
            </a:r>
            <a:r>
              <a:rPr dirty="0" spc="-625"/>
              <a:t> </a:t>
            </a:r>
            <a:r>
              <a:rPr dirty="0" spc="1005"/>
              <a:t>Prácticas</a:t>
            </a:r>
            <a:r>
              <a:rPr dirty="0" spc="-620"/>
              <a:t> </a:t>
            </a:r>
            <a:r>
              <a:rPr dirty="0" spc="1455"/>
              <a:t>y</a:t>
            </a:r>
            <a:r>
              <a:rPr dirty="0" spc="-620"/>
              <a:t> </a:t>
            </a:r>
            <a:r>
              <a:rPr dirty="0" spc="1285"/>
              <a:t>Futuro </a:t>
            </a:r>
            <a:r>
              <a:rPr dirty="0" spc="1839"/>
              <a:t>de</a:t>
            </a:r>
            <a:r>
              <a:rPr dirty="0" spc="-625"/>
              <a:t> </a:t>
            </a:r>
            <a:r>
              <a:rPr dirty="0" spc="1580"/>
              <a:t>SSL/TLS</a:t>
            </a:r>
          </a:p>
        </p:txBody>
      </p:sp>
      <p:sp>
        <p:nvSpPr>
          <p:cNvPr id="5" name="object 5" descr=""/>
          <p:cNvSpPr/>
          <p:nvPr/>
        </p:nvSpPr>
        <p:spPr>
          <a:xfrm>
            <a:off x="1027692" y="3943807"/>
            <a:ext cx="429259" cy="429259"/>
          </a:xfrm>
          <a:custGeom>
            <a:avLst/>
            <a:gdLst/>
            <a:ahLst/>
            <a:cxnLst/>
            <a:rect l="l" t="t" r="r" b="b"/>
            <a:pathLst>
              <a:path w="429259" h="429260">
                <a:moveTo>
                  <a:pt x="301866" y="56403"/>
                </a:moveTo>
                <a:lnTo>
                  <a:pt x="215362" y="56403"/>
                </a:lnTo>
                <a:lnTo>
                  <a:pt x="225455" y="58368"/>
                </a:lnTo>
                <a:lnTo>
                  <a:pt x="234325" y="64262"/>
                </a:lnTo>
                <a:lnTo>
                  <a:pt x="245291" y="75222"/>
                </a:lnTo>
                <a:lnTo>
                  <a:pt x="245126" y="75222"/>
                </a:lnTo>
                <a:lnTo>
                  <a:pt x="84306" y="236042"/>
                </a:lnTo>
                <a:lnTo>
                  <a:pt x="56610" y="268148"/>
                </a:lnTo>
                <a:lnTo>
                  <a:pt x="34023" y="303787"/>
                </a:lnTo>
                <a:lnTo>
                  <a:pt x="16883" y="342344"/>
                </a:lnTo>
                <a:lnTo>
                  <a:pt x="5527" y="383209"/>
                </a:lnTo>
                <a:lnTo>
                  <a:pt x="0" y="410756"/>
                </a:lnTo>
                <a:lnTo>
                  <a:pt x="2092" y="417537"/>
                </a:lnTo>
                <a:lnTo>
                  <a:pt x="11638" y="427075"/>
                </a:lnTo>
                <a:lnTo>
                  <a:pt x="18420" y="429082"/>
                </a:lnTo>
                <a:lnTo>
                  <a:pt x="25032" y="427837"/>
                </a:lnTo>
                <a:lnTo>
                  <a:pt x="45962" y="423646"/>
                </a:lnTo>
                <a:lnTo>
                  <a:pt x="86829" y="412289"/>
                </a:lnTo>
                <a:lnTo>
                  <a:pt x="115706" y="399453"/>
                </a:lnTo>
                <a:lnTo>
                  <a:pt x="29720" y="399453"/>
                </a:lnTo>
                <a:lnTo>
                  <a:pt x="31898" y="388404"/>
                </a:lnTo>
                <a:lnTo>
                  <a:pt x="42209" y="351339"/>
                </a:lnTo>
                <a:lnTo>
                  <a:pt x="57746" y="316374"/>
                </a:lnTo>
                <a:lnTo>
                  <a:pt x="78212" y="284064"/>
                </a:lnTo>
                <a:lnTo>
                  <a:pt x="103306" y="254965"/>
                </a:lnTo>
                <a:lnTo>
                  <a:pt x="264125" y="94145"/>
                </a:lnTo>
                <a:lnTo>
                  <a:pt x="302127" y="94145"/>
                </a:lnTo>
                <a:lnTo>
                  <a:pt x="283201" y="75222"/>
                </a:lnTo>
                <a:lnTo>
                  <a:pt x="245291" y="75222"/>
                </a:lnTo>
                <a:lnTo>
                  <a:pt x="283124" y="75145"/>
                </a:lnTo>
                <a:lnTo>
                  <a:pt x="301866" y="56403"/>
                </a:lnTo>
                <a:close/>
              </a:path>
              <a:path w="429259" h="429260">
                <a:moveTo>
                  <a:pt x="302127" y="94145"/>
                </a:moveTo>
                <a:lnTo>
                  <a:pt x="264125" y="94145"/>
                </a:lnTo>
                <a:lnTo>
                  <a:pt x="335029" y="165049"/>
                </a:lnTo>
                <a:lnTo>
                  <a:pt x="174213" y="325869"/>
                </a:lnTo>
                <a:lnTo>
                  <a:pt x="145076" y="351000"/>
                </a:lnTo>
                <a:lnTo>
                  <a:pt x="112768" y="371462"/>
                </a:lnTo>
                <a:lnTo>
                  <a:pt x="77822" y="386980"/>
                </a:lnTo>
                <a:lnTo>
                  <a:pt x="40774" y="397281"/>
                </a:lnTo>
                <a:lnTo>
                  <a:pt x="29720" y="399453"/>
                </a:lnTo>
                <a:lnTo>
                  <a:pt x="115706" y="399453"/>
                </a:lnTo>
                <a:lnTo>
                  <a:pt x="125388" y="395149"/>
                </a:lnTo>
                <a:lnTo>
                  <a:pt x="161027" y="372563"/>
                </a:lnTo>
                <a:lnTo>
                  <a:pt x="193133" y="344868"/>
                </a:lnTo>
                <a:lnTo>
                  <a:pt x="391962" y="146050"/>
                </a:lnTo>
                <a:lnTo>
                  <a:pt x="354041" y="146050"/>
                </a:lnTo>
                <a:lnTo>
                  <a:pt x="302127" y="94145"/>
                </a:lnTo>
                <a:close/>
              </a:path>
              <a:path w="429259" h="429260">
                <a:moveTo>
                  <a:pt x="215361" y="29552"/>
                </a:moveTo>
                <a:lnTo>
                  <a:pt x="195203" y="33477"/>
                </a:lnTo>
                <a:lnTo>
                  <a:pt x="177477" y="45250"/>
                </a:lnTo>
                <a:lnTo>
                  <a:pt x="80119" y="142608"/>
                </a:lnTo>
                <a:lnTo>
                  <a:pt x="80119" y="151155"/>
                </a:lnTo>
                <a:lnTo>
                  <a:pt x="90497" y="161531"/>
                </a:lnTo>
                <a:lnTo>
                  <a:pt x="99039" y="161531"/>
                </a:lnTo>
                <a:lnTo>
                  <a:pt x="196399" y="64262"/>
                </a:lnTo>
                <a:lnTo>
                  <a:pt x="205269" y="58368"/>
                </a:lnTo>
                <a:lnTo>
                  <a:pt x="215362" y="56403"/>
                </a:lnTo>
                <a:lnTo>
                  <a:pt x="301866" y="56403"/>
                </a:lnTo>
                <a:lnTo>
                  <a:pt x="302047" y="56222"/>
                </a:lnTo>
                <a:lnTo>
                  <a:pt x="264125" y="56222"/>
                </a:lnTo>
                <a:lnTo>
                  <a:pt x="253241" y="45250"/>
                </a:lnTo>
                <a:lnTo>
                  <a:pt x="235518" y="33477"/>
                </a:lnTo>
                <a:lnTo>
                  <a:pt x="215361" y="29552"/>
                </a:lnTo>
                <a:close/>
              </a:path>
              <a:path w="429259" h="429260">
                <a:moveTo>
                  <a:pt x="391532" y="26771"/>
                </a:moveTo>
                <a:lnTo>
                  <a:pt x="342611" y="26771"/>
                </a:lnTo>
                <a:lnTo>
                  <a:pt x="352704" y="28733"/>
                </a:lnTo>
                <a:lnTo>
                  <a:pt x="361572" y="34620"/>
                </a:lnTo>
                <a:lnTo>
                  <a:pt x="394554" y="67602"/>
                </a:lnTo>
                <a:lnTo>
                  <a:pt x="400441" y="76470"/>
                </a:lnTo>
                <a:lnTo>
                  <a:pt x="402403" y="86563"/>
                </a:lnTo>
                <a:lnTo>
                  <a:pt x="400441" y="96655"/>
                </a:lnTo>
                <a:lnTo>
                  <a:pt x="394554" y="105524"/>
                </a:lnTo>
                <a:lnTo>
                  <a:pt x="354041" y="146050"/>
                </a:lnTo>
                <a:lnTo>
                  <a:pt x="391962" y="146050"/>
                </a:lnTo>
                <a:lnTo>
                  <a:pt x="413477" y="124536"/>
                </a:lnTo>
                <a:lnTo>
                  <a:pt x="425250" y="106810"/>
                </a:lnTo>
                <a:lnTo>
                  <a:pt x="429174" y="86652"/>
                </a:lnTo>
                <a:lnTo>
                  <a:pt x="425250" y="66493"/>
                </a:lnTo>
                <a:lnTo>
                  <a:pt x="413477" y="48768"/>
                </a:lnTo>
                <a:lnTo>
                  <a:pt x="391532" y="26771"/>
                </a:lnTo>
                <a:close/>
              </a:path>
              <a:path w="429259" h="429260">
                <a:moveTo>
                  <a:pt x="342610" y="0"/>
                </a:moveTo>
                <a:lnTo>
                  <a:pt x="322452" y="3924"/>
                </a:lnTo>
                <a:lnTo>
                  <a:pt x="304727" y="15697"/>
                </a:lnTo>
                <a:lnTo>
                  <a:pt x="264125" y="56222"/>
                </a:lnTo>
                <a:lnTo>
                  <a:pt x="302047" y="56222"/>
                </a:lnTo>
                <a:lnTo>
                  <a:pt x="323650" y="34620"/>
                </a:lnTo>
                <a:lnTo>
                  <a:pt x="332519" y="28733"/>
                </a:lnTo>
                <a:lnTo>
                  <a:pt x="342611" y="26771"/>
                </a:lnTo>
                <a:lnTo>
                  <a:pt x="391532" y="26771"/>
                </a:lnTo>
                <a:lnTo>
                  <a:pt x="380483" y="15697"/>
                </a:lnTo>
                <a:lnTo>
                  <a:pt x="362765" y="3924"/>
                </a:lnTo>
                <a:lnTo>
                  <a:pt x="342610" y="0"/>
                </a:lnTo>
                <a:close/>
              </a:path>
            </a:pathLst>
          </a:custGeom>
          <a:solidFill>
            <a:srgbClr val="A8F0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1019572" y="4516437"/>
            <a:ext cx="2143125" cy="1998345"/>
          </a:xfrm>
          <a:prstGeom prst="rect">
            <a:avLst/>
          </a:prstGeom>
        </p:spPr>
        <p:txBody>
          <a:bodyPr wrap="square" lIns="0" tIns="1905" rIns="0" bIns="0" rtlCol="0" vert="horz">
            <a:spAutoFit/>
          </a:bodyPr>
          <a:lstStyle/>
          <a:p>
            <a:pPr marL="12700" marR="5080">
              <a:lnSpc>
                <a:spcPct val="106100"/>
              </a:lnSpc>
              <a:spcBef>
                <a:spcPts val="15"/>
              </a:spcBef>
            </a:pPr>
            <a:r>
              <a:rPr dirty="0" sz="1650" spc="550">
                <a:solidFill>
                  <a:srgbClr val="D7E5D8"/>
                </a:solidFill>
                <a:latin typeface="SimSun-ExtB"/>
                <a:cs typeface="SimSun-ExtB"/>
              </a:rPr>
              <a:t>Actualizacio </a:t>
            </a:r>
            <a:r>
              <a:rPr dirty="0" sz="1650" spc="740">
                <a:solidFill>
                  <a:srgbClr val="D7E5D8"/>
                </a:solidFill>
                <a:latin typeface="SimSun-ExtB"/>
                <a:cs typeface="SimSun-ExtB"/>
              </a:rPr>
              <a:t>nes </a:t>
            </a:r>
            <a:r>
              <a:rPr dirty="0" sz="1650" spc="660">
                <a:solidFill>
                  <a:srgbClr val="D7E5D8"/>
                </a:solidFill>
                <a:latin typeface="SimSun-ExtB"/>
                <a:cs typeface="SimSun-ExtB"/>
              </a:rPr>
              <a:t>Regulares</a:t>
            </a:r>
            <a:endParaRPr sz="1650">
              <a:latin typeface="SimSun-ExtB"/>
              <a:cs typeface="SimSun-ExtB"/>
            </a:endParaRPr>
          </a:p>
          <a:p>
            <a:pPr marL="12700" marR="125730">
              <a:lnSpc>
                <a:spcPct val="134300"/>
              </a:lnSpc>
              <a:spcBef>
                <a:spcPts val="615"/>
              </a:spcBef>
            </a:pPr>
            <a:r>
              <a:rPr dirty="0" sz="1350">
                <a:solidFill>
                  <a:srgbClr val="D7E5D8"/>
                </a:solidFill>
                <a:latin typeface="Tahoma"/>
                <a:cs typeface="Tahoma"/>
              </a:rPr>
              <a:t>Mantén</a:t>
            </a:r>
            <a:r>
              <a:rPr dirty="0" sz="1350" spc="-45">
                <a:solidFill>
                  <a:srgbClr val="D7E5D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D7E5D8"/>
                </a:solidFill>
                <a:latin typeface="Tahoma"/>
                <a:cs typeface="Tahoma"/>
              </a:rPr>
              <a:t>tus</a:t>
            </a:r>
            <a:r>
              <a:rPr dirty="0" sz="1350" spc="-45">
                <a:solidFill>
                  <a:srgbClr val="D7E5D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D7E5D8"/>
                </a:solidFill>
                <a:latin typeface="Tahoma"/>
                <a:cs typeface="Tahoma"/>
              </a:rPr>
              <a:t>sistemas</a:t>
            </a:r>
            <a:r>
              <a:rPr dirty="0" sz="1350" spc="-45">
                <a:solidFill>
                  <a:srgbClr val="D7E5D8"/>
                </a:solidFill>
                <a:latin typeface="Tahoma"/>
                <a:cs typeface="Tahoma"/>
              </a:rPr>
              <a:t> </a:t>
            </a:r>
            <a:r>
              <a:rPr dirty="0" sz="1350" spc="-50">
                <a:solidFill>
                  <a:srgbClr val="D7E5D8"/>
                </a:solidFill>
                <a:latin typeface="Tahoma"/>
                <a:cs typeface="Tahoma"/>
              </a:rPr>
              <a:t>y </a:t>
            </a:r>
            <a:r>
              <a:rPr dirty="0" sz="1350" spc="20">
                <a:solidFill>
                  <a:srgbClr val="D7E5D8"/>
                </a:solidFill>
                <a:latin typeface="Tahoma"/>
                <a:cs typeface="Tahoma"/>
              </a:rPr>
              <a:t>ceǐtificados</a:t>
            </a:r>
            <a:r>
              <a:rPr dirty="0" sz="1350" spc="145">
                <a:solidFill>
                  <a:srgbClr val="D7E5D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D7E5D8"/>
                </a:solidFill>
                <a:latin typeface="Tahoma"/>
                <a:cs typeface="Tahoma"/>
              </a:rPr>
              <a:t>actualizados </a:t>
            </a:r>
            <a:r>
              <a:rPr dirty="0" sz="1350" spc="60">
                <a:solidFill>
                  <a:srgbClr val="D7E5D8"/>
                </a:solidFill>
                <a:latin typeface="Tahoma"/>
                <a:cs typeface="Tahoma"/>
              </a:rPr>
              <a:t>paǐa</a:t>
            </a:r>
            <a:r>
              <a:rPr dirty="0" sz="1350" spc="-55">
                <a:solidFill>
                  <a:srgbClr val="D7E5D8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D7E5D8"/>
                </a:solidFill>
                <a:latin typeface="Tahoma"/>
                <a:cs typeface="Tahoma"/>
              </a:rPr>
              <a:t>gaǐantizaǐ</a:t>
            </a:r>
            <a:r>
              <a:rPr dirty="0" sz="1350" spc="-50">
                <a:solidFill>
                  <a:srgbClr val="D7E5D8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D7E5D8"/>
                </a:solidFill>
                <a:latin typeface="Tahoma"/>
                <a:cs typeface="Tahoma"/>
              </a:rPr>
              <a:t>la</a:t>
            </a:r>
            <a:r>
              <a:rPr dirty="0" sz="1350" spc="-50">
                <a:solidFill>
                  <a:srgbClr val="D7E5D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D7E5D8"/>
                </a:solidFill>
                <a:latin typeface="Tahoma"/>
                <a:cs typeface="Tahoma"/>
              </a:rPr>
              <a:t>máxima seguǐidad.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3451923" y="3945610"/>
            <a:ext cx="401955" cy="424180"/>
          </a:xfrm>
          <a:custGeom>
            <a:avLst/>
            <a:gdLst/>
            <a:ahLst/>
            <a:cxnLst/>
            <a:rect l="l" t="t" r="r" b="b"/>
            <a:pathLst>
              <a:path w="401954" h="424179">
                <a:moveTo>
                  <a:pt x="200914" y="0"/>
                </a:moveTo>
                <a:lnTo>
                  <a:pt x="32054" y="67056"/>
                </a:lnTo>
                <a:lnTo>
                  <a:pt x="2381" y="99295"/>
                </a:lnTo>
                <a:lnTo>
                  <a:pt x="0" y="114935"/>
                </a:lnTo>
                <a:lnTo>
                  <a:pt x="1887" y="149010"/>
                </a:lnTo>
                <a:lnTo>
                  <a:pt x="7832" y="187767"/>
                </a:lnTo>
                <a:lnTo>
                  <a:pt x="18728" y="229427"/>
                </a:lnTo>
                <a:lnTo>
                  <a:pt x="35472" y="272210"/>
                </a:lnTo>
                <a:lnTo>
                  <a:pt x="58958" y="314337"/>
                </a:lnTo>
                <a:lnTo>
                  <a:pt x="90080" y="354030"/>
                </a:lnTo>
                <a:lnTo>
                  <a:pt x="129735" y="389510"/>
                </a:lnTo>
                <a:lnTo>
                  <a:pt x="178816" y="418998"/>
                </a:lnTo>
                <a:lnTo>
                  <a:pt x="200914" y="424018"/>
                </a:lnTo>
                <a:lnTo>
                  <a:pt x="212173" y="422763"/>
                </a:lnTo>
                <a:lnTo>
                  <a:pt x="223012" y="418998"/>
                </a:lnTo>
                <a:lnTo>
                  <a:pt x="257996" y="397979"/>
                </a:lnTo>
                <a:lnTo>
                  <a:pt x="196977" y="397979"/>
                </a:lnTo>
                <a:lnTo>
                  <a:pt x="190373" y="394804"/>
                </a:lnTo>
                <a:lnTo>
                  <a:pt x="140185" y="363732"/>
                </a:lnTo>
                <a:lnTo>
                  <a:pt x="100864" y="325707"/>
                </a:lnTo>
                <a:lnTo>
                  <a:pt x="71254" y="283114"/>
                </a:lnTo>
                <a:lnTo>
                  <a:pt x="50198" y="238338"/>
                </a:lnTo>
                <a:lnTo>
                  <a:pt x="36539" y="193765"/>
                </a:lnTo>
                <a:lnTo>
                  <a:pt x="29120" y="151781"/>
                </a:lnTo>
                <a:lnTo>
                  <a:pt x="26784" y="114769"/>
                </a:lnTo>
                <a:lnTo>
                  <a:pt x="27877" y="107454"/>
                </a:lnTo>
                <a:lnTo>
                  <a:pt x="31085" y="100928"/>
                </a:lnTo>
                <a:lnTo>
                  <a:pt x="36062" y="95585"/>
                </a:lnTo>
                <a:lnTo>
                  <a:pt x="42519" y="91757"/>
                </a:lnTo>
                <a:lnTo>
                  <a:pt x="197154" y="26123"/>
                </a:lnTo>
                <a:lnTo>
                  <a:pt x="273337" y="26123"/>
                </a:lnTo>
                <a:lnTo>
                  <a:pt x="221843" y="4267"/>
                </a:lnTo>
                <a:lnTo>
                  <a:pt x="211534" y="1066"/>
                </a:lnTo>
                <a:lnTo>
                  <a:pt x="200914" y="0"/>
                </a:lnTo>
                <a:close/>
              </a:path>
              <a:path w="401954" h="424179">
                <a:moveTo>
                  <a:pt x="279830" y="28879"/>
                </a:moveTo>
                <a:lnTo>
                  <a:pt x="211378" y="28879"/>
                </a:lnTo>
                <a:lnTo>
                  <a:pt x="359295" y="91668"/>
                </a:lnTo>
                <a:lnTo>
                  <a:pt x="365760" y="95547"/>
                </a:lnTo>
                <a:lnTo>
                  <a:pt x="370756" y="100939"/>
                </a:lnTo>
                <a:lnTo>
                  <a:pt x="373951" y="107455"/>
                </a:lnTo>
                <a:lnTo>
                  <a:pt x="375043" y="114769"/>
                </a:lnTo>
                <a:lnTo>
                  <a:pt x="372703" y="151805"/>
                </a:lnTo>
                <a:lnTo>
                  <a:pt x="365273" y="193799"/>
                </a:lnTo>
                <a:lnTo>
                  <a:pt x="351599" y="238370"/>
                </a:lnTo>
                <a:lnTo>
                  <a:pt x="330527" y="283138"/>
                </a:lnTo>
                <a:lnTo>
                  <a:pt x="300902" y="325720"/>
                </a:lnTo>
                <a:lnTo>
                  <a:pt x="261570" y="363736"/>
                </a:lnTo>
                <a:lnTo>
                  <a:pt x="211378" y="394804"/>
                </a:lnTo>
                <a:lnTo>
                  <a:pt x="204762" y="397979"/>
                </a:lnTo>
                <a:lnTo>
                  <a:pt x="257996" y="397979"/>
                </a:lnTo>
                <a:lnTo>
                  <a:pt x="311748" y="354030"/>
                </a:lnTo>
                <a:lnTo>
                  <a:pt x="342872" y="314337"/>
                </a:lnTo>
                <a:lnTo>
                  <a:pt x="366360" y="272210"/>
                </a:lnTo>
                <a:lnTo>
                  <a:pt x="383104" y="229427"/>
                </a:lnTo>
                <a:lnTo>
                  <a:pt x="394001" y="187767"/>
                </a:lnTo>
                <a:lnTo>
                  <a:pt x="399944" y="149010"/>
                </a:lnTo>
                <a:lnTo>
                  <a:pt x="401828" y="114935"/>
                </a:lnTo>
                <a:lnTo>
                  <a:pt x="399446" y="99295"/>
                </a:lnTo>
                <a:lnTo>
                  <a:pt x="392739" y="85690"/>
                </a:lnTo>
                <a:lnTo>
                  <a:pt x="382563" y="74737"/>
                </a:lnTo>
                <a:lnTo>
                  <a:pt x="369773" y="67056"/>
                </a:lnTo>
                <a:lnTo>
                  <a:pt x="279830" y="28879"/>
                </a:lnTo>
                <a:close/>
              </a:path>
              <a:path w="401954" h="424179">
                <a:moveTo>
                  <a:pt x="273337" y="26123"/>
                </a:moveTo>
                <a:lnTo>
                  <a:pt x="204673" y="26123"/>
                </a:lnTo>
                <a:lnTo>
                  <a:pt x="211378" y="28968"/>
                </a:lnTo>
                <a:lnTo>
                  <a:pt x="279830" y="28879"/>
                </a:lnTo>
                <a:lnTo>
                  <a:pt x="273337" y="26123"/>
                </a:lnTo>
                <a:close/>
              </a:path>
            </a:pathLst>
          </a:custGeom>
          <a:solidFill>
            <a:srgbClr val="A8F0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3425228" y="4516437"/>
            <a:ext cx="2023110" cy="1731645"/>
          </a:xfrm>
          <a:prstGeom prst="rect">
            <a:avLst/>
          </a:prstGeom>
        </p:spPr>
        <p:txBody>
          <a:bodyPr wrap="square" lIns="0" tIns="1905" rIns="0" bIns="0" rtlCol="0" vert="horz">
            <a:spAutoFit/>
          </a:bodyPr>
          <a:lstStyle/>
          <a:p>
            <a:pPr marL="12700" marR="5080">
              <a:lnSpc>
                <a:spcPct val="106100"/>
              </a:lnSpc>
              <a:spcBef>
                <a:spcPts val="15"/>
              </a:spcBef>
            </a:pPr>
            <a:r>
              <a:rPr dirty="0" sz="1650" spc="509">
                <a:solidFill>
                  <a:srgbClr val="D7E5D8"/>
                </a:solidFill>
                <a:latin typeface="SimSun-ExtB"/>
                <a:cs typeface="SimSun-ExtB"/>
              </a:rPr>
              <a:t>ConĒiguraci </a:t>
            </a:r>
            <a:r>
              <a:rPr dirty="0" sz="1650" spc="455">
                <a:solidFill>
                  <a:srgbClr val="D7E5D8"/>
                </a:solidFill>
                <a:latin typeface="SimSun-ExtB"/>
                <a:cs typeface="SimSun-ExtB"/>
              </a:rPr>
              <a:t>ón</a:t>
            </a:r>
            <a:r>
              <a:rPr dirty="0" sz="1650" spc="-300">
                <a:solidFill>
                  <a:srgbClr val="D7E5D8"/>
                </a:solidFill>
                <a:latin typeface="SimSun-ExtB"/>
                <a:cs typeface="SimSun-ExtB"/>
              </a:rPr>
              <a:t> </a:t>
            </a:r>
            <a:r>
              <a:rPr dirty="0" sz="1650" spc="745">
                <a:solidFill>
                  <a:srgbClr val="D7E5D8"/>
                </a:solidFill>
                <a:latin typeface="SimSun-ExtB"/>
                <a:cs typeface="SimSun-ExtB"/>
              </a:rPr>
              <a:t>Segura</a:t>
            </a:r>
            <a:endParaRPr sz="1650">
              <a:latin typeface="SimSun-ExtB"/>
              <a:cs typeface="SimSun-ExtB"/>
            </a:endParaRPr>
          </a:p>
          <a:p>
            <a:pPr marL="12700" marR="45720">
              <a:lnSpc>
                <a:spcPct val="134300"/>
              </a:lnSpc>
              <a:spcBef>
                <a:spcPts val="615"/>
              </a:spcBef>
            </a:pPr>
            <a:r>
              <a:rPr dirty="0" sz="1350" spc="10">
                <a:solidFill>
                  <a:srgbClr val="D7E5D8"/>
                </a:solidFill>
                <a:latin typeface="Tahoma"/>
                <a:cs typeface="Tahoma"/>
              </a:rPr>
              <a:t>Utiliza</a:t>
            </a:r>
            <a:r>
              <a:rPr dirty="0" sz="1350" spc="5">
                <a:solidFill>
                  <a:srgbClr val="D7E5D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D7E5D8"/>
                </a:solidFill>
                <a:latin typeface="Tahoma"/>
                <a:cs typeface="Tahoma"/>
              </a:rPr>
              <a:t>configuǐaciones</a:t>
            </a:r>
            <a:r>
              <a:rPr dirty="0" sz="1350" spc="5">
                <a:solidFill>
                  <a:srgbClr val="D7E5D8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D7E5D8"/>
                </a:solidFill>
                <a:latin typeface="Tahoma"/>
                <a:cs typeface="Tahoma"/>
              </a:rPr>
              <a:t>de </a:t>
            </a:r>
            <a:r>
              <a:rPr dirty="0" sz="1350" spc="20">
                <a:solidFill>
                  <a:srgbClr val="D7E5D8"/>
                </a:solidFill>
                <a:latin typeface="Tahoma"/>
                <a:cs typeface="Tahoma"/>
              </a:rPr>
              <a:t>seǐvidoǐ</a:t>
            </a:r>
            <a:r>
              <a:rPr dirty="0" sz="1350" spc="65">
                <a:solidFill>
                  <a:srgbClr val="D7E5D8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D7E5D8"/>
                </a:solidFill>
                <a:latin typeface="Tahoma"/>
                <a:cs typeface="Tahoma"/>
              </a:rPr>
              <a:t>ǐecomendadas</a:t>
            </a:r>
            <a:r>
              <a:rPr dirty="0" sz="1350" spc="70">
                <a:solidFill>
                  <a:srgbClr val="D7E5D8"/>
                </a:solidFill>
                <a:latin typeface="Tahoma"/>
                <a:cs typeface="Tahoma"/>
              </a:rPr>
              <a:t> </a:t>
            </a:r>
            <a:r>
              <a:rPr dirty="0" sz="1350" spc="-50">
                <a:solidFill>
                  <a:srgbClr val="D7E5D8"/>
                </a:solidFill>
                <a:latin typeface="Tahoma"/>
                <a:cs typeface="Tahoma"/>
              </a:rPr>
              <a:t>y </a:t>
            </a:r>
            <a:r>
              <a:rPr dirty="0" sz="1350">
                <a:solidFill>
                  <a:srgbClr val="D7E5D8"/>
                </a:solidFill>
                <a:latin typeface="Tahoma"/>
                <a:cs typeface="Tahoma"/>
              </a:rPr>
              <a:t>desactiva</a:t>
            </a:r>
            <a:r>
              <a:rPr dirty="0" sz="1350" spc="75">
                <a:solidFill>
                  <a:srgbClr val="D7E5D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D7E5D8"/>
                </a:solidFill>
                <a:latin typeface="Tahoma"/>
                <a:cs typeface="Tahoma"/>
              </a:rPr>
              <a:t>pǐotocolos obsoletos.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9" name="object 9" descr=""/>
          <p:cNvSpPr/>
          <p:nvPr/>
        </p:nvSpPr>
        <p:spPr>
          <a:xfrm>
            <a:off x="5848350" y="3990975"/>
            <a:ext cx="428625" cy="333375"/>
          </a:xfrm>
          <a:custGeom>
            <a:avLst/>
            <a:gdLst/>
            <a:ahLst/>
            <a:cxnLst/>
            <a:rect l="l" t="t" r="r" b="b"/>
            <a:pathLst>
              <a:path w="428625" h="333375">
                <a:moveTo>
                  <a:pt x="381000" y="0"/>
                </a:moveTo>
                <a:lnTo>
                  <a:pt x="47625" y="0"/>
                </a:lnTo>
                <a:lnTo>
                  <a:pt x="29103" y="3746"/>
                </a:lnTo>
                <a:lnTo>
                  <a:pt x="13963" y="13958"/>
                </a:lnTo>
                <a:lnTo>
                  <a:pt x="3748" y="29098"/>
                </a:lnTo>
                <a:lnTo>
                  <a:pt x="0" y="47625"/>
                </a:lnTo>
                <a:lnTo>
                  <a:pt x="0" y="285750"/>
                </a:lnTo>
                <a:lnTo>
                  <a:pt x="3748" y="304271"/>
                </a:lnTo>
                <a:lnTo>
                  <a:pt x="13963" y="319411"/>
                </a:lnTo>
                <a:lnTo>
                  <a:pt x="29103" y="329626"/>
                </a:lnTo>
                <a:lnTo>
                  <a:pt x="47625" y="333375"/>
                </a:lnTo>
                <a:lnTo>
                  <a:pt x="381000" y="333375"/>
                </a:lnTo>
                <a:lnTo>
                  <a:pt x="399521" y="329626"/>
                </a:lnTo>
                <a:lnTo>
                  <a:pt x="414661" y="319411"/>
                </a:lnTo>
                <a:lnTo>
                  <a:pt x="421306" y="309562"/>
                </a:lnTo>
                <a:lnTo>
                  <a:pt x="47625" y="309562"/>
                </a:lnTo>
                <a:lnTo>
                  <a:pt x="38348" y="307693"/>
                </a:lnTo>
                <a:lnTo>
                  <a:pt x="30780" y="302594"/>
                </a:lnTo>
                <a:lnTo>
                  <a:pt x="25681" y="295026"/>
                </a:lnTo>
                <a:lnTo>
                  <a:pt x="23812" y="285750"/>
                </a:lnTo>
                <a:lnTo>
                  <a:pt x="23812" y="190500"/>
                </a:lnTo>
                <a:lnTo>
                  <a:pt x="153216" y="190500"/>
                </a:lnTo>
                <a:lnTo>
                  <a:pt x="140868" y="171970"/>
                </a:lnTo>
                <a:lnTo>
                  <a:pt x="138633" y="168694"/>
                </a:lnTo>
                <a:lnTo>
                  <a:pt x="134912" y="166687"/>
                </a:lnTo>
                <a:lnTo>
                  <a:pt x="23812" y="166687"/>
                </a:lnTo>
                <a:lnTo>
                  <a:pt x="23812" y="47625"/>
                </a:lnTo>
                <a:lnTo>
                  <a:pt x="25681" y="38348"/>
                </a:lnTo>
                <a:lnTo>
                  <a:pt x="30780" y="30780"/>
                </a:lnTo>
                <a:lnTo>
                  <a:pt x="38348" y="25681"/>
                </a:lnTo>
                <a:lnTo>
                  <a:pt x="47625" y="23812"/>
                </a:lnTo>
                <a:lnTo>
                  <a:pt x="421310" y="23812"/>
                </a:lnTo>
                <a:lnTo>
                  <a:pt x="414661" y="13958"/>
                </a:lnTo>
                <a:lnTo>
                  <a:pt x="399521" y="3746"/>
                </a:lnTo>
                <a:lnTo>
                  <a:pt x="381000" y="0"/>
                </a:lnTo>
                <a:close/>
              </a:path>
              <a:path w="428625" h="333375">
                <a:moveTo>
                  <a:pt x="421310" y="23812"/>
                </a:moveTo>
                <a:lnTo>
                  <a:pt x="381000" y="23812"/>
                </a:lnTo>
                <a:lnTo>
                  <a:pt x="390276" y="25681"/>
                </a:lnTo>
                <a:lnTo>
                  <a:pt x="397844" y="30780"/>
                </a:lnTo>
                <a:lnTo>
                  <a:pt x="402943" y="38348"/>
                </a:lnTo>
                <a:lnTo>
                  <a:pt x="404812" y="47625"/>
                </a:lnTo>
                <a:lnTo>
                  <a:pt x="404812" y="285750"/>
                </a:lnTo>
                <a:lnTo>
                  <a:pt x="402943" y="295026"/>
                </a:lnTo>
                <a:lnTo>
                  <a:pt x="397844" y="302594"/>
                </a:lnTo>
                <a:lnTo>
                  <a:pt x="390276" y="307693"/>
                </a:lnTo>
                <a:lnTo>
                  <a:pt x="381000" y="309562"/>
                </a:lnTo>
                <a:lnTo>
                  <a:pt x="421306" y="309562"/>
                </a:lnTo>
                <a:lnTo>
                  <a:pt x="424876" y="304271"/>
                </a:lnTo>
                <a:lnTo>
                  <a:pt x="428625" y="285750"/>
                </a:lnTo>
                <a:lnTo>
                  <a:pt x="428625" y="47625"/>
                </a:lnTo>
                <a:lnTo>
                  <a:pt x="424876" y="29098"/>
                </a:lnTo>
                <a:lnTo>
                  <a:pt x="421310" y="23812"/>
                </a:lnTo>
                <a:close/>
              </a:path>
              <a:path w="428625" h="333375">
                <a:moveTo>
                  <a:pt x="153216" y="190500"/>
                </a:moveTo>
                <a:lnTo>
                  <a:pt x="124574" y="190500"/>
                </a:lnTo>
                <a:lnTo>
                  <a:pt x="156794" y="238798"/>
                </a:lnTo>
                <a:lnTo>
                  <a:pt x="159245" y="242519"/>
                </a:lnTo>
                <a:lnTo>
                  <a:pt x="163563" y="244525"/>
                </a:lnTo>
                <a:lnTo>
                  <a:pt x="172491" y="243484"/>
                </a:lnTo>
                <a:lnTo>
                  <a:pt x="176288" y="240576"/>
                </a:lnTo>
                <a:lnTo>
                  <a:pt x="177850" y="236410"/>
                </a:lnTo>
                <a:lnTo>
                  <a:pt x="189291" y="206349"/>
                </a:lnTo>
                <a:lnTo>
                  <a:pt x="163779" y="206349"/>
                </a:lnTo>
                <a:lnTo>
                  <a:pt x="153216" y="190500"/>
                </a:lnTo>
                <a:close/>
              </a:path>
              <a:path w="428625" h="333375">
                <a:moveTo>
                  <a:pt x="218554" y="95021"/>
                </a:moveTo>
                <a:lnTo>
                  <a:pt x="209029" y="95465"/>
                </a:lnTo>
                <a:lnTo>
                  <a:pt x="204939" y="98526"/>
                </a:lnTo>
                <a:lnTo>
                  <a:pt x="203225" y="102908"/>
                </a:lnTo>
                <a:lnTo>
                  <a:pt x="163779" y="206349"/>
                </a:lnTo>
                <a:lnTo>
                  <a:pt x="189291" y="206349"/>
                </a:lnTo>
                <a:lnTo>
                  <a:pt x="215798" y="136702"/>
                </a:lnTo>
                <a:lnTo>
                  <a:pt x="242446" y="136702"/>
                </a:lnTo>
                <a:lnTo>
                  <a:pt x="225031" y="101790"/>
                </a:lnTo>
                <a:lnTo>
                  <a:pt x="222948" y="97548"/>
                </a:lnTo>
                <a:lnTo>
                  <a:pt x="218554" y="95021"/>
                </a:lnTo>
                <a:close/>
              </a:path>
              <a:path w="428625" h="333375">
                <a:moveTo>
                  <a:pt x="242446" y="136702"/>
                </a:moveTo>
                <a:lnTo>
                  <a:pt x="215798" y="136702"/>
                </a:lnTo>
                <a:lnTo>
                  <a:pt x="241401" y="187972"/>
                </a:lnTo>
                <a:lnTo>
                  <a:pt x="245491" y="190500"/>
                </a:lnTo>
                <a:lnTo>
                  <a:pt x="328015" y="190500"/>
                </a:lnTo>
                <a:lnTo>
                  <a:pt x="333375" y="185140"/>
                </a:lnTo>
                <a:lnTo>
                  <a:pt x="333298" y="171970"/>
                </a:lnTo>
                <a:lnTo>
                  <a:pt x="328015" y="166687"/>
                </a:lnTo>
                <a:lnTo>
                  <a:pt x="257403" y="166687"/>
                </a:lnTo>
                <a:lnTo>
                  <a:pt x="242446" y="136702"/>
                </a:lnTo>
                <a:close/>
              </a:path>
            </a:pathLst>
          </a:custGeom>
          <a:solidFill>
            <a:srgbClr val="A8F0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5830887" y="4516437"/>
            <a:ext cx="2136140" cy="1731645"/>
          </a:xfrm>
          <a:prstGeom prst="rect">
            <a:avLst/>
          </a:prstGeom>
        </p:spPr>
        <p:txBody>
          <a:bodyPr wrap="square" lIns="0" tIns="1905" rIns="0" bIns="0" rtlCol="0" vert="horz">
            <a:spAutoFit/>
          </a:bodyPr>
          <a:lstStyle/>
          <a:p>
            <a:pPr marL="12700" marR="5080">
              <a:lnSpc>
                <a:spcPct val="106100"/>
              </a:lnSpc>
              <a:spcBef>
                <a:spcPts val="15"/>
              </a:spcBef>
            </a:pPr>
            <a:r>
              <a:rPr dirty="0" sz="1650" spc="540">
                <a:solidFill>
                  <a:srgbClr val="D7E5D8"/>
                </a:solidFill>
                <a:latin typeface="SimSun-ExtB"/>
                <a:cs typeface="SimSun-ExtB"/>
              </a:rPr>
              <a:t>Monitorizaci </a:t>
            </a:r>
            <a:r>
              <a:rPr dirty="0" sz="1650" spc="455">
                <a:solidFill>
                  <a:srgbClr val="D7E5D8"/>
                </a:solidFill>
                <a:latin typeface="SimSun-ExtB"/>
                <a:cs typeface="SimSun-ExtB"/>
              </a:rPr>
              <a:t>ón</a:t>
            </a:r>
            <a:r>
              <a:rPr dirty="0" sz="1650" spc="-300">
                <a:solidFill>
                  <a:srgbClr val="D7E5D8"/>
                </a:solidFill>
                <a:latin typeface="SimSun-ExtB"/>
                <a:cs typeface="SimSun-ExtB"/>
              </a:rPr>
              <a:t> </a:t>
            </a:r>
            <a:r>
              <a:rPr dirty="0" sz="1650" spc="715">
                <a:solidFill>
                  <a:srgbClr val="D7E5D8"/>
                </a:solidFill>
                <a:latin typeface="SimSun-ExtB"/>
                <a:cs typeface="SimSun-ExtB"/>
              </a:rPr>
              <a:t>Continua</a:t>
            </a:r>
            <a:endParaRPr sz="1650">
              <a:latin typeface="SimSun-ExtB"/>
              <a:cs typeface="SimSun-ExtB"/>
            </a:endParaRPr>
          </a:p>
          <a:p>
            <a:pPr marL="12700" marR="259715">
              <a:lnSpc>
                <a:spcPct val="134300"/>
              </a:lnSpc>
              <a:spcBef>
                <a:spcPts val="615"/>
              </a:spcBef>
            </a:pPr>
            <a:r>
              <a:rPr dirty="0" sz="1350">
                <a:solidFill>
                  <a:srgbClr val="D7E5D8"/>
                </a:solidFill>
                <a:latin typeface="Tahoma"/>
                <a:cs typeface="Tahoma"/>
              </a:rPr>
              <a:t>Implementa</a:t>
            </a:r>
            <a:r>
              <a:rPr dirty="0" sz="1350" spc="-55">
                <a:solidFill>
                  <a:srgbClr val="D7E5D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D7E5D8"/>
                </a:solidFill>
                <a:latin typeface="Tahoma"/>
                <a:cs typeface="Tahoma"/>
              </a:rPr>
              <a:t>sistemas</a:t>
            </a:r>
            <a:r>
              <a:rPr dirty="0" sz="1350" spc="-50">
                <a:solidFill>
                  <a:srgbClr val="D7E5D8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D7E5D8"/>
                </a:solidFill>
                <a:latin typeface="Tahoma"/>
                <a:cs typeface="Tahoma"/>
              </a:rPr>
              <a:t>de </a:t>
            </a:r>
            <a:r>
              <a:rPr dirty="0" sz="1350">
                <a:solidFill>
                  <a:srgbClr val="D7E5D8"/>
                </a:solidFill>
                <a:latin typeface="Tahoma"/>
                <a:cs typeface="Tahoma"/>
              </a:rPr>
              <a:t>monitoǐeo</a:t>
            </a:r>
            <a:r>
              <a:rPr dirty="0" sz="1350" spc="-25">
                <a:solidFill>
                  <a:srgbClr val="D7E5D8"/>
                </a:solidFill>
                <a:latin typeface="Tahoma"/>
                <a:cs typeface="Tahoma"/>
              </a:rPr>
              <a:t> </a:t>
            </a:r>
            <a:r>
              <a:rPr dirty="0" sz="1350" spc="60">
                <a:solidFill>
                  <a:srgbClr val="D7E5D8"/>
                </a:solidFill>
                <a:latin typeface="Tahoma"/>
                <a:cs typeface="Tahoma"/>
              </a:rPr>
              <a:t>paǐa</a:t>
            </a:r>
            <a:r>
              <a:rPr dirty="0" sz="1350" spc="-20">
                <a:solidFill>
                  <a:srgbClr val="D7E5D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D7E5D8"/>
                </a:solidFill>
                <a:latin typeface="Tahoma"/>
                <a:cs typeface="Tahoma"/>
              </a:rPr>
              <a:t>detectaǐ </a:t>
            </a:r>
            <a:r>
              <a:rPr dirty="0" sz="1350">
                <a:solidFill>
                  <a:srgbClr val="D7E5D8"/>
                </a:solidFill>
                <a:latin typeface="Tahoma"/>
                <a:cs typeface="Tahoma"/>
              </a:rPr>
              <a:t>anomalías</a:t>
            </a:r>
            <a:r>
              <a:rPr dirty="0" sz="1350" spc="-55">
                <a:solidFill>
                  <a:srgbClr val="D7E5D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D7E5D8"/>
                </a:solidFill>
                <a:latin typeface="Tahoma"/>
                <a:cs typeface="Tahoma"/>
              </a:rPr>
              <a:t>en</a:t>
            </a:r>
            <a:r>
              <a:rPr dirty="0" sz="1350" spc="-50">
                <a:solidFill>
                  <a:srgbClr val="D7E5D8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D7E5D8"/>
                </a:solidFill>
                <a:latin typeface="Tahoma"/>
                <a:cs typeface="Tahoma"/>
              </a:rPr>
              <a:t>tus </a:t>
            </a:r>
            <a:r>
              <a:rPr dirty="0" sz="1350">
                <a:solidFill>
                  <a:srgbClr val="D7E5D8"/>
                </a:solidFill>
                <a:latin typeface="Tahoma"/>
                <a:cs typeface="Tahoma"/>
              </a:rPr>
              <a:t>conexiones</a:t>
            </a:r>
            <a:r>
              <a:rPr dirty="0" sz="1350" spc="-15">
                <a:solidFill>
                  <a:srgbClr val="D7E5D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D7E5D8"/>
                </a:solidFill>
                <a:latin typeface="Tahoma"/>
                <a:cs typeface="Tahoma"/>
              </a:rPr>
              <a:t>SSL/TLS.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11" name="object 11" descr=""/>
          <p:cNvSpPr/>
          <p:nvPr/>
        </p:nvSpPr>
        <p:spPr>
          <a:xfrm>
            <a:off x="8275434" y="3943350"/>
            <a:ext cx="375285" cy="428625"/>
          </a:xfrm>
          <a:custGeom>
            <a:avLst/>
            <a:gdLst/>
            <a:ahLst/>
            <a:cxnLst/>
            <a:rect l="l" t="t" r="r" b="b"/>
            <a:pathLst>
              <a:path w="375284" h="428625">
                <a:moveTo>
                  <a:pt x="194564" y="0"/>
                </a:moveTo>
                <a:lnTo>
                  <a:pt x="180492" y="0"/>
                </a:lnTo>
                <a:lnTo>
                  <a:pt x="173520" y="685"/>
                </a:lnTo>
                <a:lnTo>
                  <a:pt x="133845" y="14147"/>
                </a:lnTo>
                <a:lnTo>
                  <a:pt x="102336" y="41770"/>
                </a:lnTo>
                <a:lnTo>
                  <a:pt x="83807" y="79349"/>
                </a:lnTo>
                <a:lnTo>
                  <a:pt x="80378" y="100114"/>
                </a:lnTo>
                <a:lnTo>
                  <a:pt x="80378" y="114198"/>
                </a:lnTo>
                <a:lnTo>
                  <a:pt x="91224" y="154660"/>
                </a:lnTo>
                <a:lnTo>
                  <a:pt x="116725" y="187909"/>
                </a:lnTo>
                <a:lnTo>
                  <a:pt x="153022" y="208851"/>
                </a:lnTo>
                <a:lnTo>
                  <a:pt x="180492" y="214312"/>
                </a:lnTo>
                <a:lnTo>
                  <a:pt x="194564" y="214312"/>
                </a:lnTo>
                <a:lnTo>
                  <a:pt x="235038" y="203466"/>
                </a:lnTo>
                <a:lnTo>
                  <a:pt x="258723" y="187515"/>
                </a:lnTo>
                <a:lnTo>
                  <a:pt x="182245" y="187515"/>
                </a:lnTo>
                <a:lnTo>
                  <a:pt x="177025" y="187007"/>
                </a:lnTo>
                <a:lnTo>
                  <a:pt x="138493" y="171043"/>
                </a:lnTo>
                <a:lnTo>
                  <a:pt x="111264" y="133032"/>
                </a:lnTo>
                <a:lnTo>
                  <a:pt x="107162" y="112433"/>
                </a:lnTo>
                <a:lnTo>
                  <a:pt x="107162" y="101879"/>
                </a:lnTo>
                <a:lnTo>
                  <a:pt x="123634" y="58115"/>
                </a:lnTo>
                <a:lnTo>
                  <a:pt x="161645" y="30886"/>
                </a:lnTo>
                <a:lnTo>
                  <a:pt x="182245" y="26784"/>
                </a:lnTo>
                <a:lnTo>
                  <a:pt x="258699" y="26784"/>
                </a:lnTo>
                <a:lnTo>
                  <a:pt x="258330" y="26416"/>
                </a:lnTo>
                <a:lnTo>
                  <a:pt x="222034" y="5461"/>
                </a:lnTo>
                <a:lnTo>
                  <a:pt x="201536" y="685"/>
                </a:lnTo>
                <a:lnTo>
                  <a:pt x="194564" y="0"/>
                </a:lnTo>
                <a:close/>
              </a:path>
              <a:path w="375284" h="428625">
                <a:moveTo>
                  <a:pt x="258699" y="26784"/>
                </a:moveTo>
                <a:lnTo>
                  <a:pt x="192811" y="26784"/>
                </a:lnTo>
                <a:lnTo>
                  <a:pt x="198031" y="27305"/>
                </a:lnTo>
                <a:lnTo>
                  <a:pt x="208381" y="29362"/>
                </a:lnTo>
                <a:lnTo>
                  <a:pt x="248081" y="54051"/>
                </a:lnTo>
                <a:lnTo>
                  <a:pt x="267385" y="96647"/>
                </a:lnTo>
                <a:lnTo>
                  <a:pt x="267893" y="101879"/>
                </a:lnTo>
                <a:lnTo>
                  <a:pt x="267893" y="112433"/>
                </a:lnTo>
                <a:lnTo>
                  <a:pt x="251421" y="156197"/>
                </a:lnTo>
                <a:lnTo>
                  <a:pt x="213410" y="183426"/>
                </a:lnTo>
                <a:lnTo>
                  <a:pt x="192811" y="187515"/>
                </a:lnTo>
                <a:lnTo>
                  <a:pt x="258723" y="187515"/>
                </a:lnTo>
                <a:lnTo>
                  <a:pt x="283832" y="154660"/>
                </a:lnTo>
                <a:lnTo>
                  <a:pt x="294690" y="114198"/>
                </a:lnTo>
                <a:lnTo>
                  <a:pt x="294690" y="100114"/>
                </a:lnTo>
                <a:lnTo>
                  <a:pt x="283832" y="59651"/>
                </a:lnTo>
                <a:lnTo>
                  <a:pt x="268274" y="36360"/>
                </a:lnTo>
                <a:lnTo>
                  <a:pt x="258699" y="26784"/>
                </a:lnTo>
                <a:close/>
              </a:path>
              <a:path w="375284" h="428625">
                <a:moveTo>
                  <a:pt x="225793" y="254495"/>
                </a:moveTo>
                <a:lnTo>
                  <a:pt x="149275" y="254495"/>
                </a:lnTo>
                <a:lnTo>
                  <a:pt x="102086" y="262102"/>
                </a:lnTo>
                <a:lnTo>
                  <a:pt x="61107" y="283287"/>
                </a:lnTo>
                <a:lnTo>
                  <a:pt x="28796" y="315594"/>
                </a:lnTo>
                <a:lnTo>
                  <a:pt x="7608" y="356569"/>
                </a:lnTo>
                <a:lnTo>
                  <a:pt x="0" y="403758"/>
                </a:lnTo>
                <a:lnTo>
                  <a:pt x="1954" y="413435"/>
                </a:lnTo>
                <a:lnTo>
                  <a:pt x="7285" y="421339"/>
                </a:lnTo>
                <a:lnTo>
                  <a:pt x="15189" y="426670"/>
                </a:lnTo>
                <a:lnTo>
                  <a:pt x="24866" y="428625"/>
                </a:lnTo>
                <a:lnTo>
                  <a:pt x="350189" y="428625"/>
                </a:lnTo>
                <a:lnTo>
                  <a:pt x="359867" y="426670"/>
                </a:lnTo>
                <a:lnTo>
                  <a:pt x="367771" y="421339"/>
                </a:lnTo>
                <a:lnTo>
                  <a:pt x="373101" y="413435"/>
                </a:lnTo>
                <a:lnTo>
                  <a:pt x="375056" y="403758"/>
                </a:lnTo>
                <a:lnTo>
                  <a:pt x="374745" y="401828"/>
                </a:lnTo>
                <a:lnTo>
                  <a:pt x="26797" y="401828"/>
                </a:lnTo>
                <a:lnTo>
                  <a:pt x="36970" y="354847"/>
                </a:lnTo>
                <a:lnTo>
                  <a:pt x="63323" y="316536"/>
                </a:lnTo>
                <a:lnTo>
                  <a:pt x="102033" y="290733"/>
                </a:lnTo>
                <a:lnTo>
                  <a:pt x="149275" y="281279"/>
                </a:lnTo>
                <a:lnTo>
                  <a:pt x="310068" y="281279"/>
                </a:lnTo>
                <a:lnTo>
                  <a:pt x="272976" y="262102"/>
                </a:lnTo>
                <a:lnTo>
                  <a:pt x="225793" y="254495"/>
                </a:lnTo>
                <a:close/>
              </a:path>
              <a:path w="375284" h="428625">
                <a:moveTo>
                  <a:pt x="310068" y="281279"/>
                </a:moveTo>
                <a:lnTo>
                  <a:pt x="225793" y="281279"/>
                </a:lnTo>
                <a:lnTo>
                  <a:pt x="273076" y="290733"/>
                </a:lnTo>
                <a:lnTo>
                  <a:pt x="311796" y="316536"/>
                </a:lnTo>
                <a:lnTo>
                  <a:pt x="338130" y="354847"/>
                </a:lnTo>
                <a:lnTo>
                  <a:pt x="348259" y="401828"/>
                </a:lnTo>
                <a:lnTo>
                  <a:pt x="374745" y="401828"/>
                </a:lnTo>
                <a:lnTo>
                  <a:pt x="367448" y="356569"/>
                </a:lnTo>
                <a:lnTo>
                  <a:pt x="346260" y="315594"/>
                </a:lnTo>
                <a:lnTo>
                  <a:pt x="313951" y="283287"/>
                </a:lnTo>
                <a:lnTo>
                  <a:pt x="310068" y="281279"/>
                </a:lnTo>
                <a:close/>
              </a:path>
            </a:pathLst>
          </a:custGeom>
          <a:solidFill>
            <a:srgbClr val="A8F0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 txBox="1"/>
          <p:nvPr/>
        </p:nvSpPr>
        <p:spPr>
          <a:xfrm>
            <a:off x="8236546" y="4516437"/>
            <a:ext cx="2138680" cy="1998345"/>
          </a:xfrm>
          <a:prstGeom prst="rect">
            <a:avLst/>
          </a:prstGeom>
        </p:spPr>
        <p:txBody>
          <a:bodyPr wrap="square" lIns="0" tIns="1905" rIns="0" bIns="0" rtlCol="0" vert="horz">
            <a:spAutoFit/>
          </a:bodyPr>
          <a:lstStyle/>
          <a:p>
            <a:pPr marL="12700" marR="5080">
              <a:lnSpc>
                <a:spcPct val="106100"/>
              </a:lnSpc>
              <a:spcBef>
                <a:spcPts val="15"/>
              </a:spcBef>
            </a:pPr>
            <a:r>
              <a:rPr dirty="0" sz="1650" spc="600">
                <a:solidFill>
                  <a:srgbClr val="D7E5D8"/>
                </a:solidFill>
                <a:latin typeface="SimSun-ExtB"/>
                <a:cs typeface="SimSun-ExtB"/>
              </a:rPr>
              <a:t>Preparación </a:t>
            </a:r>
            <a:r>
              <a:rPr dirty="0" sz="1650" spc="750">
                <a:solidFill>
                  <a:srgbClr val="D7E5D8"/>
                </a:solidFill>
                <a:latin typeface="SimSun-ExtB"/>
                <a:cs typeface="SimSun-ExtB"/>
              </a:rPr>
              <a:t>para</a:t>
            </a:r>
            <a:r>
              <a:rPr dirty="0" sz="1650" spc="-305">
                <a:solidFill>
                  <a:srgbClr val="D7E5D8"/>
                </a:solidFill>
                <a:latin typeface="SimSun-ExtB"/>
                <a:cs typeface="SimSun-ExtB"/>
              </a:rPr>
              <a:t> </a:t>
            </a:r>
            <a:r>
              <a:rPr dirty="0" sz="1650" spc="285">
                <a:solidFill>
                  <a:srgbClr val="D7E5D8"/>
                </a:solidFill>
                <a:latin typeface="SimSun-ExtB"/>
                <a:cs typeface="SimSun-ExtB"/>
              </a:rPr>
              <a:t>el </a:t>
            </a:r>
            <a:r>
              <a:rPr dirty="0" sz="1650" spc="645">
                <a:solidFill>
                  <a:srgbClr val="D7E5D8"/>
                </a:solidFill>
                <a:latin typeface="SimSun-ExtB"/>
                <a:cs typeface="SimSun-ExtB"/>
              </a:rPr>
              <a:t>Futuro</a:t>
            </a:r>
            <a:endParaRPr sz="1650">
              <a:latin typeface="SimSun-ExtB"/>
              <a:cs typeface="SimSun-ExtB"/>
            </a:endParaRPr>
          </a:p>
          <a:p>
            <a:pPr marL="12700" marR="94615">
              <a:lnSpc>
                <a:spcPct val="134300"/>
              </a:lnSpc>
              <a:spcBef>
                <a:spcPts val="615"/>
              </a:spcBef>
            </a:pPr>
            <a:r>
              <a:rPr dirty="0" sz="1350" spc="10">
                <a:solidFill>
                  <a:srgbClr val="D7E5D8"/>
                </a:solidFill>
                <a:latin typeface="Tahoma"/>
                <a:cs typeface="Tahoma"/>
              </a:rPr>
              <a:t>Mantente</a:t>
            </a:r>
            <a:r>
              <a:rPr dirty="0" sz="1350" spc="35">
                <a:solidFill>
                  <a:srgbClr val="D7E5D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D7E5D8"/>
                </a:solidFill>
                <a:latin typeface="Tahoma"/>
                <a:cs typeface="Tahoma"/>
              </a:rPr>
              <a:t>infoǐmado</a:t>
            </a:r>
            <a:r>
              <a:rPr dirty="0" sz="1350" spc="35">
                <a:solidFill>
                  <a:srgbClr val="D7E5D8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D7E5D8"/>
                </a:solidFill>
                <a:latin typeface="Tahoma"/>
                <a:cs typeface="Tahoma"/>
              </a:rPr>
              <a:t>sobǐe </a:t>
            </a:r>
            <a:r>
              <a:rPr dirty="0" sz="1350" spc="10">
                <a:solidFill>
                  <a:srgbClr val="D7E5D8"/>
                </a:solidFill>
                <a:latin typeface="Tahoma"/>
                <a:cs typeface="Tahoma"/>
              </a:rPr>
              <a:t>desaǐǐollos</a:t>
            </a:r>
            <a:r>
              <a:rPr dirty="0" sz="1350" spc="-15">
                <a:solidFill>
                  <a:srgbClr val="D7E5D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D7E5D8"/>
                </a:solidFill>
                <a:latin typeface="Tahoma"/>
                <a:cs typeface="Tahoma"/>
              </a:rPr>
              <a:t>en</a:t>
            </a:r>
            <a:r>
              <a:rPr dirty="0" sz="1350" spc="-10">
                <a:solidFill>
                  <a:srgbClr val="D7E5D8"/>
                </a:solidFill>
                <a:latin typeface="Tahoma"/>
                <a:cs typeface="Tahoma"/>
              </a:rPr>
              <a:t> cǐiptogǐafía </a:t>
            </a:r>
            <a:r>
              <a:rPr dirty="0" sz="1350">
                <a:solidFill>
                  <a:srgbClr val="D7E5D8"/>
                </a:solidFill>
                <a:latin typeface="Tahoma"/>
                <a:cs typeface="Tahoma"/>
              </a:rPr>
              <a:t>post-cuántica</a:t>
            </a:r>
            <a:r>
              <a:rPr dirty="0" sz="1350" spc="80">
                <a:solidFill>
                  <a:srgbClr val="D7E5D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D7E5D8"/>
                </a:solidFill>
                <a:latin typeface="Tahoma"/>
                <a:cs typeface="Tahoma"/>
              </a:rPr>
              <a:t>y</a:t>
            </a:r>
            <a:r>
              <a:rPr dirty="0" sz="1350" spc="85">
                <a:solidFill>
                  <a:srgbClr val="D7E5D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D7E5D8"/>
                </a:solidFill>
                <a:latin typeface="Tahoma"/>
                <a:cs typeface="Tahoma"/>
              </a:rPr>
              <a:t>nuevos estándaǐes.</a:t>
            </a:r>
            <a:endParaRPr sz="1350">
              <a:latin typeface="Tahoma"/>
              <a:cs typeface="Tahoma"/>
            </a:endParaRPr>
          </a:p>
        </p:txBody>
      </p:sp>
      <p:pic>
        <p:nvPicPr>
          <p:cNvPr id="13" name="object 13" descr="">
            <a:hlinkClick r:id="rId3"/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80244" y="6508242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2024-11-05T08:22:04Z</dcterms:created>
  <dcterms:modified xsi:type="dcterms:W3CDTF">2024-11-05T08:22:04Z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2024-11-03T00:00:00Z</vt:filetime>
  </property>
  <property fmtid="{D5CDD505-2E9C-101B-9397-08002B2CF9AE}" pid="3" name="Creator">
    <vt:lpwstr>pdf-lib (https://github.com/Hopding/pdf-lib)</vt:lpwstr>
  </property>
  <property fmtid="{D5CDD505-2E9C-101B-9397-08002B2CF9AE}" pid="4" name="LastSaved">
    <vt:filetime>2024-11-05T00:00:00Z</vt:filetime>
  </property>
  <property fmtid="{D5CDD505-2E9C-101B-9397-08002B2CF9AE}" pid="5" name="Producer">
    <vt:lpwstr>GPL Ghostscript 10.02.0</vt:lpwstr>
  </property>
</Properties>
</file>