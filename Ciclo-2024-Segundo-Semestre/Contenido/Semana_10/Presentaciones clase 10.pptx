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1430000" cy="10922000"/>
  <p:notesSz cx="11430000" cy="10922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2068893"/>
            <a:ext cx="9715500" cy="14015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Yu Gothic"/>
                <a:cs typeface="Yu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737356"/>
            <a:ext cx="8001000" cy="1668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Yu Gothic"/>
                <a:cs typeface="Yu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Yu Gothic"/>
                <a:cs typeface="Yu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534985"/>
            <a:ext cx="4972050" cy="44047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534985"/>
            <a:ext cx="4972050" cy="44047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Yu Gothic"/>
                <a:cs typeface="Yu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11128" y="492125"/>
            <a:ext cx="4911725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Yu Gothic"/>
                <a:cs typeface="Yu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400299"/>
            <a:ext cx="5924550" cy="3752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6206680"/>
            <a:ext cx="3657600" cy="3336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6206680"/>
            <a:ext cx="2628900" cy="3336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6206680"/>
            <a:ext cx="2628900" cy="3336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667500"/>
          </a:xfrm>
          <a:custGeom>
            <a:avLst/>
            <a:gdLst/>
            <a:ahLst/>
            <a:cxnLst/>
            <a:rect l="l" t="t" r="r" b="b"/>
            <a:pathLst>
              <a:path w="11430000" h="6667500">
                <a:moveTo>
                  <a:pt x="11430000" y="0"/>
                </a:moveTo>
                <a:lnTo>
                  <a:pt x="0" y="0"/>
                </a:lnTo>
                <a:lnTo>
                  <a:pt x="0" y="6667500"/>
                </a:lnTo>
                <a:lnTo>
                  <a:pt x="11430000" y="66675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0283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6672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11128" y="491172"/>
            <a:ext cx="5882640" cy="368807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650" spc="680"/>
              <a:t>«níutΘmiento</a:t>
            </a:r>
            <a:endParaRPr sz="4650"/>
          </a:p>
          <a:p>
            <a:pPr marL="12700" marR="5080">
              <a:lnSpc>
                <a:spcPct val="103899"/>
              </a:lnSpc>
              <a:spcBef>
                <a:spcPts val="55"/>
              </a:spcBef>
            </a:pPr>
            <a:r>
              <a:rPr dirty="0" sz="4650" spc="725"/>
              <a:t>en</a:t>
            </a:r>
            <a:r>
              <a:rPr dirty="0" sz="4650" spc="-95"/>
              <a:t> </a:t>
            </a:r>
            <a:r>
              <a:rPr dirty="0" sz="4650" spc="385"/>
              <a:t>IPvG: </a:t>
            </a:r>
            <a:r>
              <a:rPr dirty="0" sz="4650" spc="655"/>
              <a:t>Fun®Θmentos</a:t>
            </a:r>
            <a:r>
              <a:rPr dirty="0" sz="4650" spc="-200"/>
              <a:t> </a:t>
            </a:r>
            <a:r>
              <a:rPr dirty="0" sz="4650" spc="45"/>
              <a:t>K </a:t>
            </a:r>
            <a:r>
              <a:rPr dirty="0" sz="4650" spc="490"/>
              <a:t>Confi➆uíΘsiones </a:t>
            </a:r>
            <a:r>
              <a:rPr dirty="0" sz="4650" spc="250"/>
              <a:t>6vΘnzΘ®Θs</a:t>
            </a:r>
            <a:endParaRPr sz="4650"/>
          </a:p>
        </p:txBody>
      </p:sp>
      <p:sp>
        <p:nvSpPr>
          <p:cNvPr id="5" name="object 5" descr=""/>
          <p:cNvSpPr txBox="1"/>
          <p:nvPr/>
        </p:nvSpPr>
        <p:spPr>
          <a:xfrm>
            <a:off x="4911128" y="4414748"/>
            <a:ext cx="5854065" cy="117792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65"/>
              </a:spcBef>
            </a:pPr>
            <a:r>
              <a:rPr dirty="0" sz="1400" spc="-125">
                <a:solidFill>
                  <a:srgbClr val="CAD6DE"/>
                </a:solidFill>
                <a:latin typeface="Verdana"/>
                <a:cs typeface="Verdana"/>
              </a:rPr>
              <a:t>Esta </a:t>
            </a:r>
            <a:r>
              <a:rPr dirty="0" sz="1400" spc="-114">
                <a:solidFill>
                  <a:srgbClr val="CAD6DE"/>
                </a:solidFill>
                <a:latin typeface="Verdana"/>
                <a:cs typeface="Verdana"/>
              </a:rPr>
              <a:t>presentación</a:t>
            </a:r>
            <a:r>
              <a:rPr dirty="0" sz="1400" spc="-125">
                <a:solidFill>
                  <a:srgbClr val="CAD6DE"/>
                </a:solidFill>
                <a:latin typeface="Verdana"/>
                <a:cs typeface="Verdana"/>
              </a:rPr>
              <a:t> explora </a:t>
            </a:r>
            <a:r>
              <a:rPr dirty="0" sz="1400" spc="-90">
                <a:solidFill>
                  <a:srgbClr val="CAD6DE"/>
                </a:solidFill>
                <a:latin typeface="Verdana"/>
                <a:cs typeface="Verdana"/>
              </a:rPr>
              <a:t>el</a:t>
            </a:r>
            <a:r>
              <a:rPr dirty="0" sz="1400" spc="-12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CAD6DE"/>
                </a:solidFill>
                <a:latin typeface="Verdana"/>
                <a:cs typeface="Verdana"/>
              </a:rPr>
              <a:t>enrutamiento</a:t>
            </a:r>
            <a:r>
              <a:rPr dirty="0" sz="1400" spc="-12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CAD6DE"/>
                </a:solidFill>
                <a:latin typeface="Verdana"/>
                <a:cs typeface="Verdana"/>
              </a:rPr>
              <a:t>en</a:t>
            </a:r>
            <a:r>
              <a:rPr dirty="0" sz="1400" spc="-12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IPv6,</a:t>
            </a:r>
            <a:r>
              <a:rPr dirty="0" sz="1400" spc="-120">
                <a:solidFill>
                  <a:srgbClr val="CAD6DE"/>
                </a:solidFill>
                <a:latin typeface="Verdana"/>
                <a:cs typeface="Verdana"/>
              </a:rPr>
              <a:t> desde</a:t>
            </a:r>
            <a:r>
              <a:rPr dirty="0" sz="1400" spc="-12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CAD6DE"/>
                </a:solidFill>
                <a:latin typeface="Verdana"/>
                <a:cs typeface="Verdana"/>
              </a:rPr>
              <a:t>conceptos</a:t>
            </a:r>
            <a:r>
              <a:rPr dirty="0" sz="1400" spc="-12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CAD6DE"/>
                </a:solidFill>
                <a:latin typeface="Verdana"/>
                <a:cs typeface="Verdana"/>
              </a:rPr>
              <a:t>básicos </a:t>
            </a:r>
            <a:r>
              <a:rPr dirty="0" sz="1400" spc="-135">
                <a:solidFill>
                  <a:srgbClr val="CAD6DE"/>
                </a:solidFill>
                <a:latin typeface="Verdana"/>
                <a:cs typeface="Verdana"/>
              </a:rPr>
              <a:t>hasta</a:t>
            </a:r>
            <a:r>
              <a:rPr dirty="0" sz="1400" spc="-10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CAD6DE"/>
                </a:solidFill>
                <a:latin typeface="Verdana"/>
                <a:cs typeface="Verdana"/>
              </a:rPr>
              <a:t>configuraciones</a:t>
            </a:r>
            <a:r>
              <a:rPr dirty="0" sz="1400" spc="-10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avanzadas.</a:t>
            </a:r>
            <a:r>
              <a:rPr dirty="0" sz="1400" spc="-10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25">
                <a:solidFill>
                  <a:srgbClr val="CAD6DE"/>
                </a:solidFill>
                <a:latin typeface="Verdana"/>
                <a:cs typeface="Verdana"/>
              </a:rPr>
              <a:t>Abordaremos</a:t>
            </a:r>
            <a:r>
              <a:rPr dirty="0" sz="1400" spc="-9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CAD6DE"/>
                </a:solidFill>
                <a:latin typeface="Verdana"/>
                <a:cs typeface="Verdana"/>
              </a:rPr>
              <a:t>protocolos </a:t>
            </a:r>
            <a:r>
              <a:rPr dirty="0" sz="1400" spc="-10">
                <a:solidFill>
                  <a:srgbClr val="CAD6DE"/>
                </a:solidFill>
                <a:latin typeface="Verdana"/>
                <a:cs typeface="Verdana"/>
              </a:rPr>
              <a:t>dinámicos, </a:t>
            </a:r>
            <a:r>
              <a:rPr dirty="0" sz="1400" spc="-114">
                <a:solidFill>
                  <a:srgbClr val="CAD6DE"/>
                </a:solidFill>
                <a:latin typeface="Verdana"/>
                <a:cs typeface="Verdana"/>
              </a:rPr>
              <a:t>configuraciones </a:t>
            </a:r>
            <a:r>
              <a:rPr dirty="0" sz="1400" spc="-125">
                <a:solidFill>
                  <a:srgbClr val="CAD6DE"/>
                </a:solidFill>
                <a:latin typeface="Verdana"/>
                <a:cs typeface="Verdana"/>
              </a:rPr>
              <a:t>estáticas</a:t>
            </a:r>
            <a:r>
              <a:rPr dirty="0" sz="1400" spc="-114">
                <a:solidFill>
                  <a:srgbClr val="CAD6DE"/>
                </a:solidFill>
                <a:latin typeface="Verdana"/>
                <a:cs typeface="Verdana"/>
              </a:rPr>
              <a:t> y</a:t>
            </a:r>
            <a:r>
              <a:rPr dirty="0" sz="1400" spc="-12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35">
                <a:solidFill>
                  <a:srgbClr val="CAD6DE"/>
                </a:solidFill>
                <a:latin typeface="Verdana"/>
                <a:cs typeface="Verdana"/>
              </a:rPr>
              <a:t>redes</a:t>
            </a:r>
            <a:r>
              <a:rPr dirty="0" sz="1400" spc="-11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CAD6DE"/>
                </a:solidFill>
                <a:latin typeface="Verdana"/>
                <a:cs typeface="Verdana"/>
              </a:rPr>
              <a:t>dual-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stack.</a:t>
            </a:r>
            <a:r>
              <a:rPr dirty="0" sz="1400" spc="-114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30">
                <a:solidFill>
                  <a:srgbClr val="CAD6DE"/>
                </a:solidFill>
                <a:latin typeface="Verdana"/>
                <a:cs typeface="Verdana"/>
              </a:rPr>
              <a:t>Prepárate</a:t>
            </a:r>
            <a:r>
              <a:rPr dirty="0" sz="1400" spc="-12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para</a:t>
            </a:r>
            <a:r>
              <a:rPr dirty="0" sz="1400" spc="-12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35">
                <a:solidFill>
                  <a:srgbClr val="CAD6DE"/>
                </a:solidFill>
                <a:latin typeface="Verdana"/>
                <a:cs typeface="Verdana"/>
              </a:rPr>
              <a:t>sumergirte</a:t>
            </a:r>
            <a:r>
              <a:rPr dirty="0" sz="1400" spc="-12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CAD6DE"/>
                </a:solidFill>
                <a:latin typeface="Verdana"/>
                <a:cs typeface="Verdana"/>
              </a:rPr>
              <a:t>en</a:t>
            </a:r>
            <a:r>
              <a:rPr dirty="0" sz="1400" spc="-12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Verdana"/>
                <a:cs typeface="Verdana"/>
              </a:rPr>
              <a:t>el </a:t>
            </a:r>
            <a:r>
              <a:rPr dirty="0" sz="1400" spc="-110">
                <a:solidFill>
                  <a:srgbClr val="CAD6DE"/>
                </a:solidFill>
                <a:latin typeface="Verdana"/>
                <a:cs typeface="Verdana"/>
              </a:rPr>
              <a:t>futuro</a:t>
            </a:r>
            <a:r>
              <a:rPr dirty="0" sz="1400" spc="-15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CAD6DE"/>
                </a:solidFill>
                <a:latin typeface="Verdana"/>
                <a:cs typeface="Verdana"/>
              </a:rPr>
              <a:t>de</a:t>
            </a:r>
            <a:r>
              <a:rPr dirty="0" sz="1400" spc="-15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25">
                <a:solidFill>
                  <a:srgbClr val="CAD6DE"/>
                </a:solidFill>
                <a:latin typeface="Verdana"/>
                <a:cs typeface="Verdana"/>
              </a:rPr>
              <a:t>las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Verdana"/>
                <a:cs typeface="Verdana"/>
              </a:rPr>
              <a:t>redes.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293616" y="5846127"/>
            <a:ext cx="1705610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-140" b="1">
                <a:solidFill>
                  <a:srgbClr val="CAD6DE"/>
                </a:solidFill>
                <a:latin typeface="Tahoma"/>
                <a:cs typeface="Tahoma"/>
              </a:rPr>
              <a:t>por</a:t>
            </a:r>
            <a:r>
              <a:rPr dirty="0" sz="1800" spc="-100" b="1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800" spc="-155" b="1">
                <a:solidFill>
                  <a:srgbClr val="CAD6DE"/>
                </a:solidFill>
                <a:latin typeface="Tahoma"/>
                <a:cs typeface="Tahoma"/>
              </a:rPr>
              <a:t>Eduardo</a:t>
            </a:r>
            <a:r>
              <a:rPr dirty="0" sz="1800" spc="-100" b="1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800" spc="-204" b="1">
                <a:solidFill>
                  <a:srgbClr val="CAD6DE"/>
                </a:solidFill>
                <a:latin typeface="Tahoma"/>
                <a:cs typeface="Tahoma"/>
              </a:rPr>
              <a:t>Ixén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924425" y="5857876"/>
            <a:ext cx="295275" cy="295275"/>
            <a:chOff x="4924425" y="5857876"/>
            <a:chExt cx="295275" cy="295275"/>
          </a:xfrm>
        </p:grpSpPr>
        <p:sp>
          <p:nvSpPr>
            <p:cNvPr id="8" name="object 8" descr=""/>
            <p:cNvSpPr/>
            <p:nvPr/>
          </p:nvSpPr>
          <p:spPr>
            <a:xfrm>
              <a:off x="4929187" y="5862638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5" y="0"/>
                  </a:moveTo>
                  <a:lnTo>
                    <a:pt x="101395" y="6147"/>
                  </a:lnTo>
                  <a:lnTo>
                    <a:pt x="63500" y="24075"/>
                  </a:lnTo>
                  <a:lnTo>
                    <a:pt x="32429" y="52232"/>
                  </a:lnTo>
                  <a:lnTo>
                    <a:pt x="10871" y="88195"/>
                  </a:lnTo>
                  <a:lnTo>
                    <a:pt x="685" y="128870"/>
                  </a:lnTo>
                  <a:lnTo>
                    <a:pt x="0" y="142875"/>
                  </a:lnTo>
                  <a:lnTo>
                    <a:pt x="171" y="149892"/>
                  </a:lnTo>
                  <a:lnTo>
                    <a:pt x="8342" y="190998"/>
                  </a:lnTo>
                  <a:lnTo>
                    <a:pt x="28119" y="227989"/>
                  </a:lnTo>
                  <a:lnTo>
                    <a:pt x="57759" y="257625"/>
                  </a:lnTo>
                  <a:lnTo>
                    <a:pt x="94747" y="277398"/>
                  </a:lnTo>
                  <a:lnTo>
                    <a:pt x="135854" y="285577"/>
                  </a:lnTo>
                  <a:lnTo>
                    <a:pt x="142875" y="285750"/>
                  </a:lnTo>
                  <a:lnTo>
                    <a:pt x="149895" y="285577"/>
                  </a:lnTo>
                  <a:lnTo>
                    <a:pt x="191000" y="277398"/>
                  </a:lnTo>
                  <a:lnTo>
                    <a:pt x="227989" y="257625"/>
                  </a:lnTo>
                  <a:lnTo>
                    <a:pt x="257630" y="227989"/>
                  </a:lnTo>
                  <a:lnTo>
                    <a:pt x="277402" y="190998"/>
                  </a:lnTo>
                  <a:lnTo>
                    <a:pt x="285578" y="149892"/>
                  </a:lnTo>
                  <a:lnTo>
                    <a:pt x="285750" y="142875"/>
                  </a:lnTo>
                  <a:lnTo>
                    <a:pt x="285578" y="135855"/>
                  </a:lnTo>
                  <a:lnTo>
                    <a:pt x="277402" y="94745"/>
                  </a:lnTo>
                  <a:lnTo>
                    <a:pt x="257630" y="57754"/>
                  </a:lnTo>
                  <a:lnTo>
                    <a:pt x="227989" y="28118"/>
                  </a:lnTo>
                  <a:lnTo>
                    <a:pt x="191000" y="8345"/>
                  </a:lnTo>
                  <a:lnTo>
                    <a:pt x="149895" y="171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813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929187" y="5862638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142875"/>
                  </a:moveTo>
                  <a:lnTo>
                    <a:pt x="279600" y="184347"/>
                  </a:lnTo>
                  <a:lnTo>
                    <a:pt x="261670" y="222250"/>
                  </a:lnTo>
                  <a:lnTo>
                    <a:pt x="233510" y="253316"/>
                  </a:lnTo>
                  <a:lnTo>
                    <a:pt x="197548" y="274869"/>
                  </a:lnTo>
                  <a:lnTo>
                    <a:pt x="156879" y="285062"/>
                  </a:lnTo>
                  <a:lnTo>
                    <a:pt x="142875" y="285750"/>
                  </a:lnTo>
                  <a:lnTo>
                    <a:pt x="135854" y="285577"/>
                  </a:lnTo>
                  <a:lnTo>
                    <a:pt x="94747" y="277398"/>
                  </a:lnTo>
                  <a:lnTo>
                    <a:pt x="57759" y="257625"/>
                  </a:lnTo>
                  <a:lnTo>
                    <a:pt x="28119" y="227989"/>
                  </a:lnTo>
                  <a:lnTo>
                    <a:pt x="8342" y="190998"/>
                  </a:lnTo>
                  <a:lnTo>
                    <a:pt x="171" y="149892"/>
                  </a:lnTo>
                  <a:lnTo>
                    <a:pt x="0" y="142875"/>
                  </a:lnTo>
                  <a:lnTo>
                    <a:pt x="171" y="135855"/>
                  </a:lnTo>
                  <a:lnTo>
                    <a:pt x="8342" y="94745"/>
                  </a:lnTo>
                  <a:lnTo>
                    <a:pt x="28119" y="57754"/>
                  </a:lnTo>
                  <a:lnTo>
                    <a:pt x="57759" y="28118"/>
                  </a:lnTo>
                  <a:lnTo>
                    <a:pt x="94747" y="8345"/>
                  </a:lnTo>
                  <a:lnTo>
                    <a:pt x="135854" y="171"/>
                  </a:lnTo>
                  <a:lnTo>
                    <a:pt x="142875" y="0"/>
                  </a:lnTo>
                  <a:lnTo>
                    <a:pt x="149895" y="171"/>
                  </a:lnTo>
                  <a:lnTo>
                    <a:pt x="191000" y="8345"/>
                  </a:lnTo>
                  <a:lnTo>
                    <a:pt x="227989" y="28118"/>
                  </a:lnTo>
                  <a:lnTo>
                    <a:pt x="257630" y="57754"/>
                  </a:lnTo>
                  <a:lnTo>
                    <a:pt x="277402" y="94745"/>
                  </a:lnTo>
                  <a:lnTo>
                    <a:pt x="285578" y="135855"/>
                  </a:lnTo>
                  <a:lnTo>
                    <a:pt x="285750" y="142875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5006378" y="5904231"/>
            <a:ext cx="126364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25">
                <a:solidFill>
                  <a:srgbClr val="FFFFFF"/>
                </a:solidFill>
                <a:latin typeface="Roboto Lt"/>
                <a:cs typeface="Roboto Lt"/>
              </a:rPr>
              <a:t>EI</a:t>
            </a:r>
            <a:endParaRPr sz="950">
              <a:latin typeface="Roboto Lt"/>
              <a:cs typeface="Roboto Lt"/>
            </a:endParaRPr>
          </a:p>
        </p:txBody>
      </p:sp>
      <p:pic>
        <p:nvPicPr>
          <p:cNvPr id="11" name="object 11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61546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0283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5" name="object 5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4879" y="606425"/>
            <a:ext cx="5519420" cy="10731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484"/>
              <a:t>Fun®Θmentos</a:t>
            </a:r>
            <a:r>
              <a:rPr dirty="0" spc="-45"/>
              <a:t> </a:t>
            </a:r>
            <a:r>
              <a:rPr dirty="0" spc="370"/>
              <a:t>®el</a:t>
            </a: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pc="520"/>
              <a:t>«níutΘmiento</a:t>
            </a:r>
            <a:r>
              <a:rPr dirty="0" spc="-45"/>
              <a:t> </a:t>
            </a:r>
            <a:r>
              <a:rPr dirty="0" spc="530"/>
              <a:t>en</a:t>
            </a:r>
            <a:r>
              <a:rPr dirty="0" spc="-45"/>
              <a:t> </a:t>
            </a:r>
            <a:r>
              <a:rPr dirty="0" spc="350"/>
              <a:t>IPvG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638175" y="2171699"/>
            <a:ext cx="409575" cy="409575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389825" y="0"/>
                </a:moveTo>
                <a:lnTo>
                  <a:pt x="19749" y="0"/>
                </a:lnTo>
                <a:lnTo>
                  <a:pt x="16847" y="571"/>
                </a:lnTo>
                <a:lnTo>
                  <a:pt x="0" y="19748"/>
                </a:lnTo>
                <a:lnTo>
                  <a:pt x="0" y="386803"/>
                </a:lnTo>
                <a:lnTo>
                  <a:pt x="0" y="389826"/>
                </a:lnTo>
                <a:lnTo>
                  <a:pt x="19749" y="409575"/>
                </a:lnTo>
                <a:lnTo>
                  <a:pt x="389825" y="409575"/>
                </a:lnTo>
                <a:lnTo>
                  <a:pt x="409575" y="389826"/>
                </a:lnTo>
                <a:lnTo>
                  <a:pt x="409575" y="19748"/>
                </a:lnTo>
                <a:lnTo>
                  <a:pt x="392727" y="571"/>
                </a:lnTo>
                <a:lnTo>
                  <a:pt x="389825" y="0"/>
                </a:lnTo>
                <a:close/>
              </a:path>
            </a:pathLst>
          </a:custGeom>
          <a:solidFill>
            <a:srgbClr val="2F46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769242" y="2197100"/>
            <a:ext cx="1466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14">
                <a:solidFill>
                  <a:srgbClr val="CAD6DE"/>
                </a:solidFill>
                <a:latin typeface="Yu Gothic"/>
                <a:cs typeface="Yu Gothic"/>
              </a:rPr>
              <a:t>1</a:t>
            </a:r>
            <a:endParaRPr sz="2000">
              <a:latin typeface="Yu Gothic"/>
              <a:cs typeface="Yu Gothic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16917" y="2154237"/>
            <a:ext cx="5114290" cy="933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90">
                <a:solidFill>
                  <a:srgbClr val="CAD6DE"/>
                </a:solidFill>
                <a:latin typeface="Yu Gothic"/>
                <a:cs typeface="Yu Gothic"/>
              </a:rPr>
              <a:t>«stíustuíΘ</a:t>
            </a:r>
            <a:r>
              <a:rPr dirty="0" sz="1650" spc="-15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305">
                <a:solidFill>
                  <a:srgbClr val="CAD6DE"/>
                </a:solidFill>
                <a:latin typeface="Yu Gothic"/>
                <a:cs typeface="Yu Gothic"/>
              </a:rPr>
              <a:t>®e</a:t>
            </a:r>
            <a:r>
              <a:rPr dirty="0" sz="1650" spc="-10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254">
                <a:solidFill>
                  <a:srgbClr val="CAD6DE"/>
                </a:solidFill>
                <a:latin typeface="Yu Gothic"/>
                <a:cs typeface="Yu Gothic"/>
              </a:rPr>
              <a:t>Ðiíessiones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38400"/>
              </a:lnSpc>
              <a:spcBef>
                <a:spcPts val="475"/>
              </a:spcBef>
            </a:pP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IPv6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utiliza</a:t>
            </a:r>
            <a:r>
              <a:rPr dirty="0" sz="1400" spc="-9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direcciones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de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128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CAD6DE"/>
                </a:solidFill>
                <a:latin typeface="Tahoma"/>
                <a:cs typeface="Tahoma"/>
              </a:rPr>
              <a:t>bits,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divididas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en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95">
                <a:solidFill>
                  <a:srgbClr val="CAD6DE"/>
                </a:solidFill>
                <a:latin typeface="Tahoma"/>
                <a:cs typeface="Tahoma"/>
              </a:rPr>
              <a:t>8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CAD6DE"/>
                </a:solidFill>
                <a:latin typeface="Tahoma"/>
                <a:cs typeface="Tahoma"/>
              </a:rPr>
              <a:t>grupos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de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35">
                <a:solidFill>
                  <a:srgbClr val="CAD6DE"/>
                </a:solidFill>
                <a:latin typeface="Tahoma"/>
                <a:cs typeface="Tahoma"/>
              </a:rPr>
              <a:t>16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bits. Esto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permite</a:t>
            </a:r>
            <a:r>
              <a:rPr dirty="0" sz="1400" spc="-9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una</a:t>
            </a:r>
            <a:r>
              <a:rPr dirty="0" sz="1400" spc="-9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cantidad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astronómica</a:t>
            </a:r>
            <a:r>
              <a:rPr dirty="0" sz="1400" spc="-9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de</a:t>
            </a:r>
            <a:r>
              <a:rPr dirty="0" sz="1400" spc="-9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direcciones</a:t>
            </a:r>
            <a:r>
              <a:rPr dirty="0" sz="1400" spc="-9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únicas.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638175" y="3514725"/>
            <a:ext cx="409575" cy="409575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389825" y="0"/>
                </a:moveTo>
                <a:lnTo>
                  <a:pt x="19749" y="0"/>
                </a:lnTo>
                <a:lnTo>
                  <a:pt x="16847" y="571"/>
                </a:lnTo>
                <a:lnTo>
                  <a:pt x="0" y="19748"/>
                </a:lnTo>
                <a:lnTo>
                  <a:pt x="0" y="386803"/>
                </a:lnTo>
                <a:lnTo>
                  <a:pt x="0" y="389826"/>
                </a:lnTo>
                <a:lnTo>
                  <a:pt x="19749" y="409575"/>
                </a:lnTo>
                <a:lnTo>
                  <a:pt x="389825" y="409575"/>
                </a:lnTo>
                <a:lnTo>
                  <a:pt x="409575" y="389826"/>
                </a:lnTo>
                <a:lnTo>
                  <a:pt x="409575" y="19748"/>
                </a:lnTo>
                <a:lnTo>
                  <a:pt x="392727" y="571"/>
                </a:lnTo>
                <a:lnTo>
                  <a:pt x="389825" y="0"/>
                </a:lnTo>
                <a:close/>
              </a:path>
            </a:pathLst>
          </a:custGeom>
          <a:solidFill>
            <a:srgbClr val="2F46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728315" y="3540125"/>
            <a:ext cx="22860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425">
                <a:solidFill>
                  <a:srgbClr val="CAD6DE"/>
                </a:solidFill>
                <a:latin typeface="Yu Gothic"/>
                <a:cs typeface="Yu Gothic"/>
              </a:rPr>
              <a:t>2</a:t>
            </a:r>
            <a:endParaRPr sz="2000">
              <a:latin typeface="Yu Gothic"/>
              <a:cs typeface="Yu Gothic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16919" y="3497262"/>
            <a:ext cx="5085080" cy="933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60">
                <a:solidFill>
                  <a:srgbClr val="CAD6DE"/>
                </a:solidFill>
                <a:latin typeface="Yu Gothic"/>
                <a:cs typeface="Yu Gothic"/>
              </a:rPr>
              <a:t>Aipos</a:t>
            </a:r>
            <a:r>
              <a:rPr dirty="0" sz="1650" spc="-20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305">
                <a:solidFill>
                  <a:srgbClr val="CAD6DE"/>
                </a:solidFill>
                <a:latin typeface="Yu Gothic"/>
                <a:cs typeface="Yu Gothic"/>
              </a:rPr>
              <a:t>®e</a:t>
            </a:r>
            <a:r>
              <a:rPr dirty="0" sz="1650" spc="-15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254">
                <a:solidFill>
                  <a:srgbClr val="CAD6DE"/>
                </a:solidFill>
                <a:latin typeface="Yu Gothic"/>
                <a:cs typeface="Yu Gothic"/>
              </a:rPr>
              <a:t>Ðiíessiones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33900"/>
              </a:lnSpc>
              <a:spcBef>
                <a:spcPts val="625"/>
              </a:spcBef>
            </a:pP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Unicast,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multicast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y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anycast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son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los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tipos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principales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en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CAD6DE"/>
                </a:solidFill>
                <a:latin typeface="Tahoma"/>
                <a:cs typeface="Tahoma"/>
              </a:rPr>
              <a:t>IPv6.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Cada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tipo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tiene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funciones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específicas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en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el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enrutamiento.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638175" y="4857750"/>
            <a:ext cx="409575" cy="409575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389825" y="0"/>
                </a:moveTo>
                <a:lnTo>
                  <a:pt x="19749" y="0"/>
                </a:lnTo>
                <a:lnTo>
                  <a:pt x="16847" y="571"/>
                </a:lnTo>
                <a:lnTo>
                  <a:pt x="0" y="19748"/>
                </a:lnTo>
                <a:lnTo>
                  <a:pt x="0" y="386805"/>
                </a:lnTo>
                <a:lnTo>
                  <a:pt x="0" y="389821"/>
                </a:lnTo>
                <a:lnTo>
                  <a:pt x="19749" y="409576"/>
                </a:lnTo>
                <a:lnTo>
                  <a:pt x="389825" y="409576"/>
                </a:lnTo>
                <a:lnTo>
                  <a:pt x="409575" y="389821"/>
                </a:lnTo>
                <a:lnTo>
                  <a:pt x="409575" y="19748"/>
                </a:lnTo>
                <a:lnTo>
                  <a:pt x="392727" y="571"/>
                </a:lnTo>
                <a:lnTo>
                  <a:pt x="389825" y="0"/>
                </a:lnTo>
                <a:close/>
              </a:path>
            </a:pathLst>
          </a:custGeom>
          <a:solidFill>
            <a:srgbClr val="2F46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726380" y="4883150"/>
            <a:ext cx="23241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459">
                <a:solidFill>
                  <a:srgbClr val="CAD6DE"/>
                </a:solidFill>
                <a:latin typeface="Yu Gothic"/>
                <a:cs typeface="Yu Gothic"/>
              </a:rPr>
              <a:t>3</a:t>
            </a:r>
            <a:endParaRPr sz="2000">
              <a:latin typeface="Yu Gothic"/>
              <a:cs typeface="Yu Gothic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216917" y="4840287"/>
            <a:ext cx="4928870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35">
                <a:solidFill>
                  <a:srgbClr val="CAD6DE"/>
                </a:solidFill>
                <a:latin typeface="Yu Gothic"/>
                <a:cs typeface="Yu Gothic"/>
              </a:rPr>
              <a:t>Píefiios</a:t>
            </a:r>
            <a:r>
              <a:rPr dirty="0" sz="1650" spc="-25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305">
                <a:solidFill>
                  <a:srgbClr val="CAD6DE"/>
                </a:solidFill>
                <a:latin typeface="Yu Gothic"/>
                <a:cs typeface="Yu Gothic"/>
              </a:rPr>
              <a:t>®e</a:t>
            </a:r>
            <a:r>
              <a:rPr dirty="0" sz="1650" spc="-25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250">
                <a:solidFill>
                  <a:srgbClr val="CAD6DE"/>
                </a:solidFill>
                <a:latin typeface="Yu Gothic"/>
                <a:cs typeface="Yu Gothic"/>
              </a:rPr>
              <a:t>Re®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38400"/>
              </a:lnSpc>
              <a:spcBef>
                <a:spcPts val="550"/>
              </a:spcBef>
            </a:pP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Los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prefijos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en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IPv6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son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más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flexibles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que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en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CAD6DE"/>
                </a:solidFill>
                <a:latin typeface="Tahoma"/>
                <a:cs typeface="Tahoma"/>
              </a:rPr>
              <a:t>IPv4.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Permiten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una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segmentación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más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eficiente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de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CAD6DE"/>
                </a:solidFill>
                <a:latin typeface="Tahoma"/>
                <a:cs typeface="Tahoma"/>
              </a:rPr>
              <a:t>las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redes.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7562850"/>
          </a:xfrm>
          <a:custGeom>
            <a:avLst/>
            <a:gdLst/>
            <a:ahLst/>
            <a:cxnLst/>
            <a:rect l="l" t="t" r="r" b="b"/>
            <a:pathLst>
              <a:path w="11430000" h="7562850">
                <a:moveTo>
                  <a:pt x="11430000" y="0"/>
                </a:moveTo>
                <a:lnTo>
                  <a:pt x="0" y="0"/>
                </a:lnTo>
                <a:lnTo>
                  <a:pt x="0" y="7562850"/>
                </a:lnTo>
                <a:lnTo>
                  <a:pt x="11430000" y="75628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0283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756259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585"/>
              <a:t>Eníutamiento </a:t>
            </a:r>
            <a:r>
              <a:rPr dirty="0" spc="480"/>
              <a:t>Dinámico:</a:t>
            </a:r>
            <a:r>
              <a:rPr dirty="0" spc="-55"/>
              <a:t> </a:t>
            </a:r>
            <a:r>
              <a:rPr dirty="0" spc="600"/>
              <a:t>OSPFv3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4995710" y="1847849"/>
            <a:ext cx="1028700" cy="5210175"/>
            <a:chOff x="4995710" y="1847849"/>
            <a:chExt cx="1028700" cy="5210175"/>
          </a:xfrm>
        </p:grpSpPr>
        <p:sp>
          <p:nvSpPr>
            <p:cNvPr id="6" name="object 6" descr=""/>
            <p:cNvSpPr/>
            <p:nvPr/>
          </p:nvSpPr>
          <p:spPr>
            <a:xfrm>
              <a:off x="5191125" y="1847849"/>
              <a:ext cx="833755" cy="5210810"/>
            </a:xfrm>
            <a:custGeom>
              <a:avLst/>
              <a:gdLst/>
              <a:ahLst/>
              <a:cxnLst/>
              <a:rect l="l" t="t" r="r" b="b"/>
              <a:pathLst>
                <a:path w="833754" h="5210809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5200662"/>
                  </a:lnTo>
                  <a:lnTo>
                    <a:pt x="0" y="5203291"/>
                  </a:lnTo>
                  <a:lnTo>
                    <a:pt x="927" y="5205527"/>
                  </a:lnTo>
                  <a:lnTo>
                    <a:pt x="4648" y="5209248"/>
                  </a:lnTo>
                  <a:lnTo>
                    <a:pt x="6896" y="5210187"/>
                  </a:lnTo>
                  <a:lnTo>
                    <a:pt x="12153" y="5210187"/>
                  </a:lnTo>
                  <a:lnTo>
                    <a:pt x="14401" y="5209248"/>
                  </a:lnTo>
                  <a:lnTo>
                    <a:pt x="18122" y="5205527"/>
                  </a:lnTo>
                  <a:lnTo>
                    <a:pt x="19050" y="5203291"/>
                  </a:lnTo>
                  <a:lnTo>
                    <a:pt x="19050" y="6896"/>
                  </a:lnTo>
                  <a:close/>
                </a:path>
                <a:path w="833754" h="5210809">
                  <a:moveTo>
                    <a:pt x="833285" y="406946"/>
                  </a:moveTo>
                  <a:lnTo>
                    <a:pt x="832345" y="404698"/>
                  </a:lnTo>
                  <a:lnTo>
                    <a:pt x="828636" y="400977"/>
                  </a:lnTo>
                  <a:lnTo>
                    <a:pt x="826389" y="400050"/>
                  </a:lnTo>
                  <a:lnTo>
                    <a:pt x="202006" y="400050"/>
                  </a:lnTo>
                  <a:lnTo>
                    <a:pt x="199758" y="400977"/>
                  </a:lnTo>
                  <a:lnTo>
                    <a:pt x="196024" y="404698"/>
                  </a:lnTo>
                  <a:lnTo>
                    <a:pt x="195110" y="406946"/>
                  </a:lnTo>
                  <a:lnTo>
                    <a:pt x="195110" y="409575"/>
                  </a:lnTo>
                  <a:lnTo>
                    <a:pt x="195110" y="412203"/>
                  </a:lnTo>
                  <a:lnTo>
                    <a:pt x="196024" y="414464"/>
                  </a:lnTo>
                  <a:lnTo>
                    <a:pt x="199758" y="418172"/>
                  </a:lnTo>
                  <a:lnTo>
                    <a:pt x="202006" y="419100"/>
                  </a:lnTo>
                  <a:lnTo>
                    <a:pt x="826389" y="419100"/>
                  </a:lnTo>
                  <a:lnTo>
                    <a:pt x="828636" y="418172"/>
                  </a:lnTo>
                  <a:lnTo>
                    <a:pt x="832345" y="414464"/>
                  </a:lnTo>
                  <a:lnTo>
                    <a:pt x="833285" y="412203"/>
                  </a:lnTo>
                  <a:lnTo>
                    <a:pt x="833285" y="406946"/>
                  </a:lnTo>
                  <a:close/>
                </a:path>
              </a:pathLst>
            </a:custGeom>
            <a:solidFill>
              <a:srgbClr val="495F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995710" y="2057399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389826" y="0"/>
                  </a:moveTo>
                  <a:lnTo>
                    <a:pt x="19748" y="0"/>
                  </a:lnTo>
                  <a:lnTo>
                    <a:pt x="16852" y="571"/>
                  </a:lnTo>
                  <a:lnTo>
                    <a:pt x="0" y="19748"/>
                  </a:lnTo>
                  <a:lnTo>
                    <a:pt x="0" y="386803"/>
                  </a:lnTo>
                  <a:lnTo>
                    <a:pt x="0" y="389826"/>
                  </a:lnTo>
                  <a:lnTo>
                    <a:pt x="19748" y="409575"/>
                  </a:lnTo>
                  <a:lnTo>
                    <a:pt x="389826" y="409575"/>
                  </a:lnTo>
                  <a:lnTo>
                    <a:pt x="409575" y="389826"/>
                  </a:lnTo>
                  <a:lnTo>
                    <a:pt x="409575" y="19748"/>
                  </a:lnTo>
                  <a:lnTo>
                    <a:pt x="392734" y="571"/>
                  </a:lnTo>
                  <a:lnTo>
                    <a:pt x="389826" y="0"/>
                  </a:lnTo>
                  <a:close/>
                </a:path>
              </a:pathLst>
            </a:custGeom>
            <a:solidFill>
              <a:srgbClr val="2F46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5123802" y="2082799"/>
            <a:ext cx="1466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14">
                <a:solidFill>
                  <a:srgbClr val="CAD6DE"/>
                </a:solidFill>
                <a:latin typeface="Yu Gothic"/>
                <a:cs typeface="Yu Gothic"/>
              </a:rPr>
              <a:t>1</a:t>
            </a:r>
            <a:endParaRPr sz="2000">
              <a:latin typeface="Yu Gothic"/>
              <a:cs typeface="Yu Gothic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186286" y="2011362"/>
            <a:ext cx="4479925" cy="12287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65">
                <a:solidFill>
                  <a:srgbClr val="CAD6DE"/>
                </a:solidFill>
                <a:latin typeface="Yu Gothic"/>
                <a:cs typeface="Yu Gothic"/>
              </a:rPr>
              <a:t>Establecimiento</a:t>
            </a:r>
            <a:r>
              <a:rPr dirty="0" sz="1650" spc="15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315">
                <a:solidFill>
                  <a:srgbClr val="CAD6DE"/>
                </a:solidFill>
                <a:latin typeface="Yu Gothic"/>
                <a:cs typeface="Yu Gothic"/>
              </a:rPr>
              <a:t>de</a:t>
            </a:r>
            <a:r>
              <a:rPr dirty="0" sz="1650" spc="-55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305">
                <a:solidFill>
                  <a:srgbClr val="CAD6DE"/>
                </a:solidFill>
                <a:latin typeface="Yu Gothic"/>
                <a:cs typeface="Yu Gothic"/>
              </a:rPr>
              <a:t>Adyacencias</a:t>
            </a:r>
            <a:endParaRPr sz="1650">
              <a:latin typeface="Yu Gothic"/>
              <a:cs typeface="Yu Gothic"/>
            </a:endParaRPr>
          </a:p>
          <a:p>
            <a:pPr algn="just" marL="12700" marR="5080">
              <a:lnSpc>
                <a:spcPct val="136200"/>
              </a:lnSpc>
              <a:spcBef>
                <a:spcPts val="590"/>
              </a:spcBef>
            </a:pP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Los</a:t>
            </a:r>
            <a:r>
              <a:rPr dirty="0" sz="1400" spc="-5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CAD6DE"/>
                </a:solidFill>
                <a:latin typeface="Tahoma"/>
                <a:cs typeface="Tahoma"/>
              </a:rPr>
              <a:t>routers</a:t>
            </a:r>
            <a:r>
              <a:rPr dirty="0" sz="1400" spc="-5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OSPFv3</a:t>
            </a:r>
            <a:r>
              <a:rPr dirty="0" sz="1400" spc="-4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utilizan</a:t>
            </a:r>
            <a:r>
              <a:rPr dirty="0" sz="1400" spc="-5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mensajes</a:t>
            </a:r>
            <a:r>
              <a:rPr dirty="0" sz="1400" spc="-5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Hello</a:t>
            </a:r>
            <a:r>
              <a:rPr dirty="0" sz="1400" spc="-4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CAD6DE"/>
                </a:solidFill>
                <a:latin typeface="Tahoma"/>
                <a:cs typeface="Tahoma"/>
              </a:rPr>
              <a:t>para</a:t>
            </a:r>
            <a:r>
              <a:rPr dirty="0" sz="1400" spc="-5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descubrir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vecinos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y</a:t>
            </a:r>
            <a:r>
              <a:rPr dirty="0" sz="1400" spc="-5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formar</a:t>
            </a:r>
            <a:r>
              <a:rPr dirty="0" sz="1400" spc="-5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CAD6DE"/>
                </a:solidFill>
                <a:latin typeface="Tahoma"/>
                <a:cs typeface="Tahoma"/>
              </a:rPr>
              <a:t>adyacencias.</a:t>
            </a:r>
            <a:r>
              <a:rPr dirty="0" sz="1400" spc="-5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Este</a:t>
            </a:r>
            <a:r>
              <a:rPr dirty="0" sz="1400" spc="-5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proceso</a:t>
            </a:r>
            <a:r>
              <a:rPr dirty="0" sz="1400" spc="-5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es</a:t>
            </a:r>
            <a:r>
              <a:rPr dirty="0" sz="1400" spc="-4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similar</a:t>
            </a:r>
            <a:r>
              <a:rPr dirty="0" sz="1400" spc="-55">
                <a:solidFill>
                  <a:srgbClr val="CAD6DE"/>
                </a:solidFill>
                <a:latin typeface="Tahoma"/>
                <a:cs typeface="Tahoma"/>
              </a:rPr>
              <a:t> al</a:t>
            </a:r>
            <a:r>
              <a:rPr dirty="0" sz="1400" spc="-5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de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OSPFv2.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995710" y="3848099"/>
            <a:ext cx="1028700" cy="409575"/>
            <a:chOff x="4995710" y="3848099"/>
            <a:chExt cx="1028700" cy="409575"/>
          </a:xfrm>
        </p:grpSpPr>
        <p:sp>
          <p:nvSpPr>
            <p:cNvPr id="11" name="object 11" descr=""/>
            <p:cNvSpPr/>
            <p:nvPr/>
          </p:nvSpPr>
          <p:spPr>
            <a:xfrm>
              <a:off x="5386235" y="4048124"/>
              <a:ext cx="638175" cy="19050"/>
            </a:xfrm>
            <a:custGeom>
              <a:avLst/>
              <a:gdLst/>
              <a:ahLst/>
              <a:cxnLst/>
              <a:rect l="l" t="t" r="r" b="b"/>
              <a:pathLst>
                <a:path w="638175" h="19050">
                  <a:moveTo>
                    <a:pt x="63127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631278" y="19050"/>
                  </a:lnTo>
                  <a:lnTo>
                    <a:pt x="633526" y="18122"/>
                  </a:lnTo>
                  <a:lnTo>
                    <a:pt x="637247" y="14401"/>
                  </a:lnTo>
                  <a:lnTo>
                    <a:pt x="638175" y="12153"/>
                  </a:lnTo>
                  <a:lnTo>
                    <a:pt x="638175" y="6896"/>
                  </a:lnTo>
                  <a:lnTo>
                    <a:pt x="637247" y="4648"/>
                  </a:lnTo>
                  <a:lnTo>
                    <a:pt x="633526" y="927"/>
                  </a:lnTo>
                  <a:lnTo>
                    <a:pt x="631278" y="0"/>
                  </a:lnTo>
                  <a:close/>
                </a:path>
              </a:pathLst>
            </a:custGeom>
            <a:solidFill>
              <a:srgbClr val="495F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995710" y="3848099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389826" y="0"/>
                  </a:moveTo>
                  <a:lnTo>
                    <a:pt x="19748" y="0"/>
                  </a:lnTo>
                  <a:lnTo>
                    <a:pt x="16852" y="571"/>
                  </a:lnTo>
                  <a:lnTo>
                    <a:pt x="0" y="19748"/>
                  </a:lnTo>
                  <a:lnTo>
                    <a:pt x="0" y="386803"/>
                  </a:lnTo>
                  <a:lnTo>
                    <a:pt x="0" y="389826"/>
                  </a:lnTo>
                  <a:lnTo>
                    <a:pt x="19748" y="409575"/>
                  </a:lnTo>
                  <a:lnTo>
                    <a:pt x="389826" y="409575"/>
                  </a:lnTo>
                  <a:lnTo>
                    <a:pt x="409575" y="389826"/>
                  </a:lnTo>
                  <a:lnTo>
                    <a:pt x="409575" y="19748"/>
                  </a:lnTo>
                  <a:lnTo>
                    <a:pt x="392734" y="571"/>
                  </a:lnTo>
                  <a:lnTo>
                    <a:pt x="389826" y="0"/>
                  </a:lnTo>
                  <a:close/>
                </a:path>
              </a:pathLst>
            </a:custGeom>
            <a:solidFill>
              <a:srgbClr val="2F46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082882" y="3873499"/>
            <a:ext cx="22860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425">
                <a:solidFill>
                  <a:srgbClr val="CAD6DE"/>
                </a:solidFill>
                <a:latin typeface="Yu Gothic"/>
                <a:cs typeface="Yu Gothic"/>
              </a:rPr>
              <a:t>2</a:t>
            </a:r>
            <a:endParaRPr sz="2000">
              <a:latin typeface="Yu Gothic"/>
              <a:cs typeface="Yu Gothic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186294" y="3811587"/>
            <a:ext cx="4497070" cy="12287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90">
                <a:solidFill>
                  <a:srgbClr val="CAD6DE"/>
                </a:solidFill>
                <a:latin typeface="Yu Gothic"/>
                <a:cs typeface="Yu Gothic"/>
              </a:rPr>
              <a:t>Inteícambio</a:t>
            </a:r>
            <a:r>
              <a:rPr dirty="0" sz="1650" spc="-5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315">
                <a:solidFill>
                  <a:srgbClr val="CAD6DE"/>
                </a:solidFill>
                <a:latin typeface="Yu Gothic"/>
                <a:cs typeface="Yu Gothic"/>
              </a:rPr>
              <a:t>de</a:t>
            </a:r>
            <a:r>
              <a:rPr dirty="0" sz="1650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270">
                <a:solidFill>
                  <a:srgbClr val="CAD6DE"/>
                </a:solidFill>
                <a:latin typeface="Yu Gothic"/>
                <a:cs typeface="Yu Gothic"/>
              </a:rPr>
              <a:t>LSAs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36200"/>
              </a:lnSpc>
              <a:spcBef>
                <a:spcPts val="590"/>
              </a:spcBef>
            </a:pP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Los</a:t>
            </a:r>
            <a:r>
              <a:rPr dirty="0" sz="1400" spc="-7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CAD6DE"/>
                </a:solidFill>
                <a:latin typeface="Tahoma"/>
                <a:cs typeface="Tahoma"/>
              </a:rPr>
              <a:t>routers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intercambian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Link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State</a:t>
            </a:r>
            <a:r>
              <a:rPr dirty="0" sz="1400" spc="-7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Advertisements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(LSAs) </a:t>
            </a:r>
            <a:r>
              <a:rPr dirty="0" sz="1400" spc="-45">
                <a:solidFill>
                  <a:srgbClr val="CAD6DE"/>
                </a:solidFill>
                <a:latin typeface="Tahoma"/>
                <a:cs typeface="Tahoma"/>
              </a:rPr>
              <a:t>para</a:t>
            </a:r>
            <a:r>
              <a:rPr dirty="0" sz="1400" spc="-4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compartir</a:t>
            </a:r>
            <a:r>
              <a:rPr dirty="0" sz="1400" spc="-4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información</a:t>
            </a:r>
            <a:r>
              <a:rPr dirty="0" sz="1400" spc="-4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topológica.</a:t>
            </a:r>
            <a:r>
              <a:rPr dirty="0" sz="1400" spc="-4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OSPFv3</a:t>
            </a:r>
            <a:r>
              <a:rPr dirty="0" sz="1400" spc="-3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utiliza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nuevos</a:t>
            </a:r>
            <a:r>
              <a:rPr dirty="0" sz="1400" spc="-7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tipos</a:t>
            </a:r>
            <a:r>
              <a:rPr dirty="0" sz="1400" spc="-7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de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LSA</a:t>
            </a:r>
            <a:r>
              <a:rPr dirty="0" sz="1400" spc="-7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específicos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CAD6DE"/>
                </a:solidFill>
                <a:latin typeface="Tahoma"/>
                <a:cs typeface="Tahoma"/>
              </a:rPr>
              <a:t>para</a:t>
            </a:r>
            <a:r>
              <a:rPr dirty="0" sz="1400" spc="-7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IPv6.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995710" y="5648324"/>
            <a:ext cx="1028700" cy="409575"/>
            <a:chOff x="4995710" y="5648324"/>
            <a:chExt cx="1028700" cy="409575"/>
          </a:xfrm>
        </p:grpSpPr>
        <p:sp>
          <p:nvSpPr>
            <p:cNvPr id="16" name="object 16" descr=""/>
            <p:cNvSpPr/>
            <p:nvPr/>
          </p:nvSpPr>
          <p:spPr>
            <a:xfrm>
              <a:off x="5386235" y="5848349"/>
              <a:ext cx="638175" cy="19050"/>
            </a:xfrm>
            <a:custGeom>
              <a:avLst/>
              <a:gdLst/>
              <a:ahLst/>
              <a:cxnLst/>
              <a:rect l="l" t="t" r="r" b="b"/>
              <a:pathLst>
                <a:path w="638175" h="19050">
                  <a:moveTo>
                    <a:pt x="63127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631278" y="19050"/>
                  </a:lnTo>
                  <a:lnTo>
                    <a:pt x="633526" y="18122"/>
                  </a:lnTo>
                  <a:lnTo>
                    <a:pt x="637247" y="14401"/>
                  </a:lnTo>
                  <a:lnTo>
                    <a:pt x="638175" y="12153"/>
                  </a:lnTo>
                  <a:lnTo>
                    <a:pt x="638175" y="6896"/>
                  </a:lnTo>
                  <a:lnTo>
                    <a:pt x="637247" y="4648"/>
                  </a:lnTo>
                  <a:lnTo>
                    <a:pt x="633526" y="927"/>
                  </a:lnTo>
                  <a:lnTo>
                    <a:pt x="631278" y="0"/>
                  </a:lnTo>
                  <a:close/>
                </a:path>
              </a:pathLst>
            </a:custGeom>
            <a:solidFill>
              <a:srgbClr val="495F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995710" y="5648324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389826" y="0"/>
                  </a:moveTo>
                  <a:lnTo>
                    <a:pt x="19748" y="0"/>
                  </a:lnTo>
                  <a:lnTo>
                    <a:pt x="16852" y="571"/>
                  </a:lnTo>
                  <a:lnTo>
                    <a:pt x="0" y="19748"/>
                  </a:lnTo>
                  <a:lnTo>
                    <a:pt x="0" y="386803"/>
                  </a:lnTo>
                  <a:lnTo>
                    <a:pt x="0" y="389826"/>
                  </a:lnTo>
                  <a:lnTo>
                    <a:pt x="19748" y="409575"/>
                  </a:lnTo>
                  <a:lnTo>
                    <a:pt x="389826" y="409575"/>
                  </a:lnTo>
                  <a:lnTo>
                    <a:pt x="409575" y="389826"/>
                  </a:lnTo>
                  <a:lnTo>
                    <a:pt x="409575" y="19748"/>
                  </a:lnTo>
                  <a:lnTo>
                    <a:pt x="392734" y="571"/>
                  </a:lnTo>
                  <a:lnTo>
                    <a:pt x="389826" y="0"/>
                  </a:lnTo>
                  <a:close/>
                </a:path>
              </a:pathLst>
            </a:custGeom>
            <a:solidFill>
              <a:srgbClr val="2F46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080939" y="5673725"/>
            <a:ext cx="23241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459">
                <a:solidFill>
                  <a:srgbClr val="CAD6DE"/>
                </a:solidFill>
                <a:latin typeface="Yu Gothic"/>
                <a:cs typeface="Yu Gothic"/>
              </a:rPr>
              <a:t>3</a:t>
            </a:r>
            <a:endParaRPr sz="2000">
              <a:latin typeface="Yu Gothic"/>
              <a:cs typeface="Yu Gothic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186286" y="5611812"/>
            <a:ext cx="4307840" cy="12192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54">
                <a:solidFill>
                  <a:srgbClr val="CAD6DE"/>
                </a:solidFill>
                <a:latin typeface="Yu Gothic"/>
                <a:cs typeface="Yu Gothic"/>
              </a:rPr>
              <a:t>Cálculo</a:t>
            </a:r>
            <a:r>
              <a:rPr dirty="0" sz="1650" spc="-10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315">
                <a:solidFill>
                  <a:srgbClr val="CAD6DE"/>
                </a:solidFill>
                <a:latin typeface="Yu Gothic"/>
                <a:cs typeface="Yu Gothic"/>
              </a:rPr>
              <a:t>de</a:t>
            </a:r>
            <a:r>
              <a:rPr dirty="0" sz="1650" spc="-10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300">
                <a:solidFill>
                  <a:srgbClr val="CAD6DE"/>
                </a:solidFill>
                <a:latin typeface="Yu Gothic"/>
                <a:cs typeface="Yu Gothic"/>
              </a:rPr>
              <a:t>Rutas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36200"/>
              </a:lnSpc>
              <a:spcBef>
                <a:spcPts val="515"/>
              </a:spcBef>
            </a:pP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Cada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router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calcula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la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mejor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CAD6DE"/>
                </a:solidFill>
                <a:latin typeface="Tahoma"/>
                <a:cs typeface="Tahoma"/>
              </a:rPr>
              <a:t>ruta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utilizando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el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algoritmo </a:t>
            </a:r>
            <a:r>
              <a:rPr dirty="0" sz="1400" spc="-50">
                <a:solidFill>
                  <a:srgbClr val="CAD6DE"/>
                </a:solidFill>
                <a:latin typeface="Tahoma"/>
                <a:cs typeface="Tahoma"/>
              </a:rPr>
              <a:t>Dijkstra.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CAD6DE"/>
                </a:solidFill>
                <a:latin typeface="Tahoma"/>
                <a:cs typeface="Tahoma"/>
              </a:rPr>
              <a:t>Las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CAD6DE"/>
                </a:solidFill>
                <a:latin typeface="Tahoma"/>
                <a:cs typeface="Tahoma"/>
              </a:rPr>
              <a:t>rutas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se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basan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en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el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costo</a:t>
            </a:r>
            <a:r>
              <a:rPr dirty="0" sz="1400" spc="-9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acumulado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de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los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enlaces.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20" name="object 20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705383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028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9572" y="1520825"/>
            <a:ext cx="9171940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520"/>
              <a:t>«níutΘmiento</a:t>
            </a:r>
            <a:r>
              <a:rPr dirty="0" spc="-45"/>
              <a:t> </a:t>
            </a:r>
            <a:r>
              <a:rPr dirty="0" spc="480"/>
              <a:t>Ðinámiso:</a:t>
            </a:r>
            <a:r>
              <a:rPr dirty="0" spc="-40"/>
              <a:t> </a:t>
            </a:r>
            <a:r>
              <a:rPr dirty="0" spc="750"/>
              <a:t>«I“RP</a:t>
            </a:r>
            <a:r>
              <a:rPr dirty="0" spc="-160"/>
              <a:t> </a:t>
            </a:r>
            <a:r>
              <a:rPr dirty="0" spc="-20"/>
              <a:t>pΘíΘ </a:t>
            </a:r>
            <a:r>
              <a:rPr dirty="0" spc="350"/>
              <a:t>IPvG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19572" y="3078162"/>
            <a:ext cx="2821305" cy="15906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70">
                <a:solidFill>
                  <a:srgbClr val="FFFFFF"/>
                </a:solidFill>
                <a:latin typeface="Yu Gothic"/>
                <a:cs typeface="Yu Gothic"/>
              </a:rPr>
              <a:t>CΘíΘsteíístisΘs</a:t>
            </a:r>
            <a:r>
              <a:rPr dirty="0" sz="1650" spc="-25">
                <a:solidFill>
                  <a:srgbClr val="FFFFFF"/>
                </a:solidFill>
                <a:latin typeface="Yu Gothic"/>
                <a:cs typeface="Yu Gothic"/>
              </a:rPr>
              <a:t> </a:t>
            </a:r>
            <a:r>
              <a:rPr dirty="0" sz="1650" spc="125">
                <a:solidFill>
                  <a:srgbClr val="FFFFFF"/>
                </a:solidFill>
                <a:latin typeface="Yu Gothic"/>
                <a:cs typeface="Yu Gothic"/>
              </a:rPr>
              <a:t>ClΘve</a:t>
            </a:r>
            <a:endParaRPr sz="1650">
              <a:latin typeface="Yu Gothic"/>
              <a:cs typeface="Yu Gothic"/>
            </a:endParaRPr>
          </a:p>
          <a:p>
            <a:pPr marL="12700" marR="142240">
              <a:lnSpc>
                <a:spcPct val="136900"/>
              </a:lnSpc>
              <a:spcBef>
                <a:spcPts val="1100"/>
              </a:spcBef>
            </a:pPr>
            <a:r>
              <a:rPr dirty="0" sz="1400" spc="-130">
                <a:solidFill>
                  <a:srgbClr val="CAD6DE"/>
                </a:solidFill>
                <a:latin typeface="Verdana"/>
                <a:cs typeface="Verdana"/>
              </a:rPr>
              <a:t>EIGRP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 para</a:t>
            </a:r>
            <a:r>
              <a:rPr dirty="0" sz="1400" spc="-14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25">
                <a:solidFill>
                  <a:srgbClr val="CAD6DE"/>
                </a:solidFill>
                <a:latin typeface="Verdana"/>
                <a:cs typeface="Verdana"/>
              </a:rPr>
              <a:t>IPv6</a:t>
            </a:r>
            <a:r>
              <a:rPr dirty="0" sz="1400" spc="-14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CAD6DE"/>
                </a:solidFill>
                <a:latin typeface="Verdana"/>
                <a:cs typeface="Verdana"/>
              </a:rPr>
              <a:t>mantiene</a:t>
            </a:r>
            <a:r>
              <a:rPr dirty="0" sz="1400" spc="-14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Verdana"/>
                <a:cs typeface="Verdana"/>
              </a:rPr>
              <a:t>las </a:t>
            </a:r>
            <a:r>
              <a:rPr dirty="0" sz="1400" spc="-140">
                <a:solidFill>
                  <a:srgbClr val="CAD6DE"/>
                </a:solidFill>
                <a:latin typeface="Verdana"/>
                <a:cs typeface="Verdana"/>
              </a:rPr>
              <a:t>ventajas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CAD6DE"/>
                </a:solidFill>
                <a:latin typeface="Verdana"/>
                <a:cs typeface="Verdana"/>
              </a:rPr>
              <a:t>de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50">
                <a:solidFill>
                  <a:srgbClr val="CAD6DE"/>
                </a:solidFill>
                <a:latin typeface="Verdana"/>
                <a:cs typeface="Verdana"/>
              </a:rPr>
              <a:t>su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20">
                <a:solidFill>
                  <a:srgbClr val="CAD6DE"/>
                </a:solidFill>
                <a:latin typeface="Verdana"/>
                <a:cs typeface="Verdana"/>
              </a:rPr>
              <a:t>versión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 IPv4.</a:t>
            </a:r>
            <a:r>
              <a:rPr dirty="0" sz="1400" spc="-14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CAD6DE"/>
                </a:solidFill>
                <a:latin typeface="Verdana"/>
                <a:cs typeface="Verdana"/>
              </a:rPr>
              <a:t>Ofrece </a:t>
            </a:r>
            <a:r>
              <a:rPr dirty="0" sz="1400" spc="-125">
                <a:solidFill>
                  <a:srgbClr val="CAD6DE"/>
                </a:solidFill>
                <a:latin typeface="Verdana"/>
                <a:cs typeface="Verdana"/>
              </a:rPr>
              <a:t>convergencia</a:t>
            </a:r>
            <a:r>
              <a:rPr dirty="0" sz="1400" spc="-12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30">
                <a:solidFill>
                  <a:srgbClr val="CAD6DE"/>
                </a:solidFill>
                <a:latin typeface="Verdana"/>
                <a:cs typeface="Verdana"/>
              </a:rPr>
              <a:t>rápida</a:t>
            </a:r>
            <a:r>
              <a:rPr dirty="0" sz="1400" spc="-12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CAD6DE"/>
                </a:solidFill>
                <a:latin typeface="Verdana"/>
                <a:cs typeface="Verdana"/>
              </a:rPr>
              <a:t>y</a:t>
            </a:r>
            <a:r>
              <a:rPr dirty="0" sz="1400" spc="-12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CAD6DE"/>
                </a:solidFill>
                <a:latin typeface="Verdana"/>
                <a:cs typeface="Verdana"/>
              </a:rPr>
              <a:t>eficiencia</a:t>
            </a:r>
            <a:r>
              <a:rPr dirty="0" sz="1400" spc="-12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Verdana"/>
                <a:cs typeface="Verdana"/>
              </a:rPr>
              <a:t>en </a:t>
            </a:r>
            <a:r>
              <a:rPr dirty="0" sz="1400" spc="-90">
                <a:solidFill>
                  <a:srgbClr val="CAD6DE"/>
                </a:solidFill>
                <a:latin typeface="Verdana"/>
                <a:cs typeface="Verdana"/>
              </a:rPr>
              <a:t>el</a:t>
            </a:r>
            <a:r>
              <a:rPr dirty="0" sz="1400" spc="-15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25">
                <a:solidFill>
                  <a:srgbClr val="CAD6DE"/>
                </a:solidFill>
                <a:latin typeface="Verdana"/>
                <a:cs typeface="Verdana"/>
              </a:rPr>
              <a:t>uso</a:t>
            </a:r>
            <a:r>
              <a:rPr dirty="0" sz="1400" spc="-15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CAD6DE"/>
                </a:solidFill>
                <a:latin typeface="Verdana"/>
                <a:cs typeface="Verdana"/>
              </a:rPr>
              <a:t>de</a:t>
            </a:r>
            <a:r>
              <a:rPr dirty="0" sz="1400" spc="-15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CAD6DE"/>
                </a:solidFill>
                <a:latin typeface="Verdana"/>
                <a:cs typeface="Verdana"/>
              </a:rPr>
              <a:t>ancho</a:t>
            </a:r>
            <a:r>
              <a:rPr dirty="0" sz="1400" spc="-15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CAD6DE"/>
                </a:solidFill>
                <a:latin typeface="Verdana"/>
                <a:cs typeface="Verdana"/>
              </a:rPr>
              <a:t>de</a:t>
            </a:r>
            <a:r>
              <a:rPr dirty="0" sz="1400" spc="-15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Verdana"/>
                <a:cs typeface="Verdana"/>
              </a:rPr>
              <a:t>banda.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98696" y="3078162"/>
            <a:ext cx="2746375" cy="15906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20">
                <a:solidFill>
                  <a:srgbClr val="FFFFFF"/>
                </a:solidFill>
                <a:latin typeface="Yu Gothic"/>
                <a:cs typeface="Yu Gothic"/>
              </a:rPr>
              <a:t>MétíisΘs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36900"/>
              </a:lnSpc>
              <a:spcBef>
                <a:spcPts val="1100"/>
              </a:spcBef>
            </a:pPr>
            <a:r>
              <a:rPr dirty="0" sz="1400" spc="-85">
                <a:solidFill>
                  <a:srgbClr val="CAD6DE"/>
                </a:solidFill>
                <a:latin typeface="Verdana"/>
                <a:cs typeface="Verdana"/>
              </a:rPr>
              <a:t>Utiliza</a:t>
            </a:r>
            <a:r>
              <a:rPr dirty="0" sz="1400" spc="-14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CAD6DE"/>
                </a:solidFill>
                <a:latin typeface="Verdana"/>
                <a:cs typeface="Verdana"/>
              </a:rPr>
              <a:t>ancho</a:t>
            </a:r>
            <a:r>
              <a:rPr dirty="0" sz="1400" spc="-14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CAD6DE"/>
                </a:solidFill>
                <a:latin typeface="Verdana"/>
                <a:cs typeface="Verdana"/>
              </a:rPr>
              <a:t>de</a:t>
            </a:r>
            <a:r>
              <a:rPr dirty="0" sz="1400" spc="-140">
                <a:solidFill>
                  <a:srgbClr val="CAD6DE"/>
                </a:solidFill>
                <a:latin typeface="Verdana"/>
                <a:cs typeface="Verdana"/>
              </a:rPr>
              <a:t> banda,</a:t>
            </a:r>
            <a:r>
              <a:rPr dirty="0" sz="1400" spc="-13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Verdana"/>
                <a:cs typeface="Verdana"/>
              </a:rPr>
              <a:t>retardo, </a:t>
            </a:r>
            <a:r>
              <a:rPr dirty="0" sz="1400" spc="-100">
                <a:solidFill>
                  <a:srgbClr val="CAD6DE"/>
                </a:solidFill>
                <a:latin typeface="Verdana"/>
                <a:cs typeface="Verdana"/>
              </a:rPr>
              <a:t>confiabilidad</a:t>
            </a:r>
            <a:r>
              <a:rPr dirty="0" sz="1400" spc="-13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CAD6DE"/>
                </a:solidFill>
                <a:latin typeface="Verdana"/>
                <a:cs typeface="Verdana"/>
              </a:rPr>
              <a:t>y</a:t>
            </a:r>
            <a:r>
              <a:rPr dirty="0" sz="1400" spc="-13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50">
                <a:solidFill>
                  <a:srgbClr val="CAD6DE"/>
                </a:solidFill>
                <a:latin typeface="Verdana"/>
                <a:cs typeface="Verdana"/>
              </a:rPr>
              <a:t>carga</a:t>
            </a:r>
            <a:r>
              <a:rPr dirty="0" sz="1400" spc="-13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para</a:t>
            </a:r>
            <a:r>
              <a:rPr dirty="0" sz="1400" spc="-13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20">
                <a:solidFill>
                  <a:srgbClr val="CAD6DE"/>
                </a:solidFill>
                <a:latin typeface="Verdana"/>
                <a:cs typeface="Verdana"/>
              </a:rPr>
              <a:t>calcular </a:t>
            </a:r>
            <a:r>
              <a:rPr dirty="0" sz="1400" spc="-25">
                <a:solidFill>
                  <a:srgbClr val="CAD6DE"/>
                </a:solidFill>
                <a:latin typeface="Verdana"/>
                <a:cs typeface="Verdana"/>
              </a:rPr>
              <a:t>la </a:t>
            </a:r>
            <a:r>
              <a:rPr dirty="0" sz="1400" spc="-135">
                <a:solidFill>
                  <a:srgbClr val="CAD6DE"/>
                </a:solidFill>
                <a:latin typeface="Verdana"/>
                <a:cs typeface="Verdana"/>
              </a:rPr>
              <a:t>mejor</a:t>
            </a:r>
            <a:r>
              <a:rPr dirty="0" sz="1400" spc="-13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55">
                <a:solidFill>
                  <a:srgbClr val="CAD6DE"/>
                </a:solidFill>
                <a:latin typeface="Verdana"/>
                <a:cs typeface="Verdana"/>
              </a:rPr>
              <a:t>ruta.</a:t>
            </a:r>
            <a:r>
              <a:rPr dirty="0" sz="1400" spc="-130">
                <a:solidFill>
                  <a:srgbClr val="CAD6DE"/>
                </a:solidFill>
                <a:latin typeface="Verdana"/>
                <a:cs typeface="Verdana"/>
              </a:rPr>
              <a:t> Estas</a:t>
            </a:r>
            <a:r>
              <a:rPr dirty="0" sz="1400" spc="-13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25">
                <a:solidFill>
                  <a:srgbClr val="CAD6DE"/>
                </a:solidFill>
                <a:latin typeface="Verdana"/>
                <a:cs typeface="Verdana"/>
              </a:rPr>
              <a:t>métricas</a:t>
            </a:r>
            <a:r>
              <a:rPr dirty="0" sz="1400" spc="-13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Verdana"/>
                <a:cs typeface="Verdana"/>
              </a:rPr>
              <a:t>se </a:t>
            </a:r>
            <a:r>
              <a:rPr dirty="0" sz="1400" spc="-110">
                <a:solidFill>
                  <a:srgbClr val="CAD6DE"/>
                </a:solidFill>
                <a:latin typeface="Verdana"/>
                <a:cs typeface="Verdana"/>
              </a:rPr>
              <a:t>combinan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CAD6DE"/>
                </a:solidFill>
                <a:latin typeface="Verdana"/>
                <a:cs typeface="Verdana"/>
              </a:rPr>
              <a:t>en</a:t>
            </a:r>
            <a:r>
              <a:rPr dirty="0" sz="1400" spc="-14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25">
                <a:solidFill>
                  <a:srgbClr val="CAD6DE"/>
                </a:solidFill>
                <a:latin typeface="Verdana"/>
                <a:cs typeface="Verdana"/>
              </a:rPr>
              <a:t>un</a:t>
            </a:r>
            <a:r>
              <a:rPr dirty="0" sz="1400" spc="-14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20">
                <a:solidFill>
                  <a:srgbClr val="CAD6DE"/>
                </a:solidFill>
                <a:latin typeface="Verdana"/>
                <a:cs typeface="Verdana"/>
              </a:rPr>
              <a:t>valor</a:t>
            </a:r>
            <a:r>
              <a:rPr dirty="0" sz="1400" spc="-13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Verdana"/>
                <a:cs typeface="Verdana"/>
              </a:rPr>
              <a:t>compuesto.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577835" y="3078162"/>
            <a:ext cx="2776855" cy="12954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75">
                <a:solidFill>
                  <a:srgbClr val="FFFFFF"/>
                </a:solidFill>
                <a:latin typeface="Yu Gothic"/>
                <a:cs typeface="Yu Gothic"/>
              </a:rPr>
              <a:t>Confi➆uíΘsión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36200"/>
              </a:lnSpc>
              <a:spcBef>
                <a:spcPts val="1115"/>
              </a:spcBef>
            </a:pPr>
            <a:r>
              <a:rPr dirty="0" sz="1400" spc="-114">
                <a:solidFill>
                  <a:srgbClr val="CAD6DE"/>
                </a:solidFill>
                <a:latin typeface="Verdana"/>
                <a:cs typeface="Verdana"/>
              </a:rPr>
              <a:t>La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CAD6DE"/>
                </a:solidFill>
                <a:latin typeface="Verdana"/>
                <a:cs typeface="Verdana"/>
              </a:rPr>
              <a:t>configuración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35">
                <a:solidFill>
                  <a:srgbClr val="CAD6DE"/>
                </a:solidFill>
                <a:latin typeface="Verdana"/>
                <a:cs typeface="Verdana"/>
              </a:rPr>
              <a:t>es </a:t>
            </a:r>
            <a:r>
              <a:rPr dirty="0" sz="1400" spc="-120">
                <a:solidFill>
                  <a:srgbClr val="CAD6DE"/>
                </a:solidFill>
                <a:latin typeface="Verdana"/>
                <a:cs typeface="Verdana"/>
              </a:rPr>
              <a:t>similar</a:t>
            </a:r>
            <a:r>
              <a:rPr dirty="0" sz="1400" spc="-14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60">
                <a:solidFill>
                  <a:srgbClr val="CAD6DE"/>
                </a:solidFill>
                <a:latin typeface="Verdana"/>
                <a:cs typeface="Verdana"/>
              </a:rPr>
              <a:t>a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Verdana"/>
                <a:cs typeface="Verdana"/>
              </a:rPr>
              <a:t>EIGRP 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para</a:t>
            </a:r>
            <a:r>
              <a:rPr dirty="0" sz="1400" spc="-15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IPv4. </a:t>
            </a:r>
            <a:r>
              <a:rPr dirty="0" sz="1400" spc="-125">
                <a:solidFill>
                  <a:srgbClr val="CAD6DE"/>
                </a:solidFill>
                <a:latin typeface="Verdana"/>
                <a:cs typeface="Verdana"/>
              </a:rPr>
              <a:t>Se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25">
                <a:solidFill>
                  <a:srgbClr val="CAD6DE"/>
                </a:solidFill>
                <a:latin typeface="Verdana"/>
                <a:cs typeface="Verdana"/>
              </a:rPr>
              <a:t>activa</a:t>
            </a:r>
            <a:r>
              <a:rPr dirty="0" sz="1400" spc="-15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CAD6DE"/>
                </a:solidFill>
                <a:latin typeface="Verdana"/>
                <a:cs typeface="Verdana"/>
              </a:rPr>
              <a:t>en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25">
                <a:solidFill>
                  <a:srgbClr val="CAD6DE"/>
                </a:solidFill>
                <a:latin typeface="Verdana"/>
                <a:cs typeface="Verdana"/>
              </a:rPr>
              <a:t>las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CAD6DE"/>
                </a:solidFill>
                <a:latin typeface="Verdana"/>
                <a:cs typeface="Verdana"/>
              </a:rPr>
              <a:t>interfaces </a:t>
            </a:r>
            <a:r>
              <a:rPr dirty="0" sz="1400" spc="-114">
                <a:solidFill>
                  <a:srgbClr val="CAD6DE"/>
                </a:solidFill>
                <a:latin typeface="Verdana"/>
                <a:cs typeface="Verdana"/>
              </a:rPr>
              <a:t>y</a:t>
            </a:r>
            <a:r>
              <a:rPr dirty="0" sz="1400" spc="-15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35">
                <a:solidFill>
                  <a:srgbClr val="CAD6DE"/>
                </a:solidFill>
                <a:latin typeface="Verdana"/>
                <a:cs typeface="Verdana"/>
              </a:rPr>
              <a:t>se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20">
                <a:solidFill>
                  <a:srgbClr val="CAD6DE"/>
                </a:solidFill>
                <a:latin typeface="Verdana"/>
                <a:cs typeface="Verdana"/>
              </a:rPr>
              <a:t>anuncian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25">
                <a:solidFill>
                  <a:srgbClr val="CAD6DE"/>
                </a:solidFill>
                <a:latin typeface="Verdana"/>
                <a:cs typeface="Verdana"/>
              </a:rPr>
              <a:t>las</a:t>
            </a:r>
            <a:r>
              <a:rPr dirty="0" sz="1400" spc="-140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135">
                <a:solidFill>
                  <a:srgbClr val="CAD6DE"/>
                </a:solidFill>
                <a:latin typeface="Verdana"/>
                <a:cs typeface="Verdana"/>
              </a:rPr>
              <a:t>redes</a:t>
            </a:r>
            <a:r>
              <a:rPr dirty="0" sz="1400" spc="-145">
                <a:solidFill>
                  <a:srgbClr val="CAD6DE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Verdana"/>
                <a:cs typeface="Verdana"/>
              </a:rPr>
              <a:t>IPv6.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7" name="object 7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7734300"/>
          </a:xfrm>
          <a:custGeom>
            <a:avLst/>
            <a:gdLst/>
            <a:ahLst/>
            <a:cxnLst/>
            <a:rect l="l" t="t" r="r" b="b"/>
            <a:pathLst>
              <a:path w="11430000" h="7734300">
                <a:moveTo>
                  <a:pt x="11430000" y="0"/>
                </a:moveTo>
                <a:lnTo>
                  <a:pt x="0" y="0"/>
                </a:lnTo>
                <a:lnTo>
                  <a:pt x="0" y="7734300"/>
                </a:lnTo>
                <a:lnTo>
                  <a:pt x="11430000" y="77343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0283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77340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11128" y="492125"/>
            <a:ext cx="5844540" cy="16065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345"/>
              <a:t>Confi➆uíΘsión</a:t>
            </a:r>
            <a:r>
              <a:rPr dirty="0" spc="-55"/>
              <a:t> </a:t>
            </a:r>
            <a:r>
              <a:rPr dirty="0" spc="555"/>
              <a:t>®e</a:t>
            </a:r>
          </a:p>
          <a:p>
            <a:pPr marL="12700" marR="5080">
              <a:lnSpc>
                <a:spcPct val="104500"/>
              </a:lnSpc>
            </a:pPr>
            <a:r>
              <a:rPr dirty="0" spc="520"/>
              <a:t>«níutΘmiento</a:t>
            </a:r>
            <a:r>
              <a:rPr dirty="0" spc="-30"/>
              <a:t> </a:t>
            </a:r>
            <a:r>
              <a:rPr dirty="0" spc="635"/>
              <a:t>«státiso </a:t>
            </a:r>
            <a:r>
              <a:rPr dirty="0" spc="530"/>
              <a:t>en</a:t>
            </a:r>
            <a:r>
              <a:rPr dirty="0" spc="-60"/>
              <a:t> </a:t>
            </a:r>
            <a:r>
              <a:rPr dirty="0" spc="350"/>
              <a:t>IPvG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4924425" y="2381249"/>
            <a:ext cx="911225" cy="1616075"/>
          </a:xfrm>
          <a:custGeom>
            <a:avLst/>
            <a:gdLst/>
            <a:ahLst/>
            <a:cxnLst/>
            <a:rect l="l" t="t" r="r" b="b"/>
            <a:pathLst>
              <a:path w="911225" h="1616075">
                <a:moveTo>
                  <a:pt x="910831" y="0"/>
                </a:moveTo>
                <a:lnTo>
                  <a:pt x="455409" y="182168"/>
                </a:lnTo>
                <a:lnTo>
                  <a:pt x="0" y="0"/>
                </a:lnTo>
                <a:lnTo>
                  <a:pt x="0" y="1433512"/>
                </a:lnTo>
                <a:lnTo>
                  <a:pt x="455409" y="1615681"/>
                </a:lnTo>
                <a:lnTo>
                  <a:pt x="910831" y="1433512"/>
                </a:lnTo>
                <a:lnTo>
                  <a:pt x="910831" y="0"/>
                </a:lnTo>
                <a:close/>
              </a:path>
            </a:pathLst>
          </a:custGeom>
          <a:solidFill>
            <a:srgbClr val="2F46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302097" y="3009773"/>
            <a:ext cx="15430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135">
                <a:solidFill>
                  <a:srgbClr val="CAD6DE"/>
                </a:solidFill>
                <a:latin typeface="Yu Gothic"/>
                <a:cs typeface="Yu Gothic"/>
              </a:rPr>
              <a:t>1</a:t>
            </a:r>
            <a:endParaRPr sz="2150">
              <a:latin typeface="Yu Gothic"/>
              <a:cs typeface="Yu Gothic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095202" y="2544762"/>
            <a:ext cx="4619625" cy="12287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50">
                <a:solidFill>
                  <a:srgbClr val="CAD6DE"/>
                </a:solidFill>
                <a:latin typeface="Yu Gothic"/>
                <a:cs typeface="Yu Gothic"/>
              </a:rPr>
              <a:t>SintΘxis</a:t>
            </a:r>
            <a:r>
              <a:rPr dirty="0" sz="1650" spc="-15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200">
                <a:solidFill>
                  <a:srgbClr val="CAD6DE"/>
                </a:solidFill>
                <a:latin typeface="Yu Gothic"/>
                <a:cs typeface="Yu Gothic"/>
              </a:rPr>
              <a:t>®el</a:t>
            </a:r>
            <a:r>
              <a:rPr dirty="0" sz="1650" spc="-10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260">
                <a:solidFill>
                  <a:srgbClr val="CAD6DE"/>
                </a:solidFill>
                <a:latin typeface="Yu Gothic"/>
                <a:cs typeface="Yu Gothic"/>
              </a:rPr>
              <a:t>ComΘn®o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36200"/>
              </a:lnSpc>
              <a:spcBef>
                <a:spcPts val="590"/>
              </a:spcBef>
            </a:pP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Utiliza</a:t>
            </a:r>
            <a:r>
              <a:rPr dirty="0" sz="1400" spc="-5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"ipv6</a:t>
            </a:r>
            <a:r>
              <a:rPr dirty="0" sz="1400" spc="-4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route</a:t>
            </a:r>
            <a:r>
              <a:rPr dirty="0" sz="1400" spc="-5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CAD6DE"/>
                </a:solidFill>
                <a:latin typeface="Tahoma"/>
                <a:cs typeface="Tahoma"/>
              </a:rPr>
              <a:t>[destino/prefijo]</a:t>
            </a:r>
            <a:r>
              <a:rPr dirty="0" sz="1400" spc="-4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[interfaz-salida]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[dirección-siguiente-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salto]".</a:t>
            </a:r>
            <a:r>
              <a:rPr dirty="0" sz="1400" spc="-7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La</a:t>
            </a:r>
            <a:r>
              <a:rPr dirty="0" sz="1400" spc="-7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sintaxis</a:t>
            </a:r>
            <a:r>
              <a:rPr dirty="0" sz="1400" spc="-7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es</a:t>
            </a:r>
            <a:r>
              <a:rPr dirty="0" sz="1400" spc="-7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similar</a:t>
            </a:r>
            <a:r>
              <a:rPr dirty="0" sz="1400" spc="-7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CAD6DE"/>
                </a:solidFill>
                <a:latin typeface="Tahoma"/>
                <a:cs typeface="Tahoma"/>
              </a:rPr>
              <a:t>a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CAD6DE"/>
                </a:solidFill>
                <a:latin typeface="Tahoma"/>
                <a:cs typeface="Tahoma"/>
              </a:rPr>
              <a:t>IPv4,</a:t>
            </a:r>
            <a:r>
              <a:rPr dirty="0" sz="1400" spc="-7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pero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con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direcciones</a:t>
            </a:r>
            <a:r>
              <a:rPr dirty="0" sz="1400" spc="-7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IPv6.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4924425" y="4000500"/>
            <a:ext cx="911225" cy="1616075"/>
          </a:xfrm>
          <a:custGeom>
            <a:avLst/>
            <a:gdLst/>
            <a:ahLst/>
            <a:cxnLst/>
            <a:rect l="l" t="t" r="r" b="b"/>
            <a:pathLst>
              <a:path w="911225" h="1616075">
                <a:moveTo>
                  <a:pt x="910831" y="0"/>
                </a:moveTo>
                <a:lnTo>
                  <a:pt x="455409" y="182168"/>
                </a:lnTo>
                <a:lnTo>
                  <a:pt x="0" y="0"/>
                </a:lnTo>
                <a:lnTo>
                  <a:pt x="0" y="1433512"/>
                </a:lnTo>
                <a:lnTo>
                  <a:pt x="455409" y="1615681"/>
                </a:lnTo>
                <a:lnTo>
                  <a:pt x="910831" y="1433512"/>
                </a:lnTo>
                <a:lnTo>
                  <a:pt x="910831" y="0"/>
                </a:lnTo>
                <a:close/>
              </a:path>
            </a:pathLst>
          </a:custGeom>
          <a:solidFill>
            <a:srgbClr val="2F46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258790" y="4619497"/>
            <a:ext cx="24130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440">
                <a:solidFill>
                  <a:srgbClr val="CAD6DE"/>
                </a:solidFill>
                <a:latin typeface="Yu Gothic"/>
                <a:cs typeface="Yu Gothic"/>
              </a:rPr>
              <a:t>2</a:t>
            </a:r>
            <a:endParaRPr sz="2150">
              <a:latin typeface="Yu Gothic"/>
              <a:cs typeface="Yu Gothic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095205" y="4164012"/>
            <a:ext cx="4291965" cy="12287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85">
                <a:solidFill>
                  <a:srgbClr val="CAD6DE"/>
                </a:solidFill>
                <a:latin typeface="Yu Gothic"/>
                <a:cs typeface="Yu Gothic"/>
              </a:rPr>
              <a:t>VeíifisΘsión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36200"/>
              </a:lnSpc>
              <a:spcBef>
                <a:spcPts val="590"/>
              </a:spcBef>
            </a:pP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Usa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CAD6DE"/>
                </a:solidFill>
                <a:latin typeface="Tahoma"/>
                <a:cs typeface="Tahoma"/>
              </a:rPr>
              <a:t>"show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ipv6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route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CAD6DE"/>
                </a:solidFill>
                <a:latin typeface="Tahoma"/>
                <a:cs typeface="Tahoma"/>
              </a:rPr>
              <a:t>static"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CAD6DE"/>
                </a:solidFill>
                <a:latin typeface="Tahoma"/>
                <a:cs typeface="Tahoma"/>
              </a:rPr>
              <a:t>para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CAD6DE"/>
                </a:solidFill>
                <a:latin typeface="Tahoma"/>
                <a:cs typeface="Tahoma"/>
              </a:rPr>
              <a:t>verificar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CAD6DE"/>
                </a:solidFill>
                <a:latin typeface="Tahoma"/>
                <a:cs typeface="Tahoma"/>
              </a:rPr>
              <a:t>las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rutas </a:t>
            </a:r>
            <a:r>
              <a:rPr dirty="0" sz="1400" spc="-40">
                <a:solidFill>
                  <a:srgbClr val="CAD6DE"/>
                </a:solidFill>
                <a:latin typeface="Tahoma"/>
                <a:cs typeface="Tahoma"/>
              </a:rPr>
              <a:t>configuradas.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CAD6DE"/>
                </a:solidFill>
                <a:latin typeface="Tahoma"/>
                <a:cs typeface="Tahoma"/>
              </a:rPr>
              <a:t>Asegúrate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de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que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aparezcan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en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la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tabla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de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enrutamiento.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4924425" y="5619750"/>
            <a:ext cx="911225" cy="1616075"/>
          </a:xfrm>
          <a:custGeom>
            <a:avLst/>
            <a:gdLst/>
            <a:ahLst/>
            <a:cxnLst/>
            <a:rect l="l" t="t" r="r" b="b"/>
            <a:pathLst>
              <a:path w="911225" h="1616075">
                <a:moveTo>
                  <a:pt x="910831" y="0"/>
                </a:moveTo>
                <a:lnTo>
                  <a:pt x="455409" y="182168"/>
                </a:lnTo>
                <a:lnTo>
                  <a:pt x="0" y="0"/>
                </a:lnTo>
                <a:lnTo>
                  <a:pt x="0" y="1433513"/>
                </a:lnTo>
                <a:lnTo>
                  <a:pt x="455409" y="1615678"/>
                </a:lnTo>
                <a:lnTo>
                  <a:pt x="910831" y="1433513"/>
                </a:lnTo>
                <a:lnTo>
                  <a:pt x="910831" y="0"/>
                </a:lnTo>
                <a:close/>
              </a:path>
            </a:pathLst>
          </a:custGeom>
          <a:solidFill>
            <a:srgbClr val="2F46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5256707" y="6238749"/>
            <a:ext cx="24511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475">
                <a:solidFill>
                  <a:srgbClr val="CAD6DE"/>
                </a:solidFill>
                <a:latin typeface="Yu Gothic"/>
                <a:cs typeface="Yu Gothic"/>
              </a:rPr>
              <a:t>3</a:t>
            </a:r>
            <a:endParaRPr sz="2150">
              <a:latin typeface="Yu Gothic"/>
              <a:cs typeface="Yu Gothic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095205" y="5783263"/>
            <a:ext cx="4610100" cy="12192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29">
                <a:solidFill>
                  <a:srgbClr val="CAD6DE"/>
                </a:solidFill>
                <a:latin typeface="Yu Gothic"/>
                <a:cs typeface="Yu Gothic"/>
              </a:rPr>
              <a:t>Consi®eíΘsiones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36200"/>
              </a:lnSpc>
              <a:spcBef>
                <a:spcPts val="515"/>
              </a:spcBef>
            </a:pPr>
            <a:r>
              <a:rPr dirty="0" sz="1400" spc="-35">
                <a:solidFill>
                  <a:srgbClr val="CAD6DE"/>
                </a:solidFill>
                <a:latin typeface="Tahoma"/>
                <a:cs typeface="Tahoma"/>
              </a:rPr>
              <a:t>Las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CAD6DE"/>
                </a:solidFill>
                <a:latin typeface="Tahoma"/>
                <a:cs typeface="Tahoma"/>
              </a:rPr>
              <a:t>rutas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estáticas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son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ideales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CAD6DE"/>
                </a:solidFill>
                <a:latin typeface="Tahoma"/>
                <a:cs typeface="Tahoma"/>
              </a:rPr>
              <a:t>para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redes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pequeñas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CAD6DE"/>
                </a:solidFill>
                <a:latin typeface="Tahoma"/>
                <a:cs typeface="Tahoma"/>
              </a:rPr>
              <a:t>o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conexiones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punto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CAD6DE"/>
                </a:solidFill>
                <a:latin typeface="Tahoma"/>
                <a:cs typeface="Tahoma"/>
              </a:rPr>
              <a:t>a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punto.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No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se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adaptan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automáticamente </a:t>
            </a:r>
            <a:r>
              <a:rPr dirty="0" sz="1400" spc="-60">
                <a:solidFill>
                  <a:srgbClr val="CAD6DE"/>
                </a:solidFill>
                <a:latin typeface="Tahoma"/>
                <a:cs typeface="Tahoma"/>
              </a:rPr>
              <a:t>a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cambios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en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la</a:t>
            </a:r>
            <a:r>
              <a:rPr dirty="0" sz="1400" spc="-10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topología.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4" name="object 14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72214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8191500"/>
          </a:xfrm>
          <a:custGeom>
            <a:avLst/>
            <a:gdLst/>
            <a:ahLst/>
            <a:cxnLst/>
            <a:rect l="l" t="t" r="r" b="b"/>
            <a:pathLst>
              <a:path w="11430000" h="8191500">
                <a:moveTo>
                  <a:pt x="11430000" y="0"/>
                </a:moveTo>
                <a:lnTo>
                  <a:pt x="0" y="0"/>
                </a:lnTo>
                <a:lnTo>
                  <a:pt x="0" y="8191500"/>
                </a:lnTo>
                <a:lnTo>
                  <a:pt x="11430000" y="81915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0283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81912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540"/>
              <a:t>Implementación</a:t>
            </a:r>
            <a:r>
              <a:rPr dirty="0" spc="-5"/>
              <a:t> </a:t>
            </a:r>
            <a:r>
              <a:rPr dirty="0" spc="585"/>
              <a:t>de </a:t>
            </a:r>
            <a:r>
              <a:rPr dirty="0" spc="550"/>
              <a:t>Redes</a:t>
            </a:r>
            <a:r>
              <a:rPr dirty="0" spc="-40"/>
              <a:t> </a:t>
            </a:r>
            <a:r>
              <a:rPr dirty="0" spc="415"/>
              <a:t>Dual-</a:t>
            </a:r>
            <a:r>
              <a:rPr dirty="0" spc="530"/>
              <a:t>Stack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4924425" y="1847849"/>
            <a:ext cx="5867400" cy="1323975"/>
          </a:xfrm>
          <a:custGeom>
            <a:avLst/>
            <a:gdLst/>
            <a:ahLst/>
            <a:cxnLst/>
            <a:rect l="l" t="t" r="r" b="b"/>
            <a:pathLst>
              <a:path w="5867400" h="1323975">
                <a:moveTo>
                  <a:pt x="5847651" y="0"/>
                </a:moveTo>
                <a:lnTo>
                  <a:pt x="19748" y="0"/>
                </a:lnTo>
                <a:lnTo>
                  <a:pt x="16852" y="571"/>
                </a:lnTo>
                <a:lnTo>
                  <a:pt x="0" y="19748"/>
                </a:lnTo>
                <a:lnTo>
                  <a:pt x="0" y="1301203"/>
                </a:lnTo>
                <a:lnTo>
                  <a:pt x="0" y="1304226"/>
                </a:lnTo>
                <a:lnTo>
                  <a:pt x="19748" y="1323975"/>
                </a:lnTo>
                <a:lnTo>
                  <a:pt x="5847651" y="1323975"/>
                </a:lnTo>
                <a:lnTo>
                  <a:pt x="5867400" y="1304226"/>
                </a:lnTo>
                <a:lnTo>
                  <a:pt x="5867400" y="19748"/>
                </a:lnTo>
                <a:lnTo>
                  <a:pt x="5850547" y="571"/>
                </a:lnTo>
                <a:lnTo>
                  <a:pt x="5847651" y="0"/>
                </a:lnTo>
                <a:close/>
              </a:path>
            </a:pathLst>
          </a:custGeom>
          <a:solidFill>
            <a:srgbClr val="2F46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093296" y="2011362"/>
            <a:ext cx="5345430" cy="933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330">
                <a:solidFill>
                  <a:srgbClr val="CAD6DE"/>
                </a:solidFill>
                <a:latin typeface="Yu Gothic"/>
                <a:cs typeface="Yu Gothic"/>
              </a:rPr>
              <a:t>Concepto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33900"/>
              </a:lnSpc>
              <a:spcBef>
                <a:spcPts val="625"/>
              </a:spcBef>
            </a:pPr>
            <a:r>
              <a:rPr dirty="0" sz="1400" spc="-35">
                <a:solidFill>
                  <a:srgbClr val="CAD6DE"/>
                </a:solidFill>
                <a:latin typeface="Tahoma"/>
                <a:cs typeface="Tahoma"/>
              </a:rPr>
              <a:t>Las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redes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dual-</a:t>
            </a:r>
            <a:r>
              <a:rPr dirty="0" sz="1400" spc="-40">
                <a:solidFill>
                  <a:srgbClr val="CAD6DE"/>
                </a:solidFill>
                <a:latin typeface="Tahoma"/>
                <a:cs typeface="Tahoma"/>
              </a:rPr>
              <a:t>stack</a:t>
            </a:r>
            <a:r>
              <a:rPr dirty="0" sz="1400" spc="-7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ejecutan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simultáneamente</a:t>
            </a:r>
            <a:r>
              <a:rPr dirty="0" sz="1400" spc="-7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IPv4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e</a:t>
            </a:r>
            <a:r>
              <a:rPr dirty="0" sz="1400" spc="-7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CAD6DE"/>
                </a:solidFill>
                <a:latin typeface="Tahoma"/>
                <a:cs typeface="Tahoma"/>
              </a:rPr>
              <a:t>IPv6.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Permiten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una</a:t>
            </a:r>
            <a:r>
              <a:rPr dirty="0" sz="1400" spc="-7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transición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CAD6DE"/>
                </a:solidFill>
                <a:latin typeface="Tahoma"/>
                <a:cs typeface="Tahoma"/>
              </a:rPr>
              <a:t>gradual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y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compatibilidad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con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sistemas</a:t>
            </a:r>
            <a:r>
              <a:rPr dirty="0" sz="1400" spc="-7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legados.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4924425" y="3352800"/>
            <a:ext cx="5867400" cy="1323975"/>
          </a:xfrm>
          <a:custGeom>
            <a:avLst/>
            <a:gdLst/>
            <a:ahLst/>
            <a:cxnLst/>
            <a:rect l="l" t="t" r="r" b="b"/>
            <a:pathLst>
              <a:path w="5867400" h="1323975">
                <a:moveTo>
                  <a:pt x="5847651" y="0"/>
                </a:moveTo>
                <a:lnTo>
                  <a:pt x="19748" y="0"/>
                </a:lnTo>
                <a:lnTo>
                  <a:pt x="16852" y="571"/>
                </a:lnTo>
                <a:lnTo>
                  <a:pt x="0" y="19748"/>
                </a:lnTo>
                <a:lnTo>
                  <a:pt x="0" y="1301203"/>
                </a:lnTo>
                <a:lnTo>
                  <a:pt x="0" y="1304226"/>
                </a:lnTo>
                <a:lnTo>
                  <a:pt x="19748" y="1323975"/>
                </a:lnTo>
                <a:lnTo>
                  <a:pt x="5847651" y="1323975"/>
                </a:lnTo>
                <a:lnTo>
                  <a:pt x="5867400" y="1304226"/>
                </a:lnTo>
                <a:lnTo>
                  <a:pt x="5867400" y="19748"/>
                </a:lnTo>
                <a:lnTo>
                  <a:pt x="5850547" y="571"/>
                </a:lnTo>
                <a:lnTo>
                  <a:pt x="5847651" y="0"/>
                </a:lnTo>
                <a:close/>
              </a:path>
            </a:pathLst>
          </a:custGeom>
          <a:solidFill>
            <a:srgbClr val="2F46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093296" y="3516312"/>
            <a:ext cx="4864100" cy="933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60">
                <a:solidFill>
                  <a:srgbClr val="CAD6DE"/>
                </a:solidFill>
                <a:latin typeface="Yu Gothic"/>
                <a:cs typeface="Yu Gothic"/>
              </a:rPr>
              <a:t>Ventajas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33900"/>
              </a:lnSpc>
              <a:spcBef>
                <a:spcPts val="625"/>
              </a:spcBef>
            </a:pPr>
            <a:r>
              <a:rPr dirty="0" sz="1400" spc="-35">
                <a:solidFill>
                  <a:srgbClr val="CAD6DE"/>
                </a:solidFill>
                <a:latin typeface="Tahoma"/>
                <a:cs typeface="Tahoma"/>
              </a:rPr>
              <a:t>Facilita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la</a:t>
            </a:r>
            <a:r>
              <a:rPr dirty="0" sz="1400" spc="-7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migración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CAD6DE"/>
                </a:solidFill>
                <a:latin typeface="Tahoma"/>
                <a:cs typeface="Tahoma"/>
              </a:rPr>
              <a:t>a</a:t>
            </a:r>
            <a:r>
              <a:rPr dirty="0" sz="1400" spc="-7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IPv6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sin</a:t>
            </a:r>
            <a:r>
              <a:rPr dirty="0" sz="1400" spc="-7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interrumpir</a:t>
            </a:r>
            <a:r>
              <a:rPr dirty="0" sz="1400" spc="-7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servicios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CAD6DE"/>
                </a:solidFill>
                <a:latin typeface="Tahoma"/>
                <a:cs typeface="Tahoma"/>
              </a:rPr>
              <a:t>IPv4.</a:t>
            </a:r>
            <a:r>
              <a:rPr dirty="0" sz="1400" spc="-7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Ofrece flexibilidad</a:t>
            </a:r>
            <a:r>
              <a:rPr dirty="0" sz="1400" spc="-9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CAD6DE"/>
                </a:solidFill>
                <a:latin typeface="Tahoma"/>
                <a:cs typeface="Tahoma"/>
              </a:rPr>
              <a:t>para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comunicarse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con</a:t>
            </a:r>
            <a:r>
              <a:rPr dirty="0" sz="1400" spc="-9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redes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IPv4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e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IPv6.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924425" y="4857750"/>
            <a:ext cx="5867400" cy="1323975"/>
          </a:xfrm>
          <a:custGeom>
            <a:avLst/>
            <a:gdLst/>
            <a:ahLst/>
            <a:cxnLst/>
            <a:rect l="l" t="t" r="r" b="b"/>
            <a:pathLst>
              <a:path w="5867400" h="1323975">
                <a:moveTo>
                  <a:pt x="5847651" y="0"/>
                </a:moveTo>
                <a:lnTo>
                  <a:pt x="19748" y="0"/>
                </a:lnTo>
                <a:lnTo>
                  <a:pt x="16852" y="571"/>
                </a:lnTo>
                <a:lnTo>
                  <a:pt x="0" y="19748"/>
                </a:lnTo>
                <a:lnTo>
                  <a:pt x="0" y="1301203"/>
                </a:lnTo>
                <a:lnTo>
                  <a:pt x="0" y="1304226"/>
                </a:lnTo>
                <a:lnTo>
                  <a:pt x="19748" y="1323975"/>
                </a:lnTo>
                <a:lnTo>
                  <a:pt x="5847651" y="1323975"/>
                </a:lnTo>
                <a:lnTo>
                  <a:pt x="5867400" y="1304226"/>
                </a:lnTo>
                <a:lnTo>
                  <a:pt x="5867400" y="19748"/>
                </a:lnTo>
                <a:lnTo>
                  <a:pt x="5850547" y="571"/>
                </a:lnTo>
                <a:lnTo>
                  <a:pt x="5847651" y="0"/>
                </a:lnTo>
                <a:close/>
              </a:path>
            </a:pathLst>
          </a:custGeom>
          <a:solidFill>
            <a:srgbClr val="2F46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093296" y="5021262"/>
            <a:ext cx="5445125" cy="933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70">
                <a:solidFill>
                  <a:srgbClr val="CAD6DE"/>
                </a:solidFill>
                <a:latin typeface="Yu Gothic"/>
                <a:cs typeface="Yu Gothic"/>
              </a:rPr>
              <a:t>Desafíos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33900"/>
              </a:lnSpc>
              <a:spcBef>
                <a:spcPts val="625"/>
              </a:spcBef>
            </a:pP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Requiere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más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CAD6DE"/>
                </a:solidFill>
                <a:latin typeface="Tahoma"/>
                <a:cs typeface="Tahoma"/>
              </a:rPr>
              <a:t>recursos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de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memoria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y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procesamiento.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La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gestión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de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dos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protocolos</a:t>
            </a:r>
            <a:r>
              <a:rPr dirty="0" sz="1400" spc="-9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aumenta</a:t>
            </a:r>
            <a:r>
              <a:rPr dirty="0" sz="1400" spc="-9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la</a:t>
            </a:r>
            <a:r>
              <a:rPr dirty="0" sz="1400" spc="-9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complejidad</a:t>
            </a:r>
            <a:r>
              <a:rPr dirty="0" sz="1400" spc="-9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de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la</a:t>
            </a:r>
            <a:r>
              <a:rPr dirty="0" sz="1400" spc="-9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red.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4924425" y="6362700"/>
            <a:ext cx="5867400" cy="1323975"/>
          </a:xfrm>
          <a:custGeom>
            <a:avLst/>
            <a:gdLst/>
            <a:ahLst/>
            <a:cxnLst/>
            <a:rect l="l" t="t" r="r" b="b"/>
            <a:pathLst>
              <a:path w="5867400" h="1323975">
                <a:moveTo>
                  <a:pt x="5847651" y="0"/>
                </a:moveTo>
                <a:lnTo>
                  <a:pt x="19748" y="0"/>
                </a:lnTo>
                <a:lnTo>
                  <a:pt x="16852" y="571"/>
                </a:lnTo>
                <a:lnTo>
                  <a:pt x="0" y="19748"/>
                </a:lnTo>
                <a:lnTo>
                  <a:pt x="0" y="1301205"/>
                </a:lnTo>
                <a:lnTo>
                  <a:pt x="0" y="1304221"/>
                </a:lnTo>
                <a:lnTo>
                  <a:pt x="19748" y="1323971"/>
                </a:lnTo>
                <a:lnTo>
                  <a:pt x="5847651" y="1323971"/>
                </a:lnTo>
                <a:lnTo>
                  <a:pt x="5867400" y="1304221"/>
                </a:lnTo>
                <a:lnTo>
                  <a:pt x="5867400" y="19748"/>
                </a:lnTo>
                <a:lnTo>
                  <a:pt x="5850547" y="571"/>
                </a:lnTo>
                <a:lnTo>
                  <a:pt x="5847651" y="0"/>
                </a:lnTo>
                <a:close/>
              </a:path>
            </a:pathLst>
          </a:custGeom>
          <a:solidFill>
            <a:srgbClr val="2F46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5093296" y="6526212"/>
            <a:ext cx="5436235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75">
                <a:solidFill>
                  <a:srgbClr val="CAD6DE"/>
                </a:solidFill>
                <a:latin typeface="Yu Gothic"/>
                <a:cs typeface="Yu Gothic"/>
              </a:rPr>
              <a:t>Implementación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38400"/>
              </a:lnSpc>
              <a:spcBef>
                <a:spcPts val="550"/>
              </a:spcBef>
            </a:pP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Configura</a:t>
            </a:r>
            <a:r>
              <a:rPr dirty="0" sz="1400" spc="-7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interfaces</a:t>
            </a:r>
            <a:r>
              <a:rPr dirty="0" sz="1400" spc="-7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con</a:t>
            </a:r>
            <a:r>
              <a:rPr dirty="0" sz="1400" spc="-7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direcciones</a:t>
            </a:r>
            <a:r>
              <a:rPr dirty="0" sz="1400" spc="-7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IPv4</a:t>
            </a:r>
            <a:r>
              <a:rPr dirty="0" sz="1400" spc="-7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e</a:t>
            </a:r>
            <a:r>
              <a:rPr dirty="0" sz="1400" spc="-7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CAD6DE"/>
                </a:solidFill>
                <a:latin typeface="Tahoma"/>
                <a:cs typeface="Tahoma"/>
              </a:rPr>
              <a:t>IPv6.</a:t>
            </a:r>
            <a:r>
              <a:rPr dirty="0" sz="1400" spc="-7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Habilita</a:t>
            </a:r>
            <a:r>
              <a:rPr dirty="0" sz="1400" spc="-7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enrutamiento </a:t>
            </a:r>
            <a:r>
              <a:rPr dirty="0" sz="1400" spc="-45">
                <a:solidFill>
                  <a:srgbClr val="CAD6DE"/>
                </a:solidFill>
                <a:latin typeface="Tahoma"/>
                <a:cs typeface="Tahoma"/>
              </a:rPr>
              <a:t>para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ambos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protocolos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en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los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dispositivos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de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red.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3" name="object 13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76786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667500"/>
          </a:xfrm>
          <a:custGeom>
            <a:avLst/>
            <a:gdLst/>
            <a:ahLst/>
            <a:cxnLst/>
            <a:rect l="l" t="t" r="r" b="b"/>
            <a:pathLst>
              <a:path w="11430000" h="6667500">
                <a:moveTo>
                  <a:pt x="11430000" y="0"/>
                </a:moveTo>
                <a:lnTo>
                  <a:pt x="0" y="0"/>
                </a:lnTo>
                <a:lnTo>
                  <a:pt x="0" y="6667500"/>
                </a:lnTo>
                <a:lnTo>
                  <a:pt x="11430000" y="66675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0283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7143750" y="253"/>
            <a:ext cx="4286250" cy="6667500"/>
            <a:chOff x="7143750" y="253"/>
            <a:chExt cx="4286250" cy="66675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667245"/>
            </a:xfrm>
            <a:prstGeom prst="rect">
              <a:avLst/>
            </a:prstGeom>
          </p:spPr>
        </p:pic>
        <p:pic>
          <p:nvPicPr>
            <p:cNvPr id="5" name="object 5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6154673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4879" y="492125"/>
            <a:ext cx="4498975" cy="1616075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115"/>
              </a:spcBef>
            </a:pPr>
            <a:r>
              <a:rPr dirty="0" spc="345"/>
              <a:t>Confi➆uíΘsión</a:t>
            </a:r>
            <a:r>
              <a:rPr dirty="0" spc="-55"/>
              <a:t> </a:t>
            </a:r>
            <a:r>
              <a:rPr dirty="0" spc="555"/>
              <a:t>®e </a:t>
            </a:r>
            <a:r>
              <a:rPr dirty="0" spc="490"/>
              <a:t>Ðispositivos</a:t>
            </a:r>
            <a:r>
              <a:rPr dirty="0" spc="-40"/>
              <a:t> </a:t>
            </a:r>
            <a:r>
              <a:rPr dirty="0" spc="-20"/>
              <a:t>pΘíΘ</a:t>
            </a: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670"/>
              <a:t>Sopoíte</a:t>
            </a:r>
            <a:r>
              <a:rPr dirty="0" spc="-55"/>
              <a:t> </a:t>
            </a:r>
            <a:r>
              <a:rPr dirty="0" spc="350"/>
              <a:t>IPvG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642937" y="2395537"/>
            <a:ext cx="5857875" cy="3762375"/>
          </a:xfrm>
          <a:custGeom>
            <a:avLst/>
            <a:gdLst/>
            <a:ahLst/>
            <a:cxnLst/>
            <a:rect l="l" t="t" r="r" b="b"/>
            <a:pathLst>
              <a:path w="5857875" h="3762375">
                <a:moveTo>
                  <a:pt x="0" y="3744367"/>
                </a:moveTo>
                <a:lnTo>
                  <a:pt x="0" y="18008"/>
                </a:lnTo>
                <a:lnTo>
                  <a:pt x="0" y="15621"/>
                </a:lnTo>
                <a:lnTo>
                  <a:pt x="455" y="13322"/>
                </a:lnTo>
                <a:lnTo>
                  <a:pt x="11117" y="1371"/>
                </a:lnTo>
                <a:lnTo>
                  <a:pt x="13324" y="457"/>
                </a:lnTo>
                <a:lnTo>
                  <a:pt x="15622" y="0"/>
                </a:lnTo>
                <a:lnTo>
                  <a:pt x="18008" y="0"/>
                </a:lnTo>
                <a:lnTo>
                  <a:pt x="5839866" y="0"/>
                </a:lnTo>
                <a:lnTo>
                  <a:pt x="5842254" y="0"/>
                </a:lnTo>
                <a:lnTo>
                  <a:pt x="5844552" y="457"/>
                </a:lnTo>
                <a:lnTo>
                  <a:pt x="5846762" y="1371"/>
                </a:lnTo>
                <a:lnTo>
                  <a:pt x="5848959" y="2286"/>
                </a:lnTo>
                <a:lnTo>
                  <a:pt x="5850915" y="3581"/>
                </a:lnTo>
                <a:lnTo>
                  <a:pt x="5852604" y="5270"/>
                </a:lnTo>
                <a:lnTo>
                  <a:pt x="5854293" y="6959"/>
                </a:lnTo>
                <a:lnTo>
                  <a:pt x="5855589" y="8915"/>
                </a:lnTo>
                <a:lnTo>
                  <a:pt x="5856503" y="11112"/>
                </a:lnTo>
                <a:lnTo>
                  <a:pt x="5857417" y="13322"/>
                </a:lnTo>
                <a:lnTo>
                  <a:pt x="5857875" y="15621"/>
                </a:lnTo>
                <a:lnTo>
                  <a:pt x="5857875" y="18008"/>
                </a:lnTo>
                <a:lnTo>
                  <a:pt x="5857875" y="3744367"/>
                </a:lnTo>
                <a:lnTo>
                  <a:pt x="5857875" y="3746754"/>
                </a:lnTo>
                <a:lnTo>
                  <a:pt x="5857417" y="3749051"/>
                </a:lnTo>
                <a:lnTo>
                  <a:pt x="5856503" y="3751258"/>
                </a:lnTo>
                <a:lnTo>
                  <a:pt x="5855589" y="3753460"/>
                </a:lnTo>
                <a:lnTo>
                  <a:pt x="5854293" y="3755410"/>
                </a:lnTo>
                <a:lnTo>
                  <a:pt x="5852604" y="3757098"/>
                </a:lnTo>
                <a:lnTo>
                  <a:pt x="5850915" y="3758789"/>
                </a:lnTo>
                <a:lnTo>
                  <a:pt x="5839866" y="3762376"/>
                </a:lnTo>
                <a:lnTo>
                  <a:pt x="18008" y="3762376"/>
                </a:lnTo>
                <a:lnTo>
                  <a:pt x="0" y="3746754"/>
                </a:lnTo>
                <a:lnTo>
                  <a:pt x="0" y="3744367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647700" y="2400299"/>
          <a:ext cx="5924550" cy="3752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8620"/>
                <a:gridCol w="2919095"/>
              </a:tblGrid>
              <a:tr h="523875"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400" spc="-1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Comando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R w="9525">
                      <a:solidFill>
                        <a:srgbClr val="102836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400" spc="-1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Función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102836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-10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ipv6</a:t>
                      </a:r>
                      <a:r>
                        <a:rPr dirty="0" sz="1400" spc="-10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1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unicast-</a:t>
                      </a:r>
                      <a:r>
                        <a:rPr dirty="0" sz="1400" spc="-1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routing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46050">
                    <a:lnR w="9525">
                      <a:solidFill>
                        <a:srgbClr val="102836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1610" marR="671195">
                        <a:lnSpc>
                          <a:spcPct val="133900"/>
                        </a:lnSpc>
                        <a:spcBef>
                          <a:spcPts val="580"/>
                        </a:spcBef>
                      </a:pPr>
                      <a:r>
                        <a:rPr dirty="0" sz="1400" spc="-10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Habilita</a:t>
                      </a:r>
                      <a:r>
                        <a:rPr dirty="0" sz="1400" spc="-11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14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enrutamiento</a:t>
                      </a:r>
                      <a:r>
                        <a:rPr dirty="0" sz="1400" spc="-10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8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IPv6 </a:t>
                      </a:r>
                      <a:r>
                        <a:rPr dirty="0" sz="1400" spc="-1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global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73660">
                    <a:lnL w="9525">
                      <a:solidFill>
                        <a:srgbClr val="102836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-10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ipv6</a:t>
                      </a:r>
                      <a:r>
                        <a:rPr dirty="0" sz="1400" spc="-15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enable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46050">
                    <a:lnR w="9525">
                      <a:solidFill>
                        <a:srgbClr val="102836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-114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Activa</a:t>
                      </a:r>
                      <a:r>
                        <a:rPr dirty="0" sz="1400" spc="-15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2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IPv6</a:t>
                      </a:r>
                      <a:r>
                        <a:rPr dirty="0" sz="1400" spc="-14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1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dirty="0" sz="1400" spc="-14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4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una</a:t>
                      </a:r>
                      <a:r>
                        <a:rPr dirty="0" sz="1400" spc="-14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interfaz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46050">
                    <a:lnL w="9525">
                      <a:solidFill>
                        <a:srgbClr val="102836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400" spc="-10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ipv6</a:t>
                      </a:r>
                      <a:r>
                        <a:rPr dirty="0" sz="1400" spc="-15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address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R w="9525">
                      <a:solidFill>
                        <a:srgbClr val="102836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400" spc="-13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Asigna</a:t>
                      </a:r>
                      <a:r>
                        <a:rPr dirty="0" sz="1400" spc="-14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0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dirección</a:t>
                      </a:r>
                      <a:r>
                        <a:rPr dirty="0" sz="1400" spc="-15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2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IPv6</a:t>
                      </a:r>
                      <a:r>
                        <a:rPr dirty="0" sz="1400" spc="-14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6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400" spc="-14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interfaz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102836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-10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ipv6</a:t>
                      </a:r>
                      <a:r>
                        <a:rPr dirty="0" sz="1400" spc="-14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3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router</a:t>
                      </a:r>
                      <a:r>
                        <a:rPr dirty="0" sz="1400" spc="-13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ospf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46050">
                    <a:lnR w="9525">
                      <a:solidFill>
                        <a:srgbClr val="102836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-12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Configura</a:t>
                      </a:r>
                      <a:r>
                        <a:rPr dirty="0" sz="1400" spc="-10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14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proceso</a:t>
                      </a:r>
                      <a:r>
                        <a:rPr dirty="0" sz="1400" spc="-10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OSPFv3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46050">
                    <a:lnL w="9525">
                      <a:solidFill>
                        <a:srgbClr val="102836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400" spc="-12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show</a:t>
                      </a:r>
                      <a:r>
                        <a:rPr dirty="0" sz="1400" spc="-14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0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ipv6</a:t>
                      </a:r>
                      <a:r>
                        <a:rPr dirty="0" sz="1400" spc="-13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1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interface</a:t>
                      </a:r>
                      <a:r>
                        <a:rPr dirty="0" sz="1400" spc="-14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brief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R w="9525">
                      <a:solidFill>
                        <a:srgbClr val="102836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1610" marR="377190">
                        <a:lnSpc>
                          <a:spcPct val="138400"/>
                        </a:lnSpc>
                        <a:spcBef>
                          <a:spcPts val="430"/>
                        </a:spcBef>
                      </a:pPr>
                      <a:r>
                        <a:rPr dirty="0" sz="1400" spc="-12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Muestra</a:t>
                      </a:r>
                      <a:r>
                        <a:rPr dirty="0" sz="1400" spc="-13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resumen </a:t>
                      </a:r>
                      <a:r>
                        <a:rPr dirty="0" sz="1400" spc="-11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400" spc="-13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95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interfaces </a:t>
                      </a:r>
                      <a:r>
                        <a:rPr dirty="0" sz="1400" spc="-20">
                          <a:solidFill>
                            <a:srgbClr val="CAD6DE"/>
                          </a:solidFill>
                          <a:latin typeface="Verdana"/>
                          <a:cs typeface="Verdana"/>
                        </a:rPr>
                        <a:t>IPv6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4610">
                    <a:lnL w="9525">
                      <a:solidFill>
                        <a:srgbClr val="102836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10915650"/>
          </a:xfrm>
          <a:custGeom>
            <a:avLst/>
            <a:gdLst/>
            <a:ahLst/>
            <a:cxnLst/>
            <a:rect l="l" t="t" r="r" b="b"/>
            <a:pathLst>
              <a:path w="11430000" h="10915650">
                <a:moveTo>
                  <a:pt x="11430000" y="0"/>
                </a:moveTo>
                <a:lnTo>
                  <a:pt x="0" y="0"/>
                </a:lnTo>
                <a:lnTo>
                  <a:pt x="0" y="10915650"/>
                </a:lnTo>
                <a:lnTo>
                  <a:pt x="11430000" y="109156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0283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7143750" y="253"/>
            <a:ext cx="4286250" cy="10915650"/>
            <a:chOff x="7143750" y="253"/>
            <a:chExt cx="4286250" cy="1091565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10915396"/>
            </a:xfrm>
            <a:prstGeom prst="rect">
              <a:avLst/>
            </a:prstGeom>
          </p:spPr>
        </p:pic>
        <p:pic>
          <p:nvPicPr>
            <p:cNvPr id="5" name="object 5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10406633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4879" y="492125"/>
            <a:ext cx="4782820" cy="16065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505"/>
              <a:t>Evaluación</a:t>
            </a:r>
            <a:r>
              <a:rPr dirty="0" spc="-25"/>
              <a:t> </a:t>
            </a:r>
            <a:r>
              <a:rPr dirty="0" spc="585"/>
              <a:t>de </a:t>
            </a:r>
            <a:r>
              <a:rPr dirty="0" spc="530"/>
              <a:t>Conocimientos: </a:t>
            </a:r>
            <a:r>
              <a:rPr dirty="0" spc="595"/>
              <a:t>Eníutamiento</a:t>
            </a:r>
            <a:r>
              <a:rPr dirty="0" spc="-65"/>
              <a:t> </a:t>
            </a:r>
            <a:r>
              <a:rPr dirty="0" spc="350"/>
              <a:t>IPvG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737795" y="2409710"/>
            <a:ext cx="256540" cy="391795"/>
          </a:xfrm>
          <a:custGeom>
            <a:avLst/>
            <a:gdLst/>
            <a:ahLst/>
            <a:cxnLst/>
            <a:rect l="l" t="t" r="r" b="b"/>
            <a:pathLst>
              <a:path w="256540" h="391794">
                <a:moveTo>
                  <a:pt x="215585" y="28460"/>
                </a:moveTo>
                <a:lnTo>
                  <a:pt x="142320" y="28460"/>
                </a:lnTo>
                <a:lnTo>
                  <a:pt x="175548" y="35174"/>
                </a:lnTo>
                <a:lnTo>
                  <a:pt x="202690" y="53479"/>
                </a:lnTo>
                <a:lnTo>
                  <a:pt x="220994" y="80624"/>
                </a:lnTo>
                <a:lnTo>
                  <a:pt x="227707" y="113855"/>
                </a:lnTo>
                <a:lnTo>
                  <a:pt x="225774" y="130318"/>
                </a:lnTo>
                <a:lnTo>
                  <a:pt x="220181" y="145688"/>
                </a:lnTo>
                <a:lnTo>
                  <a:pt x="211236" y="159371"/>
                </a:lnTo>
                <a:lnTo>
                  <a:pt x="199246" y="170776"/>
                </a:lnTo>
                <a:lnTo>
                  <a:pt x="145162" y="211340"/>
                </a:lnTo>
                <a:lnTo>
                  <a:pt x="131940" y="223892"/>
                </a:lnTo>
                <a:lnTo>
                  <a:pt x="122103" y="238952"/>
                </a:lnTo>
                <a:lnTo>
                  <a:pt x="115969" y="255862"/>
                </a:lnTo>
                <a:lnTo>
                  <a:pt x="113854" y="273964"/>
                </a:lnTo>
                <a:lnTo>
                  <a:pt x="113854" y="292468"/>
                </a:lnTo>
                <a:lnTo>
                  <a:pt x="120258" y="298869"/>
                </a:lnTo>
                <a:lnTo>
                  <a:pt x="135915" y="298869"/>
                </a:lnTo>
                <a:lnTo>
                  <a:pt x="142320" y="292468"/>
                </a:lnTo>
                <a:lnTo>
                  <a:pt x="142320" y="273964"/>
                </a:lnTo>
                <a:lnTo>
                  <a:pt x="143669" y="262458"/>
                </a:lnTo>
                <a:lnTo>
                  <a:pt x="147578" y="251704"/>
                </a:lnTo>
                <a:lnTo>
                  <a:pt x="153838" y="242117"/>
                </a:lnTo>
                <a:lnTo>
                  <a:pt x="162242" y="234111"/>
                </a:lnTo>
                <a:lnTo>
                  <a:pt x="216321" y="193548"/>
                </a:lnTo>
                <a:lnTo>
                  <a:pt x="233130" y="177559"/>
                </a:lnTo>
                <a:lnTo>
                  <a:pt x="245653" y="158407"/>
                </a:lnTo>
                <a:lnTo>
                  <a:pt x="253473" y="136901"/>
                </a:lnTo>
                <a:lnTo>
                  <a:pt x="256172" y="113855"/>
                </a:lnTo>
                <a:lnTo>
                  <a:pt x="247226" y="69533"/>
                </a:lnTo>
                <a:lnTo>
                  <a:pt x="222828" y="33343"/>
                </a:lnTo>
                <a:lnTo>
                  <a:pt x="215585" y="28460"/>
                </a:lnTo>
                <a:close/>
              </a:path>
              <a:path w="256540" h="391794">
                <a:moveTo>
                  <a:pt x="142320" y="0"/>
                </a:moveTo>
                <a:lnTo>
                  <a:pt x="113854" y="0"/>
                </a:lnTo>
                <a:lnTo>
                  <a:pt x="69534" y="8945"/>
                </a:lnTo>
                <a:lnTo>
                  <a:pt x="33345" y="33343"/>
                </a:lnTo>
                <a:lnTo>
                  <a:pt x="8946" y="69533"/>
                </a:lnTo>
                <a:lnTo>
                  <a:pt x="0" y="113855"/>
                </a:lnTo>
                <a:lnTo>
                  <a:pt x="0" y="121678"/>
                </a:lnTo>
                <a:lnTo>
                  <a:pt x="6404" y="128092"/>
                </a:lnTo>
                <a:lnTo>
                  <a:pt x="22062" y="128092"/>
                </a:lnTo>
                <a:lnTo>
                  <a:pt x="28465" y="121678"/>
                </a:lnTo>
                <a:lnTo>
                  <a:pt x="28465" y="113855"/>
                </a:lnTo>
                <a:lnTo>
                  <a:pt x="35178" y="80624"/>
                </a:lnTo>
                <a:lnTo>
                  <a:pt x="53483" y="53479"/>
                </a:lnTo>
                <a:lnTo>
                  <a:pt x="80625" y="35174"/>
                </a:lnTo>
                <a:lnTo>
                  <a:pt x="113854" y="28460"/>
                </a:lnTo>
                <a:lnTo>
                  <a:pt x="215585" y="28460"/>
                </a:lnTo>
                <a:lnTo>
                  <a:pt x="186639" y="8945"/>
                </a:lnTo>
                <a:lnTo>
                  <a:pt x="142320" y="0"/>
                </a:lnTo>
                <a:close/>
              </a:path>
              <a:path w="256540" h="391794">
                <a:moveTo>
                  <a:pt x="130919" y="348678"/>
                </a:moveTo>
                <a:lnTo>
                  <a:pt x="125253" y="348678"/>
                </a:lnTo>
                <a:lnTo>
                  <a:pt x="122530" y="349224"/>
                </a:lnTo>
                <a:lnTo>
                  <a:pt x="106739" y="367195"/>
                </a:lnTo>
                <a:lnTo>
                  <a:pt x="106739" y="372859"/>
                </a:lnTo>
                <a:lnTo>
                  <a:pt x="125253" y="391375"/>
                </a:lnTo>
                <a:lnTo>
                  <a:pt x="130919" y="391375"/>
                </a:lnTo>
                <a:lnTo>
                  <a:pt x="149433" y="372859"/>
                </a:lnTo>
                <a:lnTo>
                  <a:pt x="149433" y="367195"/>
                </a:lnTo>
                <a:lnTo>
                  <a:pt x="130919" y="348678"/>
                </a:lnTo>
                <a:close/>
              </a:path>
            </a:pathLst>
          </a:custGeom>
          <a:solidFill>
            <a:srgbClr val="0997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24879" y="3001962"/>
            <a:ext cx="5594985" cy="933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50">
                <a:solidFill>
                  <a:srgbClr val="CAD6DE"/>
                </a:solidFill>
                <a:latin typeface="Yu Gothic"/>
                <a:cs typeface="Yu Gothic"/>
              </a:rPr>
              <a:t>Beneficios</a:t>
            </a:r>
            <a:r>
              <a:rPr dirty="0" sz="1650" spc="5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215">
                <a:solidFill>
                  <a:srgbClr val="CAD6DE"/>
                </a:solidFill>
                <a:latin typeface="Yu Gothic"/>
                <a:cs typeface="Yu Gothic"/>
              </a:rPr>
              <a:t>del</a:t>
            </a:r>
            <a:r>
              <a:rPr dirty="0" sz="1650" spc="5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305">
                <a:solidFill>
                  <a:srgbClr val="CAD6DE"/>
                </a:solidFill>
                <a:latin typeface="Yu Gothic"/>
                <a:cs typeface="Yu Gothic"/>
              </a:rPr>
              <a:t>Eníutamiento</a:t>
            </a:r>
            <a:r>
              <a:rPr dirty="0" sz="1650" spc="5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265">
                <a:solidFill>
                  <a:srgbClr val="CAD6DE"/>
                </a:solidFill>
                <a:latin typeface="Yu Gothic"/>
                <a:cs typeface="Yu Gothic"/>
              </a:rPr>
              <a:t>Dinámico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33900"/>
              </a:lnSpc>
              <a:spcBef>
                <a:spcPts val="625"/>
              </a:spcBef>
            </a:pPr>
            <a:r>
              <a:rPr dirty="0" sz="1400" spc="-40">
                <a:solidFill>
                  <a:srgbClr val="CAD6DE"/>
                </a:solidFill>
                <a:latin typeface="Tahoma"/>
                <a:cs typeface="Tahoma"/>
              </a:rPr>
              <a:t>¿Cuáles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son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CAD6DE"/>
                </a:solidFill>
                <a:latin typeface="Tahoma"/>
                <a:cs typeface="Tahoma"/>
              </a:rPr>
              <a:t>las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CAD6DE"/>
                </a:solidFill>
                <a:latin typeface="Tahoma"/>
                <a:cs typeface="Tahoma"/>
              </a:rPr>
              <a:t>ventajas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de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CAD6DE"/>
                </a:solidFill>
                <a:latin typeface="Tahoma"/>
                <a:cs typeface="Tahoma"/>
              </a:rPr>
              <a:t>usar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protocolos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de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enrutamiento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dinámico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en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redes</a:t>
            </a:r>
            <a:r>
              <a:rPr dirty="0" sz="1400" spc="-9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IPv6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grandes?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638175" y="4524374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29">
                <a:moveTo>
                  <a:pt x="370020" y="0"/>
                </a:moveTo>
                <a:lnTo>
                  <a:pt x="336792" y="6711"/>
                </a:lnTo>
                <a:lnTo>
                  <a:pt x="309650" y="25014"/>
                </a:lnTo>
                <a:lnTo>
                  <a:pt x="291346" y="52158"/>
                </a:lnTo>
                <a:lnTo>
                  <a:pt x="284633" y="85394"/>
                </a:lnTo>
                <a:lnTo>
                  <a:pt x="289882" y="113187"/>
                </a:lnTo>
                <a:lnTo>
                  <a:pt x="303278" y="143182"/>
                </a:lnTo>
                <a:lnTo>
                  <a:pt x="321295" y="172745"/>
                </a:lnTo>
                <a:lnTo>
                  <a:pt x="340404" y="199237"/>
                </a:lnTo>
                <a:lnTo>
                  <a:pt x="298866" y="199237"/>
                </a:lnTo>
                <a:lnTo>
                  <a:pt x="271161" y="204828"/>
                </a:lnTo>
                <a:lnTo>
                  <a:pt x="248543" y="220076"/>
                </a:lnTo>
                <a:lnTo>
                  <a:pt x="233297" y="242694"/>
                </a:lnTo>
                <a:lnTo>
                  <a:pt x="227707" y="270395"/>
                </a:lnTo>
                <a:lnTo>
                  <a:pt x="233297" y="298103"/>
                </a:lnTo>
                <a:lnTo>
                  <a:pt x="248543" y="320725"/>
                </a:lnTo>
                <a:lnTo>
                  <a:pt x="271161" y="335975"/>
                </a:lnTo>
                <a:lnTo>
                  <a:pt x="298866" y="341566"/>
                </a:lnTo>
                <a:lnTo>
                  <a:pt x="384255" y="341566"/>
                </a:lnTo>
                <a:lnTo>
                  <a:pt x="400871" y="344921"/>
                </a:lnTo>
                <a:lnTo>
                  <a:pt x="414441" y="354069"/>
                </a:lnTo>
                <a:lnTo>
                  <a:pt x="423592" y="367637"/>
                </a:lnTo>
                <a:lnTo>
                  <a:pt x="426948" y="384251"/>
                </a:lnTo>
                <a:lnTo>
                  <a:pt x="423592" y="400866"/>
                </a:lnTo>
                <a:lnTo>
                  <a:pt x="414441" y="414439"/>
                </a:lnTo>
                <a:lnTo>
                  <a:pt x="400871" y="423591"/>
                </a:lnTo>
                <a:lnTo>
                  <a:pt x="384255" y="426948"/>
                </a:lnTo>
                <a:lnTo>
                  <a:pt x="147652" y="426948"/>
                </a:lnTo>
                <a:lnTo>
                  <a:pt x="141432" y="434913"/>
                </a:lnTo>
                <a:lnTo>
                  <a:pt x="135378" y="442350"/>
                </a:lnTo>
                <a:lnTo>
                  <a:pt x="129591" y="449201"/>
                </a:lnTo>
                <a:lnTo>
                  <a:pt x="124171" y="455409"/>
                </a:lnTo>
                <a:lnTo>
                  <a:pt x="384255" y="455409"/>
                </a:lnTo>
                <a:lnTo>
                  <a:pt x="411959" y="449820"/>
                </a:lnTo>
                <a:lnTo>
                  <a:pt x="434577" y="434574"/>
                </a:lnTo>
                <a:lnTo>
                  <a:pt x="449824" y="411957"/>
                </a:lnTo>
                <a:lnTo>
                  <a:pt x="455414" y="384251"/>
                </a:lnTo>
                <a:lnTo>
                  <a:pt x="449824" y="356550"/>
                </a:lnTo>
                <a:lnTo>
                  <a:pt x="434577" y="333932"/>
                </a:lnTo>
                <a:lnTo>
                  <a:pt x="411959" y="318684"/>
                </a:lnTo>
                <a:lnTo>
                  <a:pt x="384255" y="313093"/>
                </a:lnTo>
                <a:lnTo>
                  <a:pt x="298866" y="313093"/>
                </a:lnTo>
                <a:lnTo>
                  <a:pt x="282249" y="309736"/>
                </a:lnTo>
                <a:lnTo>
                  <a:pt x="268677" y="300583"/>
                </a:lnTo>
                <a:lnTo>
                  <a:pt x="259524" y="287011"/>
                </a:lnTo>
                <a:lnTo>
                  <a:pt x="256167" y="270395"/>
                </a:lnTo>
                <a:lnTo>
                  <a:pt x="259524" y="253787"/>
                </a:lnTo>
                <a:lnTo>
                  <a:pt x="268677" y="240218"/>
                </a:lnTo>
                <a:lnTo>
                  <a:pt x="282249" y="231067"/>
                </a:lnTo>
                <a:lnTo>
                  <a:pt x="298866" y="227711"/>
                </a:lnTo>
                <a:lnTo>
                  <a:pt x="375025" y="227711"/>
                </a:lnTo>
                <a:lnTo>
                  <a:pt x="376783" y="227177"/>
                </a:lnTo>
                <a:lnTo>
                  <a:pt x="380161" y="223253"/>
                </a:lnTo>
                <a:lnTo>
                  <a:pt x="401490" y="196773"/>
                </a:lnTo>
                <a:lnTo>
                  <a:pt x="405587" y="190881"/>
                </a:lnTo>
                <a:lnTo>
                  <a:pt x="370020" y="190881"/>
                </a:lnTo>
                <a:lnTo>
                  <a:pt x="362303" y="181002"/>
                </a:lnTo>
                <a:lnTo>
                  <a:pt x="337913" y="146050"/>
                </a:lnTo>
                <a:lnTo>
                  <a:pt x="319565" y="111283"/>
                </a:lnTo>
                <a:lnTo>
                  <a:pt x="313094" y="85394"/>
                </a:lnTo>
                <a:lnTo>
                  <a:pt x="317573" y="63248"/>
                </a:lnTo>
                <a:lnTo>
                  <a:pt x="329783" y="45150"/>
                </a:lnTo>
                <a:lnTo>
                  <a:pt x="347880" y="32940"/>
                </a:lnTo>
                <a:lnTo>
                  <a:pt x="370020" y="28460"/>
                </a:lnTo>
                <a:lnTo>
                  <a:pt x="432721" y="28460"/>
                </a:lnTo>
                <a:lnTo>
                  <a:pt x="430396" y="25014"/>
                </a:lnTo>
                <a:lnTo>
                  <a:pt x="403252" y="6711"/>
                </a:lnTo>
                <a:lnTo>
                  <a:pt x="370020" y="0"/>
                </a:lnTo>
                <a:close/>
              </a:path>
              <a:path w="455930" h="455929">
                <a:moveTo>
                  <a:pt x="85387" y="227711"/>
                </a:moveTo>
                <a:lnTo>
                  <a:pt x="52158" y="234422"/>
                </a:lnTo>
                <a:lnTo>
                  <a:pt x="25016" y="252723"/>
                </a:lnTo>
                <a:lnTo>
                  <a:pt x="6712" y="279863"/>
                </a:lnTo>
                <a:lnTo>
                  <a:pt x="0" y="313093"/>
                </a:lnTo>
                <a:lnTo>
                  <a:pt x="8661" y="349242"/>
                </a:lnTo>
                <a:lnTo>
                  <a:pt x="29397" y="386800"/>
                </a:lnTo>
                <a:lnTo>
                  <a:pt x="54335" y="420506"/>
                </a:lnTo>
                <a:lnTo>
                  <a:pt x="75604" y="445096"/>
                </a:lnTo>
                <a:lnTo>
                  <a:pt x="80942" y="450875"/>
                </a:lnTo>
                <a:lnTo>
                  <a:pt x="89837" y="450875"/>
                </a:lnTo>
                <a:lnTo>
                  <a:pt x="95086" y="445096"/>
                </a:lnTo>
                <a:lnTo>
                  <a:pt x="96509" y="443585"/>
                </a:lnTo>
                <a:lnTo>
                  <a:pt x="103003" y="436384"/>
                </a:lnTo>
                <a:lnTo>
                  <a:pt x="104780" y="434238"/>
                </a:lnTo>
                <a:lnTo>
                  <a:pt x="106739" y="432015"/>
                </a:lnTo>
                <a:lnTo>
                  <a:pt x="108694" y="429704"/>
                </a:lnTo>
                <a:lnTo>
                  <a:pt x="110737" y="427215"/>
                </a:lnTo>
                <a:lnTo>
                  <a:pt x="121839" y="413258"/>
                </a:lnTo>
                <a:lnTo>
                  <a:pt x="85387" y="413258"/>
                </a:lnTo>
                <a:lnTo>
                  <a:pt x="77655" y="404051"/>
                </a:lnTo>
                <a:lnTo>
                  <a:pt x="53191" y="371094"/>
                </a:lnTo>
                <a:lnTo>
                  <a:pt x="30086" y="324422"/>
                </a:lnTo>
                <a:lnTo>
                  <a:pt x="28460" y="313093"/>
                </a:lnTo>
                <a:lnTo>
                  <a:pt x="32940" y="290954"/>
                </a:lnTo>
                <a:lnTo>
                  <a:pt x="45150" y="272859"/>
                </a:lnTo>
                <a:lnTo>
                  <a:pt x="63246" y="260650"/>
                </a:lnTo>
                <a:lnTo>
                  <a:pt x="85387" y="256171"/>
                </a:lnTo>
                <a:lnTo>
                  <a:pt x="148088" y="256171"/>
                </a:lnTo>
                <a:lnTo>
                  <a:pt x="145762" y="252723"/>
                </a:lnTo>
                <a:lnTo>
                  <a:pt x="118618" y="234422"/>
                </a:lnTo>
                <a:lnTo>
                  <a:pt x="85387" y="227711"/>
                </a:lnTo>
                <a:close/>
              </a:path>
              <a:path w="455930" h="455929">
                <a:moveTo>
                  <a:pt x="148088" y="256171"/>
                </a:moveTo>
                <a:lnTo>
                  <a:pt x="85387" y="256171"/>
                </a:lnTo>
                <a:lnTo>
                  <a:pt x="107530" y="260650"/>
                </a:lnTo>
                <a:lnTo>
                  <a:pt x="125627" y="272859"/>
                </a:lnTo>
                <a:lnTo>
                  <a:pt x="137836" y="290954"/>
                </a:lnTo>
                <a:lnTo>
                  <a:pt x="142314" y="313093"/>
                </a:lnTo>
                <a:lnTo>
                  <a:pt x="140690" y="324422"/>
                </a:lnTo>
                <a:lnTo>
                  <a:pt x="117589" y="371094"/>
                </a:lnTo>
                <a:lnTo>
                  <a:pt x="93122" y="404051"/>
                </a:lnTo>
                <a:lnTo>
                  <a:pt x="85387" y="413258"/>
                </a:lnTo>
                <a:lnTo>
                  <a:pt x="121839" y="413258"/>
                </a:lnTo>
                <a:lnTo>
                  <a:pt x="130814" y="401880"/>
                </a:lnTo>
                <a:lnTo>
                  <a:pt x="150243" y="372559"/>
                </a:lnTo>
                <a:lnTo>
                  <a:pt x="164952" y="342035"/>
                </a:lnTo>
                <a:lnTo>
                  <a:pt x="170780" y="313093"/>
                </a:lnTo>
                <a:lnTo>
                  <a:pt x="164067" y="279863"/>
                </a:lnTo>
                <a:lnTo>
                  <a:pt x="148088" y="256171"/>
                </a:lnTo>
                <a:close/>
              </a:path>
              <a:path w="455930" h="455929">
                <a:moveTo>
                  <a:pt x="88220" y="291744"/>
                </a:moveTo>
                <a:lnTo>
                  <a:pt x="82560" y="291744"/>
                </a:lnTo>
                <a:lnTo>
                  <a:pt x="79836" y="292290"/>
                </a:lnTo>
                <a:lnTo>
                  <a:pt x="64041" y="315925"/>
                </a:lnTo>
                <a:lnTo>
                  <a:pt x="64597" y="318684"/>
                </a:lnTo>
                <a:lnTo>
                  <a:pt x="82560" y="334441"/>
                </a:lnTo>
                <a:lnTo>
                  <a:pt x="88220" y="334441"/>
                </a:lnTo>
                <a:lnTo>
                  <a:pt x="106739" y="315925"/>
                </a:lnTo>
                <a:lnTo>
                  <a:pt x="106632" y="309736"/>
                </a:lnTo>
                <a:lnTo>
                  <a:pt x="88220" y="291744"/>
                </a:lnTo>
                <a:close/>
              </a:path>
              <a:path w="455930" h="455929">
                <a:moveTo>
                  <a:pt x="375025" y="227711"/>
                </a:moveTo>
                <a:lnTo>
                  <a:pt x="367268" y="227711"/>
                </a:lnTo>
                <a:lnTo>
                  <a:pt x="371802" y="228688"/>
                </a:lnTo>
                <a:lnTo>
                  <a:pt x="375025" y="227711"/>
                </a:lnTo>
                <a:close/>
              </a:path>
              <a:path w="455930" h="455929">
                <a:moveTo>
                  <a:pt x="432721" y="28460"/>
                </a:moveTo>
                <a:lnTo>
                  <a:pt x="370020" y="28460"/>
                </a:lnTo>
                <a:lnTo>
                  <a:pt x="392164" y="32940"/>
                </a:lnTo>
                <a:lnTo>
                  <a:pt x="410260" y="45150"/>
                </a:lnTo>
                <a:lnTo>
                  <a:pt x="422469" y="63248"/>
                </a:lnTo>
                <a:lnTo>
                  <a:pt x="426948" y="85394"/>
                </a:lnTo>
                <a:lnTo>
                  <a:pt x="425298" y="97008"/>
                </a:lnTo>
                <a:lnTo>
                  <a:pt x="402134" y="146050"/>
                </a:lnTo>
                <a:lnTo>
                  <a:pt x="377742" y="181002"/>
                </a:lnTo>
                <a:lnTo>
                  <a:pt x="370020" y="190881"/>
                </a:lnTo>
                <a:lnTo>
                  <a:pt x="405587" y="190881"/>
                </a:lnTo>
                <a:lnTo>
                  <a:pt x="426295" y="161096"/>
                </a:lnTo>
                <a:lnTo>
                  <a:pt x="446846" y="122033"/>
                </a:lnTo>
                <a:lnTo>
                  <a:pt x="455414" y="85394"/>
                </a:lnTo>
                <a:lnTo>
                  <a:pt x="448701" y="52158"/>
                </a:lnTo>
                <a:lnTo>
                  <a:pt x="432721" y="28460"/>
                </a:lnTo>
                <a:close/>
              </a:path>
              <a:path w="455930" h="455929">
                <a:moveTo>
                  <a:pt x="372854" y="64046"/>
                </a:moveTo>
                <a:lnTo>
                  <a:pt x="367193" y="64046"/>
                </a:lnTo>
                <a:lnTo>
                  <a:pt x="364469" y="64579"/>
                </a:lnTo>
                <a:lnTo>
                  <a:pt x="348674" y="82562"/>
                </a:lnTo>
                <a:lnTo>
                  <a:pt x="348674" y="88226"/>
                </a:lnTo>
                <a:lnTo>
                  <a:pt x="367193" y="106730"/>
                </a:lnTo>
                <a:lnTo>
                  <a:pt x="372854" y="106730"/>
                </a:lnTo>
                <a:lnTo>
                  <a:pt x="391373" y="88226"/>
                </a:lnTo>
                <a:lnTo>
                  <a:pt x="391373" y="82562"/>
                </a:lnTo>
                <a:lnTo>
                  <a:pt x="372854" y="64046"/>
                </a:lnTo>
                <a:close/>
              </a:path>
            </a:pathLst>
          </a:custGeom>
          <a:solidFill>
            <a:srgbClr val="0997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24879" y="5145087"/>
            <a:ext cx="5557520" cy="933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300">
                <a:solidFill>
                  <a:srgbClr val="CAD6DE"/>
                </a:solidFill>
                <a:latin typeface="Yu Gothic"/>
                <a:cs typeface="Yu Gothic"/>
              </a:rPr>
              <a:t>Escenaíios</a:t>
            </a:r>
            <a:r>
              <a:rPr dirty="0" sz="1650" spc="-10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380">
                <a:solidFill>
                  <a:srgbClr val="CAD6DE"/>
                </a:solidFill>
                <a:latin typeface="Yu Gothic"/>
                <a:cs typeface="Yu Gothic"/>
              </a:rPr>
              <a:t>paía</a:t>
            </a:r>
            <a:r>
              <a:rPr dirty="0" sz="1650" spc="-10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310">
                <a:solidFill>
                  <a:srgbClr val="CAD6DE"/>
                </a:solidFill>
                <a:latin typeface="Yu Gothic"/>
                <a:cs typeface="Yu Gothic"/>
              </a:rPr>
              <a:t>Rutas</a:t>
            </a:r>
            <a:r>
              <a:rPr dirty="0" sz="1650" spc="-5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295">
                <a:solidFill>
                  <a:srgbClr val="CAD6DE"/>
                </a:solidFill>
                <a:latin typeface="Yu Gothic"/>
                <a:cs typeface="Yu Gothic"/>
              </a:rPr>
              <a:t>Estáticas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33900"/>
              </a:lnSpc>
              <a:spcBef>
                <a:spcPts val="625"/>
              </a:spcBef>
            </a:pPr>
            <a:r>
              <a:rPr dirty="0" sz="1400" spc="-35">
                <a:solidFill>
                  <a:srgbClr val="CAD6DE"/>
                </a:solidFill>
                <a:latin typeface="Tahoma"/>
                <a:cs typeface="Tahoma"/>
              </a:rPr>
              <a:t>Identifica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situaciones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donde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el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enrutamiento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estático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en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IPv6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es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la</a:t>
            </a:r>
            <a:r>
              <a:rPr dirty="0" sz="1400" spc="-8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mejor opción.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38175" y="6713042"/>
            <a:ext cx="455930" cy="364490"/>
          </a:xfrm>
          <a:custGeom>
            <a:avLst/>
            <a:gdLst/>
            <a:ahLst/>
            <a:cxnLst/>
            <a:rect l="l" t="t" r="r" b="b"/>
            <a:pathLst>
              <a:path w="455930" h="364490">
                <a:moveTo>
                  <a:pt x="170780" y="227711"/>
                </a:moveTo>
                <a:lnTo>
                  <a:pt x="56926" y="227711"/>
                </a:lnTo>
                <a:lnTo>
                  <a:pt x="43634" y="230394"/>
                </a:lnTo>
                <a:lnTo>
                  <a:pt x="32777" y="237713"/>
                </a:lnTo>
                <a:lnTo>
                  <a:pt x="25456" y="248568"/>
                </a:lnTo>
                <a:lnTo>
                  <a:pt x="22771" y="261861"/>
                </a:lnTo>
                <a:lnTo>
                  <a:pt x="22771" y="330174"/>
                </a:lnTo>
                <a:lnTo>
                  <a:pt x="25456" y="343468"/>
                </a:lnTo>
                <a:lnTo>
                  <a:pt x="32777" y="354328"/>
                </a:lnTo>
                <a:lnTo>
                  <a:pt x="43634" y="361651"/>
                </a:lnTo>
                <a:lnTo>
                  <a:pt x="56926" y="364337"/>
                </a:lnTo>
                <a:lnTo>
                  <a:pt x="170780" y="364337"/>
                </a:lnTo>
                <a:lnTo>
                  <a:pt x="184072" y="361651"/>
                </a:lnTo>
                <a:lnTo>
                  <a:pt x="194929" y="354328"/>
                </a:lnTo>
                <a:lnTo>
                  <a:pt x="202250" y="343468"/>
                </a:lnTo>
                <a:lnTo>
                  <a:pt x="202635" y="341566"/>
                </a:lnTo>
                <a:lnTo>
                  <a:pt x="50666" y="341566"/>
                </a:lnTo>
                <a:lnTo>
                  <a:pt x="45540" y="336435"/>
                </a:lnTo>
                <a:lnTo>
                  <a:pt x="45540" y="255600"/>
                </a:lnTo>
                <a:lnTo>
                  <a:pt x="50666" y="250482"/>
                </a:lnTo>
                <a:lnTo>
                  <a:pt x="202637" y="250482"/>
                </a:lnTo>
                <a:lnTo>
                  <a:pt x="202250" y="248568"/>
                </a:lnTo>
                <a:lnTo>
                  <a:pt x="194929" y="237713"/>
                </a:lnTo>
                <a:lnTo>
                  <a:pt x="184072" y="230394"/>
                </a:lnTo>
                <a:lnTo>
                  <a:pt x="170780" y="227711"/>
                </a:lnTo>
                <a:close/>
              </a:path>
              <a:path w="455930" h="364490">
                <a:moveTo>
                  <a:pt x="398487" y="227711"/>
                </a:moveTo>
                <a:lnTo>
                  <a:pt x="284633" y="227711"/>
                </a:lnTo>
                <a:lnTo>
                  <a:pt x="271341" y="230394"/>
                </a:lnTo>
                <a:lnTo>
                  <a:pt x="260484" y="237713"/>
                </a:lnTo>
                <a:lnTo>
                  <a:pt x="253163" y="248568"/>
                </a:lnTo>
                <a:lnTo>
                  <a:pt x="250478" y="261861"/>
                </a:lnTo>
                <a:lnTo>
                  <a:pt x="250478" y="330174"/>
                </a:lnTo>
                <a:lnTo>
                  <a:pt x="253163" y="343468"/>
                </a:lnTo>
                <a:lnTo>
                  <a:pt x="260484" y="354328"/>
                </a:lnTo>
                <a:lnTo>
                  <a:pt x="271341" y="361651"/>
                </a:lnTo>
                <a:lnTo>
                  <a:pt x="284633" y="364337"/>
                </a:lnTo>
                <a:lnTo>
                  <a:pt x="398487" y="364337"/>
                </a:lnTo>
                <a:lnTo>
                  <a:pt x="411779" y="361651"/>
                </a:lnTo>
                <a:lnTo>
                  <a:pt x="422636" y="354328"/>
                </a:lnTo>
                <a:lnTo>
                  <a:pt x="429958" y="343468"/>
                </a:lnTo>
                <a:lnTo>
                  <a:pt x="430342" y="341566"/>
                </a:lnTo>
                <a:lnTo>
                  <a:pt x="278372" y="341566"/>
                </a:lnTo>
                <a:lnTo>
                  <a:pt x="273248" y="336435"/>
                </a:lnTo>
                <a:lnTo>
                  <a:pt x="273248" y="255600"/>
                </a:lnTo>
                <a:lnTo>
                  <a:pt x="278372" y="250482"/>
                </a:lnTo>
                <a:lnTo>
                  <a:pt x="430344" y="250482"/>
                </a:lnTo>
                <a:lnTo>
                  <a:pt x="429958" y="248568"/>
                </a:lnTo>
                <a:lnTo>
                  <a:pt x="422636" y="237713"/>
                </a:lnTo>
                <a:lnTo>
                  <a:pt x="411779" y="230394"/>
                </a:lnTo>
                <a:lnTo>
                  <a:pt x="398487" y="227711"/>
                </a:lnTo>
                <a:close/>
              </a:path>
              <a:path w="455930" h="364490">
                <a:moveTo>
                  <a:pt x="202637" y="250482"/>
                </a:moveTo>
                <a:lnTo>
                  <a:pt x="177040" y="250482"/>
                </a:lnTo>
                <a:lnTo>
                  <a:pt x="182166" y="255600"/>
                </a:lnTo>
                <a:lnTo>
                  <a:pt x="182166" y="336435"/>
                </a:lnTo>
                <a:lnTo>
                  <a:pt x="177040" y="341566"/>
                </a:lnTo>
                <a:lnTo>
                  <a:pt x="202635" y="341566"/>
                </a:lnTo>
                <a:lnTo>
                  <a:pt x="204936" y="330174"/>
                </a:lnTo>
                <a:lnTo>
                  <a:pt x="204936" y="261861"/>
                </a:lnTo>
                <a:lnTo>
                  <a:pt x="202637" y="250482"/>
                </a:lnTo>
                <a:close/>
              </a:path>
              <a:path w="455930" h="364490">
                <a:moveTo>
                  <a:pt x="430344" y="250482"/>
                </a:moveTo>
                <a:lnTo>
                  <a:pt x="404747" y="250482"/>
                </a:lnTo>
                <a:lnTo>
                  <a:pt x="409872" y="255600"/>
                </a:lnTo>
                <a:lnTo>
                  <a:pt x="409872" y="336435"/>
                </a:lnTo>
                <a:lnTo>
                  <a:pt x="404747" y="341566"/>
                </a:lnTo>
                <a:lnTo>
                  <a:pt x="430342" y="341566"/>
                </a:lnTo>
                <a:lnTo>
                  <a:pt x="432643" y="330174"/>
                </a:lnTo>
                <a:lnTo>
                  <a:pt x="432643" y="261861"/>
                </a:lnTo>
                <a:lnTo>
                  <a:pt x="430344" y="250482"/>
                </a:lnTo>
                <a:close/>
              </a:path>
              <a:path w="455930" h="364490">
                <a:moveTo>
                  <a:pt x="125238" y="193548"/>
                </a:moveTo>
                <a:lnTo>
                  <a:pt x="102468" y="193548"/>
                </a:lnTo>
                <a:lnTo>
                  <a:pt x="102468" y="227711"/>
                </a:lnTo>
                <a:lnTo>
                  <a:pt x="125238" y="227711"/>
                </a:lnTo>
                <a:lnTo>
                  <a:pt x="125238" y="193548"/>
                </a:lnTo>
                <a:close/>
              </a:path>
              <a:path w="455930" h="364490">
                <a:moveTo>
                  <a:pt x="352945" y="193548"/>
                </a:moveTo>
                <a:lnTo>
                  <a:pt x="330174" y="193548"/>
                </a:lnTo>
                <a:lnTo>
                  <a:pt x="330174" y="227711"/>
                </a:lnTo>
                <a:lnTo>
                  <a:pt x="352945" y="227711"/>
                </a:lnTo>
                <a:lnTo>
                  <a:pt x="352945" y="193548"/>
                </a:lnTo>
                <a:close/>
              </a:path>
              <a:path w="455930" h="364490">
                <a:moveTo>
                  <a:pt x="450289" y="170776"/>
                </a:moveTo>
                <a:lnTo>
                  <a:pt x="5124" y="170776"/>
                </a:lnTo>
                <a:lnTo>
                  <a:pt x="0" y="175895"/>
                </a:lnTo>
                <a:lnTo>
                  <a:pt x="0" y="188429"/>
                </a:lnTo>
                <a:lnTo>
                  <a:pt x="5124" y="193548"/>
                </a:lnTo>
                <a:lnTo>
                  <a:pt x="450289" y="193548"/>
                </a:lnTo>
                <a:lnTo>
                  <a:pt x="455414" y="188429"/>
                </a:lnTo>
                <a:lnTo>
                  <a:pt x="455414" y="175895"/>
                </a:lnTo>
                <a:lnTo>
                  <a:pt x="450289" y="170776"/>
                </a:lnTo>
                <a:close/>
              </a:path>
              <a:path w="455930" h="364490">
                <a:moveTo>
                  <a:pt x="239092" y="136626"/>
                </a:moveTo>
                <a:lnTo>
                  <a:pt x="216321" y="136626"/>
                </a:lnTo>
                <a:lnTo>
                  <a:pt x="216321" y="170776"/>
                </a:lnTo>
                <a:lnTo>
                  <a:pt x="239092" y="170776"/>
                </a:lnTo>
                <a:lnTo>
                  <a:pt x="239092" y="136626"/>
                </a:lnTo>
                <a:close/>
              </a:path>
              <a:path w="455930" h="364490">
                <a:moveTo>
                  <a:pt x="284633" y="0"/>
                </a:moveTo>
                <a:lnTo>
                  <a:pt x="170780" y="0"/>
                </a:lnTo>
                <a:lnTo>
                  <a:pt x="157488" y="2685"/>
                </a:lnTo>
                <a:lnTo>
                  <a:pt x="146631" y="10007"/>
                </a:lnTo>
                <a:lnTo>
                  <a:pt x="139309" y="20863"/>
                </a:lnTo>
                <a:lnTo>
                  <a:pt x="136624" y="34150"/>
                </a:lnTo>
                <a:lnTo>
                  <a:pt x="136624" y="102463"/>
                </a:lnTo>
                <a:lnTo>
                  <a:pt x="139309" y="115757"/>
                </a:lnTo>
                <a:lnTo>
                  <a:pt x="146631" y="126617"/>
                </a:lnTo>
                <a:lnTo>
                  <a:pt x="157488" y="133940"/>
                </a:lnTo>
                <a:lnTo>
                  <a:pt x="170780" y="136626"/>
                </a:lnTo>
                <a:lnTo>
                  <a:pt x="284633" y="136626"/>
                </a:lnTo>
                <a:lnTo>
                  <a:pt x="297925" y="133940"/>
                </a:lnTo>
                <a:lnTo>
                  <a:pt x="308783" y="126617"/>
                </a:lnTo>
                <a:lnTo>
                  <a:pt x="316105" y="115757"/>
                </a:lnTo>
                <a:lnTo>
                  <a:pt x="316489" y="113855"/>
                </a:lnTo>
                <a:lnTo>
                  <a:pt x="164519" y="113855"/>
                </a:lnTo>
                <a:lnTo>
                  <a:pt x="159395" y="108724"/>
                </a:lnTo>
                <a:lnTo>
                  <a:pt x="159395" y="27889"/>
                </a:lnTo>
                <a:lnTo>
                  <a:pt x="164519" y="22771"/>
                </a:lnTo>
                <a:lnTo>
                  <a:pt x="316490" y="22771"/>
                </a:lnTo>
                <a:lnTo>
                  <a:pt x="316105" y="20863"/>
                </a:lnTo>
                <a:lnTo>
                  <a:pt x="308783" y="10007"/>
                </a:lnTo>
                <a:lnTo>
                  <a:pt x="297925" y="2685"/>
                </a:lnTo>
                <a:lnTo>
                  <a:pt x="284633" y="0"/>
                </a:lnTo>
                <a:close/>
              </a:path>
              <a:path w="455930" h="364490">
                <a:moveTo>
                  <a:pt x="316490" y="22771"/>
                </a:moveTo>
                <a:lnTo>
                  <a:pt x="290894" y="22771"/>
                </a:lnTo>
                <a:lnTo>
                  <a:pt x="296019" y="27889"/>
                </a:lnTo>
                <a:lnTo>
                  <a:pt x="296019" y="108724"/>
                </a:lnTo>
                <a:lnTo>
                  <a:pt x="290894" y="113855"/>
                </a:lnTo>
                <a:lnTo>
                  <a:pt x="316489" y="113855"/>
                </a:lnTo>
                <a:lnTo>
                  <a:pt x="318790" y="102463"/>
                </a:lnTo>
                <a:lnTo>
                  <a:pt x="318790" y="34150"/>
                </a:lnTo>
                <a:lnTo>
                  <a:pt x="316490" y="22771"/>
                </a:lnTo>
                <a:close/>
              </a:path>
            </a:pathLst>
          </a:custGeom>
          <a:solidFill>
            <a:srgbClr val="0997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624879" y="7288212"/>
            <a:ext cx="5845810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80">
                <a:solidFill>
                  <a:srgbClr val="CAD6DE"/>
                </a:solidFill>
                <a:latin typeface="Yu Gothic"/>
                <a:cs typeface="Yu Gothic"/>
              </a:rPr>
              <a:t>Desafíos</a:t>
            </a:r>
            <a:r>
              <a:rPr dirty="0" sz="1650" spc="15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220">
                <a:solidFill>
                  <a:srgbClr val="CAD6DE"/>
                </a:solidFill>
                <a:latin typeface="Yu Gothic"/>
                <a:cs typeface="Yu Gothic"/>
              </a:rPr>
              <a:t>Dual-</a:t>
            </a:r>
            <a:r>
              <a:rPr dirty="0" sz="1650" spc="270">
                <a:solidFill>
                  <a:srgbClr val="CAD6DE"/>
                </a:solidFill>
                <a:latin typeface="Yu Gothic"/>
                <a:cs typeface="Yu Gothic"/>
              </a:rPr>
              <a:t>Stack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38400"/>
              </a:lnSpc>
              <a:spcBef>
                <a:spcPts val="550"/>
              </a:spcBef>
            </a:pP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Enumera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los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principales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retos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al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implementar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y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mantener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una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red</a:t>
            </a:r>
            <a:r>
              <a:rPr dirty="0" sz="1400" spc="-8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dual-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stack IPv4/IPv6.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655885" y="8845448"/>
            <a:ext cx="420370" cy="406400"/>
          </a:xfrm>
          <a:custGeom>
            <a:avLst/>
            <a:gdLst/>
            <a:ahLst/>
            <a:cxnLst/>
            <a:rect l="l" t="t" r="r" b="b"/>
            <a:pathLst>
              <a:path w="420369" h="406400">
                <a:moveTo>
                  <a:pt x="217190" y="0"/>
                </a:moveTo>
                <a:lnTo>
                  <a:pt x="202645" y="0"/>
                </a:lnTo>
                <a:lnTo>
                  <a:pt x="196001" y="4114"/>
                </a:lnTo>
                <a:lnTo>
                  <a:pt x="192841" y="10668"/>
                </a:lnTo>
                <a:lnTo>
                  <a:pt x="138598" y="122389"/>
                </a:lnTo>
                <a:lnTo>
                  <a:pt x="10359" y="141376"/>
                </a:lnTo>
                <a:lnTo>
                  <a:pt x="4425" y="146354"/>
                </a:lnTo>
                <a:lnTo>
                  <a:pt x="0" y="160108"/>
                </a:lnTo>
                <a:lnTo>
                  <a:pt x="1821" y="167538"/>
                </a:lnTo>
                <a:lnTo>
                  <a:pt x="6880" y="172593"/>
                </a:lnTo>
                <a:lnTo>
                  <a:pt x="94719" y="259651"/>
                </a:lnTo>
                <a:lnTo>
                  <a:pt x="72816" y="389712"/>
                </a:lnTo>
                <a:lnTo>
                  <a:pt x="75744" y="396913"/>
                </a:lnTo>
                <a:lnTo>
                  <a:pt x="87605" y="405447"/>
                </a:lnTo>
                <a:lnTo>
                  <a:pt x="95354" y="405917"/>
                </a:lnTo>
                <a:lnTo>
                  <a:pt x="154780" y="374142"/>
                </a:lnTo>
                <a:lnTo>
                  <a:pt x="101045" y="374142"/>
                </a:lnTo>
                <a:lnTo>
                  <a:pt x="119623" y="263842"/>
                </a:lnTo>
                <a:lnTo>
                  <a:pt x="120967" y="255701"/>
                </a:lnTo>
                <a:lnTo>
                  <a:pt x="118358" y="247472"/>
                </a:lnTo>
                <a:lnTo>
                  <a:pt x="33680" y="163499"/>
                </a:lnTo>
                <a:lnTo>
                  <a:pt x="150619" y="146265"/>
                </a:lnTo>
                <a:lnTo>
                  <a:pt x="157734" y="140970"/>
                </a:lnTo>
                <a:lnTo>
                  <a:pt x="209917" y="33439"/>
                </a:lnTo>
                <a:lnTo>
                  <a:pt x="238053" y="33439"/>
                </a:lnTo>
                <a:lnTo>
                  <a:pt x="223832" y="4114"/>
                </a:lnTo>
                <a:lnTo>
                  <a:pt x="217190" y="0"/>
                </a:lnTo>
                <a:close/>
              </a:path>
              <a:path w="420369" h="406400">
                <a:moveTo>
                  <a:pt x="263539" y="344639"/>
                </a:moveTo>
                <a:lnTo>
                  <a:pt x="209997" y="344639"/>
                </a:lnTo>
                <a:lnTo>
                  <a:pt x="318314" y="402513"/>
                </a:lnTo>
                <a:lnTo>
                  <a:pt x="324638" y="405917"/>
                </a:lnTo>
                <a:lnTo>
                  <a:pt x="332388" y="405447"/>
                </a:lnTo>
                <a:lnTo>
                  <a:pt x="344091" y="396913"/>
                </a:lnTo>
                <a:lnTo>
                  <a:pt x="347097" y="389712"/>
                </a:lnTo>
                <a:lnTo>
                  <a:pt x="344480" y="374142"/>
                </a:lnTo>
                <a:lnTo>
                  <a:pt x="318710" y="374142"/>
                </a:lnTo>
                <a:lnTo>
                  <a:pt x="263539" y="344639"/>
                </a:lnTo>
                <a:close/>
              </a:path>
              <a:path w="420369" h="406400">
                <a:moveTo>
                  <a:pt x="214421" y="318401"/>
                </a:moveTo>
                <a:lnTo>
                  <a:pt x="205492" y="318401"/>
                </a:lnTo>
                <a:lnTo>
                  <a:pt x="101045" y="374142"/>
                </a:lnTo>
                <a:lnTo>
                  <a:pt x="154780" y="374142"/>
                </a:lnTo>
                <a:lnTo>
                  <a:pt x="209997" y="344639"/>
                </a:lnTo>
                <a:lnTo>
                  <a:pt x="263539" y="344639"/>
                </a:lnTo>
                <a:lnTo>
                  <a:pt x="214421" y="318401"/>
                </a:lnTo>
                <a:close/>
              </a:path>
              <a:path w="420369" h="406400">
                <a:moveTo>
                  <a:pt x="238053" y="33439"/>
                </a:moveTo>
                <a:lnTo>
                  <a:pt x="209917" y="33439"/>
                </a:lnTo>
                <a:lnTo>
                  <a:pt x="262101" y="140970"/>
                </a:lnTo>
                <a:lnTo>
                  <a:pt x="269215" y="146189"/>
                </a:lnTo>
                <a:lnTo>
                  <a:pt x="386154" y="163499"/>
                </a:lnTo>
                <a:lnTo>
                  <a:pt x="301397" y="247396"/>
                </a:lnTo>
                <a:lnTo>
                  <a:pt x="298707" y="255701"/>
                </a:lnTo>
                <a:lnTo>
                  <a:pt x="300132" y="263842"/>
                </a:lnTo>
                <a:lnTo>
                  <a:pt x="318710" y="374142"/>
                </a:lnTo>
                <a:lnTo>
                  <a:pt x="344480" y="374142"/>
                </a:lnTo>
                <a:lnTo>
                  <a:pt x="325114" y="259651"/>
                </a:lnTo>
                <a:lnTo>
                  <a:pt x="413033" y="172516"/>
                </a:lnTo>
                <a:lnTo>
                  <a:pt x="418172" y="167462"/>
                </a:lnTo>
                <a:lnTo>
                  <a:pt x="419914" y="159943"/>
                </a:lnTo>
                <a:lnTo>
                  <a:pt x="415489" y="146354"/>
                </a:lnTo>
                <a:lnTo>
                  <a:pt x="409555" y="141376"/>
                </a:lnTo>
                <a:lnTo>
                  <a:pt x="281236" y="122389"/>
                </a:lnTo>
                <a:lnTo>
                  <a:pt x="238053" y="33439"/>
                </a:lnTo>
                <a:close/>
              </a:path>
            </a:pathLst>
          </a:custGeom>
          <a:solidFill>
            <a:srgbClr val="0997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624879" y="9431338"/>
            <a:ext cx="5538470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54">
                <a:solidFill>
                  <a:srgbClr val="CAD6DE"/>
                </a:solidFill>
                <a:latin typeface="Yu Gothic"/>
                <a:cs typeface="Yu Gothic"/>
              </a:rPr>
              <a:t>Función</a:t>
            </a:r>
            <a:r>
              <a:rPr dirty="0" sz="1650" spc="-15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315">
                <a:solidFill>
                  <a:srgbClr val="CAD6DE"/>
                </a:solidFill>
                <a:latin typeface="Yu Gothic"/>
                <a:cs typeface="Yu Gothic"/>
              </a:rPr>
              <a:t>de</a:t>
            </a:r>
            <a:r>
              <a:rPr dirty="0" sz="1650" spc="-15">
                <a:solidFill>
                  <a:srgbClr val="CAD6DE"/>
                </a:solidFill>
                <a:latin typeface="Yu Gothic"/>
                <a:cs typeface="Yu Gothic"/>
              </a:rPr>
              <a:t> </a:t>
            </a:r>
            <a:r>
              <a:rPr dirty="0" sz="1650" spc="310">
                <a:solidFill>
                  <a:srgbClr val="CAD6DE"/>
                </a:solidFill>
                <a:latin typeface="Yu Gothic"/>
                <a:cs typeface="Yu Gothic"/>
              </a:rPr>
              <a:t>OSPFv3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38400"/>
              </a:lnSpc>
              <a:spcBef>
                <a:spcPts val="550"/>
              </a:spcBef>
            </a:pPr>
            <a:r>
              <a:rPr dirty="0" sz="1400" spc="-20">
                <a:solidFill>
                  <a:srgbClr val="CAD6DE"/>
                </a:solidFill>
                <a:latin typeface="Tahoma"/>
                <a:cs typeface="Tahoma"/>
              </a:rPr>
              <a:t>Explica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cómo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OSPFv3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facilita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el</a:t>
            </a:r>
            <a:r>
              <a:rPr dirty="0" sz="1400" spc="-6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enrutamiento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eficiente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AD6DE"/>
                </a:solidFill>
                <a:latin typeface="Tahoma"/>
                <a:cs typeface="Tahoma"/>
              </a:rPr>
              <a:t>en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redes</a:t>
            </a:r>
            <a:r>
              <a:rPr dirty="0" sz="1400" spc="-6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AD6DE"/>
                </a:solidFill>
                <a:latin typeface="Tahoma"/>
                <a:cs typeface="Tahoma"/>
              </a:rPr>
              <a:t>IPv6</a:t>
            </a:r>
            <a:r>
              <a:rPr dirty="0" sz="1400" spc="-65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CAD6DE"/>
                </a:solidFill>
                <a:latin typeface="Tahoma"/>
                <a:cs typeface="Tahoma"/>
              </a:rPr>
              <a:t>de </a:t>
            </a:r>
            <a:r>
              <a:rPr dirty="0" sz="1400" spc="-50">
                <a:solidFill>
                  <a:srgbClr val="CAD6DE"/>
                </a:solidFill>
                <a:latin typeface="Tahoma"/>
                <a:cs typeface="Tahoma"/>
              </a:rPr>
              <a:t>gran</a:t>
            </a:r>
            <a:r>
              <a:rPr dirty="0" sz="1400" spc="-90">
                <a:solidFill>
                  <a:srgbClr val="CAD6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AD6DE"/>
                </a:solidFill>
                <a:latin typeface="Tahoma"/>
                <a:cs typeface="Tahoma"/>
              </a:rPr>
              <a:t>escala.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2024-11-05T08:18:59Z</dcterms:created>
  <dcterms:modified xsi:type="dcterms:W3CDTF">2024-11-05T08:18:59Z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2024-11-03T00:00:00Z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  <property fmtid="{D5CDD505-2E9C-101B-9397-08002B2CF9AE}" pid="5" name="Producer">
    <vt:lpwstr>GPL Ghostscript 10.02.0</vt:lpwstr>
  </property>
</Properties>
</file>