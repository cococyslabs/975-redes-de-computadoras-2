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1430000" cy="9753600"/>
  <p:notesSz cx="11430000" cy="97536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572" y="1149350"/>
            <a:ext cx="9390854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879" y="1443672"/>
            <a:ext cx="10180241" cy="1478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43864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1443672"/>
            <a:ext cx="5665470" cy="1478280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5850"/>
              </a:lnSpc>
            </a:pPr>
            <a:r>
              <a:rPr dirty="0" sz="4650" spc="350"/>
              <a:t>IPv6:</a:t>
            </a:r>
            <a:r>
              <a:rPr dirty="0" sz="4650" spc="-310"/>
              <a:t> </a:t>
            </a:r>
            <a:r>
              <a:rPr dirty="0" sz="4650" spc="409"/>
              <a:t>El</a:t>
            </a:r>
            <a:r>
              <a:rPr dirty="0" sz="4650" spc="-310"/>
              <a:t> </a:t>
            </a:r>
            <a:r>
              <a:rPr dirty="0" sz="4650" spc="365"/>
              <a:t>Futuro</a:t>
            </a:r>
            <a:r>
              <a:rPr dirty="0" sz="4650" spc="-310"/>
              <a:t> </a:t>
            </a:r>
            <a:r>
              <a:rPr dirty="0" sz="4650" spc="625"/>
              <a:t>de </a:t>
            </a:r>
            <a:r>
              <a:rPr dirty="0" sz="4650" spc="-1385"/>
              <a:t> </a:t>
            </a:r>
            <a:r>
              <a:rPr dirty="0" sz="4650" spc="285"/>
              <a:t>Internet</a:t>
            </a:r>
            <a:endParaRPr sz="4650"/>
          </a:p>
        </p:txBody>
      </p:sp>
      <p:sp>
        <p:nvSpPr>
          <p:cNvPr id="7" name="object 7"/>
          <p:cNvSpPr txBox="1"/>
          <p:nvPr/>
        </p:nvSpPr>
        <p:spPr>
          <a:xfrm>
            <a:off x="624879" y="3176498"/>
            <a:ext cx="5621655" cy="11969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136900"/>
              </a:lnSpc>
              <a:spcBef>
                <a:spcPts val="114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IPv6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es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la nueva generación del protocolo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Internet.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Diseñado para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superar las limitaciones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IPv4, ofrece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espacio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direcciones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prácticamente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ilimitado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mejoras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significativas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seguridad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 </a:t>
            </a:r>
            <a:r>
              <a:rPr dirty="0" sz="1400" spc="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eficiencia.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07367" y="4617402"/>
            <a:ext cx="189674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0" b="1">
                <a:solidFill>
                  <a:srgbClr val="D9E1FF"/>
                </a:solidFill>
                <a:latin typeface="Arial"/>
                <a:cs typeface="Arial"/>
              </a:rPr>
              <a:t>por</a:t>
            </a:r>
            <a:r>
              <a:rPr dirty="0" sz="1800" spc="-40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D9E1FF"/>
                </a:solidFill>
                <a:latin typeface="Arial"/>
                <a:cs typeface="Arial"/>
              </a:rPr>
              <a:t>Eduardo</a:t>
            </a:r>
            <a:r>
              <a:rPr dirty="0" sz="1800" spc="-35" b="1">
                <a:solidFill>
                  <a:srgbClr val="D9E1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D9E1FF"/>
                </a:solidFill>
                <a:latin typeface="Arial"/>
                <a:cs typeface="Arial"/>
              </a:rPr>
              <a:t>Ixén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8175" y="4638675"/>
            <a:ext cx="295275" cy="285750"/>
            <a:chOff x="638175" y="4638675"/>
            <a:chExt cx="295275" cy="285750"/>
          </a:xfrm>
        </p:grpSpPr>
        <p:sp>
          <p:nvSpPr>
            <p:cNvPr id="10" name="object 10"/>
            <p:cNvSpPr/>
            <p:nvPr/>
          </p:nvSpPr>
          <p:spPr>
            <a:xfrm>
              <a:off x="642937" y="4643437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147637" y="0"/>
                  </a:moveTo>
                  <a:lnTo>
                    <a:pt x="138112" y="0"/>
                  </a:lnTo>
                  <a:lnTo>
                    <a:pt x="131327" y="166"/>
                  </a:lnTo>
                  <a:lnTo>
                    <a:pt x="91591" y="8067"/>
                  </a:lnTo>
                  <a:lnTo>
                    <a:pt x="55832" y="27176"/>
                  </a:lnTo>
                  <a:lnTo>
                    <a:pt x="27183" y="55833"/>
                  </a:lnTo>
                  <a:lnTo>
                    <a:pt x="8070" y="91589"/>
                  </a:lnTo>
                  <a:lnTo>
                    <a:pt x="165" y="131328"/>
                  </a:lnTo>
                  <a:lnTo>
                    <a:pt x="0" y="138112"/>
                  </a:lnTo>
                  <a:lnTo>
                    <a:pt x="165" y="144896"/>
                  </a:lnTo>
                  <a:lnTo>
                    <a:pt x="8070" y="184630"/>
                  </a:lnTo>
                  <a:lnTo>
                    <a:pt x="27183" y="220396"/>
                  </a:lnTo>
                  <a:lnTo>
                    <a:pt x="55832" y="249037"/>
                  </a:lnTo>
                  <a:lnTo>
                    <a:pt x="91591" y="268152"/>
                  </a:lnTo>
                  <a:lnTo>
                    <a:pt x="131327" y="276058"/>
                  </a:lnTo>
                  <a:lnTo>
                    <a:pt x="138112" y="276225"/>
                  </a:lnTo>
                  <a:lnTo>
                    <a:pt x="147637" y="276225"/>
                  </a:lnTo>
                  <a:lnTo>
                    <a:pt x="187729" y="270278"/>
                  </a:lnTo>
                  <a:lnTo>
                    <a:pt x="224368" y="252945"/>
                  </a:lnTo>
                  <a:lnTo>
                    <a:pt x="254399" y="225734"/>
                  </a:lnTo>
                  <a:lnTo>
                    <a:pt x="275238" y="190957"/>
                  </a:lnTo>
                  <a:lnTo>
                    <a:pt x="285087" y="151649"/>
                  </a:lnTo>
                  <a:lnTo>
                    <a:pt x="285750" y="138112"/>
                  </a:lnTo>
                  <a:lnTo>
                    <a:pt x="285584" y="131328"/>
                  </a:lnTo>
                  <a:lnTo>
                    <a:pt x="277679" y="91589"/>
                  </a:lnTo>
                  <a:lnTo>
                    <a:pt x="258564" y="55833"/>
                  </a:lnTo>
                  <a:lnTo>
                    <a:pt x="229917" y="27176"/>
                  </a:lnTo>
                  <a:lnTo>
                    <a:pt x="194158" y="8067"/>
                  </a:lnTo>
                  <a:lnTo>
                    <a:pt x="154422" y="166"/>
                  </a:lnTo>
                  <a:lnTo>
                    <a:pt x="147637" y="0"/>
                  </a:lnTo>
                  <a:close/>
                </a:path>
              </a:pathLst>
            </a:custGeom>
            <a:solidFill>
              <a:srgbClr val="813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42937" y="4643437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0" y="138112"/>
                  </a:moveTo>
                  <a:lnTo>
                    <a:pt x="5946" y="98018"/>
                  </a:lnTo>
                  <a:lnTo>
                    <a:pt x="23276" y="61379"/>
                  </a:lnTo>
                  <a:lnTo>
                    <a:pt x="50494" y="31343"/>
                  </a:lnTo>
                  <a:lnTo>
                    <a:pt x="85258" y="10515"/>
                  </a:lnTo>
                  <a:lnTo>
                    <a:pt x="124575" y="665"/>
                  </a:lnTo>
                  <a:lnTo>
                    <a:pt x="138112" y="0"/>
                  </a:lnTo>
                  <a:lnTo>
                    <a:pt x="147637" y="0"/>
                  </a:lnTo>
                  <a:lnTo>
                    <a:pt x="187729" y="5942"/>
                  </a:lnTo>
                  <a:lnTo>
                    <a:pt x="224368" y="23266"/>
                  </a:lnTo>
                  <a:lnTo>
                    <a:pt x="254399" y="50495"/>
                  </a:lnTo>
                  <a:lnTo>
                    <a:pt x="275238" y="85255"/>
                  </a:lnTo>
                  <a:lnTo>
                    <a:pt x="285087" y="124575"/>
                  </a:lnTo>
                  <a:lnTo>
                    <a:pt x="285750" y="138112"/>
                  </a:lnTo>
                  <a:lnTo>
                    <a:pt x="285584" y="144896"/>
                  </a:lnTo>
                  <a:lnTo>
                    <a:pt x="277679" y="184630"/>
                  </a:lnTo>
                  <a:lnTo>
                    <a:pt x="258564" y="220396"/>
                  </a:lnTo>
                  <a:lnTo>
                    <a:pt x="229917" y="249037"/>
                  </a:lnTo>
                  <a:lnTo>
                    <a:pt x="194158" y="268152"/>
                  </a:lnTo>
                  <a:lnTo>
                    <a:pt x="154422" y="276058"/>
                  </a:lnTo>
                  <a:lnTo>
                    <a:pt x="147637" y="276225"/>
                  </a:lnTo>
                  <a:lnTo>
                    <a:pt x="138112" y="276225"/>
                  </a:lnTo>
                  <a:lnTo>
                    <a:pt x="98020" y="270278"/>
                  </a:lnTo>
                  <a:lnTo>
                    <a:pt x="61381" y="252945"/>
                  </a:lnTo>
                  <a:lnTo>
                    <a:pt x="31348" y="225734"/>
                  </a:lnTo>
                  <a:lnTo>
                    <a:pt x="10511" y="190957"/>
                  </a:lnTo>
                  <a:lnTo>
                    <a:pt x="662" y="151649"/>
                  </a:lnTo>
                  <a:lnTo>
                    <a:pt x="0" y="138112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712985" y="4675504"/>
            <a:ext cx="140970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E</a:t>
            </a:r>
            <a:r>
              <a:rPr dirty="0" sz="95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8667750"/>
          </a:xfrm>
          <a:custGeom>
            <a:avLst/>
            <a:gdLst/>
            <a:ahLst/>
            <a:cxnLst/>
            <a:rect l="l" t="t" r="r" b="b"/>
            <a:pathLst>
              <a:path w="11430000" h="8667750">
                <a:moveTo>
                  <a:pt x="11430000" y="0"/>
                </a:moveTo>
                <a:lnTo>
                  <a:pt x="0" y="0"/>
                </a:lnTo>
                <a:lnTo>
                  <a:pt x="0" y="8667750"/>
                </a:lnTo>
                <a:lnTo>
                  <a:pt x="11430000" y="86677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07"/>
            <a:ext cx="11430000" cy="22771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9572" y="2749549"/>
            <a:ext cx="7769859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25"/>
              <a:t>Introducción</a:t>
            </a:r>
            <a:r>
              <a:rPr dirty="0" spc="-210"/>
              <a:t> </a:t>
            </a:r>
            <a:r>
              <a:rPr dirty="0" spc="655"/>
              <a:t>a</a:t>
            </a:r>
            <a:r>
              <a:rPr dirty="0" spc="-210"/>
              <a:t> </a:t>
            </a:r>
            <a:r>
              <a:rPr dirty="0" spc="265"/>
              <a:t>IPv6:</a:t>
            </a:r>
            <a:r>
              <a:rPr dirty="0" spc="-204"/>
              <a:t> </a:t>
            </a:r>
            <a:r>
              <a:rPr dirty="0" spc="475"/>
              <a:t>Necesidad</a:t>
            </a:r>
            <a:r>
              <a:rPr dirty="0" spc="-210"/>
              <a:t> </a:t>
            </a:r>
            <a:r>
              <a:rPr dirty="0" spc="365"/>
              <a:t>y </a:t>
            </a:r>
            <a:r>
              <a:rPr dirty="0" spc="-994"/>
              <a:t> </a:t>
            </a:r>
            <a:r>
              <a:rPr dirty="0" spc="335"/>
              <a:t>Evolución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028700" y="4195609"/>
            <a:ext cx="9372600" cy="838200"/>
            <a:chOff x="1028700" y="4195609"/>
            <a:chExt cx="9372600" cy="838200"/>
          </a:xfrm>
        </p:grpSpPr>
        <p:sp>
          <p:nvSpPr>
            <p:cNvPr id="6" name="object 6"/>
            <p:cNvSpPr/>
            <p:nvPr/>
          </p:nvSpPr>
          <p:spPr>
            <a:xfrm>
              <a:off x="1028700" y="4395634"/>
              <a:ext cx="9372600" cy="638175"/>
            </a:xfrm>
            <a:custGeom>
              <a:avLst/>
              <a:gdLst/>
              <a:ahLst/>
              <a:cxnLst/>
              <a:rect l="l" t="t" r="r" b="b"/>
              <a:pathLst>
                <a:path w="9372600" h="638175">
                  <a:moveTo>
                    <a:pt x="9372600" y="11811"/>
                  </a:moveTo>
                  <a:lnTo>
                    <a:pt x="9371673" y="9563"/>
                  </a:lnTo>
                  <a:lnTo>
                    <a:pt x="9367952" y="5842"/>
                  </a:lnTo>
                  <a:lnTo>
                    <a:pt x="9365704" y="4914"/>
                  </a:lnTo>
                  <a:lnTo>
                    <a:pt x="1113599" y="4914"/>
                  </a:lnTo>
                  <a:lnTo>
                    <a:pt x="1113497" y="4648"/>
                  </a:lnTo>
                  <a:lnTo>
                    <a:pt x="1109776" y="927"/>
                  </a:lnTo>
                  <a:lnTo>
                    <a:pt x="1107528" y="0"/>
                  </a:lnTo>
                  <a:lnTo>
                    <a:pt x="1102271" y="0"/>
                  </a:lnTo>
                  <a:lnTo>
                    <a:pt x="1100023" y="927"/>
                  </a:lnTo>
                  <a:lnTo>
                    <a:pt x="1096302" y="4648"/>
                  </a:lnTo>
                  <a:lnTo>
                    <a:pt x="1096187" y="4914"/>
                  </a:lnTo>
                  <a:lnTo>
                    <a:pt x="6896" y="4914"/>
                  </a:lnTo>
                  <a:lnTo>
                    <a:pt x="4648" y="5842"/>
                  </a:lnTo>
                  <a:lnTo>
                    <a:pt x="927" y="9563"/>
                  </a:lnTo>
                  <a:lnTo>
                    <a:pt x="0" y="11811"/>
                  </a:lnTo>
                  <a:lnTo>
                    <a:pt x="0" y="14439"/>
                  </a:lnTo>
                  <a:lnTo>
                    <a:pt x="0" y="17068"/>
                  </a:lnTo>
                  <a:lnTo>
                    <a:pt x="927" y="19316"/>
                  </a:lnTo>
                  <a:lnTo>
                    <a:pt x="4648" y="23037"/>
                  </a:lnTo>
                  <a:lnTo>
                    <a:pt x="6896" y="23964"/>
                  </a:lnTo>
                  <a:lnTo>
                    <a:pt x="1095375" y="23964"/>
                  </a:lnTo>
                  <a:lnTo>
                    <a:pt x="1095375" y="628650"/>
                  </a:lnTo>
                  <a:lnTo>
                    <a:pt x="1095375" y="631278"/>
                  </a:lnTo>
                  <a:lnTo>
                    <a:pt x="1096302" y="633526"/>
                  </a:lnTo>
                  <a:lnTo>
                    <a:pt x="1100023" y="637247"/>
                  </a:lnTo>
                  <a:lnTo>
                    <a:pt x="1102271" y="638175"/>
                  </a:lnTo>
                  <a:lnTo>
                    <a:pt x="1107528" y="638175"/>
                  </a:lnTo>
                  <a:lnTo>
                    <a:pt x="1109776" y="637247"/>
                  </a:lnTo>
                  <a:lnTo>
                    <a:pt x="1113497" y="633526"/>
                  </a:lnTo>
                  <a:lnTo>
                    <a:pt x="1114425" y="631278"/>
                  </a:lnTo>
                  <a:lnTo>
                    <a:pt x="1114425" y="23964"/>
                  </a:lnTo>
                  <a:lnTo>
                    <a:pt x="9365704" y="23964"/>
                  </a:lnTo>
                  <a:lnTo>
                    <a:pt x="9367952" y="23037"/>
                  </a:lnTo>
                  <a:lnTo>
                    <a:pt x="9371673" y="19316"/>
                  </a:lnTo>
                  <a:lnTo>
                    <a:pt x="9372600" y="17068"/>
                  </a:lnTo>
                  <a:lnTo>
                    <a:pt x="9372600" y="11811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933575" y="4195609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84"/>
                  </a:lnTo>
                  <a:lnTo>
                    <a:pt x="0" y="19761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61"/>
                  </a:lnTo>
                  <a:lnTo>
                    <a:pt x="392722" y="584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14850" y="4395634"/>
              <a:ext cx="19050" cy="638175"/>
            </a:xfrm>
            <a:custGeom>
              <a:avLst/>
              <a:gdLst/>
              <a:ahLst/>
              <a:cxnLst/>
              <a:rect l="l" t="t" r="r" b="b"/>
              <a:pathLst>
                <a:path w="19050" h="6381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628650"/>
                  </a:lnTo>
                  <a:lnTo>
                    <a:pt x="0" y="631278"/>
                  </a:lnTo>
                  <a:lnTo>
                    <a:pt x="927" y="633526"/>
                  </a:lnTo>
                  <a:lnTo>
                    <a:pt x="4648" y="637247"/>
                  </a:lnTo>
                  <a:lnTo>
                    <a:pt x="6896" y="638175"/>
                  </a:lnTo>
                  <a:lnTo>
                    <a:pt x="12153" y="638175"/>
                  </a:lnTo>
                  <a:lnTo>
                    <a:pt x="14401" y="637247"/>
                  </a:lnTo>
                  <a:lnTo>
                    <a:pt x="18122" y="633526"/>
                  </a:lnTo>
                  <a:lnTo>
                    <a:pt x="19050" y="63127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314825" y="4195609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84"/>
                  </a:lnTo>
                  <a:lnTo>
                    <a:pt x="0" y="19761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61"/>
                  </a:lnTo>
                  <a:lnTo>
                    <a:pt x="392722" y="584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896100" y="4395634"/>
              <a:ext cx="19050" cy="638175"/>
            </a:xfrm>
            <a:custGeom>
              <a:avLst/>
              <a:gdLst/>
              <a:ahLst/>
              <a:cxnLst/>
              <a:rect l="l" t="t" r="r" b="b"/>
              <a:pathLst>
                <a:path w="19050" h="6381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628650"/>
                  </a:lnTo>
                  <a:lnTo>
                    <a:pt x="0" y="631278"/>
                  </a:lnTo>
                  <a:lnTo>
                    <a:pt x="927" y="633526"/>
                  </a:lnTo>
                  <a:lnTo>
                    <a:pt x="4648" y="637247"/>
                  </a:lnTo>
                  <a:lnTo>
                    <a:pt x="6896" y="638175"/>
                  </a:lnTo>
                  <a:lnTo>
                    <a:pt x="12153" y="638175"/>
                  </a:lnTo>
                  <a:lnTo>
                    <a:pt x="14401" y="637247"/>
                  </a:lnTo>
                  <a:lnTo>
                    <a:pt x="18122" y="633526"/>
                  </a:lnTo>
                  <a:lnTo>
                    <a:pt x="19050" y="63127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705600" y="4195609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84"/>
                  </a:lnTo>
                  <a:lnTo>
                    <a:pt x="0" y="19761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61"/>
                  </a:lnTo>
                  <a:lnTo>
                    <a:pt x="392722" y="584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216325" y="5192708"/>
            <a:ext cx="1837055" cy="2638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D9E1FF"/>
                </a:solidFill>
                <a:latin typeface="Trebuchet MS"/>
                <a:cs typeface="Trebuchet MS"/>
              </a:rPr>
              <a:t>1981:</a:t>
            </a:r>
            <a:endParaRPr sz="1650">
              <a:latin typeface="Trebuchet MS"/>
              <a:cs typeface="Trebuchet MS"/>
            </a:endParaRPr>
          </a:p>
          <a:p>
            <a:pPr algn="ctr" marL="45720" marR="38100">
              <a:lnSpc>
                <a:spcPct val="106100"/>
              </a:lnSpc>
            </a:pPr>
            <a:r>
              <a:rPr dirty="0" sz="1650" spc="220" b="1">
                <a:solidFill>
                  <a:srgbClr val="D9E1FF"/>
                </a:solidFill>
                <a:latin typeface="Trebuchet MS"/>
                <a:cs typeface="Trebuchet MS"/>
              </a:rPr>
              <a:t>Nacimien</a:t>
            </a:r>
            <a:r>
              <a:rPr dirty="0" sz="1650" spc="145" b="1">
                <a:solidFill>
                  <a:srgbClr val="D9E1FF"/>
                </a:solidFill>
                <a:latin typeface="Trebuchet MS"/>
                <a:cs typeface="Trebuchet MS"/>
              </a:rPr>
              <a:t>t</a:t>
            </a:r>
            <a:r>
              <a:rPr dirty="0" sz="1650" spc="250" b="1">
                <a:solidFill>
                  <a:srgbClr val="D9E1FF"/>
                </a:solidFill>
                <a:latin typeface="Trebuchet MS"/>
                <a:cs typeface="Trebuchet MS"/>
              </a:rPr>
              <a:t>o</a:t>
            </a:r>
            <a:r>
              <a:rPr dirty="0" sz="1650" spc="-9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85" b="1">
                <a:solidFill>
                  <a:srgbClr val="D9E1FF"/>
                </a:solidFill>
                <a:latin typeface="Trebuchet MS"/>
                <a:cs typeface="Trebuchet MS"/>
              </a:rPr>
              <a:t>de  </a:t>
            </a:r>
            <a:r>
              <a:rPr dirty="0" sz="1650" spc="215" b="1">
                <a:solidFill>
                  <a:srgbClr val="D9E1FF"/>
                </a:solidFill>
                <a:latin typeface="Trebuchet MS"/>
                <a:cs typeface="Trebuchet MS"/>
              </a:rPr>
              <a:t>IPv4</a:t>
            </a:r>
            <a:endParaRPr sz="1650">
              <a:latin typeface="Trebuchet MS"/>
              <a:cs typeface="Trebuchet MS"/>
            </a:endParaRPr>
          </a:p>
          <a:p>
            <a:pPr algn="ctr" marL="12065" marR="5080" indent="-635">
              <a:lnSpc>
                <a:spcPct val="138400"/>
              </a:lnSpc>
              <a:spcBef>
                <a:spcPts val="55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IPv4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se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implementa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espacio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direcciones</a:t>
            </a:r>
            <a:r>
              <a:rPr dirty="0" sz="1400" spc="-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-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32</a:t>
            </a:r>
            <a:r>
              <a:rPr dirty="0" sz="1400" spc="-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bits.</a:t>
            </a:r>
            <a:endParaRPr sz="1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7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Nadie</a:t>
            </a:r>
            <a:r>
              <a:rPr dirty="0" sz="1400" spc="-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prevé</a:t>
            </a:r>
            <a:r>
              <a:rPr dirty="0" sz="1400" spc="-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el</a:t>
            </a:r>
            <a:endParaRPr sz="1400">
              <a:latin typeface="Arial MT"/>
              <a:cs typeface="Arial MT"/>
            </a:endParaRPr>
          </a:p>
          <a:p>
            <a:pPr algn="ctr" marL="48260" marR="40005">
              <a:lnSpc>
                <a:spcPct val="133900"/>
              </a:lnSpc>
              <a:spcBef>
                <a:spcPts val="7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crecimiento explosivo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Internet.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3105" y="5192708"/>
            <a:ext cx="1856739" cy="2638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85" b="1">
                <a:solidFill>
                  <a:srgbClr val="D9E1FF"/>
                </a:solidFill>
                <a:latin typeface="Trebuchet MS"/>
                <a:cs typeface="Trebuchet MS"/>
              </a:rPr>
              <a:t>1990s:</a:t>
            </a:r>
            <a:endParaRPr sz="1650">
              <a:latin typeface="Trebuchet MS"/>
              <a:cs typeface="Trebuchet MS"/>
            </a:endParaRPr>
          </a:p>
          <a:p>
            <a:pPr algn="ctr" marL="157480" marR="149860">
              <a:lnSpc>
                <a:spcPct val="106100"/>
              </a:lnSpc>
            </a:pPr>
            <a:r>
              <a:rPr dirty="0" sz="1650" spc="270" b="1">
                <a:solidFill>
                  <a:srgbClr val="D9E1FF"/>
                </a:solidFill>
                <a:latin typeface="Trebuchet MS"/>
                <a:cs typeface="Trebuchet MS"/>
              </a:rPr>
              <a:t>A</a:t>
            </a:r>
            <a:r>
              <a:rPr dirty="0" sz="1650" spc="229" b="1">
                <a:solidFill>
                  <a:srgbClr val="D9E1FF"/>
                </a:solidFill>
                <a:latin typeface="Trebuchet MS"/>
                <a:cs typeface="Trebuchet MS"/>
              </a:rPr>
              <a:t>ą</a:t>
            </a:r>
            <a:r>
              <a:rPr dirty="0" sz="1650" spc="235" b="1">
                <a:solidFill>
                  <a:srgbClr val="D9E1FF"/>
                </a:solidFill>
                <a:latin typeface="Trebuchet MS"/>
                <a:cs typeface="Trebuchet MS"/>
              </a:rPr>
              <a:t>o</a:t>
            </a:r>
            <a:r>
              <a:rPr dirty="0" sz="1650" spc="60" b="1">
                <a:solidFill>
                  <a:srgbClr val="D9E1FF"/>
                </a:solidFill>
                <a:latin typeface="Trebuchet MS"/>
                <a:cs typeface="Trebuchet MS"/>
              </a:rPr>
              <a:t>t</a:t>
            </a:r>
            <a:r>
              <a:rPr dirty="0" sz="1650" spc="220" b="1">
                <a:solidFill>
                  <a:srgbClr val="D9E1FF"/>
                </a:solidFill>
                <a:latin typeface="Trebuchet MS"/>
                <a:cs typeface="Trebuchet MS"/>
              </a:rPr>
              <a:t>amien</a:t>
            </a:r>
            <a:r>
              <a:rPr dirty="0" sz="1650" spc="135" b="1">
                <a:solidFill>
                  <a:srgbClr val="D9E1FF"/>
                </a:solidFill>
                <a:latin typeface="Trebuchet MS"/>
                <a:cs typeface="Trebuchet MS"/>
              </a:rPr>
              <a:t>t</a:t>
            </a:r>
            <a:r>
              <a:rPr dirty="0" sz="1650" spc="175" b="1">
                <a:solidFill>
                  <a:srgbClr val="D9E1FF"/>
                </a:solidFill>
                <a:latin typeface="Trebuchet MS"/>
                <a:cs typeface="Trebuchet MS"/>
              </a:rPr>
              <a:t>o  </a:t>
            </a:r>
            <a:r>
              <a:rPr dirty="0" sz="1650" spc="170" b="1">
                <a:solidFill>
                  <a:srgbClr val="D9E1FF"/>
                </a:solidFill>
                <a:latin typeface="Trebuchet MS"/>
                <a:cs typeface="Trebuchet MS"/>
              </a:rPr>
              <a:t>Inminente</a:t>
            </a:r>
            <a:endParaRPr sz="1650">
              <a:latin typeface="Trebuchet MS"/>
              <a:cs typeface="Trebuchet MS"/>
            </a:endParaRPr>
          </a:p>
          <a:p>
            <a:pPr algn="ctr" marL="12700" marR="5080">
              <a:lnSpc>
                <a:spcPct val="136600"/>
              </a:lnSpc>
              <a:spcBef>
                <a:spcPts val="58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El rápido crecimiento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Internet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amenaza </a:t>
            </a:r>
            <a:r>
              <a:rPr dirty="0" sz="1400" spc="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 agotar las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direcciones IPv4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disponibles. Comienza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el</a:t>
            </a:r>
            <a:r>
              <a:rPr dirty="0" sz="1400" spc="-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desarrollo</a:t>
            </a:r>
            <a:r>
              <a:rPr dirty="0" sz="1400" spc="-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-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IPv6.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71789" y="4211484"/>
            <a:ext cx="493204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369185" algn="l"/>
                <a:tab pos="4753610" algn="l"/>
              </a:tabLst>
            </a:pPr>
            <a:r>
              <a:rPr dirty="0" sz="2000" spc="-390" b="1">
                <a:solidFill>
                  <a:srgbClr val="D9E1FF"/>
                </a:solidFill>
                <a:latin typeface="Trebuchet MS"/>
                <a:cs typeface="Trebuchet MS"/>
              </a:rPr>
              <a:t>1</a:t>
            </a:r>
            <a:r>
              <a:rPr dirty="0" sz="2000" spc="-390" b="1">
                <a:solidFill>
                  <a:srgbClr val="D9E1FF"/>
                </a:solidFill>
                <a:latin typeface="Trebuchet MS"/>
                <a:cs typeface="Trebuchet MS"/>
              </a:rPr>
              <a:t>	</a:t>
            </a:r>
            <a:r>
              <a:rPr dirty="0" sz="2000" spc="90" b="1">
                <a:solidFill>
                  <a:srgbClr val="D9E1FF"/>
                </a:solidFill>
                <a:latin typeface="Trebuchet MS"/>
                <a:cs typeface="Trebuchet MS"/>
              </a:rPr>
              <a:t>2</a:t>
            </a:r>
            <a:r>
              <a:rPr dirty="0" sz="2000" spc="90" b="1">
                <a:solidFill>
                  <a:srgbClr val="D9E1FF"/>
                </a:solidFill>
                <a:latin typeface="Trebuchet MS"/>
                <a:cs typeface="Trebuchet MS"/>
              </a:rPr>
              <a:t>	</a:t>
            </a:r>
            <a:r>
              <a:rPr dirty="0" sz="2000" spc="125" b="1">
                <a:solidFill>
                  <a:srgbClr val="D9E1F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05159" y="5192708"/>
            <a:ext cx="1806575" cy="26384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35" b="1">
                <a:solidFill>
                  <a:srgbClr val="D9E1FF"/>
                </a:solidFill>
                <a:latin typeface="Trebuchet MS"/>
                <a:cs typeface="Trebuchet MS"/>
              </a:rPr>
              <a:t>1998:</a:t>
            </a:r>
            <a:endParaRPr sz="1650">
              <a:latin typeface="Trebuchet MS"/>
              <a:cs typeface="Trebuchet MS"/>
            </a:endParaRPr>
          </a:p>
          <a:p>
            <a:pPr algn="ctr" marL="12700" marR="5080">
              <a:lnSpc>
                <a:spcPct val="106100"/>
              </a:lnSpc>
            </a:pPr>
            <a:r>
              <a:rPr dirty="0" sz="1650" spc="240" b="1">
                <a:solidFill>
                  <a:srgbClr val="D9E1FF"/>
                </a:solidFill>
                <a:latin typeface="Trebuchet MS"/>
                <a:cs typeface="Trebuchet MS"/>
              </a:rPr>
              <a:t>Es</a:t>
            </a:r>
            <a:r>
              <a:rPr dirty="0" sz="1650" spc="175" b="1">
                <a:solidFill>
                  <a:srgbClr val="D9E1FF"/>
                </a:solidFill>
                <a:latin typeface="Trebuchet MS"/>
                <a:cs typeface="Trebuchet MS"/>
              </a:rPr>
              <a:t>t</a:t>
            </a:r>
            <a:r>
              <a:rPr dirty="0" sz="1650" spc="180" b="1">
                <a:solidFill>
                  <a:srgbClr val="D9E1FF"/>
                </a:solidFill>
                <a:latin typeface="Trebuchet MS"/>
                <a:cs typeface="Trebuchet MS"/>
              </a:rPr>
              <a:t>andari</a:t>
            </a:r>
            <a:r>
              <a:rPr dirty="0" sz="1650" spc="175" b="1">
                <a:solidFill>
                  <a:srgbClr val="D9E1FF"/>
                </a:solidFill>
                <a:latin typeface="Trebuchet MS"/>
                <a:cs typeface="Trebuchet MS"/>
              </a:rPr>
              <a:t>z</a:t>
            </a:r>
            <a:r>
              <a:rPr dirty="0" sz="1650" spc="190" b="1">
                <a:solidFill>
                  <a:srgbClr val="D9E1FF"/>
                </a:solidFill>
                <a:latin typeface="Trebuchet MS"/>
                <a:cs typeface="Trebuchet MS"/>
              </a:rPr>
              <a:t>ació  </a:t>
            </a:r>
            <a:r>
              <a:rPr dirty="0" sz="1650" spc="195" b="1">
                <a:solidFill>
                  <a:srgbClr val="D9E1FF"/>
                </a:solidFill>
                <a:latin typeface="Trebuchet MS"/>
                <a:cs typeface="Trebuchet MS"/>
              </a:rPr>
              <a:t>n</a:t>
            </a:r>
            <a:r>
              <a:rPr dirty="0" sz="1650" spc="-10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0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04" b="1">
                <a:solidFill>
                  <a:srgbClr val="D9E1FF"/>
                </a:solidFill>
                <a:latin typeface="Trebuchet MS"/>
                <a:cs typeface="Trebuchet MS"/>
              </a:rPr>
              <a:t>IPv6</a:t>
            </a:r>
            <a:endParaRPr sz="1650">
              <a:latin typeface="Trebuchet MS"/>
              <a:cs typeface="Trebuchet MS"/>
            </a:endParaRPr>
          </a:p>
          <a:p>
            <a:pPr algn="ctr" marL="12065" marR="5080">
              <a:lnSpc>
                <a:spcPct val="136600"/>
              </a:lnSpc>
              <a:spcBef>
                <a:spcPts val="58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El IETF publica las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especificaciones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básicas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IPv6,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ofreciendo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espacio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-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direcciones</a:t>
            </a:r>
            <a:r>
              <a:rPr dirty="0" sz="1400" spc="-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-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128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bits.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086850" y="4195609"/>
            <a:ext cx="409575" cy="838200"/>
            <a:chOff x="9086850" y="4195609"/>
            <a:chExt cx="409575" cy="838200"/>
          </a:xfrm>
        </p:grpSpPr>
        <p:sp>
          <p:nvSpPr>
            <p:cNvPr id="17" name="object 17"/>
            <p:cNvSpPr/>
            <p:nvPr/>
          </p:nvSpPr>
          <p:spPr>
            <a:xfrm>
              <a:off x="9286875" y="4395634"/>
              <a:ext cx="19050" cy="638175"/>
            </a:xfrm>
            <a:custGeom>
              <a:avLst/>
              <a:gdLst/>
              <a:ahLst/>
              <a:cxnLst/>
              <a:rect l="l" t="t" r="r" b="b"/>
              <a:pathLst>
                <a:path w="19050" h="638175">
                  <a:moveTo>
                    <a:pt x="121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628650"/>
                  </a:lnTo>
                  <a:lnTo>
                    <a:pt x="0" y="631278"/>
                  </a:lnTo>
                  <a:lnTo>
                    <a:pt x="927" y="633526"/>
                  </a:lnTo>
                  <a:lnTo>
                    <a:pt x="4648" y="637247"/>
                  </a:lnTo>
                  <a:lnTo>
                    <a:pt x="6896" y="638175"/>
                  </a:lnTo>
                  <a:lnTo>
                    <a:pt x="12153" y="638175"/>
                  </a:lnTo>
                  <a:lnTo>
                    <a:pt x="14401" y="637247"/>
                  </a:lnTo>
                  <a:lnTo>
                    <a:pt x="18122" y="633526"/>
                  </a:lnTo>
                  <a:lnTo>
                    <a:pt x="19050" y="631278"/>
                  </a:lnTo>
                  <a:lnTo>
                    <a:pt x="19050" y="6896"/>
                  </a:lnTo>
                  <a:lnTo>
                    <a:pt x="18122" y="4648"/>
                  </a:lnTo>
                  <a:lnTo>
                    <a:pt x="14401" y="927"/>
                  </a:lnTo>
                  <a:lnTo>
                    <a:pt x="12153" y="0"/>
                  </a:lnTo>
                  <a:close/>
                </a:path>
              </a:pathLst>
            </a:custGeom>
            <a:solidFill>
              <a:srgbClr val="4341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9086850" y="4195609"/>
              <a:ext cx="409575" cy="409575"/>
            </a:xfrm>
            <a:custGeom>
              <a:avLst/>
              <a:gdLst/>
              <a:ahLst/>
              <a:cxnLst/>
              <a:rect l="l" t="t" r="r" b="b"/>
              <a:pathLst>
                <a:path w="409575" h="409575">
                  <a:moveTo>
                    <a:pt x="389826" y="0"/>
                  </a:moveTo>
                  <a:lnTo>
                    <a:pt x="19748" y="0"/>
                  </a:lnTo>
                  <a:lnTo>
                    <a:pt x="16852" y="584"/>
                  </a:lnTo>
                  <a:lnTo>
                    <a:pt x="0" y="19761"/>
                  </a:lnTo>
                  <a:lnTo>
                    <a:pt x="0" y="386803"/>
                  </a:lnTo>
                  <a:lnTo>
                    <a:pt x="0" y="389826"/>
                  </a:lnTo>
                  <a:lnTo>
                    <a:pt x="19748" y="409575"/>
                  </a:lnTo>
                  <a:lnTo>
                    <a:pt x="389826" y="409575"/>
                  </a:lnTo>
                  <a:lnTo>
                    <a:pt x="409575" y="389826"/>
                  </a:lnTo>
                  <a:lnTo>
                    <a:pt x="409575" y="19761"/>
                  </a:lnTo>
                  <a:lnTo>
                    <a:pt x="392722" y="584"/>
                  </a:lnTo>
                  <a:lnTo>
                    <a:pt x="389826" y="0"/>
                  </a:lnTo>
                  <a:close/>
                </a:path>
              </a:pathLst>
            </a:custGeom>
            <a:solidFill>
              <a:srgbClr val="2B29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191129" y="4211484"/>
            <a:ext cx="208279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265" b="1">
                <a:solidFill>
                  <a:srgbClr val="D9E1FF"/>
                </a:solidFill>
                <a:latin typeface="Trebuchet MS"/>
                <a:cs typeface="Trebuchet MS"/>
              </a:rPr>
              <a:t>4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22581" y="5192708"/>
            <a:ext cx="1745614" cy="2933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650" spc="15" b="1">
                <a:solidFill>
                  <a:srgbClr val="D9E1FF"/>
                </a:solidFill>
                <a:latin typeface="Trebuchet MS"/>
                <a:cs typeface="Trebuchet MS"/>
              </a:rPr>
              <a:t>20</a:t>
            </a:r>
            <a:r>
              <a:rPr dirty="0" sz="1650" spc="20" b="1">
                <a:solidFill>
                  <a:srgbClr val="D9E1FF"/>
                </a:solidFill>
                <a:latin typeface="Trebuchet MS"/>
                <a:cs typeface="Trebuchet MS"/>
              </a:rPr>
              <a:t>1</a:t>
            </a:r>
            <a:r>
              <a:rPr dirty="0" sz="1650" spc="-310" b="1">
                <a:solidFill>
                  <a:srgbClr val="D9E1FF"/>
                </a:solidFill>
                <a:latin typeface="Trebuchet MS"/>
                <a:cs typeface="Trebuchet MS"/>
              </a:rPr>
              <a:t>1</a:t>
            </a:r>
            <a:r>
              <a:rPr dirty="0" sz="1650" spc="-105" b="1">
                <a:solidFill>
                  <a:srgbClr val="D9E1FF"/>
                </a:solidFill>
                <a:latin typeface="Trebuchet MS"/>
                <a:cs typeface="Trebuchet MS"/>
              </a:rPr>
              <a:t>:</a:t>
            </a:r>
            <a:r>
              <a:rPr dirty="0" sz="1650" spc="-9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25" b="1">
                <a:solidFill>
                  <a:srgbClr val="D9E1FF"/>
                </a:solidFill>
                <a:latin typeface="Trebuchet MS"/>
                <a:cs typeface="Trebuchet MS"/>
              </a:rPr>
              <a:t>Día</a:t>
            </a:r>
            <a:endParaRPr sz="1650">
              <a:latin typeface="Trebuchet MS"/>
              <a:cs typeface="Trebuchet MS"/>
            </a:endParaRPr>
          </a:p>
          <a:p>
            <a:pPr algn="ctr" marL="212725" marR="205104">
              <a:lnSpc>
                <a:spcPct val="106100"/>
              </a:lnSpc>
            </a:pPr>
            <a:r>
              <a:rPr dirty="0" sz="1650" spc="225" b="1">
                <a:solidFill>
                  <a:srgbClr val="D9E1FF"/>
                </a:solidFill>
                <a:latin typeface="Trebuchet MS"/>
                <a:cs typeface="Trebuchet MS"/>
              </a:rPr>
              <a:t>Mundial</a:t>
            </a:r>
            <a:r>
              <a:rPr dirty="0" sz="1650" spc="-9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85" b="1">
                <a:solidFill>
                  <a:srgbClr val="D9E1FF"/>
                </a:solidFill>
                <a:latin typeface="Trebuchet MS"/>
                <a:cs typeface="Trebuchet MS"/>
              </a:rPr>
              <a:t>de  </a:t>
            </a:r>
            <a:r>
              <a:rPr dirty="0" sz="1650" spc="204" b="1">
                <a:solidFill>
                  <a:srgbClr val="D9E1FF"/>
                </a:solidFill>
                <a:latin typeface="Trebuchet MS"/>
                <a:cs typeface="Trebuchet MS"/>
              </a:rPr>
              <a:t>IPv6</a:t>
            </a:r>
            <a:endParaRPr sz="1650">
              <a:latin typeface="Trebuchet MS"/>
              <a:cs typeface="Trebuchet MS"/>
            </a:endParaRPr>
          </a:p>
          <a:p>
            <a:pPr algn="ctr" marL="27940" marR="19685">
              <a:lnSpc>
                <a:spcPct val="136900"/>
              </a:lnSpc>
              <a:spcBef>
                <a:spcPts val="57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Grandes empresas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proveedores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servicios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habilitan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IPv6</a:t>
            </a:r>
            <a:endParaRPr sz="1400">
              <a:latin typeface="Arial MT"/>
              <a:cs typeface="Arial MT"/>
            </a:endParaRPr>
          </a:p>
          <a:p>
            <a:pPr algn="ctr" marL="12700" marR="5080">
              <a:lnSpc>
                <a:spcPct val="136200"/>
              </a:lnSpc>
              <a:spcBef>
                <a:spcPts val="3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permanentemente,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marcando el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inicio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adopción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global.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21" name="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81602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896225"/>
          </a:xfrm>
          <a:custGeom>
            <a:avLst/>
            <a:gdLst/>
            <a:ahLst/>
            <a:cxnLst/>
            <a:rect l="l" t="t" r="r" b="b"/>
            <a:pathLst>
              <a:path w="11430000" h="7896225">
                <a:moveTo>
                  <a:pt x="11430000" y="0"/>
                </a:moveTo>
                <a:lnTo>
                  <a:pt x="0" y="0"/>
                </a:lnTo>
                <a:lnTo>
                  <a:pt x="0" y="7896225"/>
                </a:lnTo>
                <a:lnTo>
                  <a:pt x="11430000" y="78962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7896225"/>
            <a:chOff x="7143750" y="0"/>
            <a:chExt cx="4286250" cy="78962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78962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7386066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73075"/>
            <a:ext cx="399542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20"/>
              <a:t>Estructura</a:t>
            </a:r>
            <a:r>
              <a:rPr dirty="0" spc="-225"/>
              <a:t> </a:t>
            </a:r>
            <a:r>
              <a:rPr dirty="0" spc="465"/>
              <a:t>de</a:t>
            </a:r>
            <a:r>
              <a:rPr dirty="0" spc="-225"/>
              <a:t> </a:t>
            </a:r>
            <a:r>
              <a:rPr dirty="0" spc="345"/>
              <a:t>las </a:t>
            </a:r>
            <a:r>
              <a:rPr dirty="0" spc="-990"/>
              <a:t> </a:t>
            </a:r>
            <a:r>
              <a:rPr dirty="0" spc="340"/>
              <a:t>Direcciones</a:t>
            </a:r>
            <a:r>
              <a:rPr dirty="0" spc="-240"/>
              <a:t> </a:t>
            </a:r>
            <a:r>
              <a:rPr dirty="0" spc="385"/>
              <a:t>IPv6</a:t>
            </a:r>
          </a:p>
        </p:txBody>
      </p:sp>
      <p:sp>
        <p:nvSpPr>
          <p:cNvPr id="7" name="object 7"/>
          <p:cNvSpPr/>
          <p:nvPr/>
        </p:nvSpPr>
        <p:spPr>
          <a:xfrm>
            <a:off x="638175" y="1847850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9" y="0"/>
                </a:lnTo>
                <a:lnTo>
                  <a:pt x="16847" y="584"/>
                </a:lnTo>
                <a:lnTo>
                  <a:pt x="0" y="19748"/>
                </a:lnTo>
                <a:lnTo>
                  <a:pt x="0" y="1301203"/>
                </a:lnTo>
                <a:lnTo>
                  <a:pt x="0" y="1304226"/>
                </a:lnTo>
                <a:lnTo>
                  <a:pt x="19749" y="1323975"/>
                </a:lnTo>
                <a:lnTo>
                  <a:pt x="5847651" y="1323975"/>
                </a:lnTo>
                <a:lnTo>
                  <a:pt x="5867400" y="1304226"/>
                </a:lnTo>
                <a:lnTo>
                  <a:pt x="5867400" y="19748"/>
                </a:lnTo>
                <a:lnTo>
                  <a:pt x="5850547" y="584"/>
                </a:lnTo>
                <a:lnTo>
                  <a:pt x="584765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07045" y="2001837"/>
            <a:ext cx="541845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00" b="1">
                <a:solidFill>
                  <a:srgbClr val="D9E1FF"/>
                </a:solidFill>
                <a:latin typeface="Trebuchet MS"/>
                <a:cs typeface="Trebuchet MS"/>
              </a:rPr>
              <a:t>Prefijo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90" b="1">
                <a:solidFill>
                  <a:srgbClr val="D9E1FF"/>
                </a:solidFill>
                <a:latin typeface="Trebuchet MS"/>
                <a:cs typeface="Trebuchet MS"/>
              </a:rPr>
              <a:t>Red</a:t>
            </a:r>
            <a:r>
              <a:rPr dirty="0" sz="1650" spc="-10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30" b="1">
                <a:solidFill>
                  <a:srgbClr val="D9E1FF"/>
                </a:solidFill>
                <a:latin typeface="Trebuchet MS"/>
                <a:cs typeface="Trebuchet MS"/>
              </a:rPr>
              <a:t>(64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05" b="1">
                <a:solidFill>
                  <a:srgbClr val="D9E1FF"/>
                </a:solidFill>
                <a:latin typeface="Trebuchet MS"/>
                <a:cs typeface="Trebuchet MS"/>
              </a:rPr>
              <a:t>bits)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Identifica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 red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o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sitio.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Incluye el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prefijo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routing global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el ID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subred.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8175" y="3352800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9" y="0"/>
                </a:lnTo>
                <a:lnTo>
                  <a:pt x="16847" y="584"/>
                </a:lnTo>
                <a:lnTo>
                  <a:pt x="0" y="19748"/>
                </a:lnTo>
                <a:lnTo>
                  <a:pt x="0" y="1301203"/>
                </a:lnTo>
                <a:lnTo>
                  <a:pt x="0" y="1304226"/>
                </a:lnTo>
                <a:lnTo>
                  <a:pt x="19749" y="1323975"/>
                </a:lnTo>
                <a:lnTo>
                  <a:pt x="5847651" y="1323975"/>
                </a:lnTo>
                <a:lnTo>
                  <a:pt x="5867400" y="1304226"/>
                </a:lnTo>
                <a:lnTo>
                  <a:pt x="5867400" y="19748"/>
                </a:lnTo>
                <a:lnTo>
                  <a:pt x="5850547" y="584"/>
                </a:lnTo>
                <a:lnTo>
                  <a:pt x="584765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807045" y="3506787"/>
            <a:ext cx="457898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54" b="1">
                <a:solidFill>
                  <a:srgbClr val="D9E1FF"/>
                </a:solidFill>
                <a:latin typeface="Trebuchet MS"/>
                <a:cs typeface="Trebuchet MS"/>
              </a:rPr>
              <a:t>ID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45" b="1">
                <a:solidFill>
                  <a:srgbClr val="D9E1FF"/>
                </a:solidFill>
                <a:latin typeface="Trebuchet MS"/>
                <a:cs typeface="Trebuchet MS"/>
              </a:rPr>
              <a:t>Interfaz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30" b="1">
                <a:solidFill>
                  <a:srgbClr val="D9E1FF"/>
                </a:solidFill>
                <a:latin typeface="Trebuchet MS"/>
                <a:cs typeface="Trebuchet MS"/>
              </a:rPr>
              <a:t>(64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05" b="1">
                <a:solidFill>
                  <a:srgbClr val="D9E1FF"/>
                </a:solidFill>
                <a:latin typeface="Trebuchet MS"/>
                <a:cs typeface="Trebuchet MS"/>
              </a:rPr>
              <a:t>bits)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Identifica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una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interfaz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dentro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 red.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Puede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generarse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automáticamente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o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configurarse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manualmente.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8175" y="4857750"/>
            <a:ext cx="5867400" cy="1323975"/>
          </a:xfrm>
          <a:custGeom>
            <a:avLst/>
            <a:gdLst/>
            <a:ahLst/>
            <a:cxnLst/>
            <a:rect l="l" t="t" r="r" b="b"/>
            <a:pathLst>
              <a:path w="5867400" h="1323975">
                <a:moveTo>
                  <a:pt x="5847651" y="0"/>
                </a:moveTo>
                <a:lnTo>
                  <a:pt x="19749" y="0"/>
                </a:lnTo>
                <a:lnTo>
                  <a:pt x="16847" y="584"/>
                </a:lnTo>
                <a:lnTo>
                  <a:pt x="0" y="19748"/>
                </a:lnTo>
                <a:lnTo>
                  <a:pt x="0" y="1301203"/>
                </a:lnTo>
                <a:lnTo>
                  <a:pt x="0" y="1304226"/>
                </a:lnTo>
                <a:lnTo>
                  <a:pt x="19749" y="1323975"/>
                </a:lnTo>
                <a:lnTo>
                  <a:pt x="5847651" y="1323975"/>
                </a:lnTo>
                <a:lnTo>
                  <a:pt x="5867400" y="1304226"/>
                </a:lnTo>
                <a:lnTo>
                  <a:pt x="5867400" y="19748"/>
                </a:lnTo>
                <a:lnTo>
                  <a:pt x="5850547" y="584"/>
                </a:lnTo>
                <a:lnTo>
                  <a:pt x="584765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7045" y="5011737"/>
            <a:ext cx="538861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25" b="1">
                <a:solidFill>
                  <a:srgbClr val="D9E1FF"/>
                </a:solidFill>
                <a:latin typeface="Trebuchet MS"/>
                <a:cs typeface="Trebuchet MS"/>
              </a:rPr>
              <a:t>Formato</a:t>
            </a:r>
            <a:r>
              <a:rPr dirty="0" sz="1650" spc="-114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95" b="1">
                <a:solidFill>
                  <a:srgbClr val="D9E1FF"/>
                </a:solidFill>
                <a:latin typeface="Trebuchet MS"/>
                <a:cs typeface="Trebuchet MS"/>
              </a:rPr>
              <a:t>Representación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Se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representa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hexadecimal, con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8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grupos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16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bits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separados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por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dos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puntos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(:).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175" y="6362700"/>
            <a:ext cx="5867400" cy="1038225"/>
          </a:xfrm>
          <a:custGeom>
            <a:avLst/>
            <a:gdLst/>
            <a:ahLst/>
            <a:cxnLst/>
            <a:rect l="l" t="t" r="r" b="b"/>
            <a:pathLst>
              <a:path w="5867400" h="1038225">
                <a:moveTo>
                  <a:pt x="5847651" y="0"/>
                </a:moveTo>
                <a:lnTo>
                  <a:pt x="19749" y="0"/>
                </a:lnTo>
                <a:lnTo>
                  <a:pt x="16847" y="571"/>
                </a:lnTo>
                <a:lnTo>
                  <a:pt x="0" y="19748"/>
                </a:lnTo>
                <a:lnTo>
                  <a:pt x="0" y="1015453"/>
                </a:lnTo>
                <a:lnTo>
                  <a:pt x="0" y="1018473"/>
                </a:lnTo>
                <a:lnTo>
                  <a:pt x="19749" y="1038223"/>
                </a:lnTo>
                <a:lnTo>
                  <a:pt x="5847651" y="1038223"/>
                </a:lnTo>
                <a:lnTo>
                  <a:pt x="5867400" y="1018473"/>
                </a:lnTo>
                <a:lnTo>
                  <a:pt x="5867400" y="19748"/>
                </a:lnTo>
                <a:lnTo>
                  <a:pt x="5850547" y="571"/>
                </a:lnTo>
                <a:lnTo>
                  <a:pt x="584765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07045" y="6516686"/>
            <a:ext cx="3618865" cy="657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 b="1">
                <a:solidFill>
                  <a:srgbClr val="D9E1FF"/>
                </a:solidFill>
                <a:latin typeface="Trebuchet MS"/>
                <a:cs typeface="Trebuchet MS"/>
              </a:rPr>
              <a:t>Ejemplo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2001:0db8:85a3:0000:0000:8a2e:0370:7334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7239000"/>
          </a:xfrm>
          <a:custGeom>
            <a:avLst/>
            <a:gdLst/>
            <a:ahLst/>
            <a:cxnLst/>
            <a:rect l="l" t="t" r="r" b="b"/>
            <a:pathLst>
              <a:path w="11430000" h="7239000">
                <a:moveTo>
                  <a:pt x="11430000" y="0"/>
                </a:moveTo>
                <a:lnTo>
                  <a:pt x="0" y="0"/>
                </a:lnTo>
                <a:lnTo>
                  <a:pt x="0" y="7239000"/>
                </a:lnTo>
                <a:lnTo>
                  <a:pt x="11430000" y="7239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7239000"/>
            <a:chOff x="7143750" y="0"/>
            <a:chExt cx="4286250" cy="7239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72389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7246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73075"/>
            <a:ext cx="5513705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25"/>
              <a:t>Diferencias</a:t>
            </a:r>
            <a:r>
              <a:rPr dirty="0" spc="-229"/>
              <a:t> </a:t>
            </a:r>
            <a:r>
              <a:rPr dirty="0" spc="430"/>
              <a:t>Clave</a:t>
            </a:r>
            <a:r>
              <a:rPr dirty="0" spc="-229"/>
              <a:t> </a:t>
            </a:r>
            <a:r>
              <a:rPr dirty="0" spc="225"/>
              <a:t>entre </a:t>
            </a:r>
            <a:r>
              <a:rPr dirty="0" spc="-994"/>
              <a:t> </a:t>
            </a:r>
            <a:r>
              <a:rPr dirty="0" spc="405"/>
              <a:t>IPv4</a:t>
            </a:r>
            <a:r>
              <a:rPr dirty="0" spc="-204"/>
              <a:t> </a:t>
            </a:r>
            <a:r>
              <a:rPr dirty="0" spc="360"/>
              <a:t>e</a:t>
            </a:r>
            <a:r>
              <a:rPr dirty="0" spc="-204"/>
              <a:t> </a:t>
            </a:r>
            <a:r>
              <a:rPr dirty="0" spc="385"/>
              <a:t>IPv6</a:t>
            </a:r>
          </a:p>
        </p:txBody>
      </p:sp>
      <p:sp>
        <p:nvSpPr>
          <p:cNvPr id="7" name="object 7"/>
          <p:cNvSpPr/>
          <p:nvPr/>
        </p:nvSpPr>
        <p:spPr>
          <a:xfrm>
            <a:off x="642937" y="1852612"/>
            <a:ext cx="5857875" cy="4876800"/>
          </a:xfrm>
          <a:custGeom>
            <a:avLst/>
            <a:gdLst/>
            <a:ahLst/>
            <a:cxnLst/>
            <a:rect l="l" t="t" r="r" b="b"/>
            <a:pathLst>
              <a:path w="5857875" h="4876800">
                <a:moveTo>
                  <a:pt x="0" y="4858791"/>
                </a:moveTo>
                <a:lnTo>
                  <a:pt x="0" y="18008"/>
                </a:lnTo>
                <a:lnTo>
                  <a:pt x="0" y="15621"/>
                </a:lnTo>
                <a:lnTo>
                  <a:pt x="455" y="13322"/>
                </a:lnTo>
                <a:lnTo>
                  <a:pt x="15622" y="0"/>
                </a:lnTo>
                <a:lnTo>
                  <a:pt x="18008" y="0"/>
                </a:lnTo>
                <a:lnTo>
                  <a:pt x="5839866" y="0"/>
                </a:lnTo>
                <a:lnTo>
                  <a:pt x="5842254" y="0"/>
                </a:lnTo>
                <a:lnTo>
                  <a:pt x="5844552" y="457"/>
                </a:lnTo>
                <a:lnTo>
                  <a:pt x="5846762" y="1371"/>
                </a:lnTo>
                <a:lnTo>
                  <a:pt x="5848959" y="2286"/>
                </a:lnTo>
                <a:lnTo>
                  <a:pt x="5850915" y="3581"/>
                </a:lnTo>
                <a:lnTo>
                  <a:pt x="5852604" y="5270"/>
                </a:lnTo>
                <a:lnTo>
                  <a:pt x="5854293" y="6959"/>
                </a:lnTo>
                <a:lnTo>
                  <a:pt x="5855589" y="8915"/>
                </a:lnTo>
                <a:lnTo>
                  <a:pt x="5856503" y="11112"/>
                </a:lnTo>
                <a:lnTo>
                  <a:pt x="5857417" y="13322"/>
                </a:lnTo>
                <a:lnTo>
                  <a:pt x="5857875" y="15621"/>
                </a:lnTo>
                <a:lnTo>
                  <a:pt x="5857875" y="18008"/>
                </a:lnTo>
                <a:lnTo>
                  <a:pt x="5857875" y="4858791"/>
                </a:lnTo>
                <a:lnTo>
                  <a:pt x="5857875" y="4861177"/>
                </a:lnTo>
                <a:lnTo>
                  <a:pt x="5857417" y="4863475"/>
                </a:lnTo>
                <a:lnTo>
                  <a:pt x="5856503" y="4865682"/>
                </a:lnTo>
                <a:lnTo>
                  <a:pt x="5855589" y="4867884"/>
                </a:lnTo>
                <a:lnTo>
                  <a:pt x="5854293" y="4869835"/>
                </a:lnTo>
                <a:lnTo>
                  <a:pt x="5852604" y="4871521"/>
                </a:lnTo>
                <a:lnTo>
                  <a:pt x="5850915" y="4873213"/>
                </a:lnTo>
                <a:lnTo>
                  <a:pt x="5848959" y="4874512"/>
                </a:lnTo>
                <a:lnTo>
                  <a:pt x="5846762" y="4875425"/>
                </a:lnTo>
                <a:lnTo>
                  <a:pt x="5844552" y="4876344"/>
                </a:lnTo>
                <a:lnTo>
                  <a:pt x="5842254" y="4876800"/>
                </a:lnTo>
                <a:lnTo>
                  <a:pt x="5839866" y="4876800"/>
                </a:lnTo>
                <a:lnTo>
                  <a:pt x="18008" y="4876800"/>
                </a:lnTo>
                <a:lnTo>
                  <a:pt x="15622" y="4876800"/>
                </a:lnTo>
                <a:lnTo>
                  <a:pt x="13324" y="4876344"/>
                </a:lnTo>
                <a:lnTo>
                  <a:pt x="11117" y="4875425"/>
                </a:lnTo>
                <a:lnTo>
                  <a:pt x="8910" y="4874512"/>
                </a:lnTo>
                <a:lnTo>
                  <a:pt x="0" y="4861177"/>
                </a:lnTo>
                <a:lnTo>
                  <a:pt x="0" y="4858791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47700" y="1857375"/>
          <a:ext cx="5848350" cy="4867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/>
                <a:gridCol w="1952625"/>
                <a:gridCol w="1947545"/>
              </a:tblGrid>
              <a:tr h="53340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Característica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IPv4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IPv6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2245" marR="856615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-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Tamaño</a:t>
                      </a:r>
                      <a:r>
                        <a:rPr dirty="0" sz="1400" spc="-8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de </a:t>
                      </a:r>
                      <a:r>
                        <a:rPr dirty="0" sz="1400" spc="-37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Dirección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32</a:t>
                      </a:r>
                      <a:r>
                        <a:rPr dirty="0" sz="1400" spc="-3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128</a:t>
                      </a:r>
                      <a:r>
                        <a:rPr dirty="0" sz="1400" spc="-3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bits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2245" marR="826769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Formato</a:t>
                      </a:r>
                      <a:r>
                        <a:rPr dirty="0" sz="1400" spc="-6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de </a:t>
                      </a:r>
                      <a:r>
                        <a:rPr dirty="0" sz="1400" spc="-37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Dirección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8595" marR="754380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Decimal</a:t>
                      </a:r>
                      <a:r>
                        <a:rPr dirty="0" sz="1400" spc="-5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con </a:t>
                      </a:r>
                      <a:r>
                        <a:rPr dirty="0" sz="1400" spc="-37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puntos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358140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Hexadecimal con </a:t>
                      </a:r>
                      <a:r>
                        <a:rPr dirty="0" sz="1400" spc="-37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dos</a:t>
                      </a:r>
                      <a:r>
                        <a:rPr dirty="0" sz="1400" spc="-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puntos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2245" marR="806450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Número de </a:t>
                      </a:r>
                      <a:r>
                        <a:rPr dirty="0" sz="1400" spc="-37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-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Direccione</a:t>
                      </a:r>
                      <a:r>
                        <a:rPr dirty="0" sz="140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4.3</a:t>
                      </a:r>
                      <a:r>
                        <a:rPr dirty="0" sz="1400" spc="-2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mil</a:t>
                      </a:r>
                      <a:r>
                        <a:rPr dirty="0" sz="1400" spc="-2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millones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340</a:t>
                      </a:r>
                      <a:r>
                        <a:rPr dirty="0" sz="1400" spc="-2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sextillones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Configuración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Manual</a:t>
                      </a:r>
                      <a:r>
                        <a:rPr dirty="0" sz="1400" spc="-2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400" spc="-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2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DHCP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 marR="297180">
                        <a:lnSpc>
                          <a:spcPct val="138400"/>
                        </a:lnSpc>
                        <a:spcBef>
                          <a:spcPts val="430"/>
                        </a:spcBef>
                      </a:pPr>
                      <a:r>
                        <a:rPr dirty="0" sz="1400" spc="-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Autoconfiguració</a:t>
                      </a:r>
                      <a:r>
                        <a:rPr dirty="0" sz="140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n  </a:t>
                      </a: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o</a:t>
                      </a:r>
                      <a:r>
                        <a:rPr dirty="0" sz="1400" spc="-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DHCPv6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54610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Seguridad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Opcional</a:t>
                      </a:r>
                      <a:r>
                        <a:rPr dirty="0" sz="1400" spc="-3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(IPsec)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Integrada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46050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5F5F5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-2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NAT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R w="12700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Necesario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12700">
                      <a:solidFill>
                        <a:srgbClr val="0C0932"/>
                      </a:solidFill>
                      <a:prstDash val="solid"/>
                    </a:lnL>
                    <a:lnR w="9525">
                      <a:solidFill>
                        <a:srgbClr val="0C0932"/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400" spc="15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No</a:t>
                      </a:r>
                      <a:r>
                        <a:rPr dirty="0" sz="1400" spc="-3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400" spc="10">
                          <a:solidFill>
                            <a:srgbClr val="D9E1FF"/>
                          </a:solidFill>
                          <a:latin typeface="Arial MT"/>
                          <a:cs typeface="Arial MT"/>
                        </a:rPr>
                        <a:t>necesario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B="0" marT="136525">
                    <a:lnL w="9525">
                      <a:solidFill>
                        <a:srgbClr val="0C0932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587375"/>
            <a:ext cx="490855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45"/>
              <a:t>Tipos</a:t>
            </a:r>
            <a:r>
              <a:rPr dirty="0" spc="-235"/>
              <a:t> </a:t>
            </a:r>
            <a:r>
              <a:rPr dirty="0" spc="465"/>
              <a:t>de</a:t>
            </a:r>
            <a:r>
              <a:rPr dirty="0" spc="-229"/>
              <a:t> </a:t>
            </a:r>
            <a:r>
              <a:rPr dirty="0" spc="340"/>
              <a:t>Direcciones </a:t>
            </a:r>
            <a:r>
              <a:rPr dirty="0" spc="-990"/>
              <a:t> </a:t>
            </a:r>
            <a:r>
              <a:rPr dirty="0" spc="265"/>
              <a:t>IPv6:</a:t>
            </a:r>
            <a:r>
              <a:rPr dirty="0" spc="-204"/>
              <a:t> </a:t>
            </a:r>
            <a:r>
              <a:rPr dirty="0" spc="400"/>
              <a:t>Unicast</a:t>
            </a:r>
          </a:p>
        </p:txBody>
      </p:sp>
      <p:sp>
        <p:nvSpPr>
          <p:cNvPr id="5" name="object 5"/>
          <p:cNvSpPr/>
          <p:nvPr/>
        </p:nvSpPr>
        <p:spPr>
          <a:xfrm>
            <a:off x="4924425" y="2171699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8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065915" y="2187575"/>
            <a:ext cx="12509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390" b="1">
                <a:solidFill>
                  <a:srgbClr val="D9E1FF"/>
                </a:solidFill>
                <a:latin typeface="Trebuchet MS"/>
                <a:cs typeface="Trebuchet MS"/>
              </a:rPr>
              <a:t>1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03173" y="2144712"/>
            <a:ext cx="472122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5" b="1">
                <a:solidFill>
                  <a:srgbClr val="D9E1FF"/>
                </a:solidFill>
                <a:latin typeface="Trebuchet MS"/>
                <a:cs typeface="Trebuchet MS"/>
              </a:rPr>
              <a:t>Definición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Identifica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una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única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interfaz.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Los paquetes enviados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a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una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dirección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unicast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se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entregan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esa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interfaz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específica.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24425" y="3514725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86803"/>
                </a:lnTo>
                <a:lnTo>
                  <a:pt x="0" y="389826"/>
                </a:lnTo>
                <a:lnTo>
                  <a:pt x="19748" y="409575"/>
                </a:lnTo>
                <a:lnTo>
                  <a:pt x="389826" y="409575"/>
                </a:lnTo>
                <a:lnTo>
                  <a:pt x="409575" y="389826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035702" y="3530600"/>
            <a:ext cx="1860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90" b="1">
                <a:solidFill>
                  <a:srgbClr val="D9E1FF"/>
                </a:solidFill>
                <a:latin typeface="Trebuchet MS"/>
                <a:cs typeface="Trebuchet MS"/>
              </a:rPr>
              <a:t>2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3171" y="3487737"/>
            <a:ext cx="497332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5" b="1">
                <a:solidFill>
                  <a:srgbClr val="D9E1FF"/>
                </a:solidFill>
                <a:latin typeface="Trebuchet MS"/>
                <a:cs typeface="Trebuchet MS"/>
              </a:rPr>
              <a:t>Tipos</a:t>
            </a:r>
            <a:r>
              <a:rPr dirty="0" sz="1650" spc="-9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60" b="1">
                <a:solidFill>
                  <a:srgbClr val="D9E1FF"/>
                </a:solidFill>
                <a:latin typeface="Trebuchet MS"/>
                <a:cs typeface="Trebuchet MS"/>
              </a:rPr>
              <a:t>Principales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Global Unicast, Link-Local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Unique Local.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Cada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tipo tiene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propósito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alcance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específico.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24425" y="4857750"/>
            <a:ext cx="409575" cy="409575"/>
          </a:xfrm>
          <a:custGeom>
            <a:avLst/>
            <a:gdLst/>
            <a:ahLst/>
            <a:cxnLst/>
            <a:rect l="l" t="t" r="r" b="b"/>
            <a:pathLst>
              <a:path w="409575" h="409575">
                <a:moveTo>
                  <a:pt x="389826" y="0"/>
                </a:moveTo>
                <a:lnTo>
                  <a:pt x="19748" y="0"/>
                </a:lnTo>
                <a:lnTo>
                  <a:pt x="16852" y="571"/>
                </a:lnTo>
                <a:lnTo>
                  <a:pt x="0" y="19748"/>
                </a:lnTo>
                <a:lnTo>
                  <a:pt x="0" y="386805"/>
                </a:lnTo>
                <a:lnTo>
                  <a:pt x="0" y="389821"/>
                </a:lnTo>
                <a:lnTo>
                  <a:pt x="19748" y="409576"/>
                </a:lnTo>
                <a:lnTo>
                  <a:pt x="389826" y="409576"/>
                </a:lnTo>
                <a:lnTo>
                  <a:pt x="409575" y="389821"/>
                </a:lnTo>
                <a:lnTo>
                  <a:pt x="409575" y="19748"/>
                </a:lnTo>
                <a:lnTo>
                  <a:pt x="392722" y="571"/>
                </a:lnTo>
                <a:lnTo>
                  <a:pt x="389826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033619" y="4873625"/>
            <a:ext cx="19050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125" b="1">
                <a:solidFill>
                  <a:srgbClr val="D9E1FF"/>
                </a:solidFill>
                <a:latin typeface="Trebuchet MS"/>
                <a:cs typeface="Trebuchet MS"/>
              </a:rPr>
              <a:t>3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03173" y="4830762"/>
            <a:ext cx="508444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85" b="1">
                <a:solidFill>
                  <a:srgbClr val="D9E1FF"/>
                </a:solidFill>
                <a:latin typeface="Trebuchet MS"/>
                <a:cs typeface="Trebuchet MS"/>
              </a:rPr>
              <a:t>Uso</a:t>
            </a:r>
            <a:r>
              <a:rPr dirty="0" sz="1650" spc="-9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320" b="1">
                <a:solidFill>
                  <a:srgbClr val="D9E1FF"/>
                </a:solidFill>
                <a:latin typeface="Trebuchet MS"/>
                <a:cs typeface="Trebuchet MS"/>
              </a:rPr>
              <a:t>Común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Comunicación punto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punto, acceso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servicios específicos,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configuración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dispositivos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en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red.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45"/>
              <a:t>Tipos</a:t>
            </a:r>
            <a:r>
              <a:rPr dirty="0" spc="-204"/>
              <a:t> </a:t>
            </a:r>
            <a:r>
              <a:rPr dirty="0" spc="465"/>
              <a:t>de</a:t>
            </a:r>
            <a:r>
              <a:rPr dirty="0" spc="-200"/>
              <a:t> </a:t>
            </a:r>
            <a:r>
              <a:rPr dirty="0" spc="340"/>
              <a:t>Direcciones</a:t>
            </a:r>
            <a:r>
              <a:rPr dirty="0" spc="-204"/>
              <a:t> </a:t>
            </a:r>
            <a:r>
              <a:rPr dirty="0" spc="265"/>
              <a:t>IPv6:</a:t>
            </a:r>
            <a:r>
              <a:rPr dirty="0" spc="-200"/>
              <a:t> </a:t>
            </a:r>
            <a:r>
              <a:rPr dirty="0" spc="365"/>
              <a:t>Multicast</a:t>
            </a:r>
            <a:r>
              <a:rPr dirty="0" spc="-204"/>
              <a:t> </a:t>
            </a:r>
            <a:r>
              <a:rPr dirty="0" spc="365"/>
              <a:t>y </a:t>
            </a:r>
            <a:r>
              <a:rPr dirty="0" spc="-990"/>
              <a:t> </a:t>
            </a:r>
            <a:r>
              <a:rPr dirty="0" spc="430"/>
              <a:t>Anycast</a:t>
            </a:r>
          </a:p>
        </p:txBody>
      </p:sp>
      <p:sp>
        <p:nvSpPr>
          <p:cNvPr id="3" name="object 3"/>
          <p:cNvSpPr/>
          <p:nvPr/>
        </p:nvSpPr>
        <p:spPr>
          <a:xfrm>
            <a:off x="1076325" y="4029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76325" y="43815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76325" y="4733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019572" y="2678112"/>
            <a:ext cx="4053204" cy="2181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 b="1">
                <a:solidFill>
                  <a:srgbClr val="FFFFFF"/>
                </a:solidFill>
                <a:latin typeface="Trebuchet MS"/>
                <a:cs typeface="Trebuchet MS"/>
              </a:rPr>
              <a:t>Multicast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8400"/>
              </a:lnSpc>
              <a:spcBef>
                <a:spcPts val="1150"/>
              </a:spcBef>
            </a:pP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Identifica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grupo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interfaces.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Los paquetes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se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envían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todas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las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interfaces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del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grupo.</a:t>
            </a:r>
            <a:endParaRPr sz="1400">
              <a:latin typeface="Arial MT"/>
              <a:cs typeface="Arial MT"/>
            </a:endParaRPr>
          </a:p>
          <a:p>
            <a:pPr marL="303530" marR="563880">
              <a:lnSpc>
                <a:spcPct val="165200"/>
              </a:lnSpc>
              <a:spcBef>
                <a:spcPts val="82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Eficiente para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distribución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contenido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Reduce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el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tráfico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red</a:t>
            </a:r>
            <a:endParaRPr sz="1400">
              <a:latin typeface="Arial MT"/>
              <a:cs typeface="Arial MT"/>
            </a:endParaRPr>
          </a:p>
          <a:p>
            <a:pPr marL="303530">
              <a:lnSpc>
                <a:spcPct val="100000"/>
              </a:lnSpc>
              <a:spcBef>
                <a:spcPts val="1095"/>
              </a:spcBef>
            </a:pP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Útil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para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streaming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actualizaciones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34024" y="2678112"/>
            <a:ext cx="989330" cy="282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45" b="1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650" spc="210" b="1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650" spc="155" b="1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650" spc="240" b="1">
                <a:solidFill>
                  <a:srgbClr val="FFFFFF"/>
                </a:solidFill>
                <a:latin typeface="Trebuchet MS"/>
                <a:cs typeface="Trebuchet MS"/>
              </a:rPr>
              <a:t>cast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91225" y="43148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991225" y="4676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91225" y="50292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D9E1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934024" y="3081248"/>
            <a:ext cx="4467225" cy="20732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90"/>
              </a:spcBef>
            </a:pP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Identifica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múltiples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interfaces.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Los paquetes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se </a:t>
            </a:r>
            <a:r>
              <a:rPr dirty="0" sz="1400" spc="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entregan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interfaz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más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cercana según la métrica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enrutamiento.</a:t>
            </a:r>
            <a:endParaRPr sz="1400">
              <a:latin typeface="Arial MT"/>
              <a:cs typeface="Arial MT"/>
            </a:endParaRPr>
          </a:p>
          <a:p>
            <a:pPr marL="303530" marR="1908810">
              <a:lnSpc>
                <a:spcPct val="169600"/>
              </a:lnSpc>
              <a:spcBef>
                <a:spcPts val="67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Balanceo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carga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eficiente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Mejora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redundancia</a:t>
            </a:r>
            <a:endParaRPr sz="1400">
              <a:latin typeface="Arial MT"/>
              <a:cs typeface="Arial MT"/>
            </a:endParaRPr>
          </a:p>
          <a:p>
            <a:pPr marL="303530">
              <a:lnSpc>
                <a:spcPct val="100000"/>
              </a:lnSpc>
              <a:spcBef>
                <a:spcPts val="109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Optimiza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entrega</a:t>
            </a:r>
            <a:r>
              <a:rPr dirty="0" sz="1400" spc="-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contenido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877050"/>
          </a:xfrm>
          <a:custGeom>
            <a:avLst/>
            <a:gdLst/>
            <a:ahLst/>
            <a:cxnLst/>
            <a:rect l="l" t="t" r="r" b="b"/>
            <a:pathLst>
              <a:path w="11430000" h="6877050">
                <a:moveTo>
                  <a:pt x="11430000" y="0"/>
                </a:moveTo>
                <a:lnTo>
                  <a:pt x="0" y="0"/>
                </a:lnTo>
                <a:lnTo>
                  <a:pt x="0" y="6877050"/>
                </a:lnTo>
                <a:lnTo>
                  <a:pt x="11430000" y="6877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253"/>
            <a:ext cx="4286250" cy="6877050"/>
            <a:chOff x="7143750" y="253"/>
            <a:chExt cx="4286250" cy="6877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49" cy="68767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6368033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73074"/>
            <a:ext cx="536194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885"/>
              <a:t>M</a:t>
            </a:r>
            <a:r>
              <a:rPr dirty="0" spc="660"/>
              <a:t>é</a:t>
            </a:r>
            <a:r>
              <a:rPr dirty="0" spc="110"/>
              <a:t>t</a:t>
            </a:r>
            <a:r>
              <a:rPr dirty="0" spc="495"/>
              <a:t>odos</a:t>
            </a:r>
            <a:r>
              <a:rPr dirty="0" spc="-200"/>
              <a:t> </a:t>
            </a:r>
            <a:r>
              <a:rPr dirty="0" spc="465"/>
              <a:t>de</a:t>
            </a:r>
            <a:r>
              <a:rPr dirty="0" spc="-335"/>
              <a:t> </a:t>
            </a:r>
            <a:r>
              <a:rPr dirty="0" spc="204"/>
              <a:t>T</a:t>
            </a:r>
            <a:r>
              <a:rPr dirty="0" spc="275"/>
              <a:t>ransición  </a:t>
            </a:r>
            <a:r>
              <a:rPr dirty="0" spc="465"/>
              <a:t>de</a:t>
            </a:r>
            <a:r>
              <a:rPr dirty="0" spc="-204"/>
              <a:t> </a:t>
            </a:r>
            <a:r>
              <a:rPr dirty="0" spc="405"/>
              <a:t>IPv4</a:t>
            </a:r>
            <a:r>
              <a:rPr dirty="0" spc="-204"/>
              <a:t> </a:t>
            </a:r>
            <a:r>
              <a:rPr dirty="0" spc="655"/>
              <a:t>a</a:t>
            </a:r>
            <a:r>
              <a:rPr dirty="0" spc="-204"/>
              <a:t> </a:t>
            </a:r>
            <a:r>
              <a:rPr dirty="0" spc="385"/>
              <a:t>IPv6</a:t>
            </a:r>
          </a:p>
        </p:txBody>
      </p:sp>
      <p:sp>
        <p:nvSpPr>
          <p:cNvPr id="7" name="object 7"/>
          <p:cNvSpPr/>
          <p:nvPr/>
        </p:nvSpPr>
        <p:spPr>
          <a:xfrm>
            <a:off x="638175" y="1847849"/>
            <a:ext cx="911225" cy="1457325"/>
          </a:xfrm>
          <a:custGeom>
            <a:avLst/>
            <a:gdLst/>
            <a:ahLst/>
            <a:cxnLst/>
            <a:rect l="l" t="t" r="r" b="b"/>
            <a:pathLst>
              <a:path w="911225" h="145732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275156"/>
                </a:lnTo>
                <a:lnTo>
                  <a:pt x="455414" y="1457325"/>
                </a:lnTo>
                <a:lnTo>
                  <a:pt x="910831" y="1275156"/>
                </a:lnTo>
                <a:lnTo>
                  <a:pt x="91083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27013" y="2371597"/>
            <a:ext cx="13144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430" b="1">
                <a:solidFill>
                  <a:srgbClr val="D9E1FF"/>
                </a:solidFill>
                <a:latin typeface="Trebuchet MS"/>
                <a:cs typeface="Trebuchet MS"/>
              </a:rPr>
              <a:t>1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08956" y="2001837"/>
            <a:ext cx="466915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35" b="1">
                <a:solidFill>
                  <a:srgbClr val="D9E1FF"/>
                </a:solidFill>
                <a:latin typeface="Trebuchet MS"/>
                <a:cs typeface="Trebuchet MS"/>
              </a:rPr>
              <a:t>Dual-Stack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Los dispositivos operan con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ambos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protocolos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simultáneamente.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Es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flexible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pero requiere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más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recursos.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8175" y="3305174"/>
            <a:ext cx="911225" cy="1457325"/>
          </a:xfrm>
          <a:custGeom>
            <a:avLst/>
            <a:gdLst/>
            <a:ahLst/>
            <a:cxnLst/>
            <a:rect l="l" t="t" r="r" b="b"/>
            <a:pathLst>
              <a:path w="911225" h="145732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275156"/>
                </a:lnTo>
                <a:lnTo>
                  <a:pt x="455414" y="1457325"/>
                </a:lnTo>
                <a:lnTo>
                  <a:pt x="910831" y="1275156"/>
                </a:lnTo>
                <a:lnTo>
                  <a:pt x="91083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95015" y="3828922"/>
            <a:ext cx="19621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80" b="1">
                <a:solidFill>
                  <a:srgbClr val="D9E1FF"/>
                </a:solidFill>
                <a:latin typeface="Trebuchet MS"/>
                <a:cs typeface="Trebuchet MS"/>
              </a:rPr>
              <a:t>2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08956" y="3459162"/>
            <a:ext cx="448818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55" b="1">
                <a:solidFill>
                  <a:srgbClr val="D9E1FF"/>
                </a:solidFill>
                <a:latin typeface="Trebuchet MS"/>
                <a:cs typeface="Trebuchet MS"/>
              </a:rPr>
              <a:t>Túneles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Encapsula paquetes IPv6 dentro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paquetes IPv4.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Útil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cuando la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infraestructura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intermedia solo soporta IPv4.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175" y="4762499"/>
            <a:ext cx="911225" cy="1616075"/>
          </a:xfrm>
          <a:custGeom>
            <a:avLst/>
            <a:gdLst/>
            <a:ahLst/>
            <a:cxnLst/>
            <a:rect l="l" t="t" r="r" b="b"/>
            <a:pathLst>
              <a:path w="911225" h="1616075">
                <a:moveTo>
                  <a:pt x="910831" y="0"/>
                </a:moveTo>
                <a:lnTo>
                  <a:pt x="455414" y="182168"/>
                </a:lnTo>
                <a:lnTo>
                  <a:pt x="0" y="0"/>
                </a:lnTo>
                <a:lnTo>
                  <a:pt x="0" y="1433513"/>
                </a:lnTo>
                <a:lnTo>
                  <a:pt x="455414" y="1615678"/>
                </a:lnTo>
                <a:lnTo>
                  <a:pt x="910831" y="1433513"/>
                </a:lnTo>
                <a:lnTo>
                  <a:pt x="910831" y="0"/>
                </a:lnTo>
                <a:close/>
              </a:path>
            </a:pathLst>
          </a:custGeom>
          <a:solidFill>
            <a:srgbClr val="2B29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92634" y="5362449"/>
            <a:ext cx="20066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114" b="1">
                <a:solidFill>
                  <a:srgbClr val="D9E1FF"/>
                </a:solidFill>
                <a:latin typeface="Trebuchet MS"/>
                <a:cs typeface="Trebuchet MS"/>
              </a:rPr>
              <a:t>3</a:t>
            </a:r>
            <a:endParaRPr sz="21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08956" y="4916488"/>
            <a:ext cx="3971290" cy="12382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95" b="1">
                <a:solidFill>
                  <a:srgbClr val="D9E1FF"/>
                </a:solidFill>
                <a:latin typeface="Trebuchet MS"/>
                <a:cs typeface="Trebuchet MS"/>
              </a:rPr>
              <a:t>Traducción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6200"/>
              </a:lnSpc>
              <a:spcBef>
                <a:spcPts val="66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Convierte paquetes entre IPv4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IPv6. Permite la </a:t>
            </a:r>
            <a:r>
              <a:rPr dirty="0" sz="1400" spc="-37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comunicación entre redes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que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solo soportan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 </a:t>
            </a:r>
            <a:r>
              <a:rPr dirty="0" sz="1400" spc="2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protocolo.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9753600"/>
          </a:xfrm>
          <a:custGeom>
            <a:avLst/>
            <a:gdLst/>
            <a:ahLst/>
            <a:cxnLst/>
            <a:rect l="l" t="t" r="r" b="b"/>
            <a:pathLst>
              <a:path w="11430000" h="9753600">
                <a:moveTo>
                  <a:pt x="11430000" y="0"/>
                </a:moveTo>
                <a:lnTo>
                  <a:pt x="0" y="0"/>
                </a:lnTo>
                <a:lnTo>
                  <a:pt x="0" y="9753600"/>
                </a:lnTo>
                <a:lnTo>
                  <a:pt x="11430000" y="97536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0C093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7143750" y="0"/>
            <a:ext cx="4286250" cy="9753600"/>
            <a:chOff x="7143750" y="0"/>
            <a:chExt cx="4286250" cy="9753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49" cy="97535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92392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24879" y="473075"/>
            <a:ext cx="5603240" cy="16065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385"/>
              <a:t>Evaluación </a:t>
            </a:r>
            <a:r>
              <a:rPr dirty="0" spc="465"/>
              <a:t>de </a:t>
            </a:r>
            <a:r>
              <a:rPr dirty="0" spc="470"/>
              <a:t> </a:t>
            </a:r>
            <a:r>
              <a:rPr dirty="0" spc="365"/>
              <a:t>Conocimientos: </a:t>
            </a:r>
            <a:r>
              <a:rPr dirty="0" spc="370"/>
              <a:t> </a:t>
            </a:r>
            <a:r>
              <a:rPr dirty="0" spc="330"/>
              <a:t>Cuestionario</a:t>
            </a:r>
            <a:r>
              <a:rPr dirty="0" spc="-235"/>
              <a:t> </a:t>
            </a:r>
            <a:r>
              <a:rPr dirty="0" spc="355"/>
              <a:t>sobre</a:t>
            </a:r>
            <a:r>
              <a:rPr dirty="0" spc="-235"/>
              <a:t> </a:t>
            </a:r>
            <a:r>
              <a:rPr dirty="0" spc="385"/>
              <a:t>IPv6</a:t>
            </a:r>
          </a:p>
        </p:txBody>
      </p:sp>
      <p:sp>
        <p:nvSpPr>
          <p:cNvPr id="7" name="object 7"/>
          <p:cNvSpPr/>
          <p:nvPr/>
        </p:nvSpPr>
        <p:spPr>
          <a:xfrm>
            <a:off x="737795" y="2409710"/>
            <a:ext cx="256540" cy="391795"/>
          </a:xfrm>
          <a:custGeom>
            <a:avLst/>
            <a:gdLst/>
            <a:ahLst/>
            <a:cxnLst/>
            <a:rect l="l" t="t" r="r" b="b"/>
            <a:pathLst>
              <a:path w="256540" h="391794">
                <a:moveTo>
                  <a:pt x="215585" y="28460"/>
                </a:moveTo>
                <a:lnTo>
                  <a:pt x="142320" y="28460"/>
                </a:lnTo>
                <a:lnTo>
                  <a:pt x="175548" y="35174"/>
                </a:lnTo>
                <a:lnTo>
                  <a:pt x="202690" y="53479"/>
                </a:lnTo>
                <a:lnTo>
                  <a:pt x="220994" y="80624"/>
                </a:lnTo>
                <a:lnTo>
                  <a:pt x="227707" y="113855"/>
                </a:lnTo>
                <a:lnTo>
                  <a:pt x="225774" y="130318"/>
                </a:lnTo>
                <a:lnTo>
                  <a:pt x="220181" y="145688"/>
                </a:lnTo>
                <a:lnTo>
                  <a:pt x="211236" y="159371"/>
                </a:lnTo>
                <a:lnTo>
                  <a:pt x="199246" y="170776"/>
                </a:lnTo>
                <a:lnTo>
                  <a:pt x="145162" y="211340"/>
                </a:lnTo>
                <a:lnTo>
                  <a:pt x="131940" y="223892"/>
                </a:lnTo>
                <a:lnTo>
                  <a:pt x="122103" y="238952"/>
                </a:lnTo>
                <a:lnTo>
                  <a:pt x="115969" y="255862"/>
                </a:lnTo>
                <a:lnTo>
                  <a:pt x="113854" y="273964"/>
                </a:lnTo>
                <a:lnTo>
                  <a:pt x="113854" y="292468"/>
                </a:lnTo>
                <a:lnTo>
                  <a:pt x="120258" y="298869"/>
                </a:lnTo>
                <a:lnTo>
                  <a:pt x="135915" y="298869"/>
                </a:lnTo>
                <a:lnTo>
                  <a:pt x="142320" y="292468"/>
                </a:lnTo>
                <a:lnTo>
                  <a:pt x="142320" y="273964"/>
                </a:lnTo>
                <a:lnTo>
                  <a:pt x="143669" y="262458"/>
                </a:lnTo>
                <a:lnTo>
                  <a:pt x="147578" y="251704"/>
                </a:lnTo>
                <a:lnTo>
                  <a:pt x="153838" y="242117"/>
                </a:lnTo>
                <a:lnTo>
                  <a:pt x="162242" y="234111"/>
                </a:lnTo>
                <a:lnTo>
                  <a:pt x="216321" y="193548"/>
                </a:lnTo>
                <a:lnTo>
                  <a:pt x="233130" y="177556"/>
                </a:lnTo>
                <a:lnTo>
                  <a:pt x="245653" y="158407"/>
                </a:lnTo>
                <a:lnTo>
                  <a:pt x="253473" y="136905"/>
                </a:lnTo>
                <a:lnTo>
                  <a:pt x="256172" y="113855"/>
                </a:lnTo>
                <a:lnTo>
                  <a:pt x="247226" y="69533"/>
                </a:lnTo>
                <a:lnTo>
                  <a:pt x="222828" y="33343"/>
                </a:lnTo>
                <a:lnTo>
                  <a:pt x="215585" y="28460"/>
                </a:lnTo>
                <a:close/>
              </a:path>
              <a:path w="256540" h="391794">
                <a:moveTo>
                  <a:pt x="142320" y="0"/>
                </a:moveTo>
                <a:lnTo>
                  <a:pt x="113854" y="0"/>
                </a:lnTo>
                <a:lnTo>
                  <a:pt x="69534" y="8945"/>
                </a:lnTo>
                <a:lnTo>
                  <a:pt x="33345" y="33343"/>
                </a:lnTo>
                <a:lnTo>
                  <a:pt x="8946" y="69533"/>
                </a:lnTo>
                <a:lnTo>
                  <a:pt x="0" y="113855"/>
                </a:lnTo>
                <a:lnTo>
                  <a:pt x="0" y="121678"/>
                </a:lnTo>
                <a:lnTo>
                  <a:pt x="6404" y="128092"/>
                </a:lnTo>
                <a:lnTo>
                  <a:pt x="22062" y="128092"/>
                </a:lnTo>
                <a:lnTo>
                  <a:pt x="28465" y="121678"/>
                </a:lnTo>
                <a:lnTo>
                  <a:pt x="28465" y="113855"/>
                </a:lnTo>
                <a:lnTo>
                  <a:pt x="35178" y="80624"/>
                </a:lnTo>
                <a:lnTo>
                  <a:pt x="53483" y="53479"/>
                </a:lnTo>
                <a:lnTo>
                  <a:pt x="80625" y="35174"/>
                </a:lnTo>
                <a:lnTo>
                  <a:pt x="113854" y="28460"/>
                </a:lnTo>
                <a:lnTo>
                  <a:pt x="215585" y="28460"/>
                </a:lnTo>
                <a:lnTo>
                  <a:pt x="186639" y="8945"/>
                </a:lnTo>
                <a:lnTo>
                  <a:pt x="142320" y="0"/>
                </a:lnTo>
                <a:close/>
              </a:path>
              <a:path w="256540" h="391794">
                <a:moveTo>
                  <a:pt x="130919" y="348678"/>
                </a:moveTo>
                <a:lnTo>
                  <a:pt x="125253" y="348678"/>
                </a:lnTo>
                <a:lnTo>
                  <a:pt x="122530" y="349224"/>
                </a:lnTo>
                <a:lnTo>
                  <a:pt x="106739" y="367195"/>
                </a:lnTo>
                <a:lnTo>
                  <a:pt x="106739" y="372859"/>
                </a:lnTo>
                <a:lnTo>
                  <a:pt x="125253" y="391375"/>
                </a:lnTo>
                <a:lnTo>
                  <a:pt x="130919" y="391375"/>
                </a:lnTo>
                <a:lnTo>
                  <a:pt x="149433" y="372859"/>
                </a:lnTo>
                <a:lnTo>
                  <a:pt x="149433" y="367195"/>
                </a:lnTo>
                <a:lnTo>
                  <a:pt x="130919" y="348678"/>
                </a:lnTo>
                <a:close/>
              </a:path>
            </a:pathLst>
          </a:custGeom>
          <a:solidFill>
            <a:srgbClr val="7F6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24879" y="2992437"/>
            <a:ext cx="3880485" cy="657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229" b="1">
                <a:solidFill>
                  <a:srgbClr val="D9E1FF"/>
                </a:solidFill>
                <a:latin typeface="Trebuchet MS"/>
                <a:cs typeface="Trebuchet MS"/>
              </a:rPr>
              <a:t>Problema</a:t>
            </a:r>
            <a:r>
              <a:rPr dirty="0" sz="1650" spc="-12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80" b="1">
                <a:solidFill>
                  <a:srgbClr val="D9E1FF"/>
                </a:solidFill>
                <a:latin typeface="Trebuchet MS"/>
                <a:cs typeface="Trebuchet MS"/>
              </a:rPr>
              <a:t>Resuelto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¿Qué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limitación principal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de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IPv4 resolvió IPv6?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47559" y="4248006"/>
            <a:ext cx="436880" cy="436880"/>
          </a:xfrm>
          <a:custGeom>
            <a:avLst/>
            <a:gdLst/>
            <a:ahLst/>
            <a:cxnLst/>
            <a:rect l="l" t="t" r="r" b="b"/>
            <a:pathLst>
              <a:path w="436880" h="436879">
                <a:moveTo>
                  <a:pt x="317988" y="0"/>
                </a:moveTo>
                <a:lnTo>
                  <a:pt x="277740" y="16678"/>
                </a:lnTo>
                <a:lnTo>
                  <a:pt x="16676" y="277650"/>
                </a:lnTo>
                <a:lnTo>
                  <a:pt x="0" y="317901"/>
                </a:lnTo>
                <a:lnTo>
                  <a:pt x="4169" y="339317"/>
                </a:lnTo>
                <a:lnTo>
                  <a:pt x="16676" y="358143"/>
                </a:lnTo>
                <a:lnTo>
                  <a:pt x="78498" y="419966"/>
                </a:lnTo>
                <a:lnTo>
                  <a:pt x="97329" y="432475"/>
                </a:lnTo>
                <a:lnTo>
                  <a:pt x="118745" y="436645"/>
                </a:lnTo>
                <a:lnTo>
                  <a:pt x="140161" y="432475"/>
                </a:lnTo>
                <a:lnTo>
                  <a:pt x="158995" y="419966"/>
                </a:lnTo>
                <a:lnTo>
                  <a:pt x="170755" y="408206"/>
                </a:lnTo>
                <a:lnTo>
                  <a:pt x="118658" y="408206"/>
                </a:lnTo>
                <a:lnTo>
                  <a:pt x="107934" y="406120"/>
                </a:lnTo>
                <a:lnTo>
                  <a:pt x="98511" y="399862"/>
                </a:lnTo>
                <a:lnTo>
                  <a:pt x="36783" y="338051"/>
                </a:lnTo>
                <a:lnTo>
                  <a:pt x="30526" y="328624"/>
                </a:lnTo>
                <a:lnTo>
                  <a:pt x="28441" y="317898"/>
                </a:lnTo>
                <a:lnTo>
                  <a:pt x="30526" y="307174"/>
                </a:lnTo>
                <a:lnTo>
                  <a:pt x="36783" y="297754"/>
                </a:lnTo>
                <a:lnTo>
                  <a:pt x="71826" y="262715"/>
                </a:lnTo>
                <a:lnTo>
                  <a:pt x="112035" y="262715"/>
                </a:lnTo>
                <a:lnTo>
                  <a:pt x="91927" y="242611"/>
                </a:lnTo>
                <a:lnTo>
                  <a:pt x="128753" y="205781"/>
                </a:lnTo>
                <a:lnTo>
                  <a:pt x="168957" y="205781"/>
                </a:lnTo>
                <a:lnTo>
                  <a:pt x="148855" y="185677"/>
                </a:lnTo>
                <a:lnTo>
                  <a:pt x="185680" y="148859"/>
                </a:lnTo>
                <a:lnTo>
                  <a:pt x="225883" y="148859"/>
                </a:lnTo>
                <a:lnTo>
                  <a:pt x="205781" y="128755"/>
                </a:lnTo>
                <a:lnTo>
                  <a:pt x="242606" y="91925"/>
                </a:lnTo>
                <a:lnTo>
                  <a:pt x="282803" y="91925"/>
                </a:lnTo>
                <a:lnTo>
                  <a:pt x="262708" y="71834"/>
                </a:lnTo>
                <a:lnTo>
                  <a:pt x="297752" y="36782"/>
                </a:lnTo>
                <a:lnTo>
                  <a:pt x="307175" y="30524"/>
                </a:lnTo>
                <a:lnTo>
                  <a:pt x="317899" y="28438"/>
                </a:lnTo>
                <a:lnTo>
                  <a:pt x="369979" y="28438"/>
                </a:lnTo>
                <a:lnTo>
                  <a:pt x="358236" y="16678"/>
                </a:lnTo>
                <a:lnTo>
                  <a:pt x="339405" y="4169"/>
                </a:lnTo>
                <a:lnTo>
                  <a:pt x="317988" y="0"/>
                </a:lnTo>
                <a:close/>
              </a:path>
              <a:path w="436880" h="436879">
                <a:moveTo>
                  <a:pt x="369979" y="28438"/>
                </a:moveTo>
                <a:lnTo>
                  <a:pt x="317899" y="28438"/>
                </a:lnTo>
                <a:lnTo>
                  <a:pt x="328622" y="30524"/>
                </a:lnTo>
                <a:lnTo>
                  <a:pt x="338044" y="36782"/>
                </a:lnTo>
                <a:lnTo>
                  <a:pt x="399863" y="98605"/>
                </a:lnTo>
                <a:lnTo>
                  <a:pt x="406119" y="108025"/>
                </a:lnTo>
                <a:lnTo>
                  <a:pt x="408205" y="118748"/>
                </a:lnTo>
                <a:lnTo>
                  <a:pt x="406119" y="129470"/>
                </a:lnTo>
                <a:lnTo>
                  <a:pt x="399863" y="138890"/>
                </a:lnTo>
                <a:lnTo>
                  <a:pt x="138804" y="399862"/>
                </a:lnTo>
                <a:lnTo>
                  <a:pt x="129382" y="406120"/>
                </a:lnTo>
                <a:lnTo>
                  <a:pt x="118658" y="408206"/>
                </a:lnTo>
                <a:lnTo>
                  <a:pt x="170755" y="408206"/>
                </a:lnTo>
                <a:lnTo>
                  <a:pt x="419969" y="158994"/>
                </a:lnTo>
                <a:lnTo>
                  <a:pt x="432477" y="140163"/>
                </a:lnTo>
                <a:lnTo>
                  <a:pt x="436646" y="118748"/>
                </a:lnTo>
                <a:lnTo>
                  <a:pt x="432477" y="97333"/>
                </a:lnTo>
                <a:lnTo>
                  <a:pt x="419969" y="78501"/>
                </a:lnTo>
                <a:lnTo>
                  <a:pt x="369979" y="28438"/>
                </a:lnTo>
                <a:close/>
              </a:path>
              <a:path w="436880" h="436879">
                <a:moveTo>
                  <a:pt x="112035" y="262715"/>
                </a:moveTo>
                <a:lnTo>
                  <a:pt x="71826" y="262715"/>
                </a:lnTo>
                <a:lnTo>
                  <a:pt x="114162" y="305044"/>
                </a:lnTo>
                <a:lnTo>
                  <a:pt x="123236" y="305044"/>
                </a:lnTo>
                <a:lnTo>
                  <a:pt x="134264" y="294020"/>
                </a:lnTo>
                <a:lnTo>
                  <a:pt x="134264" y="284940"/>
                </a:lnTo>
                <a:lnTo>
                  <a:pt x="112035" y="262715"/>
                </a:lnTo>
                <a:close/>
              </a:path>
              <a:path w="436880" h="436879">
                <a:moveTo>
                  <a:pt x="168957" y="205781"/>
                </a:moveTo>
                <a:lnTo>
                  <a:pt x="128753" y="205781"/>
                </a:lnTo>
                <a:lnTo>
                  <a:pt x="171089" y="248123"/>
                </a:lnTo>
                <a:lnTo>
                  <a:pt x="180163" y="248123"/>
                </a:lnTo>
                <a:lnTo>
                  <a:pt x="191192" y="237086"/>
                </a:lnTo>
                <a:lnTo>
                  <a:pt x="191192" y="228018"/>
                </a:lnTo>
                <a:lnTo>
                  <a:pt x="168957" y="205781"/>
                </a:lnTo>
                <a:close/>
              </a:path>
              <a:path w="436880" h="436879">
                <a:moveTo>
                  <a:pt x="225883" y="148859"/>
                </a:moveTo>
                <a:lnTo>
                  <a:pt x="185680" y="148859"/>
                </a:lnTo>
                <a:lnTo>
                  <a:pt x="228017" y="191188"/>
                </a:lnTo>
                <a:lnTo>
                  <a:pt x="237089" y="191188"/>
                </a:lnTo>
                <a:lnTo>
                  <a:pt x="248118" y="180165"/>
                </a:lnTo>
                <a:lnTo>
                  <a:pt x="248118" y="171097"/>
                </a:lnTo>
                <a:lnTo>
                  <a:pt x="225883" y="148859"/>
                </a:lnTo>
                <a:close/>
              </a:path>
              <a:path w="436880" h="436879">
                <a:moveTo>
                  <a:pt x="282803" y="91925"/>
                </a:moveTo>
                <a:lnTo>
                  <a:pt x="242606" y="91925"/>
                </a:lnTo>
                <a:lnTo>
                  <a:pt x="284943" y="134267"/>
                </a:lnTo>
                <a:lnTo>
                  <a:pt x="294016" y="134267"/>
                </a:lnTo>
                <a:lnTo>
                  <a:pt x="305045" y="123243"/>
                </a:lnTo>
                <a:lnTo>
                  <a:pt x="305045" y="114163"/>
                </a:lnTo>
                <a:lnTo>
                  <a:pt x="282803" y="91925"/>
                </a:lnTo>
                <a:close/>
              </a:path>
            </a:pathLst>
          </a:custGeom>
          <a:solidFill>
            <a:srgbClr val="7F6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24879" y="4849812"/>
            <a:ext cx="3242945" cy="647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0" b="1">
                <a:solidFill>
                  <a:srgbClr val="D9E1FF"/>
                </a:solidFill>
                <a:latin typeface="Trebuchet MS"/>
                <a:cs typeface="Trebuchet MS"/>
              </a:rPr>
              <a:t>Lonąitud</a:t>
            </a:r>
            <a:r>
              <a:rPr dirty="0" sz="1650" spc="-12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14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75" b="1">
                <a:solidFill>
                  <a:srgbClr val="D9E1FF"/>
                </a:solidFill>
                <a:latin typeface="Trebuchet MS"/>
                <a:cs typeface="Trebuchet MS"/>
              </a:rPr>
              <a:t>Dirección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¿Cuántos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bits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tiene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una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dirección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IPv6?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8175" y="6132017"/>
            <a:ext cx="455930" cy="364490"/>
          </a:xfrm>
          <a:custGeom>
            <a:avLst/>
            <a:gdLst/>
            <a:ahLst/>
            <a:cxnLst/>
            <a:rect l="l" t="t" r="r" b="b"/>
            <a:pathLst>
              <a:path w="455930" h="364489">
                <a:moveTo>
                  <a:pt x="170780" y="227711"/>
                </a:moveTo>
                <a:lnTo>
                  <a:pt x="56926" y="227711"/>
                </a:lnTo>
                <a:lnTo>
                  <a:pt x="43634" y="230394"/>
                </a:lnTo>
                <a:lnTo>
                  <a:pt x="32777" y="237713"/>
                </a:lnTo>
                <a:lnTo>
                  <a:pt x="25456" y="248568"/>
                </a:lnTo>
                <a:lnTo>
                  <a:pt x="22771" y="261861"/>
                </a:lnTo>
                <a:lnTo>
                  <a:pt x="22771" y="330174"/>
                </a:lnTo>
                <a:lnTo>
                  <a:pt x="25456" y="343466"/>
                </a:lnTo>
                <a:lnTo>
                  <a:pt x="32777" y="354322"/>
                </a:lnTo>
                <a:lnTo>
                  <a:pt x="43634" y="361641"/>
                </a:lnTo>
                <a:lnTo>
                  <a:pt x="56926" y="364324"/>
                </a:lnTo>
                <a:lnTo>
                  <a:pt x="170780" y="364324"/>
                </a:lnTo>
                <a:lnTo>
                  <a:pt x="184072" y="361641"/>
                </a:lnTo>
                <a:lnTo>
                  <a:pt x="194929" y="354322"/>
                </a:lnTo>
                <a:lnTo>
                  <a:pt x="202250" y="343466"/>
                </a:lnTo>
                <a:lnTo>
                  <a:pt x="202637" y="341553"/>
                </a:lnTo>
                <a:lnTo>
                  <a:pt x="50666" y="341553"/>
                </a:lnTo>
                <a:lnTo>
                  <a:pt x="45540" y="336435"/>
                </a:lnTo>
                <a:lnTo>
                  <a:pt x="45540" y="255600"/>
                </a:lnTo>
                <a:lnTo>
                  <a:pt x="50666" y="250482"/>
                </a:lnTo>
                <a:lnTo>
                  <a:pt x="202637" y="250482"/>
                </a:lnTo>
                <a:lnTo>
                  <a:pt x="202250" y="248568"/>
                </a:lnTo>
                <a:lnTo>
                  <a:pt x="194929" y="237713"/>
                </a:lnTo>
                <a:lnTo>
                  <a:pt x="184072" y="230394"/>
                </a:lnTo>
                <a:lnTo>
                  <a:pt x="170780" y="227711"/>
                </a:lnTo>
                <a:close/>
              </a:path>
              <a:path w="455930" h="364489">
                <a:moveTo>
                  <a:pt x="398487" y="227711"/>
                </a:moveTo>
                <a:lnTo>
                  <a:pt x="284633" y="227711"/>
                </a:lnTo>
                <a:lnTo>
                  <a:pt x="271341" y="230394"/>
                </a:lnTo>
                <a:lnTo>
                  <a:pt x="260484" y="237713"/>
                </a:lnTo>
                <a:lnTo>
                  <a:pt x="253163" y="248568"/>
                </a:lnTo>
                <a:lnTo>
                  <a:pt x="250478" y="261861"/>
                </a:lnTo>
                <a:lnTo>
                  <a:pt x="250478" y="330174"/>
                </a:lnTo>
                <a:lnTo>
                  <a:pt x="253163" y="343466"/>
                </a:lnTo>
                <a:lnTo>
                  <a:pt x="260484" y="354322"/>
                </a:lnTo>
                <a:lnTo>
                  <a:pt x="271341" y="361641"/>
                </a:lnTo>
                <a:lnTo>
                  <a:pt x="284633" y="364324"/>
                </a:lnTo>
                <a:lnTo>
                  <a:pt x="398487" y="364324"/>
                </a:lnTo>
                <a:lnTo>
                  <a:pt x="411779" y="361641"/>
                </a:lnTo>
                <a:lnTo>
                  <a:pt x="422636" y="354322"/>
                </a:lnTo>
                <a:lnTo>
                  <a:pt x="429958" y="343466"/>
                </a:lnTo>
                <a:lnTo>
                  <a:pt x="430344" y="341553"/>
                </a:lnTo>
                <a:lnTo>
                  <a:pt x="278372" y="341553"/>
                </a:lnTo>
                <a:lnTo>
                  <a:pt x="273248" y="336435"/>
                </a:lnTo>
                <a:lnTo>
                  <a:pt x="273248" y="255600"/>
                </a:lnTo>
                <a:lnTo>
                  <a:pt x="278372" y="250482"/>
                </a:lnTo>
                <a:lnTo>
                  <a:pt x="430344" y="250482"/>
                </a:lnTo>
                <a:lnTo>
                  <a:pt x="429958" y="248568"/>
                </a:lnTo>
                <a:lnTo>
                  <a:pt x="422636" y="237713"/>
                </a:lnTo>
                <a:lnTo>
                  <a:pt x="411779" y="230394"/>
                </a:lnTo>
                <a:lnTo>
                  <a:pt x="398487" y="227711"/>
                </a:lnTo>
                <a:close/>
              </a:path>
              <a:path w="455930" h="364489">
                <a:moveTo>
                  <a:pt x="202637" y="250482"/>
                </a:moveTo>
                <a:lnTo>
                  <a:pt x="177040" y="250482"/>
                </a:lnTo>
                <a:lnTo>
                  <a:pt x="182166" y="255600"/>
                </a:lnTo>
                <a:lnTo>
                  <a:pt x="182166" y="336435"/>
                </a:lnTo>
                <a:lnTo>
                  <a:pt x="177040" y="341553"/>
                </a:lnTo>
                <a:lnTo>
                  <a:pt x="202637" y="341553"/>
                </a:lnTo>
                <a:lnTo>
                  <a:pt x="204936" y="330174"/>
                </a:lnTo>
                <a:lnTo>
                  <a:pt x="204936" y="261861"/>
                </a:lnTo>
                <a:lnTo>
                  <a:pt x="202637" y="250482"/>
                </a:lnTo>
                <a:close/>
              </a:path>
              <a:path w="455930" h="364489">
                <a:moveTo>
                  <a:pt x="430344" y="250482"/>
                </a:moveTo>
                <a:lnTo>
                  <a:pt x="404747" y="250482"/>
                </a:lnTo>
                <a:lnTo>
                  <a:pt x="409872" y="255600"/>
                </a:lnTo>
                <a:lnTo>
                  <a:pt x="409872" y="336435"/>
                </a:lnTo>
                <a:lnTo>
                  <a:pt x="404747" y="341553"/>
                </a:lnTo>
                <a:lnTo>
                  <a:pt x="430344" y="341553"/>
                </a:lnTo>
                <a:lnTo>
                  <a:pt x="432643" y="330174"/>
                </a:lnTo>
                <a:lnTo>
                  <a:pt x="432643" y="261861"/>
                </a:lnTo>
                <a:lnTo>
                  <a:pt x="430344" y="250482"/>
                </a:lnTo>
                <a:close/>
              </a:path>
              <a:path w="455930" h="364489">
                <a:moveTo>
                  <a:pt x="125238" y="193548"/>
                </a:moveTo>
                <a:lnTo>
                  <a:pt x="102468" y="193548"/>
                </a:lnTo>
                <a:lnTo>
                  <a:pt x="102468" y="227711"/>
                </a:lnTo>
                <a:lnTo>
                  <a:pt x="125238" y="227711"/>
                </a:lnTo>
                <a:lnTo>
                  <a:pt x="125238" y="193548"/>
                </a:lnTo>
                <a:close/>
              </a:path>
              <a:path w="455930" h="364489">
                <a:moveTo>
                  <a:pt x="352945" y="193548"/>
                </a:moveTo>
                <a:lnTo>
                  <a:pt x="330174" y="193548"/>
                </a:lnTo>
                <a:lnTo>
                  <a:pt x="330174" y="227711"/>
                </a:lnTo>
                <a:lnTo>
                  <a:pt x="352945" y="227711"/>
                </a:lnTo>
                <a:lnTo>
                  <a:pt x="352945" y="193548"/>
                </a:lnTo>
                <a:close/>
              </a:path>
              <a:path w="455930" h="364489">
                <a:moveTo>
                  <a:pt x="450289" y="170776"/>
                </a:moveTo>
                <a:lnTo>
                  <a:pt x="5124" y="170776"/>
                </a:lnTo>
                <a:lnTo>
                  <a:pt x="0" y="175907"/>
                </a:lnTo>
                <a:lnTo>
                  <a:pt x="0" y="188429"/>
                </a:lnTo>
                <a:lnTo>
                  <a:pt x="5124" y="193548"/>
                </a:lnTo>
                <a:lnTo>
                  <a:pt x="450289" y="193548"/>
                </a:lnTo>
                <a:lnTo>
                  <a:pt x="455414" y="188429"/>
                </a:lnTo>
                <a:lnTo>
                  <a:pt x="455414" y="175907"/>
                </a:lnTo>
                <a:lnTo>
                  <a:pt x="450289" y="170776"/>
                </a:lnTo>
                <a:close/>
              </a:path>
              <a:path w="455930" h="364489">
                <a:moveTo>
                  <a:pt x="239092" y="136626"/>
                </a:moveTo>
                <a:lnTo>
                  <a:pt x="216321" y="136626"/>
                </a:lnTo>
                <a:lnTo>
                  <a:pt x="216321" y="170776"/>
                </a:lnTo>
                <a:lnTo>
                  <a:pt x="239092" y="170776"/>
                </a:lnTo>
                <a:lnTo>
                  <a:pt x="239092" y="136626"/>
                </a:lnTo>
                <a:close/>
              </a:path>
              <a:path w="455930" h="364489">
                <a:moveTo>
                  <a:pt x="284633" y="0"/>
                </a:moveTo>
                <a:lnTo>
                  <a:pt x="170780" y="0"/>
                </a:lnTo>
                <a:lnTo>
                  <a:pt x="157488" y="2685"/>
                </a:lnTo>
                <a:lnTo>
                  <a:pt x="146631" y="10007"/>
                </a:lnTo>
                <a:lnTo>
                  <a:pt x="139309" y="20863"/>
                </a:lnTo>
                <a:lnTo>
                  <a:pt x="136624" y="34150"/>
                </a:lnTo>
                <a:lnTo>
                  <a:pt x="136624" y="102463"/>
                </a:lnTo>
                <a:lnTo>
                  <a:pt x="139309" y="115757"/>
                </a:lnTo>
                <a:lnTo>
                  <a:pt x="146631" y="126617"/>
                </a:lnTo>
                <a:lnTo>
                  <a:pt x="157488" y="133940"/>
                </a:lnTo>
                <a:lnTo>
                  <a:pt x="170780" y="136626"/>
                </a:lnTo>
                <a:lnTo>
                  <a:pt x="284633" y="136626"/>
                </a:lnTo>
                <a:lnTo>
                  <a:pt x="297925" y="133940"/>
                </a:lnTo>
                <a:lnTo>
                  <a:pt x="308783" y="126617"/>
                </a:lnTo>
                <a:lnTo>
                  <a:pt x="316105" y="115757"/>
                </a:lnTo>
                <a:lnTo>
                  <a:pt x="316489" y="113855"/>
                </a:lnTo>
                <a:lnTo>
                  <a:pt x="164519" y="113855"/>
                </a:lnTo>
                <a:lnTo>
                  <a:pt x="159395" y="108724"/>
                </a:lnTo>
                <a:lnTo>
                  <a:pt x="159395" y="27889"/>
                </a:lnTo>
                <a:lnTo>
                  <a:pt x="164519" y="22771"/>
                </a:lnTo>
                <a:lnTo>
                  <a:pt x="316490" y="22771"/>
                </a:lnTo>
                <a:lnTo>
                  <a:pt x="316105" y="20863"/>
                </a:lnTo>
                <a:lnTo>
                  <a:pt x="308783" y="10007"/>
                </a:lnTo>
                <a:lnTo>
                  <a:pt x="297925" y="2685"/>
                </a:lnTo>
                <a:lnTo>
                  <a:pt x="284633" y="0"/>
                </a:lnTo>
                <a:close/>
              </a:path>
              <a:path w="455930" h="364489">
                <a:moveTo>
                  <a:pt x="316490" y="22771"/>
                </a:moveTo>
                <a:lnTo>
                  <a:pt x="290894" y="22771"/>
                </a:lnTo>
                <a:lnTo>
                  <a:pt x="296019" y="27889"/>
                </a:lnTo>
                <a:lnTo>
                  <a:pt x="296019" y="108724"/>
                </a:lnTo>
                <a:lnTo>
                  <a:pt x="290894" y="113855"/>
                </a:lnTo>
                <a:lnTo>
                  <a:pt x="316489" y="113855"/>
                </a:lnTo>
                <a:lnTo>
                  <a:pt x="318790" y="102463"/>
                </a:lnTo>
                <a:lnTo>
                  <a:pt x="318790" y="34150"/>
                </a:lnTo>
                <a:lnTo>
                  <a:pt x="316490" y="22771"/>
                </a:lnTo>
                <a:close/>
              </a:path>
            </a:pathLst>
          </a:custGeom>
          <a:solidFill>
            <a:srgbClr val="7F6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4879" y="6697662"/>
            <a:ext cx="4618990" cy="6572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185" b="1">
                <a:solidFill>
                  <a:srgbClr val="D9E1FF"/>
                </a:solidFill>
                <a:latin typeface="Trebuchet MS"/>
                <a:cs typeface="Trebuchet MS"/>
              </a:rPr>
              <a:t>Tipos</a:t>
            </a:r>
            <a:r>
              <a:rPr dirty="0" sz="1650" spc="-114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1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80" b="1">
                <a:solidFill>
                  <a:srgbClr val="D9E1FF"/>
                </a:solidFill>
                <a:latin typeface="Trebuchet MS"/>
                <a:cs typeface="Trebuchet MS"/>
              </a:rPr>
              <a:t>Direcciones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70"/>
              </a:spcBef>
            </a:pP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¿Cuál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es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la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diferencia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entre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unicast,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multicast</a:t>
            </a:r>
            <a:r>
              <a:rPr dirty="0" sz="1400" spc="5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y</a:t>
            </a:r>
            <a:r>
              <a:rPr dirty="0" sz="1400">
                <a:solidFill>
                  <a:srgbClr val="D9E1FF"/>
                </a:solidFill>
                <a:latin typeface="Arial MT"/>
                <a:cs typeface="Arial MT"/>
              </a:rPr>
              <a:t> 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anycast?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8175" y="7994446"/>
            <a:ext cx="455930" cy="354330"/>
          </a:xfrm>
          <a:custGeom>
            <a:avLst/>
            <a:gdLst/>
            <a:ahLst/>
            <a:cxnLst/>
            <a:rect l="l" t="t" r="r" b="b"/>
            <a:pathLst>
              <a:path w="455930" h="354329">
                <a:moveTo>
                  <a:pt x="449718" y="75907"/>
                </a:moveTo>
                <a:lnTo>
                  <a:pt x="5689" y="75907"/>
                </a:lnTo>
                <a:lnTo>
                  <a:pt x="0" y="81597"/>
                </a:lnTo>
                <a:lnTo>
                  <a:pt x="0" y="95516"/>
                </a:lnTo>
                <a:lnTo>
                  <a:pt x="5689" y="101206"/>
                </a:lnTo>
                <a:lnTo>
                  <a:pt x="449718" y="101206"/>
                </a:lnTo>
                <a:lnTo>
                  <a:pt x="455414" y="95516"/>
                </a:lnTo>
                <a:lnTo>
                  <a:pt x="455414" y="81597"/>
                </a:lnTo>
                <a:lnTo>
                  <a:pt x="449718" y="75907"/>
                </a:lnTo>
                <a:close/>
              </a:path>
              <a:path w="455930" h="354329">
                <a:moveTo>
                  <a:pt x="88553" y="25311"/>
                </a:moveTo>
                <a:lnTo>
                  <a:pt x="63252" y="25311"/>
                </a:lnTo>
                <a:lnTo>
                  <a:pt x="63252" y="75907"/>
                </a:lnTo>
                <a:lnTo>
                  <a:pt x="88553" y="75907"/>
                </a:lnTo>
                <a:lnTo>
                  <a:pt x="88553" y="25311"/>
                </a:lnTo>
                <a:close/>
              </a:path>
              <a:path w="455930" h="354329">
                <a:moveTo>
                  <a:pt x="189755" y="25311"/>
                </a:moveTo>
                <a:lnTo>
                  <a:pt x="164454" y="25311"/>
                </a:lnTo>
                <a:lnTo>
                  <a:pt x="164454" y="75907"/>
                </a:lnTo>
                <a:lnTo>
                  <a:pt x="189755" y="75907"/>
                </a:lnTo>
                <a:lnTo>
                  <a:pt x="189755" y="25311"/>
                </a:lnTo>
                <a:close/>
              </a:path>
              <a:path w="455930" h="354329">
                <a:moveTo>
                  <a:pt x="290959" y="25311"/>
                </a:moveTo>
                <a:lnTo>
                  <a:pt x="265658" y="25311"/>
                </a:lnTo>
                <a:lnTo>
                  <a:pt x="265658" y="75907"/>
                </a:lnTo>
                <a:lnTo>
                  <a:pt x="290959" y="75907"/>
                </a:lnTo>
                <a:lnTo>
                  <a:pt x="290959" y="25311"/>
                </a:lnTo>
                <a:close/>
              </a:path>
              <a:path w="455930" h="354329">
                <a:moveTo>
                  <a:pt x="392162" y="25311"/>
                </a:moveTo>
                <a:lnTo>
                  <a:pt x="366861" y="25311"/>
                </a:lnTo>
                <a:lnTo>
                  <a:pt x="366861" y="75907"/>
                </a:lnTo>
                <a:lnTo>
                  <a:pt x="392162" y="75907"/>
                </a:lnTo>
                <a:lnTo>
                  <a:pt x="392162" y="25311"/>
                </a:lnTo>
                <a:close/>
              </a:path>
              <a:path w="455930" h="354329">
                <a:moveTo>
                  <a:pt x="449718" y="0"/>
                </a:moveTo>
                <a:lnTo>
                  <a:pt x="5689" y="0"/>
                </a:lnTo>
                <a:lnTo>
                  <a:pt x="0" y="5689"/>
                </a:lnTo>
                <a:lnTo>
                  <a:pt x="0" y="19608"/>
                </a:lnTo>
                <a:lnTo>
                  <a:pt x="5689" y="25311"/>
                </a:lnTo>
                <a:lnTo>
                  <a:pt x="449718" y="25311"/>
                </a:lnTo>
                <a:lnTo>
                  <a:pt x="455414" y="19608"/>
                </a:lnTo>
                <a:lnTo>
                  <a:pt x="455414" y="5689"/>
                </a:lnTo>
                <a:lnTo>
                  <a:pt x="449718" y="0"/>
                </a:lnTo>
                <a:close/>
              </a:path>
              <a:path w="455930" h="354329">
                <a:moveTo>
                  <a:pt x="25300" y="164465"/>
                </a:moveTo>
                <a:lnTo>
                  <a:pt x="5689" y="164465"/>
                </a:lnTo>
                <a:lnTo>
                  <a:pt x="0" y="170154"/>
                </a:lnTo>
                <a:lnTo>
                  <a:pt x="0" y="184061"/>
                </a:lnTo>
                <a:lnTo>
                  <a:pt x="5689" y="189763"/>
                </a:lnTo>
                <a:lnTo>
                  <a:pt x="25300" y="189763"/>
                </a:lnTo>
                <a:lnTo>
                  <a:pt x="44981" y="193743"/>
                </a:lnTo>
                <a:lnTo>
                  <a:pt x="61067" y="204593"/>
                </a:lnTo>
                <a:lnTo>
                  <a:pt x="71921" y="220677"/>
                </a:lnTo>
                <a:lnTo>
                  <a:pt x="75902" y="240360"/>
                </a:lnTo>
                <a:lnTo>
                  <a:pt x="75902" y="316268"/>
                </a:lnTo>
                <a:lnTo>
                  <a:pt x="78886" y="331032"/>
                </a:lnTo>
                <a:lnTo>
                  <a:pt x="87021" y="343095"/>
                </a:lnTo>
                <a:lnTo>
                  <a:pt x="99085" y="351231"/>
                </a:lnTo>
                <a:lnTo>
                  <a:pt x="113852" y="354215"/>
                </a:lnTo>
                <a:lnTo>
                  <a:pt x="139153" y="354215"/>
                </a:lnTo>
                <a:lnTo>
                  <a:pt x="153922" y="351231"/>
                </a:lnTo>
                <a:lnTo>
                  <a:pt x="165985" y="343095"/>
                </a:lnTo>
                <a:lnTo>
                  <a:pt x="174121" y="331032"/>
                </a:lnTo>
                <a:lnTo>
                  <a:pt x="174548" y="328917"/>
                </a:lnTo>
                <a:lnTo>
                  <a:pt x="106893" y="328917"/>
                </a:lnTo>
                <a:lnTo>
                  <a:pt x="101203" y="323215"/>
                </a:lnTo>
                <a:lnTo>
                  <a:pt x="101203" y="240360"/>
                </a:lnTo>
                <a:lnTo>
                  <a:pt x="95236" y="210826"/>
                </a:lnTo>
                <a:lnTo>
                  <a:pt x="78966" y="186701"/>
                </a:lnTo>
                <a:lnTo>
                  <a:pt x="54839" y="170431"/>
                </a:lnTo>
                <a:lnTo>
                  <a:pt x="25300" y="164465"/>
                </a:lnTo>
                <a:close/>
              </a:path>
              <a:path w="455930" h="354329">
                <a:moveTo>
                  <a:pt x="283438" y="189763"/>
                </a:moveTo>
                <a:lnTo>
                  <a:pt x="227707" y="189763"/>
                </a:lnTo>
                <a:lnTo>
                  <a:pt x="247388" y="193743"/>
                </a:lnTo>
                <a:lnTo>
                  <a:pt x="263474" y="204593"/>
                </a:lnTo>
                <a:lnTo>
                  <a:pt x="274327" y="220677"/>
                </a:lnTo>
                <a:lnTo>
                  <a:pt x="278309" y="240360"/>
                </a:lnTo>
                <a:lnTo>
                  <a:pt x="278309" y="316268"/>
                </a:lnTo>
                <a:lnTo>
                  <a:pt x="281292" y="331032"/>
                </a:lnTo>
                <a:lnTo>
                  <a:pt x="289427" y="343095"/>
                </a:lnTo>
                <a:lnTo>
                  <a:pt x="301491" y="351231"/>
                </a:lnTo>
                <a:lnTo>
                  <a:pt x="316259" y="354215"/>
                </a:lnTo>
                <a:lnTo>
                  <a:pt x="341560" y="354215"/>
                </a:lnTo>
                <a:lnTo>
                  <a:pt x="356328" y="351231"/>
                </a:lnTo>
                <a:lnTo>
                  <a:pt x="368392" y="343095"/>
                </a:lnTo>
                <a:lnTo>
                  <a:pt x="376527" y="331032"/>
                </a:lnTo>
                <a:lnTo>
                  <a:pt x="376955" y="328917"/>
                </a:lnTo>
                <a:lnTo>
                  <a:pt x="309299" y="328917"/>
                </a:lnTo>
                <a:lnTo>
                  <a:pt x="303610" y="323215"/>
                </a:lnTo>
                <a:lnTo>
                  <a:pt x="303610" y="240360"/>
                </a:lnTo>
                <a:lnTo>
                  <a:pt x="297643" y="210826"/>
                </a:lnTo>
                <a:lnTo>
                  <a:pt x="283438" y="189763"/>
                </a:lnTo>
                <a:close/>
              </a:path>
              <a:path w="455930" h="354329">
                <a:moveTo>
                  <a:pt x="227707" y="164465"/>
                </a:moveTo>
                <a:lnTo>
                  <a:pt x="198168" y="170431"/>
                </a:lnTo>
                <a:lnTo>
                  <a:pt x="174041" y="186701"/>
                </a:lnTo>
                <a:lnTo>
                  <a:pt x="157771" y="210826"/>
                </a:lnTo>
                <a:lnTo>
                  <a:pt x="151804" y="240360"/>
                </a:lnTo>
                <a:lnTo>
                  <a:pt x="151804" y="323215"/>
                </a:lnTo>
                <a:lnTo>
                  <a:pt x="146109" y="328917"/>
                </a:lnTo>
                <a:lnTo>
                  <a:pt x="174548" y="328917"/>
                </a:lnTo>
                <a:lnTo>
                  <a:pt x="177105" y="316268"/>
                </a:lnTo>
                <a:lnTo>
                  <a:pt x="177105" y="240360"/>
                </a:lnTo>
                <a:lnTo>
                  <a:pt x="181086" y="220677"/>
                </a:lnTo>
                <a:lnTo>
                  <a:pt x="191939" y="204593"/>
                </a:lnTo>
                <a:lnTo>
                  <a:pt x="208025" y="193743"/>
                </a:lnTo>
                <a:lnTo>
                  <a:pt x="227707" y="189763"/>
                </a:lnTo>
                <a:lnTo>
                  <a:pt x="283438" y="189763"/>
                </a:lnTo>
                <a:lnTo>
                  <a:pt x="281372" y="186701"/>
                </a:lnTo>
                <a:lnTo>
                  <a:pt x="257245" y="170431"/>
                </a:lnTo>
                <a:lnTo>
                  <a:pt x="227707" y="164465"/>
                </a:lnTo>
                <a:close/>
              </a:path>
              <a:path w="455930" h="354329">
                <a:moveTo>
                  <a:pt x="449718" y="164465"/>
                </a:moveTo>
                <a:lnTo>
                  <a:pt x="430113" y="164465"/>
                </a:lnTo>
                <a:lnTo>
                  <a:pt x="400574" y="170431"/>
                </a:lnTo>
                <a:lnTo>
                  <a:pt x="376447" y="186701"/>
                </a:lnTo>
                <a:lnTo>
                  <a:pt x="360177" y="210826"/>
                </a:lnTo>
                <a:lnTo>
                  <a:pt x="354210" y="240360"/>
                </a:lnTo>
                <a:lnTo>
                  <a:pt x="354210" y="323215"/>
                </a:lnTo>
                <a:lnTo>
                  <a:pt x="348515" y="328917"/>
                </a:lnTo>
                <a:lnTo>
                  <a:pt x="376955" y="328917"/>
                </a:lnTo>
                <a:lnTo>
                  <a:pt x="379511" y="316268"/>
                </a:lnTo>
                <a:lnTo>
                  <a:pt x="379511" y="240360"/>
                </a:lnTo>
                <a:lnTo>
                  <a:pt x="383493" y="220677"/>
                </a:lnTo>
                <a:lnTo>
                  <a:pt x="394345" y="204593"/>
                </a:lnTo>
                <a:lnTo>
                  <a:pt x="410432" y="193743"/>
                </a:lnTo>
                <a:lnTo>
                  <a:pt x="430113" y="189763"/>
                </a:lnTo>
                <a:lnTo>
                  <a:pt x="449718" y="189763"/>
                </a:lnTo>
                <a:lnTo>
                  <a:pt x="455414" y="184061"/>
                </a:lnTo>
                <a:lnTo>
                  <a:pt x="455414" y="170154"/>
                </a:lnTo>
                <a:lnTo>
                  <a:pt x="449718" y="164465"/>
                </a:lnTo>
                <a:close/>
              </a:path>
            </a:pathLst>
          </a:custGeom>
          <a:solidFill>
            <a:srgbClr val="7F6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24879" y="8555037"/>
            <a:ext cx="5236210" cy="6477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459" b="1">
                <a:solidFill>
                  <a:srgbClr val="D9E1FF"/>
                </a:solidFill>
                <a:latin typeface="Trebuchet MS"/>
                <a:cs typeface="Trebuchet MS"/>
              </a:rPr>
              <a:t>M</a:t>
            </a:r>
            <a:r>
              <a:rPr dirty="0" sz="1650" spc="340" b="1">
                <a:solidFill>
                  <a:srgbClr val="D9E1FF"/>
                </a:solidFill>
                <a:latin typeface="Trebuchet MS"/>
                <a:cs typeface="Trebuchet MS"/>
              </a:rPr>
              <a:t>é</a:t>
            </a:r>
            <a:r>
              <a:rPr dirty="0" sz="1650" spc="60" b="1">
                <a:solidFill>
                  <a:srgbClr val="D9E1FF"/>
                </a:solidFill>
                <a:latin typeface="Trebuchet MS"/>
                <a:cs typeface="Trebuchet MS"/>
              </a:rPr>
              <a:t>t</a:t>
            </a:r>
            <a:r>
              <a:rPr dirty="0" sz="1650" spc="265" b="1">
                <a:solidFill>
                  <a:srgbClr val="D9E1FF"/>
                </a:solidFill>
                <a:latin typeface="Trebuchet MS"/>
                <a:cs typeface="Trebuchet MS"/>
              </a:rPr>
              <a:t>odo</a:t>
            </a:r>
            <a:r>
              <a:rPr dirty="0" sz="1650" spc="-95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245" b="1">
                <a:solidFill>
                  <a:srgbClr val="D9E1FF"/>
                </a:solidFill>
                <a:latin typeface="Trebuchet MS"/>
                <a:cs typeface="Trebuchet MS"/>
              </a:rPr>
              <a:t>de</a:t>
            </a:r>
            <a:r>
              <a:rPr dirty="0" sz="1650" spc="-160" b="1">
                <a:solidFill>
                  <a:srgbClr val="D9E1FF"/>
                </a:solidFill>
                <a:latin typeface="Trebuchet MS"/>
                <a:cs typeface="Trebuchet MS"/>
              </a:rPr>
              <a:t> </a:t>
            </a:r>
            <a:r>
              <a:rPr dirty="0" sz="1650" spc="114" b="1">
                <a:solidFill>
                  <a:srgbClr val="D9E1FF"/>
                </a:solidFill>
                <a:latin typeface="Trebuchet MS"/>
                <a:cs typeface="Trebuchet MS"/>
              </a:rPr>
              <a:t>T</a:t>
            </a:r>
            <a:r>
              <a:rPr dirty="0" sz="1650" spc="155" b="1">
                <a:solidFill>
                  <a:srgbClr val="D9E1FF"/>
                </a:solidFill>
                <a:latin typeface="Trebuchet MS"/>
                <a:cs typeface="Trebuchet MS"/>
              </a:rPr>
              <a:t>ransición</a:t>
            </a:r>
            <a:endParaRPr sz="16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¿Qué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método permite operar con IPv4</a:t>
            </a:r>
            <a:r>
              <a:rPr dirty="0" sz="1400" spc="15">
                <a:solidFill>
                  <a:srgbClr val="D9E1FF"/>
                </a:solidFill>
                <a:latin typeface="Arial MT"/>
                <a:cs typeface="Arial MT"/>
              </a:rPr>
              <a:t> e</a:t>
            </a:r>
            <a:r>
              <a:rPr dirty="0" sz="1400" spc="10">
                <a:solidFill>
                  <a:srgbClr val="D9E1FF"/>
                </a:solidFill>
                <a:latin typeface="Arial MT"/>
                <a:cs typeface="Arial MT"/>
              </a:rPr>
              <a:t> IPv6 simultáneamente?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2024-11-05T07:34:00Z</dcterms:created>
  <dcterms:modified xsi:type="dcterms:W3CDTF">2024-11-05T07:34:00Z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2024-11-03T00:00:00Z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2024-11-05T00:00:00Z</vt:filetime>
  </property>
</Properties>
</file>