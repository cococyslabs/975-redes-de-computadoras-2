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96B7F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96B7F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96B7F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96B7F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7070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707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34975"/>
            <a:ext cx="5411470" cy="1111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96B7F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924049"/>
            <a:ext cx="6000750" cy="391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148397"/>
            <a:ext cx="5732780" cy="221170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ts val="5780"/>
              </a:lnSpc>
              <a:spcBef>
                <a:spcPts val="130"/>
              </a:spcBef>
            </a:pPr>
            <a:r>
              <a:rPr dirty="0" sz="4650" spc="70"/>
              <a:t>Fundamentos</a:t>
            </a:r>
            <a:r>
              <a:rPr dirty="0" sz="4650" spc="-560"/>
              <a:t> </a:t>
            </a:r>
            <a:r>
              <a:rPr dirty="0" sz="4650" spc="170"/>
              <a:t>de </a:t>
            </a:r>
            <a:r>
              <a:rPr dirty="0" sz="4650" spc="120"/>
              <a:t>Automatización</a:t>
            </a:r>
            <a:r>
              <a:rPr dirty="0" sz="4650" spc="-580"/>
              <a:t> </a:t>
            </a:r>
            <a:r>
              <a:rPr dirty="0" sz="4650" spc="170"/>
              <a:t>de</a:t>
            </a:r>
            <a:endParaRPr sz="4650"/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650" spc="105"/>
              <a:t>Redes</a:t>
            </a:r>
            <a:endParaRPr sz="4650"/>
          </a:p>
        </p:txBody>
      </p:sp>
      <p:sp>
        <p:nvSpPr>
          <p:cNvPr id="6" name="object 6" descr=""/>
          <p:cNvSpPr txBox="1"/>
          <p:nvPr/>
        </p:nvSpPr>
        <p:spPr>
          <a:xfrm>
            <a:off x="587375" y="3612515"/>
            <a:ext cx="5930265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Bienvenidos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nuestra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presentación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sobre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automatización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Verdana"/>
                <a:cs typeface="Verdana"/>
              </a:rPr>
              <a:t>redes. 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Exploraremos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conceptos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clave,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herramientas</a:t>
            </a:r>
            <a:r>
              <a:rPr dirty="0" sz="1350" spc="-10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y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aplicaciones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prácticas.</a:t>
            </a:r>
            <a:r>
              <a:rPr dirty="0" sz="1350" spc="-10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Esta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guía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es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esencial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para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profesionales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estudiantes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que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buscan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optimizar</a:t>
            </a:r>
            <a:r>
              <a:rPr dirty="0" sz="1350" spc="-12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la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gestión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redes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Verdana"/>
                <a:cs typeface="Verdana"/>
              </a:rPr>
              <a:t>modernas.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47390" y="4964112"/>
            <a:ext cx="182626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5">
                <a:solidFill>
                  <a:srgbClr val="E0D6DE"/>
                </a:solidFill>
                <a:latin typeface="Arial Black"/>
                <a:cs typeface="Arial Black"/>
              </a:rPr>
              <a:t>por</a:t>
            </a:r>
            <a:r>
              <a:rPr dirty="0" sz="1650" spc="-14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dirty="0" sz="1650" spc="-70">
                <a:solidFill>
                  <a:srgbClr val="E0D6DE"/>
                </a:solidFill>
                <a:latin typeface="Arial Black"/>
                <a:cs typeface="Arial Black"/>
              </a:rPr>
              <a:t>Eduardo</a:t>
            </a:r>
            <a:r>
              <a:rPr dirty="0" sz="1650" spc="-14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dirty="0" sz="1650" spc="-90">
                <a:solidFill>
                  <a:srgbClr val="E0D6DE"/>
                </a:solidFill>
                <a:latin typeface="Arial Black"/>
                <a:cs typeface="Arial Black"/>
              </a:rPr>
              <a:t>Ixén</a:t>
            </a:r>
            <a:endParaRPr sz="1650">
              <a:latin typeface="Arial Black"/>
              <a:cs typeface="Arial Black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00075" y="4962525"/>
            <a:ext cx="276225" cy="276225"/>
            <a:chOff x="600075" y="4962525"/>
            <a:chExt cx="276225" cy="276225"/>
          </a:xfrm>
        </p:grpSpPr>
        <p:sp>
          <p:nvSpPr>
            <p:cNvPr id="9" name="object 9" descr=""/>
            <p:cNvSpPr/>
            <p:nvPr/>
          </p:nvSpPr>
          <p:spPr>
            <a:xfrm>
              <a:off x="604837" y="4967287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4640" y="5737"/>
                  </a:lnTo>
                  <a:lnTo>
                    <a:pt x="59263" y="22479"/>
                  </a:lnTo>
                  <a:lnTo>
                    <a:pt x="30268" y="48750"/>
                  </a:lnTo>
                  <a:lnTo>
                    <a:pt x="10149" y="82321"/>
                  </a:lnTo>
                  <a:lnTo>
                    <a:pt x="640" y="120283"/>
                  </a:lnTo>
                  <a:lnTo>
                    <a:pt x="0" y="133350"/>
                  </a:lnTo>
                  <a:lnTo>
                    <a:pt x="160" y="139898"/>
                  </a:lnTo>
                  <a:lnTo>
                    <a:pt x="7791" y="178265"/>
                  </a:lnTo>
                  <a:lnTo>
                    <a:pt x="26246" y="212792"/>
                  </a:lnTo>
                  <a:lnTo>
                    <a:pt x="53906" y="240453"/>
                  </a:lnTo>
                  <a:lnTo>
                    <a:pt x="88431" y="258906"/>
                  </a:lnTo>
                  <a:lnTo>
                    <a:pt x="126798" y="266540"/>
                  </a:lnTo>
                  <a:lnTo>
                    <a:pt x="133350" y="266701"/>
                  </a:lnTo>
                  <a:lnTo>
                    <a:pt x="139901" y="266540"/>
                  </a:lnTo>
                  <a:lnTo>
                    <a:pt x="178268" y="258906"/>
                  </a:lnTo>
                  <a:lnTo>
                    <a:pt x="212793" y="240452"/>
                  </a:lnTo>
                  <a:lnTo>
                    <a:pt x="240453" y="212792"/>
                  </a:lnTo>
                  <a:lnTo>
                    <a:pt x="258908" y="178265"/>
                  </a:lnTo>
                  <a:lnTo>
                    <a:pt x="266539" y="139898"/>
                  </a:lnTo>
                  <a:lnTo>
                    <a:pt x="266700" y="133350"/>
                  </a:lnTo>
                  <a:lnTo>
                    <a:pt x="266539" y="126801"/>
                  </a:lnTo>
                  <a:lnTo>
                    <a:pt x="258908" y="88434"/>
                  </a:lnTo>
                  <a:lnTo>
                    <a:pt x="240453" y="53902"/>
                  </a:lnTo>
                  <a:lnTo>
                    <a:pt x="212793" y="26245"/>
                  </a:lnTo>
                  <a:lnTo>
                    <a:pt x="178268" y="7787"/>
                  </a:lnTo>
                  <a:lnTo>
                    <a:pt x="139901" y="159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813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04837" y="4967287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133350"/>
                  </a:moveTo>
                  <a:lnTo>
                    <a:pt x="260958" y="172061"/>
                  </a:lnTo>
                  <a:lnTo>
                    <a:pt x="244227" y="207432"/>
                  </a:lnTo>
                  <a:lnTo>
                    <a:pt x="217946" y="236431"/>
                  </a:lnTo>
                  <a:lnTo>
                    <a:pt x="184383" y="256546"/>
                  </a:lnTo>
                  <a:lnTo>
                    <a:pt x="146421" y="266058"/>
                  </a:lnTo>
                  <a:lnTo>
                    <a:pt x="133350" y="266701"/>
                  </a:lnTo>
                  <a:lnTo>
                    <a:pt x="126798" y="266540"/>
                  </a:lnTo>
                  <a:lnTo>
                    <a:pt x="88431" y="258906"/>
                  </a:lnTo>
                  <a:lnTo>
                    <a:pt x="53906" y="240453"/>
                  </a:lnTo>
                  <a:lnTo>
                    <a:pt x="26246" y="212792"/>
                  </a:lnTo>
                  <a:lnTo>
                    <a:pt x="7791" y="178265"/>
                  </a:lnTo>
                  <a:lnTo>
                    <a:pt x="160" y="139898"/>
                  </a:lnTo>
                  <a:lnTo>
                    <a:pt x="0" y="133350"/>
                  </a:lnTo>
                  <a:lnTo>
                    <a:pt x="160" y="126801"/>
                  </a:lnTo>
                  <a:lnTo>
                    <a:pt x="7791" y="88434"/>
                  </a:lnTo>
                  <a:lnTo>
                    <a:pt x="26246" y="53902"/>
                  </a:lnTo>
                  <a:lnTo>
                    <a:pt x="53906" y="26245"/>
                  </a:lnTo>
                  <a:lnTo>
                    <a:pt x="88431" y="7787"/>
                  </a:lnTo>
                  <a:lnTo>
                    <a:pt x="126798" y="159"/>
                  </a:lnTo>
                  <a:lnTo>
                    <a:pt x="133350" y="0"/>
                  </a:lnTo>
                  <a:lnTo>
                    <a:pt x="139901" y="159"/>
                  </a:lnTo>
                  <a:lnTo>
                    <a:pt x="178268" y="7787"/>
                  </a:lnTo>
                  <a:lnTo>
                    <a:pt x="212793" y="26245"/>
                  </a:lnTo>
                  <a:lnTo>
                    <a:pt x="240453" y="53902"/>
                  </a:lnTo>
                  <a:lnTo>
                    <a:pt x="258908" y="88434"/>
                  </a:lnTo>
                  <a:lnTo>
                    <a:pt x="266539" y="126801"/>
                  </a:lnTo>
                  <a:lnTo>
                    <a:pt x="266700" y="13335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69081" y="5008879"/>
            <a:ext cx="13652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25">
                <a:solidFill>
                  <a:srgbClr val="FFFFFF"/>
                </a:solidFill>
                <a:latin typeface="Arial MT"/>
                <a:cs typeface="Arial MT"/>
              </a:rPr>
              <a:t>EI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9572" y="2768600"/>
            <a:ext cx="913955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80"/>
              <a:t>Conceptos</a:t>
            </a:r>
            <a:r>
              <a:rPr dirty="0" spc="-415"/>
              <a:t> </a:t>
            </a:r>
            <a:r>
              <a:rPr dirty="0" spc="105"/>
              <a:t>Básicos</a:t>
            </a:r>
            <a:r>
              <a:rPr dirty="0" spc="-409"/>
              <a:t> </a:t>
            </a:r>
            <a:r>
              <a:rPr dirty="0" spc="160"/>
              <a:t>de</a:t>
            </a:r>
            <a:r>
              <a:rPr dirty="0" spc="-409"/>
              <a:t> </a:t>
            </a:r>
            <a:r>
              <a:rPr dirty="0" spc="95"/>
              <a:t>Automatización</a:t>
            </a:r>
            <a:r>
              <a:rPr dirty="0" spc="-415"/>
              <a:t> </a:t>
            </a:r>
            <a:r>
              <a:rPr dirty="0" spc="135"/>
              <a:t>de </a:t>
            </a:r>
            <a:r>
              <a:rPr dirty="0" spc="90"/>
              <a:t>Redes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028700" y="4314825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71932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369100"/>
                </a:lnTo>
                <a:lnTo>
                  <a:pt x="0" y="371932"/>
                </a:lnTo>
                <a:lnTo>
                  <a:pt x="18588" y="390525"/>
                </a:lnTo>
                <a:lnTo>
                  <a:pt x="371932" y="390525"/>
                </a:lnTo>
                <a:lnTo>
                  <a:pt x="390525" y="371932"/>
                </a:lnTo>
                <a:lnTo>
                  <a:pt x="390525" y="18592"/>
                </a:lnTo>
                <a:lnTo>
                  <a:pt x="374675" y="546"/>
                </a:lnTo>
                <a:lnTo>
                  <a:pt x="371932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57982" y="4321175"/>
            <a:ext cx="1346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75">
                <a:solidFill>
                  <a:srgbClr val="E0D6DE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76785" y="4287837"/>
            <a:ext cx="2463800" cy="148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5">
                <a:solidFill>
                  <a:srgbClr val="E0D6DE"/>
                </a:solidFill>
                <a:latin typeface="Verdana"/>
                <a:cs typeface="Verdana"/>
              </a:rPr>
              <a:t>Definición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La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automatización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redes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es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el</a:t>
            </a:r>
            <a:r>
              <a:rPr dirty="0" sz="1350" spc="-14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proceso</a:t>
            </a:r>
            <a:r>
              <a:rPr dirty="0" sz="1350" spc="-14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4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Verdana"/>
                <a:cs typeface="Verdana"/>
              </a:rPr>
              <a:t>programar 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tareas</a:t>
            </a:r>
            <a:r>
              <a:rPr dirty="0" sz="1350" spc="-10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repetitivas</a:t>
            </a:r>
            <a:r>
              <a:rPr dirty="0" sz="1350" spc="-10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de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configuración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gestión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red.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4210050" y="4314825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719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369100"/>
                </a:lnTo>
                <a:lnTo>
                  <a:pt x="0" y="371932"/>
                </a:lnTo>
                <a:lnTo>
                  <a:pt x="18592" y="390525"/>
                </a:lnTo>
                <a:lnTo>
                  <a:pt x="371932" y="390525"/>
                </a:lnTo>
                <a:lnTo>
                  <a:pt x="390525" y="371932"/>
                </a:lnTo>
                <a:lnTo>
                  <a:pt x="390525" y="18592"/>
                </a:lnTo>
                <a:lnTo>
                  <a:pt x="374675" y="546"/>
                </a:lnTo>
                <a:lnTo>
                  <a:pt x="371932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311205" y="4321175"/>
            <a:ext cx="18605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E0D6DE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755755" y="4287837"/>
            <a:ext cx="2423795" cy="12077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>
                <a:solidFill>
                  <a:srgbClr val="E0D6DE"/>
                </a:solidFill>
                <a:latin typeface="Verdana"/>
                <a:cs typeface="Verdana"/>
              </a:rPr>
              <a:t>Importancia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Fundamental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en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la</a:t>
            </a:r>
            <a:r>
              <a:rPr dirty="0" sz="1350" spc="-14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era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Verdana"/>
                <a:cs typeface="Verdana"/>
              </a:rPr>
              <a:t>digital </a:t>
            </a: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para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manejar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redes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complejas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dinámicas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con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Verdana"/>
                <a:cs typeface="Verdana"/>
              </a:rPr>
              <a:t>eficiencia.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7391400" y="4314825"/>
            <a:ext cx="381000" cy="390525"/>
          </a:xfrm>
          <a:custGeom>
            <a:avLst/>
            <a:gdLst/>
            <a:ahLst/>
            <a:cxnLst/>
            <a:rect l="l" t="t" r="r" b="b"/>
            <a:pathLst>
              <a:path w="381000" h="390525">
                <a:moveTo>
                  <a:pt x="3624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369100"/>
                </a:lnTo>
                <a:lnTo>
                  <a:pt x="0" y="371932"/>
                </a:lnTo>
                <a:lnTo>
                  <a:pt x="18592" y="390525"/>
                </a:lnTo>
                <a:lnTo>
                  <a:pt x="362407" y="390525"/>
                </a:lnTo>
                <a:lnTo>
                  <a:pt x="381000" y="371932"/>
                </a:lnTo>
                <a:lnTo>
                  <a:pt x="381000" y="18592"/>
                </a:lnTo>
                <a:lnTo>
                  <a:pt x="365150" y="546"/>
                </a:lnTo>
                <a:lnTo>
                  <a:pt x="362407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490624" y="4321175"/>
            <a:ext cx="1854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E0D6DE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934728" y="4287837"/>
            <a:ext cx="2287905" cy="148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5">
                <a:solidFill>
                  <a:srgbClr val="E0D6DE"/>
                </a:solidFill>
                <a:latin typeface="Verdana"/>
                <a:cs typeface="Verdana"/>
              </a:rPr>
              <a:t>Beneficios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Mejora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la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eficiencia,</a:t>
            </a:r>
            <a:r>
              <a:rPr dirty="0" sz="1350" spc="-12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Verdana"/>
                <a:cs typeface="Verdana"/>
              </a:rPr>
              <a:t>reduce 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errores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humanos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garantiza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consistencia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en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las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configuraciones</a:t>
            </a:r>
            <a:r>
              <a:rPr dirty="0" sz="1350" spc="-12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2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red.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3" name="object 13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572" y="1863725"/>
            <a:ext cx="83686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90"/>
              <a:t>Python</a:t>
            </a:r>
            <a:r>
              <a:rPr dirty="0" spc="-420"/>
              <a:t> </a:t>
            </a:r>
            <a:r>
              <a:rPr dirty="0" spc="60"/>
              <a:t>en</a:t>
            </a:r>
            <a:r>
              <a:rPr dirty="0" spc="-420"/>
              <a:t> </a:t>
            </a:r>
            <a:r>
              <a:rPr dirty="0"/>
              <a:t>la</a:t>
            </a:r>
            <a:r>
              <a:rPr dirty="0" spc="-420"/>
              <a:t> </a:t>
            </a:r>
            <a:r>
              <a:rPr dirty="0" spc="95"/>
              <a:t>Automatización</a:t>
            </a:r>
            <a:r>
              <a:rPr dirty="0" spc="-415"/>
              <a:t> </a:t>
            </a:r>
            <a:r>
              <a:rPr dirty="0" spc="160"/>
              <a:t>de</a:t>
            </a:r>
            <a:r>
              <a:rPr dirty="0" spc="-420"/>
              <a:t> </a:t>
            </a:r>
            <a:r>
              <a:rPr dirty="0" spc="90"/>
              <a:t>Redes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19572" y="2830512"/>
            <a:ext cx="2449195" cy="15411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40">
                <a:solidFill>
                  <a:srgbClr val="96B7FF"/>
                </a:solidFill>
                <a:latin typeface="Verdana"/>
                <a:cs typeface="Verdana"/>
              </a:rPr>
              <a:t>Versatilidad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2700"/>
              </a:lnSpc>
              <a:spcBef>
                <a:spcPts val="1315"/>
              </a:spcBef>
            </a:pP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Python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es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ideal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para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automatización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por</a:t>
            </a:r>
            <a:r>
              <a:rPr dirty="0" sz="1350" spc="-12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su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sintaxis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clara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amplia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biblioteca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de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módulos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red.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89920" y="2830512"/>
            <a:ext cx="2598420" cy="12744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96B7FF"/>
                </a:solidFill>
                <a:latin typeface="Verdana"/>
                <a:cs typeface="Verdana"/>
              </a:rPr>
              <a:t>Ejemplo</a:t>
            </a:r>
            <a:r>
              <a:rPr dirty="0" sz="1650" spc="120">
                <a:solidFill>
                  <a:srgbClr val="96B7FF"/>
                </a:solidFill>
                <a:latin typeface="Verdana"/>
                <a:cs typeface="Verdana"/>
              </a:rPr>
              <a:t> </a:t>
            </a:r>
            <a:r>
              <a:rPr dirty="0" sz="1650" spc="70">
                <a:solidFill>
                  <a:srgbClr val="96B7FF"/>
                </a:solidFill>
                <a:latin typeface="Verdana"/>
                <a:cs typeface="Verdana"/>
              </a:rPr>
              <a:t>Práctico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1290"/>
              </a:spcBef>
            </a:pP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Script</a:t>
            </a:r>
            <a:r>
              <a:rPr dirty="0" sz="1350" spc="-12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simple</a:t>
            </a:r>
            <a:r>
              <a:rPr dirty="0" sz="1350" spc="-12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para</a:t>
            </a:r>
            <a:r>
              <a:rPr dirty="0" sz="1350" spc="-12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verificar</a:t>
            </a:r>
            <a:r>
              <a:rPr dirty="0" sz="1350" spc="-12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el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estado</a:t>
            </a:r>
            <a:r>
              <a:rPr dirty="0" sz="1350" spc="-14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conexión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4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múltiples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dispositivos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en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la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red.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560271" y="2830512"/>
            <a:ext cx="2698115" cy="12744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>
                <a:solidFill>
                  <a:srgbClr val="96B7FF"/>
                </a:solidFill>
                <a:latin typeface="Verdana"/>
                <a:cs typeface="Verdana"/>
              </a:rPr>
              <a:t>Bibliotecas</a:t>
            </a:r>
            <a:r>
              <a:rPr dirty="0" sz="1650" spc="-160">
                <a:solidFill>
                  <a:srgbClr val="96B7FF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96B7FF"/>
                </a:solidFill>
                <a:latin typeface="Verdana"/>
                <a:cs typeface="Verdana"/>
              </a:rPr>
              <a:t>Clave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1290"/>
              </a:spcBef>
            </a:pP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Netmiko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Paramiko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facilitan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la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conexión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2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configuración</a:t>
            </a:r>
            <a:r>
              <a:rPr dirty="0" sz="1350" spc="-12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de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dispositivos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2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red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remotamente.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6" name="object 6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135"/>
              <a:t>Ansible</a:t>
            </a:r>
            <a:r>
              <a:rPr dirty="0" spc="-425"/>
              <a:t> </a:t>
            </a:r>
            <a:r>
              <a:rPr dirty="0" spc="60"/>
              <a:t>en</a:t>
            </a:r>
            <a:r>
              <a:rPr dirty="0" spc="-420"/>
              <a:t> </a:t>
            </a:r>
            <a:r>
              <a:rPr dirty="0"/>
              <a:t>la</a:t>
            </a:r>
            <a:r>
              <a:rPr dirty="0" spc="-425"/>
              <a:t> </a:t>
            </a:r>
            <a:r>
              <a:rPr dirty="0" spc="160"/>
              <a:t>Cestión</a:t>
            </a:r>
            <a:r>
              <a:rPr dirty="0" spc="-420"/>
              <a:t> </a:t>
            </a:r>
            <a:r>
              <a:rPr dirty="0" spc="135"/>
              <a:t>de </a:t>
            </a:r>
            <a:r>
              <a:rPr dirty="0" spc="90"/>
              <a:t>Redes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664368" y="1819274"/>
            <a:ext cx="972185" cy="4133850"/>
            <a:chOff x="664368" y="1819274"/>
            <a:chExt cx="972185" cy="4133850"/>
          </a:xfrm>
        </p:grpSpPr>
        <p:sp>
          <p:nvSpPr>
            <p:cNvPr id="7" name="object 7" descr=""/>
            <p:cNvSpPr/>
            <p:nvPr/>
          </p:nvSpPr>
          <p:spPr>
            <a:xfrm>
              <a:off x="847725" y="1819274"/>
              <a:ext cx="788670" cy="4134485"/>
            </a:xfrm>
            <a:custGeom>
              <a:avLst/>
              <a:gdLst/>
              <a:ahLst/>
              <a:cxnLst/>
              <a:rect l="l" t="t" r="r" b="b"/>
              <a:pathLst>
                <a:path w="788669" h="4134485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4124337"/>
                  </a:lnTo>
                  <a:lnTo>
                    <a:pt x="0" y="4126966"/>
                  </a:lnTo>
                  <a:lnTo>
                    <a:pt x="927" y="4129201"/>
                  </a:lnTo>
                  <a:lnTo>
                    <a:pt x="4648" y="4132923"/>
                  </a:lnTo>
                  <a:lnTo>
                    <a:pt x="6896" y="4133862"/>
                  </a:lnTo>
                  <a:lnTo>
                    <a:pt x="12153" y="4133862"/>
                  </a:lnTo>
                  <a:lnTo>
                    <a:pt x="14401" y="4132923"/>
                  </a:lnTo>
                  <a:lnTo>
                    <a:pt x="18122" y="4129201"/>
                  </a:lnTo>
                  <a:lnTo>
                    <a:pt x="19050" y="4126966"/>
                  </a:lnTo>
                  <a:lnTo>
                    <a:pt x="19050" y="6896"/>
                  </a:lnTo>
                  <a:close/>
                </a:path>
                <a:path w="788669" h="4134485">
                  <a:moveTo>
                    <a:pt x="788200" y="378371"/>
                  </a:moveTo>
                  <a:lnTo>
                    <a:pt x="787260" y="376123"/>
                  </a:lnTo>
                  <a:lnTo>
                    <a:pt x="783539" y="372402"/>
                  </a:lnTo>
                  <a:lnTo>
                    <a:pt x="781304" y="371475"/>
                  </a:lnTo>
                  <a:lnTo>
                    <a:pt x="195008" y="371475"/>
                  </a:lnTo>
                  <a:lnTo>
                    <a:pt x="192760" y="372402"/>
                  </a:lnTo>
                  <a:lnTo>
                    <a:pt x="189039" y="376123"/>
                  </a:lnTo>
                  <a:lnTo>
                    <a:pt x="188112" y="378371"/>
                  </a:lnTo>
                  <a:lnTo>
                    <a:pt x="188112" y="381000"/>
                  </a:lnTo>
                  <a:lnTo>
                    <a:pt x="188112" y="383628"/>
                  </a:lnTo>
                  <a:lnTo>
                    <a:pt x="189039" y="385876"/>
                  </a:lnTo>
                  <a:lnTo>
                    <a:pt x="192760" y="389597"/>
                  </a:lnTo>
                  <a:lnTo>
                    <a:pt x="195008" y="390525"/>
                  </a:lnTo>
                  <a:lnTo>
                    <a:pt x="781304" y="390525"/>
                  </a:lnTo>
                  <a:lnTo>
                    <a:pt x="783539" y="389597"/>
                  </a:lnTo>
                  <a:lnTo>
                    <a:pt x="787260" y="385876"/>
                  </a:lnTo>
                  <a:lnTo>
                    <a:pt x="788200" y="383628"/>
                  </a:lnTo>
                  <a:lnTo>
                    <a:pt x="788200" y="378371"/>
                  </a:lnTo>
                  <a:close/>
                </a:path>
              </a:pathLst>
            </a:custGeom>
            <a:solidFill>
              <a:srgbClr val="3F3F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64368" y="2009774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6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369100"/>
                  </a:lnTo>
                  <a:lnTo>
                    <a:pt x="0" y="371932"/>
                  </a:lnTo>
                  <a:lnTo>
                    <a:pt x="18588" y="390525"/>
                  </a:lnTo>
                  <a:lnTo>
                    <a:pt x="371936" y="390525"/>
                  </a:lnTo>
                  <a:lnTo>
                    <a:pt x="390525" y="371932"/>
                  </a:lnTo>
                  <a:lnTo>
                    <a:pt x="390525" y="18592"/>
                  </a:lnTo>
                  <a:lnTo>
                    <a:pt x="374670" y="546"/>
                  </a:lnTo>
                  <a:lnTo>
                    <a:pt x="371936" y="0"/>
                  </a:lnTo>
                  <a:close/>
                </a:path>
              </a:pathLst>
            </a:custGeom>
            <a:solidFill>
              <a:srgbClr val="2525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90078" y="2016125"/>
            <a:ext cx="1346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75">
                <a:solidFill>
                  <a:srgbClr val="E0D6DE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87525" y="1963737"/>
            <a:ext cx="3895090" cy="9315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5">
                <a:solidFill>
                  <a:srgbClr val="E0D6DE"/>
                </a:solidFill>
                <a:latin typeface="Verdana"/>
                <a:cs typeface="Verdana"/>
              </a:rPr>
              <a:t>Introducción</a:t>
            </a:r>
            <a:r>
              <a:rPr dirty="0" sz="1650" spc="-20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650" spc="-20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65">
                <a:solidFill>
                  <a:srgbClr val="E0D6DE"/>
                </a:solidFill>
                <a:latin typeface="Verdana"/>
                <a:cs typeface="Verdana"/>
              </a:rPr>
              <a:t>Ansible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Herramienta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automatización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que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simplifica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la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configuración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gestión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2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dispositivos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red.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64368" y="3448050"/>
            <a:ext cx="972185" cy="381000"/>
            <a:chOff x="664368" y="3448050"/>
            <a:chExt cx="972185" cy="381000"/>
          </a:xfrm>
        </p:grpSpPr>
        <p:sp>
          <p:nvSpPr>
            <p:cNvPr id="12" name="object 12" descr=""/>
            <p:cNvSpPr/>
            <p:nvPr/>
          </p:nvSpPr>
          <p:spPr>
            <a:xfrm>
              <a:off x="1035843" y="3629025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3F3F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64368" y="3448050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371936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359575"/>
                  </a:lnTo>
                  <a:lnTo>
                    <a:pt x="0" y="362407"/>
                  </a:lnTo>
                  <a:lnTo>
                    <a:pt x="18588" y="381000"/>
                  </a:lnTo>
                  <a:lnTo>
                    <a:pt x="371936" y="381000"/>
                  </a:lnTo>
                  <a:lnTo>
                    <a:pt x="390525" y="362407"/>
                  </a:lnTo>
                  <a:lnTo>
                    <a:pt x="390525" y="18592"/>
                  </a:lnTo>
                  <a:lnTo>
                    <a:pt x="374670" y="546"/>
                  </a:lnTo>
                  <a:lnTo>
                    <a:pt x="371936" y="0"/>
                  </a:lnTo>
                  <a:close/>
                </a:path>
              </a:pathLst>
            </a:custGeom>
            <a:solidFill>
              <a:srgbClr val="2525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764331" y="3444875"/>
            <a:ext cx="18605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E0D6DE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787525" y="3392487"/>
            <a:ext cx="4324350" cy="9315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0">
                <a:solidFill>
                  <a:srgbClr val="E0D6DE"/>
                </a:solidFill>
                <a:latin typeface="Verdana"/>
                <a:cs typeface="Verdana"/>
              </a:rPr>
              <a:t>Playbooks</a:t>
            </a:r>
            <a:r>
              <a:rPr dirty="0" sz="1650" spc="-2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9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650" spc="-2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65">
                <a:solidFill>
                  <a:srgbClr val="E0D6DE"/>
                </a:solidFill>
                <a:latin typeface="Verdana"/>
                <a:cs typeface="Verdana"/>
              </a:rPr>
              <a:t>Ansible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Scripts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0D6DE"/>
                </a:solidFill>
                <a:latin typeface="Verdana"/>
                <a:cs typeface="Verdana"/>
              </a:rPr>
              <a:t>YAML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que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definen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tareas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configuración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para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múltiples</a:t>
            </a:r>
            <a:r>
              <a:rPr dirty="0" sz="1350" spc="-9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dispositivos</a:t>
            </a:r>
            <a:r>
              <a:rPr dirty="0" sz="1350" spc="-9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Verdana"/>
                <a:cs typeface="Verdana"/>
              </a:rPr>
              <a:t>simultáneamente.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64368" y="4876800"/>
            <a:ext cx="972185" cy="390525"/>
            <a:chOff x="664368" y="4876800"/>
            <a:chExt cx="972185" cy="390525"/>
          </a:xfrm>
        </p:grpSpPr>
        <p:sp>
          <p:nvSpPr>
            <p:cNvPr id="17" name="object 17" descr=""/>
            <p:cNvSpPr/>
            <p:nvPr/>
          </p:nvSpPr>
          <p:spPr>
            <a:xfrm>
              <a:off x="1035843" y="5067300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3F3F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64368" y="4876800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6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369095"/>
                  </a:lnTo>
                  <a:lnTo>
                    <a:pt x="0" y="371937"/>
                  </a:lnTo>
                  <a:lnTo>
                    <a:pt x="18588" y="390526"/>
                  </a:lnTo>
                  <a:lnTo>
                    <a:pt x="371936" y="390526"/>
                  </a:lnTo>
                  <a:lnTo>
                    <a:pt x="390525" y="371937"/>
                  </a:lnTo>
                  <a:lnTo>
                    <a:pt x="390525" y="18592"/>
                  </a:lnTo>
                  <a:lnTo>
                    <a:pt x="374670" y="546"/>
                  </a:lnTo>
                  <a:lnTo>
                    <a:pt x="371936" y="0"/>
                  </a:lnTo>
                  <a:close/>
                </a:path>
              </a:pathLst>
            </a:custGeom>
            <a:solidFill>
              <a:srgbClr val="2525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64778" y="4883150"/>
            <a:ext cx="1854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E0D6DE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787526" y="4830762"/>
            <a:ext cx="4676140" cy="9315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0">
                <a:solidFill>
                  <a:srgbClr val="E0D6DE"/>
                </a:solidFill>
                <a:latin typeface="Verdana"/>
                <a:cs typeface="Verdana"/>
              </a:rPr>
              <a:t>Caso</a:t>
            </a:r>
            <a:r>
              <a:rPr dirty="0" sz="1650" spc="-2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9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650" spc="-2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75">
                <a:solidFill>
                  <a:srgbClr val="E0D6DE"/>
                </a:solidFill>
                <a:latin typeface="Verdana"/>
                <a:cs typeface="Verdana"/>
              </a:rPr>
              <a:t>Uso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Configuración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automática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0D6DE"/>
                </a:solidFill>
                <a:latin typeface="Verdana"/>
                <a:cs typeface="Verdana"/>
              </a:rPr>
              <a:t>VLANs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en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switches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toda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la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red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Verdana"/>
                <a:cs typeface="Verdana"/>
              </a:rPr>
              <a:t>empresarial.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425450"/>
            <a:ext cx="4905375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/>
              <a:t>Infraestructura</a:t>
            </a:r>
            <a:r>
              <a:rPr dirty="0" spc="-220"/>
              <a:t> </a:t>
            </a:r>
            <a:r>
              <a:rPr dirty="0" spc="180"/>
              <a:t>como </a:t>
            </a:r>
            <a:r>
              <a:rPr dirty="0" spc="229"/>
              <a:t>Código</a:t>
            </a:r>
            <a:r>
              <a:rPr dirty="0" spc="-420"/>
              <a:t> </a:t>
            </a:r>
            <a:r>
              <a:rPr dirty="0" spc="-125"/>
              <a:t>(IaC)</a:t>
            </a:r>
            <a:r>
              <a:rPr dirty="0" spc="-415"/>
              <a:t> </a:t>
            </a:r>
            <a:r>
              <a:rPr dirty="0" spc="60"/>
              <a:t>en</a:t>
            </a:r>
            <a:r>
              <a:rPr dirty="0" spc="-420"/>
              <a:t> </a:t>
            </a:r>
            <a:r>
              <a:rPr dirty="0" spc="90"/>
              <a:t>Redes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4886325" y="1819274"/>
            <a:ext cx="5943600" cy="1257300"/>
          </a:xfrm>
          <a:custGeom>
            <a:avLst/>
            <a:gdLst/>
            <a:ahLst/>
            <a:cxnLst/>
            <a:rect l="l" t="t" r="r" b="b"/>
            <a:pathLst>
              <a:path w="5943600" h="1257300">
                <a:moveTo>
                  <a:pt x="59250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235875"/>
                </a:lnTo>
                <a:lnTo>
                  <a:pt x="0" y="1238707"/>
                </a:lnTo>
                <a:lnTo>
                  <a:pt x="18592" y="1257300"/>
                </a:lnTo>
                <a:lnTo>
                  <a:pt x="5925007" y="1257300"/>
                </a:lnTo>
                <a:lnTo>
                  <a:pt x="5943600" y="1238707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886325" y="3248024"/>
            <a:ext cx="5943600" cy="1266825"/>
          </a:xfrm>
          <a:custGeom>
            <a:avLst/>
            <a:gdLst/>
            <a:ahLst/>
            <a:cxnLst/>
            <a:rect l="l" t="t" r="r" b="b"/>
            <a:pathLst>
              <a:path w="5943600" h="1266825">
                <a:moveTo>
                  <a:pt x="59250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245400"/>
                </a:lnTo>
                <a:lnTo>
                  <a:pt x="0" y="1248232"/>
                </a:lnTo>
                <a:lnTo>
                  <a:pt x="18592" y="1266825"/>
                </a:lnTo>
                <a:lnTo>
                  <a:pt x="5925007" y="1266825"/>
                </a:lnTo>
                <a:lnTo>
                  <a:pt x="5943600" y="1248232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045075" y="1963737"/>
            <a:ext cx="5545455" cy="2360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4">
                <a:solidFill>
                  <a:srgbClr val="E0D6DE"/>
                </a:solidFill>
                <a:latin typeface="Verdana"/>
                <a:cs typeface="Verdana"/>
              </a:rPr>
              <a:t>Concepto</a:t>
            </a:r>
            <a:r>
              <a:rPr dirty="0" sz="1650" spc="-204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9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650" spc="-20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-25">
                <a:solidFill>
                  <a:srgbClr val="E0D6DE"/>
                </a:solidFill>
                <a:latin typeface="Verdana"/>
                <a:cs typeface="Verdana"/>
              </a:rPr>
              <a:t>IaC</a:t>
            </a:r>
            <a:endParaRPr sz="1650">
              <a:latin typeface="Verdana"/>
              <a:cs typeface="Verdana"/>
            </a:endParaRPr>
          </a:p>
          <a:p>
            <a:pPr marL="12700" marR="431165">
              <a:lnSpc>
                <a:spcPct val="134300"/>
              </a:lnSpc>
              <a:spcBef>
                <a:spcPts val="765"/>
              </a:spcBef>
            </a:pP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Gestión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aprovisionamiento</a:t>
            </a:r>
            <a:r>
              <a:rPr dirty="0" sz="1350" spc="-114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infraestructura</a:t>
            </a:r>
            <a:r>
              <a:rPr dirty="0" sz="1350" spc="-114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red</a:t>
            </a:r>
            <a:r>
              <a:rPr dirty="0" sz="1350" spc="-114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mediante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archivos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configuración</a:t>
            </a:r>
            <a:r>
              <a:rPr dirty="0" sz="1350" spc="-12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Verdana"/>
                <a:cs typeface="Verdana"/>
              </a:rPr>
              <a:t>versionados.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650" spc="-10">
                <a:solidFill>
                  <a:srgbClr val="E0D6DE"/>
                </a:solidFill>
                <a:latin typeface="Verdana"/>
                <a:cs typeface="Verdana"/>
              </a:rPr>
              <a:t>Ventajas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Permite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replicar</a:t>
            </a:r>
            <a:r>
              <a:rPr dirty="0" sz="1350" spc="-10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configuraciones</a:t>
            </a:r>
            <a:r>
              <a:rPr dirty="0" sz="1350" spc="-10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rápidamente,</a:t>
            </a:r>
            <a:r>
              <a:rPr dirty="0" sz="1350" spc="-10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asegura</a:t>
            </a:r>
            <a:r>
              <a:rPr dirty="0" sz="1350" spc="-10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consistencia</a:t>
            </a:r>
            <a:r>
              <a:rPr dirty="0" sz="1350" spc="-10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y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facilita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el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control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Verdana"/>
                <a:cs typeface="Verdana"/>
              </a:rPr>
              <a:t>versiones.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4886325" y="4686300"/>
            <a:ext cx="5943600" cy="1266825"/>
          </a:xfrm>
          <a:custGeom>
            <a:avLst/>
            <a:gdLst/>
            <a:ahLst/>
            <a:cxnLst/>
            <a:rect l="l" t="t" r="r" b="b"/>
            <a:pathLst>
              <a:path w="5943600" h="1266825">
                <a:moveTo>
                  <a:pt x="59250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245395"/>
                </a:lnTo>
                <a:lnTo>
                  <a:pt x="0" y="1248232"/>
                </a:lnTo>
                <a:lnTo>
                  <a:pt x="18592" y="1266826"/>
                </a:lnTo>
                <a:lnTo>
                  <a:pt x="5925007" y="1266826"/>
                </a:lnTo>
                <a:lnTo>
                  <a:pt x="5943600" y="1248232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045075" y="4830762"/>
            <a:ext cx="5502275" cy="9315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>
                <a:solidFill>
                  <a:srgbClr val="E0D6DE"/>
                </a:solidFill>
                <a:latin typeface="Verdana"/>
                <a:cs typeface="Verdana"/>
              </a:rPr>
              <a:t>Herramientas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Terraform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Ansible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son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populares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para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implementar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IaC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en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entornos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6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red.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9" name="object 9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558800"/>
            <a:ext cx="583501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14"/>
              <a:t>Scripts</a:t>
            </a:r>
            <a:r>
              <a:rPr dirty="0" spc="-409"/>
              <a:t> </a:t>
            </a:r>
            <a:r>
              <a:rPr dirty="0" spc="160"/>
              <a:t>de</a:t>
            </a:r>
            <a:r>
              <a:rPr dirty="0" spc="-409"/>
              <a:t> </a:t>
            </a:r>
            <a:r>
              <a:rPr dirty="0" spc="85"/>
              <a:t>Automatización </a:t>
            </a:r>
            <a:r>
              <a:rPr dirty="0"/>
              <a:t>para</a:t>
            </a:r>
            <a:r>
              <a:rPr dirty="0" spc="-335"/>
              <a:t> </a:t>
            </a:r>
            <a:r>
              <a:rPr dirty="0" spc="95"/>
              <a:t>Switches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604837" y="1919287"/>
            <a:ext cx="5934075" cy="3924300"/>
          </a:xfrm>
          <a:custGeom>
            <a:avLst/>
            <a:gdLst/>
            <a:ahLst/>
            <a:cxnLst/>
            <a:rect l="l" t="t" r="r" b="b"/>
            <a:pathLst>
              <a:path w="5934075" h="3924300">
                <a:moveTo>
                  <a:pt x="0" y="3907632"/>
                </a:moveTo>
                <a:lnTo>
                  <a:pt x="0" y="16675"/>
                </a:lnTo>
                <a:lnTo>
                  <a:pt x="0" y="14452"/>
                </a:lnTo>
                <a:lnTo>
                  <a:pt x="421" y="12331"/>
                </a:lnTo>
                <a:lnTo>
                  <a:pt x="1270" y="10287"/>
                </a:lnTo>
                <a:lnTo>
                  <a:pt x="2113" y="8242"/>
                </a:lnTo>
                <a:lnTo>
                  <a:pt x="3318" y="6438"/>
                </a:lnTo>
                <a:lnTo>
                  <a:pt x="4881" y="4876"/>
                </a:lnTo>
                <a:lnTo>
                  <a:pt x="6443" y="3314"/>
                </a:lnTo>
                <a:lnTo>
                  <a:pt x="8249" y="2108"/>
                </a:lnTo>
                <a:lnTo>
                  <a:pt x="10289" y="1270"/>
                </a:lnTo>
                <a:lnTo>
                  <a:pt x="12332" y="419"/>
                </a:lnTo>
                <a:lnTo>
                  <a:pt x="14456" y="0"/>
                </a:lnTo>
                <a:lnTo>
                  <a:pt x="16668" y="0"/>
                </a:lnTo>
                <a:lnTo>
                  <a:pt x="5917412" y="0"/>
                </a:lnTo>
                <a:lnTo>
                  <a:pt x="5919609" y="0"/>
                </a:lnTo>
                <a:lnTo>
                  <a:pt x="5921743" y="419"/>
                </a:lnTo>
                <a:lnTo>
                  <a:pt x="5923788" y="1270"/>
                </a:lnTo>
                <a:lnTo>
                  <a:pt x="5925820" y="2108"/>
                </a:lnTo>
                <a:lnTo>
                  <a:pt x="5927636" y="3314"/>
                </a:lnTo>
                <a:lnTo>
                  <a:pt x="5929198" y="4876"/>
                </a:lnTo>
                <a:lnTo>
                  <a:pt x="5930760" y="6438"/>
                </a:lnTo>
                <a:lnTo>
                  <a:pt x="5931966" y="8242"/>
                </a:lnTo>
                <a:lnTo>
                  <a:pt x="5932805" y="10287"/>
                </a:lnTo>
                <a:lnTo>
                  <a:pt x="5933655" y="12331"/>
                </a:lnTo>
                <a:lnTo>
                  <a:pt x="5934075" y="14452"/>
                </a:lnTo>
                <a:lnTo>
                  <a:pt x="5934075" y="16675"/>
                </a:lnTo>
                <a:lnTo>
                  <a:pt x="5934075" y="3907632"/>
                </a:lnTo>
                <a:lnTo>
                  <a:pt x="5934075" y="3909839"/>
                </a:lnTo>
                <a:lnTo>
                  <a:pt x="5933655" y="3911968"/>
                </a:lnTo>
                <a:lnTo>
                  <a:pt x="5932805" y="3914006"/>
                </a:lnTo>
                <a:lnTo>
                  <a:pt x="5931966" y="3916051"/>
                </a:lnTo>
                <a:lnTo>
                  <a:pt x="5930760" y="3917852"/>
                </a:lnTo>
                <a:lnTo>
                  <a:pt x="5929198" y="3919414"/>
                </a:lnTo>
                <a:lnTo>
                  <a:pt x="5927636" y="3920981"/>
                </a:lnTo>
                <a:lnTo>
                  <a:pt x="5925820" y="3922182"/>
                </a:lnTo>
                <a:lnTo>
                  <a:pt x="5923788" y="3923031"/>
                </a:lnTo>
                <a:lnTo>
                  <a:pt x="5921743" y="3923874"/>
                </a:lnTo>
                <a:lnTo>
                  <a:pt x="5919609" y="3924296"/>
                </a:lnTo>
                <a:lnTo>
                  <a:pt x="5917412" y="3924301"/>
                </a:lnTo>
                <a:lnTo>
                  <a:pt x="16668" y="3924301"/>
                </a:lnTo>
                <a:lnTo>
                  <a:pt x="4881" y="3919414"/>
                </a:lnTo>
                <a:lnTo>
                  <a:pt x="3318" y="3917852"/>
                </a:lnTo>
                <a:lnTo>
                  <a:pt x="2113" y="3916051"/>
                </a:lnTo>
                <a:lnTo>
                  <a:pt x="1270" y="3914006"/>
                </a:lnTo>
                <a:lnTo>
                  <a:pt x="421" y="3911968"/>
                </a:lnTo>
                <a:lnTo>
                  <a:pt x="0" y="3909839"/>
                </a:lnTo>
                <a:lnTo>
                  <a:pt x="0" y="3907632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609600" y="1924049"/>
          <a:ext cx="6000750" cy="3914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6120"/>
                <a:gridCol w="1971675"/>
                <a:gridCol w="1976754"/>
              </a:tblGrid>
              <a:tr h="504825"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1350" spc="-1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Tarea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52400">
                    <a:lnR w="9525">
                      <a:solidFill>
                        <a:srgbClr val="07070C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1350" spc="-1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Herramienta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52400">
                    <a:lnL w="9525">
                      <a:solidFill>
                        <a:srgbClr val="07070C"/>
                      </a:solidFill>
                      <a:prstDash val="solid"/>
                    </a:lnL>
                    <a:lnR w="9525">
                      <a:solidFill>
                        <a:srgbClr val="07070C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1350" spc="-1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Beneficio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52400">
                    <a:lnL w="9525">
                      <a:solidFill>
                        <a:srgbClr val="07070C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marL="172085" marR="433705">
                        <a:lnSpc>
                          <a:spcPct val="134300"/>
                        </a:lnSpc>
                        <a:spcBef>
                          <a:spcPts val="570"/>
                        </a:spcBef>
                      </a:pPr>
                      <a:r>
                        <a:rPr dirty="0" sz="1350" spc="-4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Configuración</a:t>
                      </a:r>
                      <a:r>
                        <a:rPr dirty="0" sz="1350" spc="-8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2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dirty="0" sz="1350" spc="-1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VLANs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72390">
                    <a:lnR w="9525">
                      <a:solidFill>
                        <a:srgbClr val="07070C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350" spc="-4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Python</a:t>
                      </a:r>
                      <a:r>
                        <a:rPr dirty="0" sz="1350" spc="-15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5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dirty="0" sz="1350" spc="-14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Netmiko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42875">
                    <a:lnL w="9525">
                      <a:solidFill>
                        <a:srgbClr val="07070C"/>
                      </a:solidFill>
                      <a:prstDash val="solid"/>
                    </a:lnL>
                    <a:lnR w="9525">
                      <a:solidFill>
                        <a:srgbClr val="07070C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238760">
                        <a:lnSpc>
                          <a:spcPct val="134300"/>
                        </a:lnSpc>
                        <a:spcBef>
                          <a:spcPts val="570"/>
                        </a:spcBef>
                      </a:pPr>
                      <a:r>
                        <a:rPr dirty="0" sz="1350" spc="-1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Rápida </a:t>
                      </a:r>
                      <a:r>
                        <a:rPr dirty="0" sz="1350" spc="-4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implementación</a:t>
                      </a:r>
                      <a:r>
                        <a:rPr dirty="0" sz="1350" spc="-5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 en </a:t>
                      </a:r>
                      <a:r>
                        <a:rPr dirty="0" sz="1350" spc="-3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múltiples</a:t>
                      </a:r>
                      <a:r>
                        <a:rPr dirty="0" sz="1350" spc="-11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switches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7070C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marL="172085" marR="525145">
                        <a:lnSpc>
                          <a:spcPct val="134300"/>
                        </a:lnSpc>
                        <a:spcBef>
                          <a:spcPts val="570"/>
                        </a:spcBef>
                      </a:pPr>
                      <a:r>
                        <a:rPr dirty="0" sz="1350" spc="-4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Backup</a:t>
                      </a:r>
                      <a:r>
                        <a:rPr dirty="0" sz="1350" spc="-13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dirty="0" sz="1350" spc="-4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configuraciones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72390">
                    <a:lnR w="9525">
                      <a:solidFill>
                        <a:srgbClr val="07070C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350" spc="-5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Ansible</a:t>
                      </a:r>
                      <a:r>
                        <a:rPr dirty="0" sz="1350" spc="-12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Playbook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42875">
                    <a:lnL w="9525">
                      <a:solidFill>
                        <a:srgbClr val="07070C"/>
                      </a:solidFill>
                      <a:prstDash val="solid"/>
                    </a:lnL>
                    <a:lnR w="9525">
                      <a:solidFill>
                        <a:srgbClr val="07070C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172720">
                        <a:lnSpc>
                          <a:spcPct val="134300"/>
                        </a:lnSpc>
                        <a:spcBef>
                          <a:spcPts val="570"/>
                        </a:spcBef>
                      </a:pPr>
                      <a:r>
                        <a:rPr dirty="0" sz="1350" spc="-4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Copias</a:t>
                      </a:r>
                      <a:r>
                        <a:rPr dirty="0" sz="1350" spc="-14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4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350" spc="-14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4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seguridad </a:t>
                      </a:r>
                      <a:r>
                        <a:rPr dirty="0" sz="1350" spc="-5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automáticas</a:t>
                      </a:r>
                      <a:r>
                        <a:rPr dirty="0" sz="1350" spc="-9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5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y </a:t>
                      </a:r>
                      <a:r>
                        <a:rPr dirty="0" sz="1350" spc="-1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programadas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7070C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1314450">
                <a:tc>
                  <a:txBody>
                    <a:bodyPr/>
                    <a:lstStyle/>
                    <a:p>
                      <a:pPr marL="172085" marR="490220">
                        <a:lnSpc>
                          <a:spcPct val="134300"/>
                        </a:lnSpc>
                        <a:spcBef>
                          <a:spcPts val="570"/>
                        </a:spcBef>
                      </a:pPr>
                      <a:r>
                        <a:rPr dirty="0" sz="1350" spc="-4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Actualización</a:t>
                      </a:r>
                      <a:r>
                        <a:rPr dirty="0" sz="1350" spc="-7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4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dirty="0" sz="1350" spc="-1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firmware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72390">
                    <a:lnR w="9525">
                      <a:solidFill>
                        <a:srgbClr val="07070C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350" spc="-4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Python</a:t>
                      </a:r>
                      <a:r>
                        <a:rPr dirty="0" sz="1350" spc="-12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script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42875">
                    <a:lnL w="9525">
                      <a:solidFill>
                        <a:srgbClr val="07070C"/>
                      </a:solidFill>
                      <a:prstDash val="solid"/>
                    </a:lnL>
                    <a:lnR w="9525">
                      <a:solidFill>
                        <a:srgbClr val="07070C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549275">
                        <a:lnSpc>
                          <a:spcPct val="134300"/>
                        </a:lnSpc>
                        <a:spcBef>
                          <a:spcPts val="570"/>
                        </a:spcBef>
                      </a:pPr>
                      <a:r>
                        <a:rPr dirty="0" sz="1350" spc="-5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Actualizaciones </a:t>
                      </a:r>
                      <a:r>
                        <a:rPr dirty="0" sz="1350" spc="-7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masivas</a:t>
                      </a:r>
                      <a:r>
                        <a:rPr dirty="0" sz="1350" spc="-13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25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sin </a:t>
                      </a:r>
                      <a:r>
                        <a:rPr dirty="0" sz="1350" spc="-10">
                          <a:solidFill>
                            <a:srgbClr val="E0D6DE"/>
                          </a:solidFill>
                          <a:latin typeface="Verdana"/>
                          <a:cs typeface="Verdana"/>
                        </a:rPr>
                        <a:t>intervención manual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7070C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55"/>
              <a:t>Ejemplo</a:t>
            </a:r>
            <a:r>
              <a:rPr dirty="0" spc="-409"/>
              <a:t> </a:t>
            </a:r>
            <a:r>
              <a:rPr dirty="0" spc="40"/>
              <a:t>Práctico: </a:t>
            </a:r>
            <a:r>
              <a:rPr dirty="0" spc="120"/>
              <a:t>Configuración</a:t>
            </a:r>
            <a:r>
              <a:rPr dirty="0" spc="-400"/>
              <a:t> </a:t>
            </a:r>
            <a:r>
              <a:rPr dirty="0" spc="160"/>
              <a:t>de</a:t>
            </a:r>
            <a:r>
              <a:rPr dirty="0" spc="-395"/>
              <a:t> </a:t>
            </a:r>
            <a:r>
              <a:rPr dirty="0" spc="150"/>
              <a:t>VLANs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600075" y="1828799"/>
            <a:ext cx="857250" cy="1371600"/>
          </a:xfrm>
          <a:custGeom>
            <a:avLst/>
            <a:gdLst/>
            <a:ahLst/>
            <a:cxnLst/>
            <a:rect l="l" t="t" r="r" b="b"/>
            <a:pathLst>
              <a:path w="857250" h="1371600">
                <a:moveTo>
                  <a:pt x="857250" y="0"/>
                </a:moveTo>
                <a:lnTo>
                  <a:pt x="428625" y="171450"/>
                </a:lnTo>
                <a:lnTo>
                  <a:pt x="0" y="0"/>
                </a:lnTo>
                <a:lnTo>
                  <a:pt x="0" y="1200150"/>
                </a:lnTo>
                <a:lnTo>
                  <a:pt x="428625" y="1371600"/>
                </a:lnTo>
                <a:lnTo>
                  <a:pt x="857250" y="1200150"/>
                </a:lnTo>
                <a:lnTo>
                  <a:pt x="857250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961528" y="2320925"/>
            <a:ext cx="1346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75">
                <a:solidFill>
                  <a:srgbClr val="E0D6DE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01800" y="1973262"/>
            <a:ext cx="155575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0">
                <a:solidFill>
                  <a:srgbClr val="E0D6DE"/>
                </a:solidFill>
                <a:latin typeface="Verdana"/>
                <a:cs typeface="Verdana"/>
              </a:rPr>
              <a:t>Definir</a:t>
            </a:r>
            <a:r>
              <a:rPr dirty="0" sz="1650" spc="-2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95">
                <a:solidFill>
                  <a:srgbClr val="E0D6DE"/>
                </a:solidFill>
                <a:latin typeface="Verdana"/>
                <a:cs typeface="Verdana"/>
              </a:rPr>
              <a:t>VLANs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701800" y="2336164"/>
            <a:ext cx="388239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dirty="0" sz="1350" spc="-80">
                <a:solidFill>
                  <a:srgbClr val="E0D6DE"/>
                </a:solidFill>
                <a:latin typeface="Verdana"/>
                <a:cs typeface="Verdana"/>
              </a:rPr>
              <a:t>Crear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un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archivo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0D6DE"/>
                </a:solidFill>
                <a:latin typeface="Verdana"/>
                <a:cs typeface="Verdana"/>
              </a:rPr>
              <a:t>YAML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con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la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lista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0D6DE"/>
                </a:solidFill>
                <a:latin typeface="Verdana"/>
                <a:cs typeface="Verdana"/>
              </a:rPr>
              <a:t>VLANs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sus </a:t>
            </a:r>
            <a:r>
              <a:rPr dirty="0" sz="1350" spc="-10">
                <a:solidFill>
                  <a:srgbClr val="E0D6DE"/>
                </a:solidFill>
                <a:latin typeface="Verdana"/>
                <a:cs typeface="Verdana"/>
              </a:rPr>
              <a:t>características.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00075" y="3200399"/>
            <a:ext cx="857250" cy="1371600"/>
          </a:xfrm>
          <a:custGeom>
            <a:avLst/>
            <a:gdLst/>
            <a:ahLst/>
            <a:cxnLst/>
            <a:rect l="l" t="t" r="r" b="b"/>
            <a:pathLst>
              <a:path w="857250" h="1371600">
                <a:moveTo>
                  <a:pt x="857250" y="0"/>
                </a:moveTo>
                <a:lnTo>
                  <a:pt x="428625" y="171450"/>
                </a:lnTo>
                <a:lnTo>
                  <a:pt x="0" y="0"/>
                </a:lnTo>
                <a:lnTo>
                  <a:pt x="0" y="1200150"/>
                </a:lnTo>
                <a:lnTo>
                  <a:pt x="428625" y="1371600"/>
                </a:lnTo>
                <a:lnTo>
                  <a:pt x="857250" y="1200150"/>
                </a:lnTo>
                <a:lnTo>
                  <a:pt x="857250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935781" y="3692525"/>
            <a:ext cx="18605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E0D6DE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701800" y="3344862"/>
            <a:ext cx="4201160" cy="9220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5">
                <a:solidFill>
                  <a:srgbClr val="E0D6DE"/>
                </a:solidFill>
                <a:latin typeface="Verdana"/>
                <a:cs typeface="Verdana"/>
              </a:rPr>
              <a:t>Escribir</a:t>
            </a:r>
            <a:r>
              <a:rPr dirty="0" sz="1650" spc="-20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50">
                <a:solidFill>
                  <a:srgbClr val="E0D6DE"/>
                </a:solidFill>
                <a:latin typeface="Verdana"/>
                <a:cs typeface="Verdana"/>
              </a:rPr>
              <a:t>Playbook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840"/>
              </a:spcBef>
            </a:pP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Desarrollar</a:t>
            </a:r>
            <a:r>
              <a:rPr dirty="0" sz="1350" spc="-14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un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playbook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4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Ansible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que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lea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el</a:t>
            </a:r>
            <a:r>
              <a:rPr dirty="0" sz="1350" spc="-14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0D6DE"/>
                </a:solidFill>
                <a:latin typeface="Verdana"/>
                <a:cs typeface="Verdana"/>
              </a:rPr>
              <a:t>YAML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y configure</a:t>
            </a:r>
            <a:r>
              <a:rPr dirty="0" sz="1350" spc="-12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los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Verdana"/>
                <a:cs typeface="Verdana"/>
              </a:rPr>
              <a:t>switches.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600075" y="4572000"/>
            <a:ext cx="857250" cy="1371600"/>
          </a:xfrm>
          <a:custGeom>
            <a:avLst/>
            <a:gdLst/>
            <a:ahLst/>
            <a:cxnLst/>
            <a:rect l="l" t="t" r="r" b="b"/>
            <a:pathLst>
              <a:path w="857250" h="1371600">
                <a:moveTo>
                  <a:pt x="857250" y="0"/>
                </a:moveTo>
                <a:lnTo>
                  <a:pt x="428625" y="171450"/>
                </a:lnTo>
                <a:lnTo>
                  <a:pt x="0" y="0"/>
                </a:lnTo>
                <a:lnTo>
                  <a:pt x="0" y="1200151"/>
                </a:lnTo>
                <a:lnTo>
                  <a:pt x="428625" y="1371601"/>
                </a:lnTo>
                <a:lnTo>
                  <a:pt x="857250" y="1200151"/>
                </a:lnTo>
                <a:lnTo>
                  <a:pt x="857250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936228" y="5064126"/>
            <a:ext cx="1854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E0D6DE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701801" y="4716463"/>
            <a:ext cx="4830445" cy="9220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>
                <a:solidFill>
                  <a:srgbClr val="E0D6DE"/>
                </a:solidFill>
                <a:latin typeface="Verdana"/>
                <a:cs typeface="Verdana"/>
              </a:rPr>
              <a:t>Ejecutar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840"/>
              </a:spcBef>
            </a:pP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Lanzar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el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playbook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para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aplicar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la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configuración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en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todos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los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switches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Verdana"/>
                <a:cs typeface="Verdana"/>
              </a:rPr>
              <a:t>objetivo.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9572" y="3101975"/>
            <a:ext cx="652907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>
                <a:solidFill>
                  <a:srgbClr val="96B7FF"/>
                </a:solidFill>
                <a:latin typeface="Verdana"/>
                <a:cs typeface="Verdana"/>
              </a:rPr>
              <a:t>Evaluación</a:t>
            </a:r>
            <a:r>
              <a:rPr dirty="0" sz="3350" spc="-180">
                <a:solidFill>
                  <a:srgbClr val="96B7FF"/>
                </a:solidFill>
                <a:latin typeface="Verdana"/>
                <a:cs typeface="Verdana"/>
              </a:rPr>
              <a:t> </a:t>
            </a:r>
            <a:r>
              <a:rPr dirty="0" sz="3350" spc="160">
                <a:solidFill>
                  <a:srgbClr val="96B7FF"/>
                </a:solidFill>
                <a:latin typeface="Verdana"/>
                <a:cs typeface="Verdana"/>
              </a:rPr>
              <a:t>de</a:t>
            </a:r>
            <a:r>
              <a:rPr dirty="0" sz="3350" spc="-180">
                <a:solidFill>
                  <a:srgbClr val="96B7FF"/>
                </a:solidFill>
                <a:latin typeface="Verdana"/>
                <a:cs typeface="Verdana"/>
              </a:rPr>
              <a:t> </a:t>
            </a:r>
            <a:r>
              <a:rPr dirty="0" sz="3350" spc="140">
                <a:solidFill>
                  <a:srgbClr val="96B7FF"/>
                </a:solidFill>
                <a:latin typeface="Verdana"/>
                <a:cs typeface="Verdana"/>
              </a:rPr>
              <a:t>Conocimientos</a:t>
            </a:r>
            <a:endParaRPr sz="3350">
              <a:latin typeface="Verdana"/>
              <a:cs typeface="Verdan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614" y="3951084"/>
            <a:ext cx="429710" cy="37505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019572" y="4497387"/>
            <a:ext cx="2799080" cy="9315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>
                <a:solidFill>
                  <a:srgbClr val="E0D6DE"/>
                </a:solidFill>
                <a:latin typeface="Verdana"/>
                <a:cs typeface="Verdana"/>
              </a:rPr>
              <a:t>Beneficio</a:t>
            </a:r>
            <a:r>
              <a:rPr dirty="0" sz="1650" spc="-18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60">
                <a:solidFill>
                  <a:srgbClr val="E0D6DE"/>
                </a:solidFill>
                <a:latin typeface="Verdana"/>
                <a:cs typeface="Verdana"/>
              </a:rPr>
              <a:t>Principal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dirty="0" sz="1350" spc="-80">
                <a:solidFill>
                  <a:srgbClr val="E0D6DE"/>
                </a:solidFill>
                <a:latin typeface="Verdana"/>
                <a:cs typeface="Verdana"/>
              </a:rPr>
              <a:t>¿Cuál</a:t>
            </a:r>
            <a:r>
              <a:rPr dirty="0" sz="1350" spc="-14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es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el</a:t>
            </a:r>
            <a:r>
              <a:rPr dirty="0" sz="1350" spc="-14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beneficio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principal</a:t>
            </a:r>
            <a:r>
              <a:rPr dirty="0" sz="1350" spc="-14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la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automatización</a:t>
            </a:r>
            <a:r>
              <a:rPr dirty="0" sz="1350" spc="-114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en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Verdana"/>
                <a:cs typeface="Verdana"/>
              </a:rPr>
              <a:t>redes?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92206" y="3924300"/>
            <a:ext cx="321462" cy="42862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227118" y="4497387"/>
            <a:ext cx="2663825" cy="9315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>
                <a:solidFill>
                  <a:srgbClr val="E0D6DE"/>
                </a:solidFill>
                <a:latin typeface="Verdana"/>
                <a:cs typeface="Verdana"/>
              </a:rPr>
              <a:t>Rol</a:t>
            </a:r>
            <a:r>
              <a:rPr dirty="0" sz="1650" spc="-2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9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650" spc="-204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45">
                <a:solidFill>
                  <a:srgbClr val="E0D6DE"/>
                </a:solidFill>
                <a:latin typeface="Verdana"/>
                <a:cs typeface="Verdana"/>
              </a:rPr>
              <a:t>Python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¿Cómo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ayuda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Python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en</a:t>
            </a:r>
            <a:r>
              <a:rPr dirty="0" sz="1350" spc="-14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la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automatización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tareas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3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red?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48550" y="3965828"/>
            <a:ext cx="428688" cy="345503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434656" y="4497387"/>
            <a:ext cx="2700655" cy="9315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E0D6DE"/>
                </a:solidFill>
                <a:latin typeface="Verdana"/>
                <a:cs typeface="Verdana"/>
              </a:rPr>
              <a:t>IaC</a:t>
            </a:r>
            <a:r>
              <a:rPr dirty="0" sz="1650" spc="-17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>
                <a:solidFill>
                  <a:srgbClr val="E0D6DE"/>
                </a:solidFill>
                <a:latin typeface="Verdana"/>
                <a:cs typeface="Verdana"/>
              </a:rPr>
              <a:t>en</a:t>
            </a:r>
            <a:r>
              <a:rPr dirty="0" sz="1650" spc="-17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45">
                <a:solidFill>
                  <a:srgbClr val="E0D6DE"/>
                </a:solidFill>
                <a:latin typeface="Verdana"/>
                <a:cs typeface="Verdana"/>
              </a:rPr>
              <a:t>Redes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dirty="0" sz="1350" spc="-90">
                <a:solidFill>
                  <a:srgbClr val="E0D6DE"/>
                </a:solidFill>
                <a:latin typeface="Verdana"/>
                <a:cs typeface="Verdana"/>
              </a:rPr>
              <a:t>¿Qué</a:t>
            </a:r>
            <a:r>
              <a:rPr dirty="0" sz="1350" spc="-15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es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IaC</a:t>
            </a:r>
            <a:r>
              <a:rPr dirty="0" sz="1350" spc="-15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cómo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se</a:t>
            </a:r>
            <a:r>
              <a:rPr dirty="0" sz="1350" spc="-15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aplica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en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el 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contexto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Verdana"/>
                <a:cs typeface="Verdana"/>
              </a:rPr>
              <a:t>redes?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9" name="object 9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2024-11-05T08:36:38Z</dcterms:created>
  <dcterms:modified xsi:type="dcterms:W3CDTF">2024-11-05T08:36:38Z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2024-11-03T00:00:00Z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  <property fmtid="{D5CDD505-2E9C-101B-9397-08002B2CF9AE}" pid="5" name="Producer">
    <vt:lpwstr>GPL Ghostscript 10.02.0</vt:lpwstr>
  </property>
</Properties>
</file>