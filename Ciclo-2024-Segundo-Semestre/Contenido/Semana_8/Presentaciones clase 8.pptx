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Arial Bold" charset="1" panose="020B0802020202020204"/>
      <p:regular r:id="rId25"/>
    </p:embeddedFont>
    <p:embeddedFont>
      <p:font typeface="Arimo" charset="1" panose="020B0604020202020204"/>
      <p:regular r:id="rId26"/>
    </p:embeddedFont>
    <p:embeddedFont>
      <p:font typeface="Trebuchet MS" charset="1" panose="020B0603020202020204"/>
      <p:regular r:id="rId27"/>
    </p:embeddedFont>
    <p:embeddedFont>
      <p:font typeface="Tomorrow" charset="1" panose="00000000000000000000"/>
      <p:regular r:id="rId28"/>
    </p:embeddedFont>
    <p:embeddedFont>
      <p:font typeface="Trebuchet MS Bold" charset="1" panose="020B0703020202020204"/>
      <p:regular r:id="rId29"/>
    </p:embeddedFont>
    <p:embeddedFont>
      <p:font typeface="Arimo Bold" charset="1" panose="020B0704020202020204"/>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902" y="0"/>
            <a:ext cx="18254196" cy="10286998"/>
          </a:xfrm>
          <a:custGeom>
            <a:avLst/>
            <a:gdLst/>
            <a:ahLst/>
            <a:cxnLst/>
            <a:rect r="r" b="b" t="t" l="l"/>
            <a:pathLst>
              <a:path h="10286998" w="18254196">
                <a:moveTo>
                  <a:pt x="0" y="0"/>
                </a:moveTo>
                <a:lnTo>
                  <a:pt x="18254196" y="0"/>
                </a:lnTo>
                <a:lnTo>
                  <a:pt x="18254196" y="10286998"/>
                </a:lnTo>
                <a:lnTo>
                  <a:pt x="0" y="10286998"/>
                </a:lnTo>
                <a:lnTo>
                  <a:pt x="0" y="0"/>
                </a:lnTo>
                <a:close/>
              </a:path>
            </a:pathLst>
          </a:custGeom>
          <a:blipFill>
            <a:blip r:embed="rId2"/>
            <a:stretch>
              <a:fillRect l="0" t="0" r="0" b="0"/>
            </a:stretch>
          </a:blipFill>
        </p:spPr>
      </p:sp>
      <p:graphicFrame>
        <p:nvGraphicFramePr>
          <p:cNvPr name="Table 3" id="3"/>
          <p:cNvGraphicFramePr>
            <a:graphicFrameLocks noGrp="true"/>
          </p:cNvGraphicFramePr>
          <p:nvPr/>
        </p:nvGraphicFramePr>
        <p:xfrm>
          <a:off x="10646874" y="1930524"/>
          <a:ext cx="7366000" cy="1574800"/>
        </p:xfrm>
        <a:graphic>
          <a:graphicData uri="http://schemas.openxmlformats.org/drawingml/2006/table">
            <a:tbl>
              <a:tblPr/>
              <a:tblGrid>
                <a:gridCol w="3036970"/>
                <a:gridCol w="4329030"/>
              </a:tblGrid>
              <a:tr h="787400">
                <a:tc>
                  <a:txBody>
                    <a:bodyPr anchor="t" rtlCol="false"/>
                    <a:lstStyle/>
                    <a:p>
                      <a:pPr algn="l">
                        <a:lnSpc>
                          <a:spcPts val="3359"/>
                        </a:lnSpc>
                        <a:defRPr/>
                      </a:pPr>
                      <a:r>
                        <a:rPr lang="en-US" b="true" sz="2799" spc="-20">
                          <a:solidFill>
                            <a:srgbClr val="000000"/>
                          </a:solidFill>
                          <a:latin typeface="Arial Bold"/>
                          <a:ea typeface="Arial Bold"/>
                          <a:cs typeface="Arial Bold"/>
                          <a:sym typeface="Arial Bold"/>
                        </a:rPr>
                        <a:t>Día, Fecha:</a:t>
                      </a:r>
                      <a:endParaRPr lang="en-US" sz="1100"/>
                    </a:p>
                  </a:txBody>
                  <a:tcPr marL="0" marR="0" marT="0" marB="0"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tcPr>
                </a:tc>
                <a:tc>
                  <a:txBody>
                    <a:bodyPr anchor="t" rtlCol="false"/>
                    <a:lstStyle/>
                    <a:p>
                      <a:pPr algn="l">
                        <a:lnSpc>
                          <a:spcPts val="3359"/>
                        </a:lnSpc>
                        <a:defRPr/>
                      </a:pPr>
                      <a:r>
                        <a:rPr lang="en-US" sz="2799" spc="-20">
                          <a:solidFill>
                            <a:srgbClr val="000000"/>
                          </a:solidFill>
                          <a:latin typeface="Arimo"/>
                          <a:ea typeface="Arimo"/>
                          <a:cs typeface="Arimo"/>
                          <a:sym typeface="Arimo"/>
                        </a:rPr>
                        <a:t>Viernes, 01/03/2024</a:t>
                      </a:r>
                      <a:endParaRPr lang="en-US" sz="1100"/>
                    </a:p>
                  </a:txBody>
                  <a:tcPr marL="0" marR="0" marT="0" marB="0"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tcPr>
                </a:tc>
              </a:tr>
              <a:tr h="787400">
                <a:tc>
                  <a:txBody>
                    <a:bodyPr anchor="t" rtlCol="false"/>
                    <a:lstStyle/>
                    <a:p>
                      <a:pPr algn="l">
                        <a:lnSpc>
                          <a:spcPts val="3359"/>
                        </a:lnSpc>
                        <a:defRPr/>
                      </a:pPr>
                      <a:r>
                        <a:rPr lang="en-US" b="true" sz="2799" spc="-20">
                          <a:solidFill>
                            <a:srgbClr val="000000"/>
                          </a:solidFill>
                          <a:latin typeface="Arial Bold"/>
                          <a:ea typeface="Arial Bold"/>
                          <a:cs typeface="Arial Bold"/>
                          <a:sym typeface="Arial Bold"/>
                        </a:rPr>
                        <a:t>Hora de inicio:</a:t>
                      </a:r>
                      <a:endParaRPr lang="en-US" sz="1100"/>
                    </a:p>
                  </a:txBody>
                  <a:tcPr marL="0" marR="0" marT="0" marB="0"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tcPr>
                </a:tc>
                <a:tc>
                  <a:txBody>
                    <a:bodyPr anchor="t" rtlCol="false"/>
                    <a:lstStyle/>
                    <a:p>
                      <a:pPr algn="l">
                        <a:lnSpc>
                          <a:spcPts val="3359"/>
                        </a:lnSpc>
                        <a:defRPr/>
                      </a:pPr>
                      <a:r>
                        <a:rPr lang="en-US" sz="2799" spc="-20">
                          <a:solidFill>
                            <a:srgbClr val="000000"/>
                          </a:solidFill>
                          <a:latin typeface="Arimo"/>
                          <a:ea typeface="Arimo"/>
                          <a:cs typeface="Arimo"/>
                          <a:sym typeface="Arimo"/>
                        </a:rPr>
                        <a:t>17:20</a:t>
                      </a:r>
                      <a:endParaRPr lang="en-US" sz="1100"/>
                    </a:p>
                  </a:txBody>
                  <a:tcPr marL="0" marR="0" marT="0" marB="0"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tcPr>
                </a:tc>
              </a:tr>
            </a:tbl>
          </a:graphicData>
        </a:graphic>
      </p:graphicFrame>
      <p:sp>
        <p:nvSpPr>
          <p:cNvPr name="TextBox 4" id="4"/>
          <p:cNvSpPr txBox="true"/>
          <p:nvPr/>
        </p:nvSpPr>
        <p:spPr>
          <a:xfrm rot="0">
            <a:off x="3026400" y="4630900"/>
            <a:ext cx="11082020" cy="771525"/>
          </a:xfrm>
          <a:prstGeom prst="rect">
            <a:avLst/>
          </a:prstGeom>
        </p:spPr>
        <p:txBody>
          <a:bodyPr anchor="t" rtlCol="false" tIns="0" lIns="0" bIns="0" rIns="0">
            <a:spAutoFit/>
          </a:bodyPr>
          <a:lstStyle/>
          <a:p>
            <a:pPr algn="l">
              <a:lnSpc>
                <a:spcPts val="5999"/>
              </a:lnSpc>
            </a:pPr>
            <a:r>
              <a:rPr lang="en-US" sz="4999">
                <a:solidFill>
                  <a:srgbClr val="000000"/>
                </a:solidFill>
                <a:latin typeface="Arimo"/>
                <a:ea typeface="Arimo"/>
                <a:cs typeface="Arimo"/>
                <a:sym typeface="Arimo"/>
              </a:rPr>
              <a:t>Redes de Computadoras 2 Sección N</a:t>
            </a:r>
          </a:p>
        </p:txBody>
      </p:sp>
      <p:sp>
        <p:nvSpPr>
          <p:cNvPr name="TextBox 5" id="5"/>
          <p:cNvSpPr txBox="true"/>
          <p:nvPr/>
        </p:nvSpPr>
        <p:spPr>
          <a:xfrm rot="0">
            <a:off x="3703450" y="5920880"/>
            <a:ext cx="6943424" cy="619125"/>
          </a:xfrm>
          <a:prstGeom prst="rect">
            <a:avLst/>
          </a:prstGeom>
        </p:spPr>
        <p:txBody>
          <a:bodyPr anchor="t" rtlCol="false" tIns="0" lIns="0" bIns="0" rIns="0">
            <a:spAutoFit/>
          </a:bodyPr>
          <a:lstStyle/>
          <a:p>
            <a:pPr algn="l">
              <a:lnSpc>
                <a:spcPts val="4800"/>
              </a:lnSpc>
            </a:pPr>
            <a:r>
              <a:rPr lang="en-US" sz="4000">
                <a:solidFill>
                  <a:srgbClr val="000000"/>
                </a:solidFill>
                <a:latin typeface="Arimo"/>
                <a:ea typeface="Arimo"/>
                <a:cs typeface="Arimo"/>
                <a:sym typeface="Arimo"/>
              </a:rPr>
              <a:t>Eduardo Tomás Ixén Rucuch</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sp>
        <p:nvSpPr>
          <p:cNvPr name="TextBox 20" id="20"/>
          <p:cNvSpPr txBox="true"/>
          <p:nvPr/>
        </p:nvSpPr>
        <p:spPr>
          <a:xfrm rot="0">
            <a:off x="4023800" y="1704143"/>
            <a:ext cx="2736850" cy="962025"/>
          </a:xfrm>
          <a:prstGeom prst="rect">
            <a:avLst/>
          </a:prstGeom>
        </p:spPr>
        <p:txBody>
          <a:bodyPr anchor="t" rtlCol="false" tIns="0" lIns="0" bIns="0" rIns="0">
            <a:spAutoFit/>
          </a:bodyPr>
          <a:lstStyle/>
          <a:p>
            <a:pPr algn="l">
              <a:lnSpc>
                <a:spcPts val="6480"/>
              </a:lnSpc>
            </a:pPr>
            <a:r>
              <a:rPr lang="en-US" sz="5400" spc="-150">
                <a:solidFill>
                  <a:srgbClr val="90C226"/>
                </a:solidFill>
                <a:latin typeface="Trebuchet MS"/>
                <a:ea typeface="Trebuchet MS"/>
                <a:cs typeface="Trebuchet MS"/>
                <a:sym typeface="Trebuchet MS"/>
              </a:rPr>
              <a:t>Agenda</a:t>
            </a:r>
          </a:p>
        </p:txBody>
      </p:sp>
      <p:sp>
        <p:nvSpPr>
          <p:cNvPr name="TextBox 21" id="21"/>
          <p:cNvSpPr txBox="true"/>
          <p:nvPr/>
        </p:nvSpPr>
        <p:spPr>
          <a:xfrm rot="0">
            <a:off x="1615142" y="3952612"/>
            <a:ext cx="6664958" cy="2279028"/>
          </a:xfrm>
          <a:prstGeom prst="rect">
            <a:avLst/>
          </a:prstGeom>
        </p:spPr>
        <p:txBody>
          <a:bodyPr anchor="t" rtlCol="false" tIns="0" lIns="0" bIns="0" rIns="0">
            <a:spAutoFit/>
          </a:bodyPr>
          <a:lstStyle/>
          <a:p>
            <a:pPr algn="l" marL="797560" indent="-398780" lvl="1">
              <a:lnSpc>
                <a:spcPts val="3840"/>
              </a:lnSpc>
              <a:buFont typeface="Arial"/>
              <a:buChar char="•"/>
            </a:pPr>
            <a:r>
              <a:rPr lang="en-US" sz="3200" spc="-40">
                <a:solidFill>
                  <a:srgbClr val="233944"/>
                </a:solidFill>
                <a:latin typeface="Arimo"/>
                <a:ea typeface="Arimo"/>
                <a:cs typeface="Arimo"/>
                <a:sym typeface="Arimo"/>
              </a:rPr>
              <a:t>Avisos</a:t>
            </a:r>
          </a:p>
          <a:p>
            <a:pPr algn="l" marL="797560" indent="-398780" lvl="1">
              <a:lnSpc>
                <a:spcPts val="3840"/>
              </a:lnSpc>
              <a:buFont typeface="Arial"/>
              <a:buChar char="•"/>
            </a:pPr>
            <a:r>
              <a:rPr lang="en-US" sz="3200" spc="-40">
                <a:solidFill>
                  <a:srgbClr val="233944"/>
                </a:solidFill>
                <a:latin typeface="Arimo"/>
                <a:ea typeface="Arimo"/>
                <a:cs typeface="Arimo"/>
                <a:sym typeface="Arimo"/>
              </a:rPr>
              <a:t>Temas de clase 7</a:t>
            </a:r>
          </a:p>
          <a:p>
            <a:pPr algn="l" marL="797560" indent="-398780" lvl="1">
              <a:lnSpc>
                <a:spcPts val="3840"/>
              </a:lnSpc>
              <a:buFont typeface="Arial"/>
              <a:buChar char="•"/>
            </a:pPr>
            <a:r>
              <a:rPr lang="en-US" sz="3200" spc="-40">
                <a:solidFill>
                  <a:srgbClr val="233944"/>
                </a:solidFill>
                <a:latin typeface="Arimo"/>
                <a:ea typeface="Arimo"/>
                <a:cs typeface="Arimo"/>
                <a:sym typeface="Arimo"/>
              </a:rPr>
              <a:t>Ejemplo práctico OSPF y EIGRP</a:t>
            </a:r>
          </a:p>
          <a:p>
            <a:pPr algn="l" marL="797560" indent="-398780" lvl="1">
              <a:lnSpc>
                <a:spcPts val="3840"/>
              </a:lnSpc>
              <a:buFont typeface="Arial"/>
              <a:buChar char="•"/>
            </a:pPr>
            <a:r>
              <a:rPr lang="en-US" sz="3200" spc="-40">
                <a:solidFill>
                  <a:srgbClr val="233944"/>
                </a:solidFill>
                <a:latin typeface="Arimo"/>
                <a:ea typeface="Arimo"/>
                <a:cs typeface="Arimo"/>
                <a:sym typeface="Arimo"/>
              </a:rPr>
              <a:t>Lectura de práctica 2</a:t>
            </a:r>
          </a:p>
        </p:txBody>
      </p:sp>
      <p:sp>
        <p:nvSpPr>
          <p:cNvPr name="Freeform 22" id="22"/>
          <p:cNvSpPr/>
          <p:nvPr/>
        </p:nvSpPr>
        <p:spPr>
          <a:xfrm flipH="false" flipV="false" rot="0">
            <a:off x="1257298" y="922850"/>
            <a:ext cx="2772848" cy="2772848"/>
          </a:xfrm>
          <a:custGeom>
            <a:avLst/>
            <a:gdLst/>
            <a:ahLst/>
            <a:cxnLst/>
            <a:rect r="r" b="b" t="t" l="l"/>
            <a:pathLst>
              <a:path h="2772848" w="2772848">
                <a:moveTo>
                  <a:pt x="0" y="0"/>
                </a:moveTo>
                <a:lnTo>
                  <a:pt x="2772848" y="0"/>
                </a:lnTo>
                <a:lnTo>
                  <a:pt x="2772848" y="2772848"/>
                </a:lnTo>
                <a:lnTo>
                  <a:pt x="0" y="2772848"/>
                </a:lnTo>
                <a:lnTo>
                  <a:pt x="0" y="0"/>
                </a:lnTo>
                <a:close/>
              </a:path>
            </a:pathLst>
          </a:custGeom>
          <a:blipFill>
            <a:blip r:embed="rId2"/>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sp>
        <p:nvSpPr>
          <p:cNvPr name="AutoShape 20" id="20"/>
          <p:cNvSpPr/>
          <p:nvPr/>
        </p:nvSpPr>
        <p:spPr>
          <a:xfrm rot="4791364">
            <a:off x="9738485" y="5143500"/>
            <a:ext cx="10464869" cy="0"/>
          </a:xfrm>
          <a:prstGeom prst="line">
            <a:avLst/>
          </a:prstGeom>
          <a:ln cap="rnd" w="9525">
            <a:solidFill>
              <a:srgbClr val="FFFFFF"/>
            </a:solidFill>
            <a:prstDash val="solid"/>
            <a:headEnd type="none" len="sm" w="sm"/>
            <a:tailEnd type="none" len="sm" w="sm"/>
          </a:ln>
        </p:spPr>
      </p:sp>
      <p:sp>
        <p:nvSpPr>
          <p:cNvPr name="AutoShape 21" id="21"/>
          <p:cNvSpPr/>
          <p:nvPr/>
        </p:nvSpPr>
        <p:spPr>
          <a:xfrm rot="8776574">
            <a:off x="10406483" y="7904560"/>
            <a:ext cx="8608175" cy="0"/>
          </a:xfrm>
          <a:prstGeom prst="line">
            <a:avLst/>
          </a:prstGeom>
          <a:ln cap="rnd" w="9525">
            <a:solidFill>
              <a:srgbClr val="FFFFFF"/>
            </a:solidFill>
            <a:prstDash val="solid"/>
            <a:headEnd type="none" len="sm" w="sm"/>
            <a:tailEnd type="none" len="sm" w="sm"/>
          </a:ln>
        </p:spPr>
      </p:sp>
      <p:grpSp>
        <p:nvGrpSpPr>
          <p:cNvPr name="Group 22" id="22"/>
          <p:cNvGrpSpPr/>
          <p:nvPr/>
        </p:nvGrpSpPr>
        <p:grpSpPr>
          <a:xfrm rot="0">
            <a:off x="13772216" y="-12700"/>
            <a:ext cx="4511024" cy="10299700"/>
            <a:chOff x="0" y="0"/>
            <a:chExt cx="6014699" cy="13732933"/>
          </a:xfrm>
        </p:grpSpPr>
        <p:sp>
          <p:nvSpPr>
            <p:cNvPr name="Freeform 23" id="23"/>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24" id="24"/>
          <p:cNvGrpSpPr/>
          <p:nvPr/>
        </p:nvGrpSpPr>
        <p:grpSpPr>
          <a:xfrm rot="0">
            <a:off x="14405165" y="-12700"/>
            <a:ext cx="3882837" cy="10299700"/>
            <a:chOff x="0" y="0"/>
            <a:chExt cx="5177117" cy="13732933"/>
          </a:xfrm>
        </p:grpSpPr>
        <p:sp>
          <p:nvSpPr>
            <p:cNvPr name="Freeform 25" id="25"/>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26" id="26"/>
          <p:cNvGrpSpPr/>
          <p:nvPr/>
        </p:nvGrpSpPr>
        <p:grpSpPr>
          <a:xfrm rot="0">
            <a:off x="13398501" y="4572000"/>
            <a:ext cx="4889501" cy="5715000"/>
            <a:chOff x="0" y="0"/>
            <a:chExt cx="6519335" cy="7620000"/>
          </a:xfrm>
        </p:grpSpPr>
        <p:sp>
          <p:nvSpPr>
            <p:cNvPr name="Freeform 27" id="27"/>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28" id="28"/>
          <p:cNvGrpSpPr/>
          <p:nvPr/>
        </p:nvGrpSpPr>
        <p:grpSpPr>
          <a:xfrm rot="0">
            <a:off x="14001752" y="-12700"/>
            <a:ext cx="4281489" cy="10299700"/>
            <a:chOff x="0" y="0"/>
            <a:chExt cx="5708653" cy="13732933"/>
          </a:xfrm>
        </p:grpSpPr>
        <p:sp>
          <p:nvSpPr>
            <p:cNvPr name="Freeform 29" id="29"/>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30" id="30"/>
          <p:cNvGrpSpPr/>
          <p:nvPr/>
        </p:nvGrpSpPr>
        <p:grpSpPr>
          <a:xfrm rot="0">
            <a:off x="16348097" y="-12700"/>
            <a:ext cx="1935141" cy="10299700"/>
            <a:chOff x="0" y="0"/>
            <a:chExt cx="2580188" cy="13732933"/>
          </a:xfrm>
        </p:grpSpPr>
        <p:sp>
          <p:nvSpPr>
            <p:cNvPr name="Freeform 31" id="31"/>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32" id="32"/>
          <p:cNvGrpSpPr/>
          <p:nvPr/>
        </p:nvGrpSpPr>
        <p:grpSpPr>
          <a:xfrm rot="0">
            <a:off x="16408500" y="-12700"/>
            <a:ext cx="1874738" cy="10299700"/>
            <a:chOff x="0" y="0"/>
            <a:chExt cx="2499650" cy="13732933"/>
          </a:xfrm>
        </p:grpSpPr>
        <p:sp>
          <p:nvSpPr>
            <p:cNvPr name="Freeform 33" id="33"/>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34" id="34"/>
          <p:cNvGrpSpPr/>
          <p:nvPr/>
        </p:nvGrpSpPr>
        <p:grpSpPr>
          <a:xfrm rot="0">
            <a:off x="15557501" y="5384801"/>
            <a:ext cx="2725739" cy="4902199"/>
            <a:chOff x="0" y="0"/>
            <a:chExt cx="3634318" cy="6536266"/>
          </a:xfrm>
        </p:grpSpPr>
        <p:sp>
          <p:nvSpPr>
            <p:cNvPr name="Freeform 35" id="35"/>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36" id="36"/>
          <p:cNvGrpSpPr/>
          <p:nvPr/>
        </p:nvGrpSpPr>
        <p:grpSpPr>
          <a:xfrm rot="-10800000">
            <a:off x="0" y="0"/>
            <a:ext cx="1263894" cy="8499231"/>
            <a:chOff x="0" y="0"/>
            <a:chExt cx="1685192" cy="11332307"/>
          </a:xfrm>
        </p:grpSpPr>
        <p:sp>
          <p:nvSpPr>
            <p:cNvPr name="Freeform 37" id="37"/>
            <p:cNvSpPr/>
            <p:nvPr/>
          </p:nvSpPr>
          <p:spPr>
            <a:xfrm flipH="false" flipV="false" rot="0">
              <a:off x="0" y="0"/>
              <a:ext cx="1685163" cy="11332337"/>
            </a:xfrm>
            <a:custGeom>
              <a:avLst/>
              <a:gdLst/>
              <a:ahLst/>
              <a:cxnLst/>
              <a:rect r="r" b="b" t="t" l="l"/>
              <a:pathLst>
                <a:path h="11332337" w="1685163">
                  <a:moveTo>
                    <a:pt x="0" y="11332337"/>
                  </a:moveTo>
                  <a:lnTo>
                    <a:pt x="1685163" y="0"/>
                  </a:lnTo>
                  <a:lnTo>
                    <a:pt x="1685163" y="11332337"/>
                  </a:lnTo>
                  <a:close/>
                </a:path>
              </a:pathLst>
            </a:custGeom>
            <a:solidFill>
              <a:srgbClr val="90C226">
                <a:alpha val="84706"/>
              </a:srgbClr>
            </a:solidFill>
          </p:spPr>
        </p:sp>
      </p:grpSp>
      <p:sp>
        <p:nvSpPr>
          <p:cNvPr name="TextBox 38" id="38"/>
          <p:cNvSpPr txBox="true"/>
          <p:nvPr/>
        </p:nvSpPr>
        <p:spPr>
          <a:xfrm rot="0">
            <a:off x="1629552" y="293370"/>
            <a:ext cx="12249168" cy="1572084"/>
          </a:xfrm>
          <a:prstGeom prst="rect">
            <a:avLst/>
          </a:prstGeom>
        </p:spPr>
        <p:txBody>
          <a:bodyPr anchor="t" rtlCol="false" tIns="0" lIns="0" bIns="0" rIns="0">
            <a:spAutoFit/>
          </a:bodyPr>
          <a:lstStyle/>
          <a:p>
            <a:pPr algn="ctr">
              <a:lnSpc>
                <a:spcPts val="8640"/>
              </a:lnSpc>
            </a:pPr>
            <a:r>
              <a:rPr lang="en-US" sz="7200" spc="-240">
                <a:solidFill>
                  <a:srgbClr val="90C226"/>
                </a:solidFill>
                <a:latin typeface="Trebuchet MS"/>
                <a:ea typeface="Trebuchet MS"/>
                <a:cs typeface="Trebuchet MS"/>
                <a:sym typeface="Trebuchet MS"/>
              </a:rPr>
              <a:t>Modelo Jerarquico</a:t>
            </a:r>
          </a:p>
        </p:txBody>
      </p:sp>
      <p:sp>
        <p:nvSpPr>
          <p:cNvPr name="Freeform 39" id="39"/>
          <p:cNvSpPr/>
          <p:nvPr/>
        </p:nvSpPr>
        <p:spPr>
          <a:xfrm flipH="false" flipV="false" rot="0">
            <a:off x="4195578" y="2978872"/>
            <a:ext cx="7117114" cy="4949176"/>
          </a:xfrm>
          <a:custGeom>
            <a:avLst/>
            <a:gdLst/>
            <a:ahLst/>
            <a:cxnLst/>
            <a:rect r="r" b="b" t="t" l="l"/>
            <a:pathLst>
              <a:path h="4949176" w="7117114">
                <a:moveTo>
                  <a:pt x="0" y="0"/>
                </a:moveTo>
                <a:lnTo>
                  <a:pt x="7117114" y="0"/>
                </a:lnTo>
                <a:lnTo>
                  <a:pt x="7117114" y="4949176"/>
                </a:lnTo>
                <a:lnTo>
                  <a:pt x="0" y="4949176"/>
                </a:lnTo>
                <a:lnTo>
                  <a:pt x="0" y="0"/>
                </a:lnTo>
                <a:close/>
              </a:path>
            </a:pathLst>
          </a:custGeom>
          <a:blipFill>
            <a:blip r:embed="rId2"/>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sp>
        <p:nvSpPr>
          <p:cNvPr name="TextBox 20" id="20"/>
          <p:cNvSpPr txBox="true"/>
          <p:nvPr/>
        </p:nvSpPr>
        <p:spPr>
          <a:xfrm rot="0">
            <a:off x="1930398" y="895350"/>
            <a:ext cx="15296242" cy="1668234"/>
          </a:xfrm>
          <a:prstGeom prst="rect">
            <a:avLst/>
          </a:prstGeom>
        </p:spPr>
        <p:txBody>
          <a:bodyPr anchor="t" rtlCol="false" tIns="0" lIns="0" bIns="0" rIns="0">
            <a:spAutoFit/>
          </a:bodyPr>
          <a:lstStyle/>
          <a:p>
            <a:pPr algn="l">
              <a:lnSpc>
                <a:spcPts val="7200"/>
              </a:lnSpc>
            </a:pPr>
            <a:r>
              <a:rPr lang="en-US" sz="6000" spc="6">
                <a:solidFill>
                  <a:srgbClr val="AE7A51"/>
                </a:solidFill>
                <a:latin typeface="Tomorrow"/>
                <a:ea typeface="Tomorrow"/>
                <a:cs typeface="Tomorrow"/>
                <a:sym typeface="Tomorrow"/>
              </a:rPr>
              <a:t>Capas del modelo jerárquico</a:t>
            </a:r>
          </a:p>
        </p:txBody>
      </p:sp>
      <p:grpSp>
        <p:nvGrpSpPr>
          <p:cNvPr name="Group 21" id="21"/>
          <p:cNvGrpSpPr/>
          <p:nvPr/>
        </p:nvGrpSpPr>
        <p:grpSpPr>
          <a:xfrm rot="-10800000">
            <a:off x="0" y="0"/>
            <a:ext cx="1263894" cy="8499230"/>
            <a:chOff x="0" y="0"/>
            <a:chExt cx="1685192" cy="11332307"/>
          </a:xfrm>
        </p:grpSpPr>
        <p:sp>
          <p:nvSpPr>
            <p:cNvPr name="Freeform 22" id="22"/>
            <p:cNvSpPr/>
            <p:nvPr/>
          </p:nvSpPr>
          <p:spPr>
            <a:xfrm flipH="false" flipV="false" rot="0">
              <a:off x="0" y="0"/>
              <a:ext cx="1685163" cy="11332337"/>
            </a:xfrm>
            <a:custGeom>
              <a:avLst/>
              <a:gdLst/>
              <a:ahLst/>
              <a:cxnLst/>
              <a:rect r="r" b="b" t="t" l="l"/>
              <a:pathLst>
                <a:path h="11332337" w="1685163">
                  <a:moveTo>
                    <a:pt x="0" y="11332337"/>
                  </a:moveTo>
                  <a:lnTo>
                    <a:pt x="1685163" y="0"/>
                  </a:lnTo>
                  <a:lnTo>
                    <a:pt x="1685163" y="11332337"/>
                  </a:lnTo>
                  <a:close/>
                </a:path>
              </a:pathLst>
            </a:custGeom>
            <a:solidFill>
              <a:srgbClr val="90C226">
                <a:alpha val="84706"/>
              </a:srgbClr>
            </a:solidFill>
          </p:spPr>
        </p:sp>
      </p:grpSp>
      <p:grpSp>
        <p:nvGrpSpPr>
          <p:cNvPr name="Group 23" id="23"/>
          <p:cNvGrpSpPr/>
          <p:nvPr/>
        </p:nvGrpSpPr>
        <p:grpSpPr>
          <a:xfrm rot="0">
            <a:off x="17614900" y="6019800"/>
            <a:ext cx="673100" cy="4267200"/>
            <a:chOff x="0" y="0"/>
            <a:chExt cx="897467" cy="5689600"/>
          </a:xfrm>
        </p:grpSpPr>
        <p:sp>
          <p:nvSpPr>
            <p:cNvPr name="Freeform 24" id="24"/>
            <p:cNvSpPr/>
            <p:nvPr/>
          </p:nvSpPr>
          <p:spPr>
            <a:xfrm flipH="false" flipV="false" rot="0">
              <a:off x="0" y="0"/>
              <a:ext cx="897509" cy="5689600"/>
            </a:xfrm>
            <a:custGeom>
              <a:avLst/>
              <a:gdLst/>
              <a:ahLst/>
              <a:cxnLst/>
              <a:rect r="r" b="b" t="t" l="l"/>
              <a:pathLst>
                <a:path h="5689600" w="897509">
                  <a:moveTo>
                    <a:pt x="897509" y="5689600"/>
                  </a:moveTo>
                  <a:lnTo>
                    <a:pt x="897509" y="0"/>
                  </a:lnTo>
                  <a:lnTo>
                    <a:pt x="0" y="5689600"/>
                  </a:lnTo>
                  <a:close/>
                </a:path>
              </a:pathLst>
            </a:custGeom>
            <a:solidFill>
              <a:srgbClr val="90C226">
                <a:alpha val="84706"/>
              </a:srgbClr>
            </a:solidFill>
          </p:spPr>
        </p:sp>
      </p:grpSp>
      <p:grpSp>
        <p:nvGrpSpPr>
          <p:cNvPr name="Group 25" id="25"/>
          <p:cNvGrpSpPr/>
          <p:nvPr/>
        </p:nvGrpSpPr>
        <p:grpSpPr>
          <a:xfrm rot="0">
            <a:off x="1911348" y="2903764"/>
            <a:ext cx="12301220" cy="1880166"/>
            <a:chOff x="0" y="0"/>
            <a:chExt cx="16401627" cy="2506888"/>
          </a:xfrm>
        </p:grpSpPr>
        <p:sp>
          <p:nvSpPr>
            <p:cNvPr name="Freeform 26" id="26"/>
            <p:cNvSpPr/>
            <p:nvPr/>
          </p:nvSpPr>
          <p:spPr>
            <a:xfrm flipH="false" flipV="false" rot="0">
              <a:off x="25400" y="25400"/>
              <a:ext cx="16350870" cy="2456053"/>
            </a:xfrm>
            <a:custGeom>
              <a:avLst/>
              <a:gdLst/>
              <a:ahLst/>
              <a:cxnLst/>
              <a:rect r="r" b="b" t="t" l="l"/>
              <a:pathLst>
                <a:path h="2456053" w="16350870">
                  <a:moveTo>
                    <a:pt x="0" y="245618"/>
                  </a:moveTo>
                  <a:cubicBezTo>
                    <a:pt x="0" y="109982"/>
                    <a:pt x="111887" y="0"/>
                    <a:pt x="249936" y="0"/>
                  </a:cubicBezTo>
                  <a:lnTo>
                    <a:pt x="16100933" y="0"/>
                  </a:lnTo>
                  <a:cubicBezTo>
                    <a:pt x="16238982" y="0"/>
                    <a:pt x="16350870" y="109982"/>
                    <a:pt x="16350870" y="245618"/>
                  </a:cubicBezTo>
                  <a:lnTo>
                    <a:pt x="16350870" y="2210435"/>
                  </a:lnTo>
                  <a:cubicBezTo>
                    <a:pt x="16350870" y="2346071"/>
                    <a:pt x="16238982" y="2456053"/>
                    <a:pt x="16100933" y="2456053"/>
                  </a:cubicBezTo>
                  <a:lnTo>
                    <a:pt x="249936" y="2456053"/>
                  </a:lnTo>
                  <a:cubicBezTo>
                    <a:pt x="111887" y="2456053"/>
                    <a:pt x="0" y="2346071"/>
                    <a:pt x="0" y="2210435"/>
                  </a:cubicBezTo>
                  <a:close/>
                </a:path>
              </a:pathLst>
            </a:custGeom>
            <a:solidFill>
              <a:srgbClr val="54A021"/>
            </a:solidFill>
          </p:spPr>
        </p:sp>
        <p:sp>
          <p:nvSpPr>
            <p:cNvPr name="Freeform 27" id="27"/>
            <p:cNvSpPr/>
            <p:nvPr/>
          </p:nvSpPr>
          <p:spPr>
            <a:xfrm flipH="false" flipV="false" rot="0">
              <a:off x="0" y="0"/>
              <a:ext cx="16401670" cy="2506853"/>
            </a:xfrm>
            <a:custGeom>
              <a:avLst/>
              <a:gdLst/>
              <a:ahLst/>
              <a:cxnLst/>
              <a:rect r="r" b="b" t="t" l="l"/>
              <a:pathLst>
                <a:path h="2506853" w="16401670">
                  <a:moveTo>
                    <a:pt x="0" y="271018"/>
                  </a:moveTo>
                  <a:cubicBezTo>
                    <a:pt x="0" y="120904"/>
                    <a:pt x="123698" y="0"/>
                    <a:pt x="275336" y="0"/>
                  </a:cubicBezTo>
                  <a:lnTo>
                    <a:pt x="16126333" y="0"/>
                  </a:lnTo>
                  <a:lnTo>
                    <a:pt x="16126333" y="25400"/>
                  </a:lnTo>
                  <a:lnTo>
                    <a:pt x="16126333" y="0"/>
                  </a:lnTo>
                  <a:cubicBezTo>
                    <a:pt x="16277971" y="0"/>
                    <a:pt x="16401670" y="120904"/>
                    <a:pt x="16401670" y="271018"/>
                  </a:cubicBezTo>
                  <a:lnTo>
                    <a:pt x="16376270" y="271018"/>
                  </a:lnTo>
                  <a:lnTo>
                    <a:pt x="16401670" y="271018"/>
                  </a:lnTo>
                  <a:lnTo>
                    <a:pt x="16401670" y="2235835"/>
                  </a:lnTo>
                  <a:lnTo>
                    <a:pt x="16376270" y="2235835"/>
                  </a:lnTo>
                  <a:lnTo>
                    <a:pt x="16401670" y="2235835"/>
                  </a:lnTo>
                  <a:cubicBezTo>
                    <a:pt x="16401670" y="2385949"/>
                    <a:pt x="16277971" y="2506853"/>
                    <a:pt x="16126333" y="2506853"/>
                  </a:cubicBezTo>
                  <a:lnTo>
                    <a:pt x="16126333" y="2481453"/>
                  </a:lnTo>
                  <a:lnTo>
                    <a:pt x="16126333" y="2506853"/>
                  </a:lnTo>
                  <a:lnTo>
                    <a:pt x="275336" y="2506853"/>
                  </a:lnTo>
                  <a:lnTo>
                    <a:pt x="275336" y="2481453"/>
                  </a:lnTo>
                  <a:lnTo>
                    <a:pt x="275336" y="2506853"/>
                  </a:lnTo>
                  <a:cubicBezTo>
                    <a:pt x="123698" y="2506853"/>
                    <a:pt x="0" y="2385949"/>
                    <a:pt x="0" y="2235835"/>
                  </a:cubicBezTo>
                  <a:lnTo>
                    <a:pt x="0" y="271018"/>
                  </a:lnTo>
                  <a:lnTo>
                    <a:pt x="25400" y="271018"/>
                  </a:lnTo>
                  <a:lnTo>
                    <a:pt x="0" y="271018"/>
                  </a:lnTo>
                  <a:moveTo>
                    <a:pt x="50800" y="271018"/>
                  </a:moveTo>
                  <a:lnTo>
                    <a:pt x="50800" y="2235835"/>
                  </a:lnTo>
                  <a:lnTo>
                    <a:pt x="25400" y="2235835"/>
                  </a:lnTo>
                  <a:lnTo>
                    <a:pt x="50800" y="2235835"/>
                  </a:lnTo>
                  <a:cubicBezTo>
                    <a:pt x="50800" y="2356993"/>
                    <a:pt x="150876" y="2456053"/>
                    <a:pt x="275336" y="2456053"/>
                  </a:cubicBezTo>
                  <a:lnTo>
                    <a:pt x="16126333" y="2456053"/>
                  </a:lnTo>
                  <a:cubicBezTo>
                    <a:pt x="16250794" y="2456053"/>
                    <a:pt x="16350870" y="2356993"/>
                    <a:pt x="16350870" y="2235835"/>
                  </a:cubicBezTo>
                  <a:lnTo>
                    <a:pt x="16350870" y="271018"/>
                  </a:lnTo>
                  <a:cubicBezTo>
                    <a:pt x="16350870" y="149860"/>
                    <a:pt x="16250794" y="50800"/>
                    <a:pt x="16126333" y="50800"/>
                  </a:cubicBezTo>
                  <a:lnTo>
                    <a:pt x="275336" y="50800"/>
                  </a:lnTo>
                  <a:lnTo>
                    <a:pt x="275336" y="25400"/>
                  </a:lnTo>
                  <a:lnTo>
                    <a:pt x="275336" y="50800"/>
                  </a:lnTo>
                  <a:cubicBezTo>
                    <a:pt x="150876" y="50800"/>
                    <a:pt x="50800" y="149860"/>
                    <a:pt x="50800" y="271018"/>
                  </a:cubicBezTo>
                  <a:close/>
                </a:path>
              </a:pathLst>
            </a:custGeom>
            <a:solidFill>
              <a:srgbClr val="FFFFFF"/>
            </a:solidFill>
          </p:spPr>
        </p:sp>
      </p:grpSp>
      <p:sp>
        <p:nvSpPr>
          <p:cNvPr name="TextBox 28" id="28"/>
          <p:cNvSpPr txBox="true"/>
          <p:nvPr/>
        </p:nvSpPr>
        <p:spPr>
          <a:xfrm rot="0">
            <a:off x="2014830" y="3026296"/>
            <a:ext cx="10214426" cy="1654152"/>
          </a:xfrm>
          <a:prstGeom prst="rect">
            <a:avLst/>
          </a:prstGeom>
        </p:spPr>
        <p:txBody>
          <a:bodyPr anchor="t" rtlCol="false" tIns="0" lIns="0" bIns="0" rIns="0">
            <a:spAutoFit/>
          </a:bodyPr>
          <a:lstStyle/>
          <a:p>
            <a:pPr algn="l">
              <a:lnSpc>
                <a:spcPts val="2808"/>
              </a:lnSpc>
            </a:pPr>
            <a:r>
              <a:rPr lang="en-US" sz="2600" b="true">
                <a:solidFill>
                  <a:srgbClr val="FFFFFF"/>
                </a:solidFill>
                <a:latin typeface="Trebuchet MS Bold"/>
                <a:ea typeface="Trebuchet MS Bold"/>
                <a:cs typeface="Trebuchet MS Bold"/>
                <a:sym typeface="Trebuchet MS Bold"/>
              </a:rPr>
              <a:t>Capa de Núcleo:</a:t>
            </a:r>
            <a:r>
              <a:rPr lang="en-US" sz="2600">
                <a:solidFill>
                  <a:srgbClr val="FFFFFF"/>
                </a:solidFill>
                <a:latin typeface="Trebuchet MS"/>
                <a:ea typeface="Trebuchet MS"/>
                <a:cs typeface="Trebuchet MS"/>
                <a:sym typeface="Trebuchet MS"/>
              </a:rPr>
              <a:t> Es el centro de la red, donde están los dispositivos principales como routers y switches de alta gama. Gestionan todo el tráfico de la red, proporcionando rutas rápidas para la transmisión de datos.</a:t>
            </a:r>
          </a:p>
        </p:txBody>
      </p:sp>
      <p:grpSp>
        <p:nvGrpSpPr>
          <p:cNvPr name="Group 29" id="29"/>
          <p:cNvGrpSpPr/>
          <p:nvPr/>
        </p:nvGrpSpPr>
        <p:grpSpPr>
          <a:xfrm rot="0">
            <a:off x="2993386" y="5052840"/>
            <a:ext cx="12301220" cy="1880166"/>
            <a:chOff x="0" y="0"/>
            <a:chExt cx="16401627" cy="2506888"/>
          </a:xfrm>
        </p:grpSpPr>
        <p:sp>
          <p:nvSpPr>
            <p:cNvPr name="Freeform 30" id="30"/>
            <p:cNvSpPr/>
            <p:nvPr/>
          </p:nvSpPr>
          <p:spPr>
            <a:xfrm flipH="false" flipV="false" rot="0">
              <a:off x="25400" y="25400"/>
              <a:ext cx="16350870" cy="2456053"/>
            </a:xfrm>
            <a:custGeom>
              <a:avLst/>
              <a:gdLst/>
              <a:ahLst/>
              <a:cxnLst/>
              <a:rect r="r" b="b" t="t" l="l"/>
              <a:pathLst>
                <a:path h="2456053" w="16350870">
                  <a:moveTo>
                    <a:pt x="0" y="245618"/>
                  </a:moveTo>
                  <a:cubicBezTo>
                    <a:pt x="0" y="109982"/>
                    <a:pt x="111887" y="0"/>
                    <a:pt x="249936" y="0"/>
                  </a:cubicBezTo>
                  <a:lnTo>
                    <a:pt x="16100933" y="0"/>
                  </a:lnTo>
                  <a:cubicBezTo>
                    <a:pt x="16238982" y="0"/>
                    <a:pt x="16350870" y="109982"/>
                    <a:pt x="16350870" y="245618"/>
                  </a:cubicBezTo>
                  <a:lnTo>
                    <a:pt x="16350870" y="2210435"/>
                  </a:lnTo>
                  <a:cubicBezTo>
                    <a:pt x="16350870" y="2346071"/>
                    <a:pt x="16238982" y="2456053"/>
                    <a:pt x="16100933" y="2456053"/>
                  </a:cubicBezTo>
                  <a:lnTo>
                    <a:pt x="249936" y="2456053"/>
                  </a:lnTo>
                  <a:cubicBezTo>
                    <a:pt x="111887" y="2456053"/>
                    <a:pt x="0" y="2346071"/>
                    <a:pt x="0" y="2210435"/>
                  </a:cubicBezTo>
                  <a:close/>
                </a:path>
              </a:pathLst>
            </a:custGeom>
            <a:solidFill>
              <a:srgbClr val="C4B300"/>
            </a:solidFill>
          </p:spPr>
        </p:sp>
        <p:sp>
          <p:nvSpPr>
            <p:cNvPr name="Freeform 31" id="31"/>
            <p:cNvSpPr/>
            <p:nvPr/>
          </p:nvSpPr>
          <p:spPr>
            <a:xfrm flipH="false" flipV="false" rot="0">
              <a:off x="0" y="0"/>
              <a:ext cx="16401670" cy="2506853"/>
            </a:xfrm>
            <a:custGeom>
              <a:avLst/>
              <a:gdLst/>
              <a:ahLst/>
              <a:cxnLst/>
              <a:rect r="r" b="b" t="t" l="l"/>
              <a:pathLst>
                <a:path h="2506853" w="16401670">
                  <a:moveTo>
                    <a:pt x="0" y="271018"/>
                  </a:moveTo>
                  <a:cubicBezTo>
                    <a:pt x="0" y="120904"/>
                    <a:pt x="123698" y="0"/>
                    <a:pt x="275336" y="0"/>
                  </a:cubicBezTo>
                  <a:lnTo>
                    <a:pt x="16126333" y="0"/>
                  </a:lnTo>
                  <a:lnTo>
                    <a:pt x="16126333" y="25400"/>
                  </a:lnTo>
                  <a:lnTo>
                    <a:pt x="16126333" y="0"/>
                  </a:lnTo>
                  <a:cubicBezTo>
                    <a:pt x="16277971" y="0"/>
                    <a:pt x="16401670" y="120904"/>
                    <a:pt x="16401670" y="271018"/>
                  </a:cubicBezTo>
                  <a:lnTo>
                    <a:pt x="16376270" y="271018"/>
                  </a:lnTo>
                  <a:lnTo>
                    <a:pt x="16401670" y="271018"/>
                  </a:lnTo>
                  <a:lnTo>
                    <a:pt x="16401670" y="2235835"/>
                  </a:lnTo>
                  <a:lnTo>
                    <a:pt x="16376270" y="2235835"/>
                  </a:lnTo>
                  <a:lnTo>
                    <a:pt x="16401670" y="2235835"/>
                  </a:lnTo>
                  <a:cubicBezTo>
                    <a:pt x="16401670" y="2385949"/>
                    <a:pt x="16277971" y="2506853"/>
                    <a:pt x="16126333" y="2506853"/>
                  </a:cubicBezTo>
                  <a:lnTo>
                    <a:pt x="16126333" y="2481453"/>
                  </a:lnTo>
                  <a:lnTo>
                    <a:pt x="16126333" y="2506853"/>
                  </a:lnTo>
                  <a:lnTo>
                    <a:pt x="275336" y="2506853"/>
                  </a:lnTo>
                  <a:lnTo>
                    <a:pt x="275336" y="2481453"/>
                  </a:lnTo>
                  <a:lnTo>
                    <a:pt x="275336" y="2506853"/>
                  </a:lnTo>
                  <a:cubicBezTo>
                    <a:pt x="123698" y="2506853"/>
                    <a:pt x="0" y="2385949"/>
                    <a:pt x="0" y="2235835"/>
                  </a:cubicBezTo>
                  <a:lnTo>
                    <a:pt x="0" y="271018"/>
                  </a:lnTo>
                  <a:lnTo>
                    <a:pt x="25400" y="271018"/>
                  </a:lnTo>
                  <a:lnTo>
                    <a:pt x="0" y="271018"/>
                  </a:lnTo>
                  <a:moveTo>
                    <a:pt x="50800" y="271018"/>
                  </a:moveTo>
                  <a:lnTo>
                    <a:pt x="50800" y="2235835"/>
                  </a:lnTo>
                  <a:lnTo>
                    <a:pt x="25400" y="2235835"/>
                  </a:lnTo>
                  <a:lnTo>
                    <a:pt x="50800" y="2235835"/>
                  </a:lnTo>
                  <a:cubicBezTo>
                    <a:pt x="50800" y="2356993"/>
                    <a:pt x="150876" y="2456053"/>
                    <a:pt x="275336" y="2456053"/>
                  </a:cubicBezTo>
                  <a:lnTo>
                    <a:pt x="16126333" y="2456053"/>
                  </a:lnTo>
                  <a:cubicBezTo>
                    <a:pt x="16250794" y="2456053"/>
                    <a:pt x="16350870" y="2356993"/>
                    <a:pt x="16350870" y="2235835"/>
                  </a:cubicBezTo>
                  <a:lnTo>
                    <a:pt x="16350870" y="271018"/>
                  </a:lnTo>
                  <a:cubicBezTo>
                    <a:pt x="16350870" y="149860"/>
                    <a:pt x="16250794" y="50800"/>
                    <a:pt x="16126333" y="50800"/>
                  </a:cubicBezTo>
                  <a:lnTo>
                    <a:pt x="275336" y="50800"/>
                  </a:lnTo>
                  <a:lnTo>
                    <a:pt x="275336" y="25400"/>
                  </a:lnTo>
                  <a:lnTo>
                    <a:pt x="275336" y="50800"/>
                  </a:lnTo>
                  <a:cubicBezTo>
                    <a:pt x="150876" y="50800"/>
                    <a:pt x="50800" y="149860"/>
                    <a:pt x="50800" y="271018"/>
                  </a:cubicBezTo>
                  <a:close/>
                </a:path>
              </a:pathLst>
            </a:custGeom>
            <a:solidFill>
              <a:srgbClr val="FFFFFF"/>
            </a:solidFill>
          </p:spPr>
        </p:sp>
      </p:grpSp>
      <p:sp>
        <p:nvSpPr>
          <p:cNvPr name="TextBox 32" id="32"/>
          <p:cNvSpPr txBox="true"/>
          <p:nvPr/>
        </p:nvSpPr>
        <p:spPr>
          <a:xfrm rot="0">
            <a:off x="3096868" y="5175372"/>
            <a:ext cx="9814872" cy="1654152"/>
          </a:xfrm>
          <a:prstGeom prst="rect">
            <a:avLst/>
          </a:prstGeom>
        </p:spPr>
        <p:txBody>
          <a:bodyPr anchor="t" rtlCol="false" tIns="0" lIns="0" bIns="0" rIns="0">
            <a:spAutoFit/>
          </a:bodyPr>
          <a:lstStyle/>
          <a:p>
            <a:pPr algn="l">
              <a:lnSpc>
                <a:spcPts val="2808"/>
              </a:lnSpc>
            </a:pPr>
            <a:r>
              <a:rPr lang="en-US" sz="2600" b="true">
                <a:solidFill>
                  <a:srgbClr val="FFFFFF"/>
                </a:solidFill>
                <a:latin typeface="Trebuchet MS Bold"/>
                <a:ea typeface="Trebuchet MS Bold"/>
                <a:cs typeface="Trebuchet MS Bold"/>
                <a:sym typeface="Trebuchet MS Bold"/>
              </a:rPr>
              <a:t>Capa de Distribución</a:t>
            </a:r>
            <a:r>
              <a:rPr lang="en-US" sz="2600">
                <a:solidFill>
                  <a:srgbClr val="FFFFFF"/>
                </a:solidFill>
                <a:latin typeface="Trebuchet MS"/>
                <a:ea typeface="Trebuchet MS"/>
                <a:cs typeface="Trebuchet MS"/>
                <a:sym typeface="Trebuchet MS"/>
              </a:rPr>
              <a:t>: Actúa como intermediario entre el Núcleo y el resto de la red. Maneja el tráfico local dentro de cada área de la red, agrupando conexiones y dirigiendo el tráfico hacia su destino a través del Núcleo.</a:t>
            </a:r>
          </a:p>
        </p:txBody>
      </p:sp>
      <p:grpSp>
        <p:nvGrpSpPr>
          <p:cNvPr name="Group 33" id="33"/>
          <p:cNvGrpSpPr/>
          <p:nvPr/>
        </p:nvGrpSpPr>
        <p:grpSpPr>
          <a:xfrm rot="0">
            <a:off x="4075426" y="7201918"/>
            <a:ext cx="12301220" cy="1880166"/>
            <a:chOff x="0" y="0"/>
            <a:chExt cx="16401627" cy="2506888"/>
          </a:xfrm>
        </p:grpSpPr>
        <p:sp>
          <p:nvSpPr>
            <p:cNvPr name="Freeform 34" id="34"/>
            <p:cNvSpPr/>
            <p:nvPr/>
          </p:nvSpPr>
          <p:spPr>
            <a:xfrm flipH="false" flipV="false" rot="0">
              <a:off x="25400" y="25400"/>
              <a:ext cx="16350870" cy="2456053"/>
            </a:xfrm>
            <a:custGeom>
              <a:avLst/>
              <a:gdLst/>
              <a:ahLst/>
              <a:cxnLst/>
              <a:rect r="r" b="b" t="t" l="l"/>
              <a:pathLst>
                <a:path h="2456053" w="16350870">
                  <a:moveTo>
                    <a:pt x="0" y="245618"/>
                  </a:moveTo>
                  <a:cubicBezTo>
                    <a:pt x="0" y="109982"/>
                    <a:pt x="111887" y="0"/>
                    <a:pt x="249936" y="0"/>
                  </a:cubicBezTo>
                  <a:lnTo>
                    <a:pt x="16100933" y="0"/>
                  </a:lnTo>
                  <a:cubicBezTo>
                    <a:pt x="16238982" y="0"/>
                    <a:pt x="16350870" y="109982"/>
                    <a:pt x="16350870" y="245618"/>
                  </a:cubicBezTo>
                  <a:lnTo>
                    <a:pt x="16350870" y="2210435"/>
                  </a:lnTo>
                  <a:cubicBezTo>
                    <a:pt x="16350870" y="2346071"/>
                    <a:pt x="16238982" y="2456053"/>
                    <a:pt x="16100933" y="2456053"/>
                  </a:cubicBezTo>
                  <a:lnTo>
                    <a:pt x="249936" y="2456053"/>
                  </a:lnTo>
                  <a:cubicBezTo>
                    <a:pt x="111887" y="2456053"/>
                    <a:pt x="0" y="2346071"/>
                    <a:pt x="0" y="2210435"/>
                  </a:cubicBezTo>
                  <a:close/>
                </a:path>
              </a:pathLst>
            </a:custGeom>
            <a:solidFill>
              <a:srgbClr val="E64500"/>
            </a:solidFill>
          </p:spPr>
        </p:sp>
        <p:sp>
          <p:nvSpPr>
            <p:cNvPr name="Freeform 35" id="35"/>
            <p:cNvSpPr/>
            <p:nvPr/>
          </p:nvSpPr>
          <p:spPr>
            <a:xfrm flipH="false" flipV="false" rot="0">
              <a:off x="0" y="0"/>
              <a:ext cx="16401670" cy="2506853"/>
            </a:xfrm>
            <a:custGeom>
              <a:avLst/>
              <a:gdLst/>
              <a:ahLst/>
              <a:cxnLst/>
              <a:rect r="r" b="b" t="t" l="l"/>
              <a:pathLst>
                <a:path h="2506853" w="16401670">
                  <a:moveTo>
                    <a:pt x="0" y="271018"/>
                  </a:moveTo>
                  <a:cubicBezTo>
                    <a:pt x="0" y="120904"/>
                    <a:pt x="123698" y="0"/>
                    <a:pt x="275336" y="0"/>
                  </a:cubicBezTo>
                  <a:lnTo>
                    <a:pt x="16126333" y="0"/>
                  </a:lnTo>
                  <a:lnTo>
                    <a:pt x="16126333" y="25400"/>
                  </a:lnTo>
                  <a:lnTo>
                    <a:pt x="16126333" y="0"/>
                  </a:lnTo>
                  <a:cubicBezTo>
                    <a:pt x="16277971" y="0"/>
                    <a:pt x="16401670" y="120904"/>
                    <a:pt x="16401670" y="271018"/>
                  </a:cubicBezTo>
                  <a:lnTo>
                    <a:pt x="16376270" y="271018"/>
                  </a:lnTo>
                  <a:lnTo>
                    <a:pt x="16401670" y="271018"/>
                  </a:lnTo>
                  <a:lnTo>
                    <a:pt x="16401670" y="2235835"/>
                  </a:lnTo>
                  <a:lnTo>
                    <a:pt x="16376270" y="2235835"/>
                  </a:lnTo>
                  <a:lnTo>
                    <a:pt x="16401670" y="2235835"/>
                  </a:lnTo>
                  <a:cubicBezTo>
                    <a:pt x="16401670" y="2385949"/>
                    <a:pt x="16277971" y="2506853"/>
                    <a:pt x="16126333" y="2506853"/>
                  </a:cubicBezTo>
                  <a:lnTo>
                    <a:pt x="16126333" y="2481453"/>
                  </a:lnTo>
                  <a:lnTo>
                    <a:pt x="16126333" y="2506853"/>
                  </a:lnTo>
                  <a:lnTo>
                    <a:pt x="275336" y="2506853"/>
                  </a:lnTo>
                  <a:lnTo>
                    <a:pt x="275336" y="2481453"/>
                  </a:lnTo>
                  <a:lnTo>
                    <a:pt x="275336" y="2506853"/>
                  </a:lnTo>
                  <a:cubicBezTo>
                    <a:pt x="123698" y="2506853"/>
                    <a:pt x="0" y="2385949"/>
                    <a:pt x="0" y="2235835"/>
                  </a:cubicBezTo>
                  <a:lnTo>
                    <a:pt x="0" y="271018"/>
                  </a:lnTo>
                  <a:lnTo>
                    <a:pt x="25400" y="271018"/>
                  </a:lnTo>
                  <a:lnTo>
                    <a:pt x="0" y="271018"/>
                  </a:lnTo>
                  <a:moveTo>
                    <a:pt x="50800" y="271018"/>
                  </a:moveTo>
                  <a:lnTo>
                    <a:pt x="50800" y="2235835"/>
                  </a:lnTo>
                  <a:lnTo>
                    <a:pt x="25400" y="2235835"/>
                  </a:lnTo>
                  <a:lnTo>
                    <a:pt x="50800" y="2235835"/>
                  </a:lnTo>
                  <a:cubicBezTo>
                    <a:pt x="50800" y="2356993"/>
                    <a:pt x="150876" y="2456053"/>
                    <a:pt x="275336" y="2456053"/>
                  </a:cubicBezTo>
                  <a:lnTo>
                    <a:pt x="16126333" y="2456053"/>
                  </a:lnTo>
                  <a:cubicBezTo>
                    <a:pt x="16250794" y="2456053"/>
                    <a:pt x="16350870" y="2356993"/>
                    <a:pt x="16350870" y="2235835"/>
                  </a:cubicBezTo>
                  <a:lnTo>
                    <a:pt x="16350870" y="271018"/>
                  </a:lnTo>
                  <a:cubicBezTo>
                    <a:pt x="16350870" y="149860"/>
                    <a:pt x="16250794" y="50800"/>
                    <a:pt x="16126333" y="50800"/>
                  </a:cubicBezTo>
                  <a:lnTo>
                    <a:pt x="275336" y="50800"/>
                  </a:lnTo>
                  <a:lnTo>
                    <a:pt x="275336" y="25400"/>
                  </a:lnTo>
                  <a:lnTo>
                    <a:pt x="275336" y="50800"/>
                  </a:lnTo>
                  <a:cubicBezTo>
                    <a:pt x="150876" y="50800"/>
                    <a:pt x="50800" y="149860"/>
                    <a:pt x="50800" y="271018"/>
                  </a:cubicBezTo>
                  <a:close/>
                </a:path>
              </a:pathLst>
            </a:custGeom>
            <a:solidFill>
              <a:srgbClr val="FFFFFF"/>
            </a:solidFill>
          </p:spPr>
        </p:sp>
      </p:grpSp>
      <p:sp>
        <p:nvSpPr>
          <p:cNvPr name="TextBox 36" id="36"/>
          <p:cNvSpPr txBox="true"/>
          <p:nvPr/>
        </p:nvSpPr>
        <p:spPr>
          <a:xfrm rot="0">
            <a:off x="4178908" y="7324450"/>
            <a:ext cx="9814872" cy="1654152"/>
          </a:xfrm>
          <a:prstGeom prst="rect">
            <a:avLst/>
          </a:prstGeom>
        </p:spPr>
        <p:txBody>
          <a:bodyPr anchor="t" rtlCol="false" tIns="0" lIns="0" bIns="0" rIns="0">
            <a:spAutoFit/>
          </a:bodyPr>
          <a:lstStyle/>
          <a:p>
            <a:pPr algn="l">
              <a:lnSpc>
                <a:spcPts val="2808"/>
              </a:lnSpc>
            </a:pPr>
            <a:r>
              <a:rPr lang="en-US" sz="2600" b="true">
                <a:solidFill>
                  <a:srgbClr val="FFFFFF"/>
                </a:solidFill>
                <a:latin typeface="Trebuchet MS Bold"/>
                <a:ea typeface="Trebuchet MS Bold"/>
                <a:cs typeface="Trebuchet MS Bold"/>
                <a:sym typeface="Trebuchet MS Bold"/>
              </a:rPr>
              <a:t>Capa de Acceso</a:t>
            </a:r>
            <a:r>
              <a:rPr lang="en-US" sz="2600">
                <a:solidFill>
                  <a:srgbClr val="FFFFFF"/>
                </a:solidFill>
                <a:latin typeface="Trebuchet MS"/>
                <a:ea typeface="Trebuchet MS"/>
                <a:cs typeface="Trebuchet MS"/>
                <a:sym typeface="Trebuchet MS"/>
              </a:rPr>
              <a:t>: Es la conexión para dispositivos finales como computadoras e impresoras. Aquí se conectan estos dispositivos a la red. Los switches de acceso dirigen el tráfico local hacia los switches de distribución para su envío.</a:t>
            </a:r>
          </a:p>
        </p:txBody>
      </p:sp>
      <p:grpSp>
        <p:nvGrpSpPr>
          <p:cNvPr name="Group 37" id="37"/>
          <p:cNvGrpSpPr/>
          <p:nvPr/>
        </p:nvGrpSpPr>
        <p:grpSpPr>
          <a:xfrm rot="0">
            <a:off x="12977124" y="4300664"/>
            <a:ext cx="1235442" cy="1235442"/>
            <a:chOff x="0" y="0"/>
            <a:chExt cx="1647256" cy="1647256"/>
          </a:xfrm>
        </p:grpSpPr>
        <p:sp>
          <p:nvSpPr>
            <p:cNvPr name="Freeform 38" id="38"/>
            <p:cNvSpPr/>
            <p:nvPr/>
          </p:nvSpPr>
          <p:spPr>
            <a:xfrm flipH="false" flipV="false" rot="0">
              <a:off x="25400" y="25400"/>
              <a:ext cx="1596390" cy="1596517"/>
            </a:xfrm>
            <a:custGeom>
              <a:avLst/>
              <a:gdLst/>
              <a:ahLst/>
              <a:cxnLst/>
              <a:rect r="r" b="b" t="t" l="l"/>
              <a:pathLst>
                <a:path h="1596517" w="1596390">
                  <a:moveTo>
                    <a:pt x="0" y="878078"/>
                  </a:moveTo>
                  <a:lnTo>
                    <a:pt x="359156" y="878078"/>
                  </a:lnTo>
                  <a:lnTo>
                    <a:pt x="359156" y="0"/>
                  </a:lnTo>
                  <a:lnTo>
                    <a:pt x="1237234" y="0"/>
                  </a:lnTo>
                  <a:lnTo>
                    <a:pt x="1237234" y="878078"/>
                  </a:lnTo>
                  <a:lnTo>
                    <a:pt x="1596390" y="878078"/>
                  </a:lnTo>
                  <a:lnTo>
                    <a:pt x="798195" y="1596517"/>
                  </a:lnTo>
                  <a:close/>
                </a:path>
              </a:pathLst>
            </a:custGeom>
            <a:solidFill>
              <a:srgbClr val="D1DFCC">
                <a:alpha val="89804"/>
              </a:srgbClr>
            </a:solidFill>
          </p:spPr>
        </p:sp>
        <p:sp>
          <p:nvSpPr>
            <p:cNvPr name="Freeform 39" id="39"/>
            <p:cNvSpPr/>
            <p:nvPr/>
          </p:nvSpPr>
          <p:spPr>
            <a:xfrm flipH="false" flipV="false" rot="0">
              <a:off x="-2159" y="0"/>
              <a:ext cx="1651508" cy="1649349"/>
            </a:xfrm>
            <a:custGeom>
              <a:avLst/>
              <a:gdLst/>
              <a:ahLst/>
              <a:cxnLst/>
              <a:rect r="r" b="b" t="t" l="l"/>
              <a:pathLst>
                <a:path h="1649349" w="1651508">
                  <a:moveTo>
                    <a:pt x="27559" y="878078"/>
                  </a:moveTo>
                  <a:lnTo>
                    <a:pt x="386715" y="878078"/>
                  </a:lnTo>
                  <a:lnTo>
                    <a:pt x="386715" y="903478"/>
                  </a:lnTo>
                  <a:lnTo>
                    <a:pt x="361315" y="903478"/>
                  </a:lnTo>
                  <a:lnTo>
                    <a:pt x="361315" y="25400"/>
                  </a:lnTo>
                  <a:cubicBezTo>
                    <a:pt x="361315" y="11430"/>
                    <a:pt x="372745" y="0"/>
                    <a:pt x="386715" y="0"/>
                  </a:cubicBezTo>
                  <a:lnTo>
                    <a:pt x="1264793" y="0"/>
                  </a:lnTo>
                  <a:cubicBezTo>
                    <a:pt x="1278763" y="0"/>
                    <a:pt x="1290193" y="11430"/>
                    <a:pt x="1290193" y="25400"/>
                  </a:cubicBezTo>
                  <a:lnTo>
                    <a:pt x="1290193" y="903478"/>
                  </a:lnTo>
                  <a:lnTo>
                    <a:pt x="1264793" y="903478"/>
                  </a:lnTo>
                  <a:lnTo>
                    <a:pt x="1264793" y="878078"/>
                  </a:lnTo>
                  <a:lnTo>
                    <a:pt x="1623949" y="878078"/>
                  </a:lnTo>
                  <a:cubicBezTo>
                    <a:pt x="1634490" y="878078"/>
                    <a:pt x="1643888" y="884555"/>
                    <a:pt x="1647698" y="894334"/>
                  </a:cubicBezTo>
                  <a:cubicBezTo>
                    <a:pt x="1651508" y="904113"/>
                    <a:pt x="1648841" y="915289"/>
                    <a:pt x="1640967" y="922274"/>
                  </a:cubicBezTo>
                  <a:lnTo>
                    <a:pt x="842772" y="1640713"/>
                  </a:lnTo>
                  <a:cubicBezTo>
                    <a:pt x="833120" y="1649349"/>
                    <a:pt x="818388" y="1649349"/>
                    <a:pt x="808736" y="1640713"/>
                  </a:cubicBezTo>
                  <a:lnTo>
                    <a:pt x="10541" y="922274"/>
                  </a:lnTo>
                  <a:cubicBezTo>
                    <a:pt x="2667" y="915289"/>
                    <a:pt x="0" y="904113"/>
                    <a:pt x="3810" y="894334"/>
                  </a:cubicBezTo>
                  <a:cubicBezTo>
                    <a:pt x="7620" y="884555"/>
                    <a:pt x="17018" y="878078"/>
                    <a:pt x="27559" y="878078"/>
                  </a:cubicBezTo>
                  <a:moveTo>
                    <a:pt x="27559" y="928878"/>
                  </a:moveTo>
                  <a:lnTo>
                    <a:pt x="27559" y="903478"/>
                  </a:lnTo>
                  <a:lnTo>
                    <a:pt x="44577" y="884555"/>
                  </a:lnTo>
                  <a:lnTo>
                    <a:pt x="842772" y="1602994"/>
                  </a:lnTo>
                  <a:lnTo>
                    <a:pt x="825754" y="1621917"/>
                  </a:lnTo>
                  <a:lnTo>
                    <a:pt x="808736" y="1602994"/>
                  </a:lnTo>
                  <a:lnTo>
                    <a:pt x="1606931" y="884555"/>
                  </a:lnTo>
                  <a:lnTo>
                    <a:pt x="1623949" y="903478"/>
                  </a:lnTo>
                  <a:lnTo>
                    <a:pt x="1623949" y="928878"/>
                  </a:lnTo>
                  <a:lnTo>
                    <a:pt x="1264793" y="928878"/>
                  </a:lnTo>
                  <a:cubicBezTo>
                    <a:pt x="1250823" y="928878"/>
                    <a:pt x="1239393" y="917448"/>
                    <a:pt x="1239393" y="903478"/>
                  </a:cubicBezTo>
                  <a:lnTo>
                    <a:pt x="1239393" y="25400"/>
                  </a:lnTo>
                  <a:lnTo>
                    <a:pt x="1264793" y="25400"/>
                  </a:lnTo>
                  <a:lnTo>
                    <a:pt x="1264793" y="50800"/>
                  </a:lnTo>
                  <a:lnTo>
                    <a:pt x="386715" y="50800"/>
                  </a:lnTo>
                  <a:lnTo>
                    <a:pt x="386715" y="25400"/>
                  </a:lnTo>
                  <a:lnTo>
                    <a:pt x="412115" y="25400"/>
                  </a:lnTo>
                  <a:lnTo>
                    <a:pt x="412115" y="903478"/>
                  </a:lnTo>
                  <a:cubicBezTo>
                    <a:pt x="412115" y="917448"/>
                    <a:pt x="400685" y="928878"/>
                    <a:pt x="386715" y="928878"/>
                  </a:cubicBezTo>
                  <a:lnTo>
                    <a:pt x="27559" y="928878"/>
                  </a:lnTo>
                  <a:close/>
                </a:path>
              </a:pathLst>
            </a:custGeom>
            <a:solidFill>
              <a:srgbClr val="D1DFCC">
                <a:alpha val="89804"/>
              </a:srgbClr>
            </a:solidFill>
          </p:spPr>
        </p:sp>
      </p:grpSp>
      <p:grpSp>
        <p:nvGrpSpPr>
          <p:cNvPr name="Group 40" id="40"/>
          <p:cNvGrpSpPr/>
          <p:nvPr/>
        </p:nvGrpSpPr>
        <p:grpSpPr>
          <a:xfrm rot="0">
            <a:off x="14059164" y="6437460"/>
            <a:ext cx="1235442" cy="1235442"/>
            <a:chOff x="0" y="0"/>
            <a:chExt cx="1647256" cy="1647256"/>
          </a:xfrm>
        </p:grpSpPr>
        <p:sp>
          <p:nvSpPr>
            <p:cNvPr name="Freeform 41" id="41"/>
            <p:cNvSpPr/>
            <p:nvPr/>
          </p:nvSpPr>
          <p:spPr>
            <a:xfrm flipH="false" flipV="false" rot="0">
              <a:off x="25400" y="25400"/>
              <a:ext cx="1596390" cy="1596517"/>
            </a:xfrm>
            <a:custGeom>
              <a:avLst/>
              <a:gdLst/>
              <a:ahLst/>
              <a:cxnLst/>
              <a:rect r="r" b="b" t="t" l="l"/>
              <a:pathLst>
                <a:path h="1596517" w="1596390">
                  <a:moveTo>
                    <a:pt x="0" y="878078"/>
                  </a:moveTo>
                  <a:lnTo>
                    <a:pt x="359156" y="878078"/>
                  </a:lnTo>
                  <a:lnTo>
                    <a:pt x="359156" y="0"/>
                  </a:lnTo>
                  <a:lnTo>
                    <a:pt x="1237234" y="0"/>
                  </a:lnTo>
                  <a:lnTo>
                    <a:pt x="1237234" y="878078"/>
                  </a:lnTo>
                  <a:lnTo>
                    <a:pt x="1596390" y="878078"/>
                  </a:lnTo>
                  <a:lnTo>
                    <a:pt x="798195" y="1596517"/>
                  </a:lnTo>
                  <a:close/>
                </a:path>
              </a:pathLst>
            </a:custGeom>
            <a:solidFill>
              <a:srgbClr val="F5CCDE">
                <a:alpha val="89804"/>
              </a:srgbClr>
            </a:solidFill>
          </p:spPr>
        </p:sp>
        <p:sp>
          <p:nvSpPr>
            <p:cNvPr name="Freeform 42" id="42"/>
            <p:cNvSpPr/>
            <p:nvPr/>
          </p:nvSpPr>
          <p:spPr>
            <a:xfrm flipH="false" flipV="false" rot="0">
              <a:off x="-2159" y="0"/>
              <a:ext cx="1651508" cy="1649349"/>
            </a:xfrm>
            <a:custGeom>
              <a:avLst/>
              <a:gdLst/>
              <a:ahLst/>
              <a:cxnLst/>
              <a:rect r="r" b="b" t="t" l="l"/>
              <a:pathLst>
                <a:path h="1649349" w="1651508">
                  <a:moveTo>
                    <a:pt x="27559" y="878078"/>
                  </a:moveTo>
                  <a:lnTo>
                    <a:pt x="386715" y="878078"/>
                  </a:lnTo>
                  <a:lnTo>
                    <a:pt x="386715" y="903478"/>
                  </a:lnTo>
                  <a:lnTo>
                    <a:pt x="361315" y="903478"/>
                  </a:lnTo>
                  <a:lnTo>
                    <a:pt x="361315" y="25400"/>
                  </a:lnTo>
                  <a:cubicBezTo>
                    <a:pt x="361315" y="11430"/>
                    <a:pt x="372745" y="0"/>
                    <a:pt x="386715" y="0"/>
                  </a:cubicBezTo>
                  <a:lnTo>
                    <a:pt x="1264793" y="0"/>
                  </a:lnTo>
                  <a:cubicBezTo>
                    <a:pt x="1278763" y="0"/>
                    <a:pt x="1290193" y="11430"/>
                    <a:pt x="1290193" y="25400"/>
                  </a:cubicBezTo>
                  <a:lnTo>
                    <a:pt x="1290193" y="903478"/>
                  </a:lnTo>
                  <a:lnTo>
                    <a:pt x="1264793" y="903478"/>
                  </a:lnTo>
                  <a:lnTo>
                    <a:pt x="1264793" y="878078"/>
                  </a:lnTo>
                  <a:lnTo>
                    <a:pt x="1623949" y="878078"/>
                  </a:lnTo>
                  <a:cubicBezTo>
                    <a:pt x="1634490" y="878078"/>
                    <a:pt x="1643888" y="884555"/>
                    <a:pt x="1647698" y="894334"/>
                  </a:cubicBezTo>
                  <a:cubicBezTo>
                    <a:pt x="1651508" y="904113"/>
                    <a:pt x="1648841" y="915289"/>
                    <a:pt x="1640967" y="922274"/>
                  </a:cubicBezTo>
                  <a:lnTo>
                    <a:pt x="842772" y="1640713"/>
                  </a:lnTo>
                  <a:cubicBezTo>
                    <a:pt x="833120" y="1649349"/>
                    <a:pt x="818388" y="1649349"/>
                    <a:pt x="808736" y="1640713"/>
                  </a:cubicBezTo>
                  <a:lnTo>
                    <a:pt x="10541" y="922274"/>
                  </a:lnTo>
                  <a:cubicBezTo>
                    <a:pt x="2667" y="915289"/>
                    <a:pt x="0" y="904113"/>
                    <a:pt x="3810" y="894334"/>
                  </a:cubicBezTo>
                  <a:cubicBezTo>
                    <a:pt x="7620" y="884555"/>
                    <a:pt x="17018" y="878078"/>
                    <a:pt x="27559" y="878078"/>
                  </a:cubicBezTo>
                  <a:moveTo>
                    <a:pt x="27559" y="928878"/>
                  </a:moveTo>
                  <a:lnTo>
                    <a:pt x="27559" y="903478"/>
                  </a:lnTo>
                  <a:lnTo>
                    <a:pt x="44577" y="884555"/>
                  </a:lnTo>
                  <a:lnTo>
                    <a:pt x="842772" y="1602994"/>
                  </a:lnTo>
                  <a:lnTo>
                    <a:pt x="825754" y="1621917"/>
                  </a:lnTo>
                  <a:lnTo>
                    <a:pt x="808736" y="1602994"/>
                  </a:lnTo>
                  <a:lnTo>
                    <a:pt x="1606931" y="884555"/>
                  </a:lnTo>
                  <a:lnTo>
                    <a:pt x="1623949" y="903478"/>
                  </a:lnTo>
                  <a:lnTo>
                    <a:pt x="1623949" y="928878"/>
                  </a:lnTo>
                  <a:lnTo>
                    <a:pt x="1264793" y="928878"/>
                  </a:lnTo>
                  <a:cubicBezTo>
                    <a:pt x="1250823" y="928878"/>
                    <a:pt x="1239393" y="917448"/>
                    <a:pt x="1239393" y="903478"/>
                  </a:cubicBezTo>
                  <a:lnTo>
                    <a:pt x="1239393" y="25400"/>
                  </a:lnTo>
                  <a:lnTo>
                    <a:pt x="1264793" y="25400"/>
                  </a:lnTo>
                  <a:lnTo>
                    <a:pt x="1264793" y="50800"/>
                  </a:lnTo>
                  <a:lnTo>
                    <a:pt x="386715" y="50800"/>
                  </a:lnTo>
                  <a:lnTo>
                    <a:pt x="386715" y="25400"/>
                  </a:lnTo>
                  <a:lnTo>
                    <a:pt x="412115" y="25400"/>
                  </a:lnTo>
                  <a:lnTo>
                    <a:pt x="412115" y="903478"/>
                  </a:lnTo>
                  <a:cubicBezTo>
                    <a:pt x="412115" y="917448"/>
                    <a:pt x="400685" y="928878"/>
                    <a:pt x="386715" y="928878"/>
                  </a:cubicBezTo>
                  <a:lnTo>
                    <a:pt x="27559" y="928878"/>
                  </a:lnTo>
                  <a:close/>
                </a:path>
              </a:pathLst>
            </a:custGeom>
            <a:solidFill>
              <a:srgbClr val="F5CCDE">
                <a:alpha val="89804"/>
              </a:srgbClr>
            </a:solidFill>
          </p:spPr>
        </p:sp>
      </p:gr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sp>
        <p:nvSpPr>
          <p:cNvPr name="TextBox 20" id="20"/>
          <p:cNvSpPr txBox="true"/>
          <p:nvPr/>
        </p:nvSpPr>
        <p:spPr>
          <a:xfrm rot="0">
            <a:off x="2021838" y="941070"/>
            <a:ext cx="15113362" cy="1114425"/>
          </a:xfrm>
          <a:prstGeom prst="rect">
            <a:avLst/>
          </a:prstGeom>
        </p:spPr>
        <p:txBody>
          <a:bodyPr anchor="t" rtlCol="false" tIns="0" lIns="0" bIns="0" rIns="0">
            <a:spAutoFit/>
          </a:bodyPr>
          <a:lstStyle/>
          <a:p>
            <a:pPr algn="l">
              <a:lnSpc>
                <a:spcPts val="8640"/>
              </a:lnSpc>
            </a:pPr>
            <a:r>
              <a:rPr lang="en-US" sz="7200">
                <a:solidFill>
                  <a:srgbClr val="90C226"/>
                </a:solidFill>
                <a:latin typeface="Trebuchet MS"/>
                <a:ea typeface="Trebuchet MS"/>
                <a:cs typeface="Trebuchet MS"/>
                <a:sym typeface="Trebuchet MS"/>
              </a:rPr>
              <a:t>Beneficios del modelo jerarquico</a:t>
            </a:r>
          </a:p>
        </p:txBody>
      </p:sp>
      <p:grpSp>
        <p:nvGrpSpPr>
          <p:cNvPr name="Group 21" id="21"/>
          <p:cNvGrpSpPr/>
          <p:nvPr/>
        </p:nvGrpSpPr>
        <p:grpSpPr>
          <a:xfrm rot="-10800000">
            <a:off x="0" y="0"/>
            <a:ext cx="1263894" cy="8499230"/>
            <a:chOff x="0" y="0"/>
            <a:chExt cx="1685192" cy="11332307"/>
          </a:xfrm>
        </p:grpSpPr>
        <p:sp>
          <p:nvSpPr>
            <p:cNvPr name="Freeform 22" id="22"/>
            <p:cNvSpPr/>
            <p:nvPr/>
          </p:nvSpPr>
          <p:spPr>
            <a:xfrm flipH="false" flipV="false" rot="0">
              <a:off x="0" y="0"/>
              <a:ext cx="1685163" cy="11332337"/>
            </a:xfrm>
            <a:custGeom>
              <a:avLst/>
              <a:gdLst/>
              <a:ahLst/>
              <a:cxnLst/>
              <a:rect r="r" b="b" t="t" l="l"/>
              <a:pathLst>
                <a:path h="11332337" w="1685163">
                  <a:moveTo>
                    <a:pt x="0" y="11332337"/>
                  </a:moveTo>
                  <a:lnTo>
                    <a:pt x="1685163" y="0"/>
                  </a:lnTo>
                  <a:lnTo>
                    <a:pt x="1685163" y="11332337"/>
                  </a:lnTo>
                  <a:close/>
                </a:path>
              </a:pathLst>
            </a:custGeom>
            <a:solidFill>
              <a:srgbClr val="90C226">
                <a:alpha val="84706"/>
              </a:srgbClr>
            </a:solidFill>
          </p:spPr>
        </p:sp>
      </p:grpSp>
      <p:grpSp>
        <p:nvGrpSpPr>
          <p:cNvPr name="Group 23" id="23"/>
          <p:cNvGrpSpPr/>
          <p:nvPr/>
        </p:nvGrpSpPr>
        <p:grpSpPr>
          <a:xfrm rot="0">
            <a:off x="17614900" y="6019800"/>
            <a:ext cx="673100" cy="4267200"/>
            <a:chOff x="0" y="0"/>
            <a:chExt cx="897467" cy="5689600"/>
          </a:xfrm>
        </p:grpSpPr>
        <p:sp>
          <p:nvSpPr>
            <p:cNvPr name="Freeform 24" id="24"/>
            <p:cNvSpPr/>
            <p:nvPr/>
          </p:nvSpPr>
          <p:spPr>
            <a:xfrm flipH="false" flipV="false" rot="0">
              <a:off x="0" y="0"/>
              <a:ext cx="897509" cy="5689600"/>
            </a:xfrm>
            <a:custGeom>
              <a:avLst/>
              <a:gdLst/>
              <a:ahLst/>
              <a:cxnLst/>
              <a:rect r="r" b="b" t="t" l="l"/>
              <a:pathLst>
                <a:path h="5689600" w="897509">
                  <a:moveTo>
                    <a:pt x="897509" y="5689600"/>
                  </a:moveTo>
                  <a:lnTo>
                    <a:pt x="897509" y="0"/>
                  </a:lnTo>
                  <a:lnTo>
                    <a:pt x="0" y="5689600"/>
                  </a:lnTo>
                  <a:close/>
                </a:path>
              </a:pathLst>
            </a:custGeom>
            <a:solidFill>
              <a:srgbClr val="90C226">
                <a:alpha val="84706"/>
              </a:srgbClr>
            </a:solidFill>
          </p:spPr>
        </p:sp>
      </p:grpSp>
      <p:grpSp>
        <p:nvGrpSpPr>
          <p:cNvPr name="Group 25" id="25"/>
          <p:cNvGrpSpPr/>
          <p:nvPr/>
        </p:nvGrpSpPr>
        <p:grpSpPr>
          <a:xfrm rot="0">
            <a:off x="1911348" y="4471416"/>
            <a:ext cx="4095748" cy="2614706"/>
            <a:chOff x="0" y="0"/>
            <a:chExt cx="5460997" cy="3486275"/>
          </a:xfrm>
        </p:grpSpPr>
        <p:sp>
          <p:nvSpPr>
            <p:cNvPr name="Freeform 26" id="26"/>
            <p:cNvSpPr/>
            <p:nvPr/>
          </p:nvSpPr>
          <p:spPr>
            <a:xfrm flipH="false" flipV="false" rot="0">
              <a:off x="25400" y="25400"/>
              <a:ext cx="5410200" cy="3435477"/>
            </a:xfrm>
            <a:custGeom>
              <a:avLst/>
              <a:gdLst/>
              <a:ahLst/>
              <a:cxnLst/>
              <a:rect r="r" b="b" t="t" l="l"/>
              <a:pathLst>
                <a:path h="3435477" w="5410200">
                  <a:moveTo>
                    <a:pt x="0" y="343535"/>
                  </a:moveTo>
                  <a:cubicBezTo>
                    <a:pt x="0" y="153797"/>
                    <a:pt x="154686" y="0"/>
                    <a:pt x="345440" y="0"/>
                  </a:cubicBezTo>
                  <a:lnTo>
                    <a:pt x="5064760" y="0"/>
                  </a:lnTo>
                  <a:cubicBezTo>
                    <a:pt x="5255514" y="0"/>
                    <a:pt x="5410200" y="153797"/>
                    <a:pt x="5410200" y="343535"/>
                  </a:cubicBezTo>
                  <a:lnTo>
                    <a:pt x="5410200" y="3091942"/>
                  </a:lnTo>
                  <a:cubicBezTo>
                    <a:pt x="5410200" y="3281680"/>
                    <a:pt x="5255514" y="3435477"/>
                    <a:pt x="5064760" y="3435477"/>
                  </a:cubicBezTo>
                  <a:lnTo>
                    <a:pt x="345440" y="3435477"/>
                  </a:lnTo>
                  <a:cubicBezTo>
                    <a:pt x="154686" y="3435477"/>
                    <a:pt x="0" y="3281680"/>
                    <a:pt x="0" y="3091942"/>
                  </a:cubicBezTo>
                  <a:close/>
                </a:path>
              </a:pathLst>
            </a:custGeom>
            <a:solidFill>
              <a:srgbClr val="90C226"/>
            </a:solidFill>
          </p:spPr>
        </p:sp>
        <p:sp>
          <p:nvSpPr>
            <p:cNvPr name="Freeform 27" id="27"/>
            <p:cNvSpPr/>
            <p:nvPr/>
          </p:nvSpPr>
          <p:spPr>
            <a:xfrm flipH="false" flipV="false" rot="0">
              <a:off x="0" y="0"/>
              <a:ext cx="5461000" cy="3486277"/>
            </a:xfrm>
            <a:custGeom>
              <a:avLst/>
              <a:gdLst/>
              <a:ahLst/>
              <a:cxnLst/>
              <a:rect r="r" b="b" t="t" l="l"/>
              <a:pathLst>
                <a:path h="3486277" w="5461000">
                  <a:moveTo>
                    <a:pt x="0" y="368935"/>
                  </a:moveTo>
                  <a:cubicBezTo>
                    <a:pt x="0" y="165100"/>
                    <a:pt x="166116" y="0"/>
                    <a:pt x="370840" y="0"/>
                  </a:cubicBezTo>
                  <a:lnTo>
                    <a:pt x="5090160" y="0"/>
                  </a:lnTo>
                  <a:lnTo>
                    <a:pt x="5090160" y="25400"/>
                  </a:lnTo>
                  <a:lnTo>
                    <a:pt x="5090160" y="0"/>
                  </a:lnTo>
                  <a:cubicBezTo>
                    <a:pt x="5294884" y="0"/>
                    <a:pt x="5461000" y="165100"/>
                    <a:pt x="5461000" y="368935"/>
                  </a:cubicBezTo>
                  <a:lnTo>
                    <a:pt x="5435600" y="368935"/>
                  </a:lnTo>
                  <a:lnTo>
                    <a:pt x="5461000" y="368935"/>
                  </a:lnTo>
                  <a:lnTo>
                    <a:pt x="5461000" y="3117342"/>
                  </a:lnTo>
                  <a:lnTo>
                    <a:pt x="5435600" y="3117342"/>
                  </a:lnTo>
                  <a:lnTo>
                    <a:pt x="5461000" y="3117342"/>
                  </a:lnTo>
                  <a:cubicBezTo>
                    <a:pt x="5461000" y="3321177"/>
                    <a:pt x="5294884" y="3486277"/>
                    <a:pt x="5090160" y="3486277"/>
                  </a:cubicBezTo>
                  <a:lnTo>
                    <a:pt x="5090160" y="3460877"/>
                  </a:lnTo>
                  <a:lnTo>
                    <a:pt x="5090160" y="3486277"/>
                  </a:lnTo>
                  <a:lnTo>
                    <a:pt x="370840" y="3486277"/>
                  </a:lnTo>
                  <a:lnTo>
                    <a:pt x="370840" y="3460877"/>
                  </a:lnTo>
                  <a:lnTo>
                    <a:pt x="370840" y="3486277"/>
                  </a:lnTo>
                  <a:cubicBezTo>
                    <a:pt x="166243" y="3486277"/>
                    <a:pt x="0" y="3321177"/>
                    <a:pt x="0" y="3117342"/>
                  </a:cubicBezTo>
                  <a:lnTo>
                    <a:pt x="0" y="368935"/>
                  </a:lnTo>
                  <a:lnTo>
                    <a:pt x="25400" y="368935"/>
                  </a:lnTo>
                  <a:lnTo>
                    <a:pt x="0" y="368935"/>
                  </a:lnTo>
                  <a:moveTo>
                    <a:pt x="50800" y="368935"/>
                  </a:moveTo>
                  <a:lnTo>
                    <a:pt x="50800" y="3117342"/>
                  </a:lnTo>
                  <a:lnTo>
                    <a:pt x="25400" y="3117342"/>
                  </a:lnTo>
                  <a:lnTo>
                    <a:pt x="50800" y="3117342"/>
                  </a:lnTo>
                  <a:cubicBezTo>
                    <a:pt x="50800" y="3292983"/>
                    <a:pt x="193929" y="3435477"/>
                    <a:pt x="370840" y="3435477"/>
                  </a:cubicBezTo>
                  <a:lnTo>
                    <a:pt x="5090160" y="3435477"/>
                  </a:lnTo>
                  <a:cubicBezTo>
                    <a:pt x="5267071" y="3435477"/>
                    <a:pt x="5410200" y="3292856"/>
                    <a:pt x="5410200" y="3117342"/>
                  </a:cubicBezTo>
                  <a:lnTo>
                    <a:pt x="5410200" y="368935"/>
                  </a:lnTo>
                  <a:cubicBezTo>
                    <a:pt x="5410200" y="193421"/>
                    <a:pt x="5267071" y="50800"/>
                    <a:pt x="5090160" y="50800"/>
                  </a:cubicBezTo>
                  <a:lnTo>
                    <a:pt x="370840" y="50800"/>
                  </a:lnTo>
                  <a:lnTo>
                    <a:pt x="370840" y="25400"/>
                  </a:lnTo>
                  <a:lnTo>
                    <a:pt x="370840" y="50800"/>
                  </a:lnTo>
                  <a:cubicBezTo>
                    <a:pt x="193929" y="50800"/>
                    <a:pt x="50800" y="193421"/>
                    <a:pt x="50800" y="368935"/>
                  </a:cubicBezTo>
                  <a:close/>
                </a:path>
              </a:pathLst>
            </a:custGeom>
            <a:solidFill>
              <a:srgbClr val="FFFFFF"/>
            </a:solidFill>
          </p:spPr>
        </p:sp>
      </p:grpSp>
      <p:grpSp>
        <p:nvGrpSpPr>
          <p:cNvPr name="Group 28" id="28"/>
          <p:cNvGrpSpPr/>
          <p:nvPr/>
        </p:nvGrpSpPr>
        <p:grpSpPr>
          <a:xfrm rot="0">
            <a:off x="2362198" y="4899724"/>
            <a:ext cx="4095748" cy="2614706"/>
            <a:chOff x="0" y="0"/>
            <a:chExt cx="5460997" cy="3486275"/>
          </a:xfrm>
        </p:grpSpPr>
        <p:sp>
          <p:nvSpPr>
            <p:cNvPr name="Freeform 29" id="29"/>
            <p:cNvSpPr/>
            <p:nvPr/>
          </p:nvSpPr>
          <p:spPr>
            <a:xfrm flipH="false" flipV="false" rot="0">
              <a:off x="25400" y="25400"/>
              <a:ext cx="5410200" cy="3435477"/>
            </a:xfrm>
            <a:custGeom>
              <a:avLst/>
              <a:gdLst/>
              <a:ahLst/>
              <a:cxnLst/>
              <a:rect r="r" b="b" t="t" l="l"/>
              <a:pathLst>
                <a:path h="3435477" w="5410200">
                  <a:moveTo>
                    <a:pt x="0" y="343535"/>
                  </a:moveTo>
                  <a:cubicBezTo>
                    <a:pt x="0" y="153797"/>
                    <a:pt x="154686" y="0"/>
                    <a:pt x="345440" y="0"/>
                  </a:cubicBezTo>
                  <a:lnTo>
                    <a:pt x="5064760" y="0"/>
                  </a:lnTo>
                  <a:cubicBezTo>
                    <a:pt x="5255514" y="0"/>
                    <a:pt x="5410200" y="153797"/>
                    <a:pt x="5410200" y="343535"/>
                  </a:cubicBezTo>
                  <a:lnTo>
                    <a:pt x="5410200" y="3091942"/>
                  </a:lnTo>
                  <a:cubicBezTo>
                    <a:pt x="5410200" y="3281680"/>
                    <a:pt x="5255514" y="3435477"/>
                    <a:pt x="5064760" y="3435477"/>
                  </a:cubicBezTo>
                  <a:lnTo>
                    <a:pt x="345440" y="3435477"/>
                  </a:lnTo>
                  <a:cubicBezTo>
                    <a:pt x="154686" y="3435477"/>
                    <a:pt x="0" y="3281680"/>
                    <a:pt x="0" y="3091942"/>
                  </a:cubicBezTo>
                  <a:close/>
                </a:path>
              </a:pathLst>
            </a:custGeom>
            <a:solidFill>
              <a:srgbClr val="FFFFFF">
                <a:alpha val="89804"/>
              </a:srgbClr>
            </a:solidFill>
          </p:spPr>
        </p:sp>
        <p:sp>
          <p:nvSpPr>
            <p:cNvPr name="Freeform 30" id="30"/>
            <p:cNvSpPr/>
            <p:nvPr/>
          </p:nvSpPr>
          <p:spPr>
            <a:xfrm flipH="false" flipV="false" rot="0">
              <a:off x="0" y="0"/>
              <a:ext cx="5461000" cy="3486277"/>
            </a:xfrm>
            <a:custGeom>
              <a:avLst/>
              <a:gdLst/>
              <a:ahLst/>
              <a:cxnLst/>
              <a:rect r="r" b="b" t="t" l="l"/>
              <a:pathLst>
                <a:path h="3486277" w="5461000">
                  <a:moveTo>
                    <a:pt x="0" y="368935"/>
                  </a:moveTo>
                  <a:cubicBezTo>
                    <a:pt x="0" y="165100"/>
                    <a:pt x="166116" y="0"/>
                    <a:pt x="370840" y="0"/>
                  </a:cubicBezTo>
                  <a:lnTo>
                    <a:pt x="5090160" y="0"/>
                  </a:lnTo>
                  <a:lnTo>
                    <a:pt x="5090160" y="25400"/>
                  </a:lnTo>
                  <a:lnTo>
                    <a:pt x="5090160" y="0"/>
                  </a:lnTo>
                  <a:cubicBezTo>
                    <a:pt x="5294884" y="0"/>
                    <a:pt x="5461000" y="165100"/>
                    <a:pt x="5461000" y="368935"/>
                  </a:cubicBezTo>
                  <a:lnTo>
                    <a:pt x="5435600" y="368935"/>
                  </a:lnTo>
                  <a:lnTo>
                    <a:pt x="5461000" y="368935"/>
                  </a:lnTo>
                  <a:lnTo>
                    <a:pt x="5461000" y="3117342"/>
                  </a:lnTo>
                  <a:lnTo>
                    <a:pt x="5435600" y="3117342"/>
                  </a:lnTo>
                  <a:lnTo>
                    <a:pt x="5461000" y="3117342"/>
                  </a:lnTo>
                  <a:cubicBezTo>
                    <a:pt x="5461000" y="3321177"/>
                    <a:pt x="5294884" y="3486277"/>
                    <a:pt x="5090160" y="3486277"/>
                  </a:cubicBezTo>
                  <a:lnTo>
                    <a:pt x="5090160" y="3460877"/>
                  </a:lnTo>
                  <a:lnTo>
                    <a:pt x="5090160" y="3486277"/>
                  </a:lnTo>
                  <a:lnTo>
                    <a:pt x="370840" y="3486277"/>
                  </a:lnTo>
                  <a:lnTo>
                    <a:pt x="370840" y="3460877"/>
                  </a:lnTo>
                  <a:lnTo>
                    <a:pt x="370840" y="3486277"/>
                  </a:lnTo>
                  <a:cubicBezTo>
                    <a:pt x="166243" y="3486277"/>
                    <a:pt x="0" y="3321177"/>
                    <a:pt x="0" y="3117342"/>
                  </a:cubicBezTo>
                  <a:lnTo>
                    <a:pt x="0" y="368935"/>
                  </a:lnTo>
                  <a:lnTo>
                    <a:pt x="25400" y="368935"/>
                  </a:lnTo>
                  <a:lnTo>
                    <a:pt x="0" y="368935"/>
                  </a:lnTo>
                  <a:moveTo>
                    <a:pt x="50800" y="368935"/>
                  </a:moveTo>
                  <a:lnTo>
                    <a:pt x="50800" y="3117342"/>
                  </a:lnTo>
                  <a:lnTo>
                    <a:pt x="25400" y="3117342"/>
                  </a:lnTo>
                  <a:lnTo>
                    <a:pt x="50800" y="3117342"/>
                  </a:lnTo>
                  <a:cubicBezTo>
                    <a:pt x="50800" y="3292983"/>
                    <a:pt x="193929" y="3435477"/>
                    <a:pt x="370840" y="3435477"/>
                  </a:cubicBezTo>
                  <a:lnTo>
                    <a:pt x="5090160" y="3435477"/>
                  </a:lnTo>
                  <a:cubicBezTo>
                    <a:pt x="5267071" y="3435477"/>
                    <a:pt x="5410200" y="3292856"/>
                    <a:pt x="5410200" y="3117342"/>
                  </a:cubicBezTo>
                  <a:lnTo>
                    <a:pt x="5410200" y="368935"/>
                  </a:lnTo>
                  <a:cubicBezTo>
                    <a:pt x="5410200" y="193421"/>
                    <a:pt x="5267071" y="50800"/>
                    <a:pt x="5090160" y="50800"/>
                  </a:cubicBezTo>
                  <a:lnTo>
                    <a:pt x="370840" y="50800"/>
                  </a:lnTo>
                  <a:lnTo>
                    <a:pt x="370840" y="25400"/>
                  </a:lnTo>
                  <a:lnTo>
                    <a:pt x="370840" y="50800"/>
                  </a:lnTo>
                  <a:cubicBezTo>
                    <a:pt x="193929" y="50800"/>
                    <a:pt x="50800" y="193421"/>
                    <a:pt x="50800" y="368935"/>
                  </a:cubicBezTo>
                  <a:close/>
                </a:path>
              </a:pathLst>
            </a:custGeom>
            <a:solidFill>
              <a:srgbClr val="90C226"/>
            </a:solidFill>
          </p:spPr>
        </p:sp>
      </p:grpSp>
      <p:sp>
        <p:nvSpPr>
          <p:cNvPr name="TextBox 31" id="31"/>
          <p:cNvSpPr txBox="true"/>
          <p:nvPr/>
        </p:nvSpPr>
        <p:spPr>
          <a:xfrm rot="0">
            <a:off x="2471954" y="5009480"/>
            <a:ext cx="3876236" cy="2395194"/>
          </a:xfrm>
          <a:prstGeom prst="rect">
            <a:avLst/>
          </a:prstGeom>
        </p:spPr>
        <p:txBody>
          <a:bodyPr anchor="t" rtlCol="false" tIns="0" lIns="0" bIns="0" rIns="0">
            <a:spAutoFit/>
          </a:bodyPr>
          <a:lstStyle/>
          <a:p>
            <a:pPr algn="ctr">
              <a:lnSpc>
                <a:spcPts val="1944"/>
              </a:lnSpc>
            </a:pPr>
            <a:r>
              <a:rPr lang="en-US" sz="1800" b="true">
                <a:solidFill>
                  <a:srgbClr val="000000"/>
                </a:solidFill>
                <a:latin typeface="Trebuchet MS Bold"/>
                <a:ea typeface="Trebuchet MS Bold"/>
                <a:cs typeface="Trebuchet MS Bold"/>
                <a:sym typeface="Trebuchet MS Bold"/>
              </a:rPr>
              <a:t>Escalabilidad</a:t>
            </a:r>
            <a:r>
              <a:rPr lang="en-US" sz="1800">
                <a:solidFill>
                  <a:srgbClr val="000000"/>
                </a:solidFill>
                <a:latin typeface="Trebuchet MS"/>
                <a:ea typeface="Trebuchet MS"/>
                <a:cs typeface="Trebuchet MS"/>
                <a:sym typeface="Trebuchet MS"/>
              </a:rPr>
              <a:t>: El modelo jerárquico facilita el crecimiento de la red. A medida que la red se expande, simplemente se pueden agregar más dispositivos a cada nivel sin tener que reconfigurar toda la red.</a:t>
            </a:r>
          </a:p>
        </p:txBody>
      </p:sp>
      <p:grpSp>
        <p:nvGrpSpPr>
          <p:cNvPr name="Group 32" id="32"/>
          <p:cNvGrpSpPr/>
          <p:nvPr/>
        </p:nvGrpSpPr>
        <p:grpSpPr>
          <a:xfrm rot="0">
            <a:off x="6870698" y="4471416"/>
            <a:ext cx="4095748" cy="2614706"/>
            <a:chOff x="0" y="0"/>
            <a:chExt cx="5460997" cy="3486275"/>
          </a:xfrm>
        </p:grpSpPr>
        <p:sp>
          <p:nvSpPr>
            <p:cNvPr name="Freeform 33" id="33"/>
            <p:cNvSpPr/>
            <p:nvPr/>
          </p:nvSpPr>
          <p:spPr>
            <a:xfrm flipH="false" flipV="false" rot="0">
              <a:off x="25400" y="25400"/>
              <a:ext cx="5410200" cy="3435477"/>
            </a:xfrm>
            <a:custGeom>
              <a:avLst/>
              <a:gdLst/>
              <a:ahLst/>
              <a:cxnLst/>
              <a:rect r="r" b="b" t="t" l="l"/>
              <a:pathLst>
                <a:path h="3435477" w="5410200">
                  <a:moveTo>
                    <a:pt x="0" y="343535"/>
                  </a:moveTo>
                  <a:cubicBezTo>
                    <a:pt x="0" y="153797"/>
                    <a:pt x="154686" y="0"/>
                    <a:pt x="345440" y="0"/>
                  </a:cubicBezTo>
                  <a:lnTo>
                    <a:pt x="5064760" y="0"/>
                  </a:lnTo>
                  <a:cubicBezTo>
                    <a:pt x="5255514" y="0"/>
                    <a:pt x="5410200" y="153797"/>
                    <a:pt x="5410200" y="343535"/>
                  </a:cubicBezTo>
                  <a:lnTo>
                    <a:pt x="5410200" y="3091942"/>
                  </a:lnTo>
                  <a:cubicBezTo>
                    <a:pt x="5410200" y="3281680"/>
                    <a:pt x="5255514" y="3435477"/>
                    <a:pt x="5064760" y="3435477"/>
                  </a:cubicBezTo>
                  <a:lnTo>
                    <a:pt x="345440" y="3435477"/>
                  </a:lnTo>
                  <a:cubicBezTo>
                    <a:pt x="154686" y="3435477"/>
                    <a:pt x="0" y="3281680"/>
                    <a:pt x="0" y="3091942"/>
                  </a:cubicBezTo>
                  <a:close/>
                </a:path>
              </a:pathLst>
            </a:custGeom>
            <a:solidFill>
              <a:srgbClr val="90C226"/>
            </a:solidFill>
          </p:spPr>
        </p:sp>
        <p:sp>
          <p:nvSpPr>
            <p:cNvPr name="Freeform 34" id="34"/>
            <p:cNvSpPr/>
            <p:nvPr/>
          </p:nvSpPr>
          <p:spPr>
            <a:xfrm flipH="false" flipV="false" rot="0">
              <a:off x="0" y="0"/>
              <a:ext cx="5461000" cy="3486277"/>
            </a:xfrm>
            <a:custGeom>
              <a:avLst/>
              <a:gdLst/>
              <a:ahLst/>
              <a:cxnLst/>
              <a:rect r="r" b="b" t="t" l="l"/>
              <a:pathLst>
                <a:path h="3486277" w="5461000">
                  <a:moveTo>
                    <a:pt x="0" y="368935"/>
                  </a:moveTo>
                  <a:cubicBezTo>
                    <a:pt x="0" y="165100"/>
                    <a:pt x="166116" y="0"/>
                    <a:pt x="370840" y="0"/>
                  </a:cubicBezTo>
                  <a:lnTo>
                    <a:pt x="5090160" y="0"/>
                  </a:lnTo>
                  <a:lnTo>
                    <a:pt x="5090160" y="25400"/>
                  </a:lnTo>
                  <a:lnTo>
                    <a:pt x="5090160" y="0"/>
                  </a:lnTo>
                  <a:cubicBezTo>
                    <a:pt x="5294884" y="0"/>
                    <a:pt x="5461000" y="165100"/>
                    <a:pt x="5461000" y="368935"/>
                  </a:cubicBezTo>
                  <a:lnTo>
                    <a:pt x="5435600" y="368935"/>
                  </a:lnTo>
                  <a:lnTo>
                    <a:pt x="5461000" y="368935"/>
                  </a:lnTo>
                  <a:lnTo>
                    <a:pt x="5461000" y="3117342"/>
                  </a:lnTo>
                  <a:lnTo>
                    <a:pt x="5435600" y="3117342"/>
                  </a:lnTo>
                  <a:lnTo>
                    <a:pt x="5461000" y="3117342"/>
                  </a:lnTo>
                  <a:cubicBezTo>
                    <a:pt x="5461000" y="3321177"/>
                    <a:pt x="5294884" y="3486277"/>
                    <a:pt x="5090160" y="3486277"/>
                  </a:cubicBezTo>
                  <a:lnTo>
                    <a:pt x="5090160" y="3460877"/>
                  </a:lnTo>
                  <a:lnTo>
                    <a:pt x="5090160" y="3486277"/>
                  </a:lnTo>
                  <a:lnTo>
                    <a:pt x="370840" y="3486277"/>
                  </a:lnTo>
                  <a:lnTo>
                    <a:pt x="370840" y="3460877"/>
                  </a:lnTo>
                  <a:lnTo>
                    <a:pt x="370840" y="3486277"/>
                  </a:lnTo>
                  <a:cubicBezTo>
                    <a:pt x="166243" y="3486277"/>
                    <a:pt x="0" y="3321177"/>
                    <a:pt x="0" y="3117342"/>
                  </a:cubicBezTo>
                  <a:lnTo>
                    <a:pt x="0" y="368935"/>
                  </a:lnTo>
                  <a:lnTo>
                    <a:pt x="25400" y="368935"/>
                  </a:lnTo>
                  <a:lnTo>
                    <a:pt x="0" y="368935"/>
                  </a:lnTo>
                  <a:moveTo>
                    <a:pt x="50800" y="368935"/>
                  </a:moveTo>
                  <a:lnTo>
                    <a:pt x="50800" y="3117342"/>
                  </a:lnTo>
                  <a:lnTo>
                    <a:pt x="25400" y="3117342"/>
                  </a:lnTo>
                  <a:lnTo>
                    <a:pt x="50800" y="3117342"/>
                  </a:lnTo>
                  <a:cubicBezTo>
                    <a:pt x="50800" y="3292983"/>
                    <a:pt x="193929" y="3435477"/>
                    <a:pt x="370840" y="3435477"/>
                  </a:cubicBezTo>
                  <a:lnTo>
                    <a:pt x="5090160" y="3435477"/>
                  </a:lnTo>
                  <a:cubicBezTo>
                    <a:pt x="5267071" y="3435477"/>
                    <a:pt x="5410200" y="3292856"/>
                    <a:pt x="5410200" y="3117342"/>
                  </a:cubicBezTo>
                  <a:lnTo>
                    <a:pt x="5410200" y="368935"/>
                  </a:lnTo>
                  <a:cubicBezTo>
                    <a:pt x="5410200" y="193421"/>
                    <a:pt x="5267071" y="50800"/>
                    <a:pt x="5090160" y="50800"/>
                  </a:cubicBezTo>
                  <a:lnTo>
                    <a:pt x="370840" y="50800"/>
                  </a:lnTo>
                  <a:lnTo>
                    <a:pt x="370840" y="25400"/>
                  </a:lnTo>
                  <a:lnTo>
                    <a:pt x="370840" y="50800"/>
                  </a:lnTo>
                  <a:cubicBezTo>
                    <a:pt x="193929" y="50800"/>
                    <a:pt x="50800" y="193421"/>
                    <a:pt x="50800" y="368935"/>
                  </a:cubicBezTo>
                  <a:close/>
                </a:path>
              </a:pathLst>
            </a:custGeom>
            <a:solidFill>
              <a:srgbClr val="FFFFFF"/>
            </a:solidFill>
          </p:spPr>
        </p:sp>
      </p:grpSp>
      <p:grpSp>
        <p:nvGrpSpPr>
          <p:cNvPr name="Group 35" id="35"/>
          <p:cNvGrpSpPr/>
          <p:nvPr/>
        </p:nvGrpSpPr>
        <p:grpSpPr>
          <a:xfrm rot="0">
            <a:off x="7321548" y="4899724"/>
            <a:ext cx="4095748" cy="2614706"/>
            <a:chOff x="0" y="0"/>
            <a:chExt cx="5460997" cy="3486275"/>
          </a:xfrm>
        </p:grpSpPr>
        <p:sp>
          <p:nvSpPr>
            <p:cNvPr name="Freeform 36" id="36"/>
            <p:cNvSpPr/>
            <p:nvPr/>
          </p:nvSpPr>
          <p:spPr>
            <a:xfrm flipH="false" flipV="false" rot="0">
              <a:off x="25400" y="25400"/>
              <a:ext cx="5410200" cy="3435477"/>
            </a:xfrm>
            <a:custGeom>
              <a:avLst/>
              <a:gdLst/>
              <a:ahLst/>
              <a:cxnLst/>
              <a:rect r="r" b="b" t="t" l="l"/>
              <a:pathLst>
                <a:path h="3435477" w="5410200">
                  <a:moveTo>
                    <a:pt x="0" y="343535"/>
                  </a:moveTo>
                  <a:cubicBezTo>
                    <a:pt x="0" y="153797"/>
                    <a:pt x="154686" y="0"/>
                    <a:pt x="345440" y="0"/>
                  </a:cubicBezTo>
                  <a:lnTo>
                    <a:pt x="5064760" y="0"/>
                  </a:lnTo>
                  <a:cubicBezTo>
                    <a:pt x="5255514" y="0"/>
                    <a:pt x="5410200" y="153797"/>
                    <a:pt x="5410200" y="343535"/>
                  </a:cubicBezTo>
                  <a:lnTo>
                    <a:pt x="5410200" y="3091942"/>
                  </a:lnTo>
                  <a:cubicBezTo>
                    <a:pt x="5410200" y="3281680"/>
                    <a:pt x="5255514" y="3435477"/>
                    <a:pt x="5064760" y="3435477"/>
                  </a:cubicBezTo>
                  <a:lnTo>
                    <a:pt x="345440" y="3435477"/>
                  </a:lnTo>
                  <a:cubicBezTo>
                    <a:pt x="154686" y="3435477"/>
                    <a:pt x="0" y="3281680"/>
                    <a:pt x="0" y="3091942"/>
                  </a:cubicBezTo>
                  <a:close/>
                </a:path>
              </a:pathLst>
            </a:custGeom>
            <a:solidFill>
              <a:srgbClr val="FFFFFF">
                <a:alpha val="89804"/>
              </a:srgbClr>
            </a:solidFill>
          </p:spPr>
        </p:sp>
        <p:sp>
          <p:nvSpPr>
            <p:cNvPr name="Freeform 37" id="37"/>
            <p:cNvSpPr/>
            <p:nvPr/>
          </p:nvSpPr>
          <p:spPr>
            <a:xfrm flipH="false" flipV="false" rot="0">
              <a:off x="0" y="0"/>
              <a:ext cx="5461000" cy="3486277"/>
            </a:xfrm>
            <a:custGeom>
              <a:avLst/>
              <a:gdLst/>
              <a:ahLst/>
              <a:cxnLst/>
              <a:rect r="r" b="b" t="t" l="l"/>
              <a:pathLst>
                <a:path h="3486277" w="5461000">
                  <a:moveTo>
                    <a:pt x="0" y="368935"/>
                  </a:moveTo>
                  <a:cubicBezTo>
                    <a:pt x="0" y="165100"/>
                    <a:pt x="166116" y="0"/>
                    <a:pt x="370840" y="0"/>
                  </a:cubicBezTo>
                  <a:lnTo>
                    <a:pt x="5090160" y="0"/>
                  </a:lnTo>
                  <a:lnTo>
                    <a:pt x="5090160" y="25400"/>
                  </a:lnTo>
                  <a:lnTo>
                    <a:pt x="5090160" y="0"/>
                  </a:lnTo>
                  <a:cubicBezTo>
                    <a:pt x="5294884" y="0"/>
                    <a:pt x="5461000" y="165100"/>
                    <a:pt x="5461000" y="368935"/>
                  </a:cubicBezTo>
                  <a:lnTo>
                    <a:pt x="5435600" y="368935"/>
                  </a:lnTo>
                  <a:lnTo>
                    <a:pt x="5461000" y="368935"/>
                  </a:lnTo>
                  <a:lnTo>
                    <a:pt x="5461000" y="3117342"/>
                  </a:lnTo>
                  <a:lnTo>
                    <a:pt x="5435600" y="3117342"/>
                  </a:lnTo>
                  <a:lnTo>
                    <a:pt x="5461000" y="3117342"/>
                  </a:lnTo>
                  <a:cubicBezTo>
                    <a:pt x="5461000" y="3321177"/>
                    <a:pt x="5294884" y="3486277"/>
                    <a:pt x="5090160" y="3486277"/>
                  </a:cubicBezTo>
                  <a:lnTo>
                    <a:pt x="5090160" y="3460877"/>
                  </a:lnTo>
                  <a:lnTo>
                    <a:pt x="5090160" y="3486277"/>
                  </a:lnTo>
                  <a:lnTo>
                    <a:pt x="370840" y="3486277"/>
                  </a:lnTo>
                  <a:lnTo>
                    <a:pt x="370840" y="3460877"/>
                  </a:lnTo>
                  <a:lnTo>
                    <a:pt x="370840" y="3486277"/>
                  </a:lnTo>
                  <a:cubicBezTo>
                    <a:pt x="166243" y="3486277"/>
                    <a:pt x="0" y="3321177"/>
                    <a:pt x="0" y="3117342"/>
                  </a:cubicBezTo>
                  <a:lnTo>
                    <a:pt x="0" y="368935"/>
                  </a:lnTo>
                  <a:lnTo>
                    <a:pt x="25400" y="368935"/>
                  </a:lnTo>
                  <a:lnTo>
                    <a:pt x="0" y="368935"/>
                  </a:lnTo>
                  <a:moveTo>
                    <a:pt x="50800" y="368935"/>
                  </a:moveTo>
                  <a:lnTo>
                    <a:pt x="50800" y="3117342"/>
                  </a:lnTo>
                  <a:lnTo>
                    <a:pt x="25400" y="3117342"/>
                  </a:lnTo>
                  <a:lnTo>
                    <a:pt x="50800" y="3117342"/>
                  </a:lnTo>
                  <a:cubicBezTo>
                    <a:pt x="50800" y="3292983"/>
                    <a:pt x="193929" y="3435477"/>
                    <a:pt x="370840" y="3435477"/>
                  </a:cubicBezTo>
                  <a:lnTo>
                    <a:pt x="5090160" y="3435477"/>
                  </a:lnTo>
                  <a:cubicBezTo>
                    <a:pt x="5267071" y="3435477"/>
                    <a:pt x="5410200" y="3292856"/>
                    <a:pt x="5410200" y="3117342"/>
                  </a:cubicBezTo>
                  <a:lnTo>
                    <a:pt x="5410200" y="368935"/>
                  </a:lnTo>
                  <a:cubicBezTo>
                    <a:pt x="5410200" y="193421"/>
                    <a:pt x="5267071" y="50800"/>
                    <a:pt x="5090160" y="50800"/>
                  </a:cubicBezTo>
                  <a:lnTo>
                    <a:pt x="370840" y="50800"/>
                  </a:lnTo>
                  <a:lnTo>
                    <a:pt x="370840" y="25400"/>
                  </a:lnTo>
                  <a:lnTo>
                    <a:pt x="370840" y="50800"/>
                  </a:lnTo>
                  <a:cubicBezTo>
                    <a:pt x="193929" y="50800"/>
                    <a:pt x="50800" y="193421"/>
                    <a:pt x="50800" y="368935"/>
                  </a:cubicBezTo>
                  <a:close/>
                </a:path>
              </a:pathLst>
            </a:custGeom>
            <a:solidFill>
              <a:srgbClr val="90C226"/>
            </a:solidFill>
          </p:spPr>
        </p:sp>
      </p:grpSp>
      <p:sp>
        <p:nvSpPr>
          <p:cNvPr name="TextBox 38" id="38"/>
          <p:cNvSpPr txBox="true"/>
          <p:nvPr/>
        </p:nvSpPr>
        <p:spPr>
          <a:xfrm rot="0">
            <a:off x="7431304" y="5009480"/>
            <a:ext cx="3876236" cy="2395194"/>
          </a:xfrm>
          <a:prstGeom prst="rect">
            <a:avLst/>
          </a:prstGeom>
        </p:spPr>
        <p:txBody>
          <a:bodyPr anchor="t" rtlCol="false" tIns="0" lIns="0" bIns="0" rIns="0">
            <a:spAutoFit/>
          </a:bodyPr>
          <a:lstStyle/>
          <a:p>
            <a:pPr algn="ctr">
              <a:lnSpc>
                <a:spcPts val="1944"/>
              </a:lnSpc>
            </a:pPr>
            <a:r>
              <a:rPr lang="en-US" sz="1800" b="true">
                <a:solidFill>
                  <a:srgbClr val="000000"/>
                </a:solidFill>
                <a:latin typeface="Trebuchet MS Bold"/>
                <a:ea typeface="Trebuchet MS Bold"/>
                <a:cs typeface="Trebuchet MS Bold"/>
                <a:sym typeface="Trebuchet MS Bold"/>
              </a:rPr>
              <a:t>Administración</a:t>
            </a:r>
            <a:r>
              <a:rPr lang="en-US" sz="1800">
                <a:solidFill>
                  <a:srgbClr val="000000"/>
                </a:solidFill>
                <a:latin typeface="Trebuchet MS"/>
                <a:ea typeface="Trebuchet MS"/>
                <a:cs typeface="Trebuchet MS"/>
                <a:sym typeface="Trebuchet MS"/>
              </a:rPr>
              <a:t> </a:t>
            </a:r>
            <a:r>
              <a:rPr lang="en-US" sz="1800" b="true">
                <a:solidFill>
                  <a:srgbClr val="000000"/>
                </a:solidFill>
                <a:latin typeface="Trebuchet MS Bold"/>
                <a:ea typeface="Trebuchet MS Bold"/>
                <a:cs typeface="Trebuchet MS Bold"/>
                <a:sym typeface="Trebuchet MS Bold"/>
              </a:rPr>
              <a:t>simplificada</a:t>
            </a:r>
            <a:r>
              <a:rPr lang="en-US" sz="1800">
                <a:solidFill>
                  <a:srgbClr val="000000"/>
                </a:solidFill>
                <a:latin typeface="Trebuchet MS"/>
                <a:ea typeface="Trebuchet MS"/>
                <a:cs typeface="Trebuchet MS"/>
                <a:sym typeface="Trebuchet MS"/>
              </a:rPr>
              <a:t>: Cada nivel del modelo tiene un propósito específico y claro, lo que hace que sea más fácil administrar y solucionar problemas en la red. Además, la separación de funciones en diferentes niveles permite una mayor modularidad y flexibilidad en el diseño de la red.</a:t>
            </a:r>
          </a:p>
        </p:txBody>
      </p:sp>
      <p:grpSp>
        <p:nvGrpSpPr>
          <p:cNvPr name="Group 39" id="39"/>
          <p:cNvGrpSpPr/>
          <p:nvPr/>
        </p:nvGrpSpPr>
        <p:grpSpPr>
          <a:xfrm rot="0">
            <a:off x="11830046" y="4471416"/>
            <a:ext cx="4095748" cy="2614706"/>
            <a:chOff x="0" y="0"/>
            <a:chExt cx="5460997" cy="3486275"/>
          </a:xfrm>
        </p:grpSpPr>
        <p:sp>
          <p:nvSpPr>
            <p:cNvPr name="Freeform 40" id="40"/>
            <p:cNvSpPr/>
            <p:nvPr/>
          </p:nvSpPr>
          <p:spPr>
            <a:xfrm flipH="false" flipV="false" rot="0">
              <a:off x="25400" y="25400"/>
              <a:ext cx="5410200" cy="3435477"/>
            </a:xfrm>
            <a:custGeom>
              <a:avLst/>
              <a:gdLst/>
              <a:ahLst/>
              <a:cxnLst/>
              <a:rect r="r" b="b" t="t" l="l"/>
              <a:pathLst>
                <a:path h="3435477" w="5410200">
                  <a:moveTo>
                    <a:pt x="0" y="343535"/>
                  </a:moveTo>
                  <a:cubicBezTo>
                    <a:pt x="0" y="153797"/>
                    <a:pt x="154686" y="0"/>
                    <a:pt x="345440" y="0"/>
                  </a:cubicBezTo>
                  <a:lnTo>
                    <a:pt x="5064760" y="0"/>
                  </a:lnTo>
                  <a:cubicBezTo>
                    <a:pt x="5255514" y="0"/>
                    <a:pt x="5410200" y="153797"/>
                    <a:pt x="5410200" y="343535"/>
                  </a:cubicBezTo>
                  <a:lnTo>
                    <a:pt x="5410200" y="3091942"/>
                  </a:lnTo>
                  <a:cubicBezTo>
                    <a:pt x="5410200" y="3281680"/>
                    <a:pt x="5255514" y="3435477"/>
                    <a:pt x="5064760" y="3435477"/>
                  </a:cubicBezTo>
                  <a:lnTo>
                    <a:pt x="345440" y="3435477"/>
                  </a:lnTo>
                  <a:cubicBezTo>
                    <a:pt x="154686" y="3435477"/>
                    <a:pt x="0" y="3281680"/>
                    <a:pt x="0" y="3091942"/>
                  </a:cubicBezTo>
                  <a:close/>
                </a:path>
              </a:pathLst>
            </a:custGeom>
            <a:solidFill>
              <a:srgbClr val="90C226"/>
            </a:solidFill>
          </p:spPr>
        </p:sp>
        <p:sp>
          <p:nvSpPr>
            <p:cNvPr name="Freeform 41" id="41"/>
            <p:cNvSpPr/>
            <p:nvPr/>
          </p:nvSpPr>
          <p:spPr>
            <a:xfrm flipH="false" flipV="false" rot="0">
              <a:off x="0" y="0"/>
              <a:ext cx="5461000" cy="3486277"/>
            </a:xfrm>
            <a:custGeom>
              <a:avLst/>
              <a:gdLst/>
              <a:ahLst/>
              <a:cxnLst/>
              <a:rect r="r" b="b" t="t" l="l"/>
              <a:pathLst>
                <a:path h="3486277" w="5461000">
                  <a:moveTo>
                    <a:pt x="0" y="368935"/>
                  </a:moveTo>
                  <a:cubicBezTo>
                    <a:pt x="0" y="165100"/>
                    <a:pt x="166116" y="0"/>
                    <a:pt x="370840" y="0"/>
                  </a:cubicBezTo>
                  <a:lnTo>
                    <a:pt x="5090160" y="0"/>
                  </a:lnTo>
                  <a:lnTo>
                    <a:pt x="5090160" y="25400"/>
                  </a:lnTo>
                  <a:lnTo>
                    <a:pt x="5090160" y="0"/>
                  </a:lnTo>
                  <a:cubicBezTo>
                    <a:pt x="5294884" y="0"/>
                    <a:pt x="5461000" y="165100"/>
                    <a:pt x="5461000" y="368935"/>
                  </a:cubicBezTo>
                  <a:lnTo>
                    <a:pt x="5435600" y="368935"/>
                  </a:lnTo>
                  <a:lnTo>
                    <a:pt x="5461000" y="368935"/>
                  </a:lnTo>
                  <a:lnTo>
                    <a:pt x="5461000" y="3117342"/>
                  </a:lnTo>
                  <a:lnTo>
                    <a:pt x="5435600" y="3117342"/>
                  </a:lnTo>
                  <a:lnTo>
                    <a:pt x="5461000" y="3117342"/>
                  </a:lnTo>
                  <a:cubicBezTo>
                    <a:pt x="5461000" y="3321177"/>
                    <a:pt x="5294884" y="3486277"/>
                    <a:pt x="5090160" y="3486277"/>
                  </a:cubicBezTo>
                  <a:lnTo>
                    <a:pt x="5090160" y="3460877"/>
                  </a:lnTo>
                  <a:lnTo>
                    <a:pt x="5090160" y="3486277"/>
                  </a:lnTo>
                  <a:lnTo>
                    <a:pt x="370840" y="3486277"/>
                  </a:lnTo>
                  <a:lnTo>
                    <a:pt x="370840" y="3460877"/>
                  </a:lnTo>
                  <a:lnTo>
                    <a:pt x="370840" y="3486277"/>
                  </a:lnTo>
                  <a:cubicBezTo>
                    <a:pt x="166243" y="3486277"/>
                    <a:pt x="0" y="3321177"/>
                    <a:pt x="0" y="3117342"/>
                  </a:cubicBezTo>
                  <a:lnTo>
                    <a:pt x="0" y="368935"/>
                  </a:lnTo>
                  <a:lnTo>
                    <a:pt x="25400" y="368935"/>
                  </a:lnTo>
                  <a:lnTo>
                    <a:pt x="0" y="368935"/>
                  </a:lnTo>
                  <a:moveTo>
                    <a:pt x="50800" y="368935"/>
                  </a:moveTo>
                  <a:lnTo>
                    <a:pt x="50800" y="3117342"/>
                  </a:lnTo>
                  <a:lnTo>
                    <a:pt x="25400" y="3117342"/>
                  </a:lnTo>
                  <a:lnTo>
                    <a:pt x="50800" y="3117342"/>
                  </a:lnTo>
                  <a:cubicBezTo>
                    <a:pt x="50800" y="3292983"/>
                    <a:pt x="193929" y="3435477"/>
                    <a:pt x="370840" y="3435477"/>
                  </a:cubicBezTo>
                  <a:lnTo>
                    <a:pt x="5090160" y="3435477"/>
                  </a:lnTo>
                  <a:cubicBezTo>
                    <a:pt x="5267071" y="3435477"/>
                    <a:pt x="5410200" y="3292856"/>
                    <a:pt x="5410200" y="3117342"/>
                  </a:cubicBezTo>
                  <a:lnTo>
                    <a:pt x="5410200" y="368935"/>
                  </a:lnTo>
                  <a:cubicBezTo>
                    <a:pt x="5410200" y="193421"/>
                    <a:pt x="5267071" y="50800"/>
                    <a:pt x="5090160" y="50800"/>
                  </a:cubicBezTo>
                  <a:lnTo>
                    <a:pt x="370840" y="50800"/>
                  </a:lnTo>
                  <a:lnTo>
                    <a:pt x="370840" y="25400"/>
                  </a:lnTo>
                  <a:lnTo>
                    <a:pt x="370840" y="50800"/>
                  </a:lnTo>
                  <a:cubicBezTo>
                    <a:pt x="193929" y="50800"/>
                    <a:pt x="50800" y="193421"/>
                    <a:pt x="50800" y="368935"/>
                  </a:cubicBezTo>
                  <a:close/>
                </a:path>
              </a:pathLst>
            </a:custGeom>
            <a:solidFill>
              <a:srgbClr val="FFFFFF"/>
            </a:solidFill>
          </p:spPr>
        </p:sp>
      </p:grpSp>
      <p:grpSp>
        <p:nvGrpSpPr>
          <p:cNvPr name="Group 42" id="42"/>
          <p:cNvGrpSpPr/>
          <p:nvPr/>
        </p:nvGrpSpPr>
        <p:grpSpPr>
          <a:xfrm rot="0">
            <a:off x="12280896" y="4899724"/>
            <a:ext cx="4095748" cy="2614706"/>
            <a:chOff x="0" y="0"/>
            <a:chExt cx="5460997" cy="3486275"/>
          </a:xfrm>
        </p:grpSpPr>
        <p:sp>
          <p:nvSpPr>
            <p:cNvPr name="Freeform 43" id="43"/>
            <p:cNvSpPr/>
            <p:nvPr/>
          </p:nvSpPr>
          <p:spPr>
            <a:xfrm flipH="false" flipV="false" rot="0">
              <a:off x="25400" y="25400"/>
              <a:ext cx="5410200" cy="3435477"/>
            </a:xfrm>
            <a:custGeom>
              <a:avLst/>
              <a:gdLst/>
              <a:ahLst/>
              <a:cxnLst/>
              <a:rect r="r" b="b" t="t" l="l"/>
              <a:pathLst>
                <a:path h="3435477" w="5410200">
                  <a:moveTo>
                    <a:pt x="0" y="343535"/>
                  </a:moveTo>
                  <a:cubicBezTo>
                    <a:pt x="0" y="153797"/>
                    <a:pt x="154686" y="0"/>
                    <a:pt x="345440" y="0"/>
                  </a:cubicBezTo>
                  <a:lnTo>
                    <a:pt x="5064760" y="0"/>
                  </a:lnTo>
                  <a:cubicBezTo>
                    <a:pt x="5255514" y="0"/>
                    <a:pt x="5410200" y="153797"/>
                    <a:pt x="5410200" y="343535"/>
                  </a:cubicBezTo>
                  <a:lnTo>
                    <a:pt x="5410200" y="3091942"/>
                  </a:lnTo>
                  <a:cubicBezTo>
                    <a:pt x="5410200" y="3281680"/>
                    <a:pt x="5255514" y="3435477"/>
                    <a:pt x="5064760" y="3435477"/>
                  </a:cubicBezTo>
                  <a:lnTo>
                    <a:pt x="345440" y="3435477"/>
                  </a:lnTo>
                  <a:cubicBezTo>
                    <a:pt x="154686" y="3435477"/>
                    <a:pt x="0" y="3281680"/>
                    <a:pt x="0" y="3091942"/>
                  </a:cubicBezTo>
                  <a:close/>
                </a:path>
              </a:pathLst>
            </a:custGeom>
            <a:solidFill>
              <a:srgbClr val="FFFFFF">
                <a:alpha val="89804"/>
              </a:srgbClr>
            </a:solidFill>
          </p:spPr>
        </p:sp>
        <p:sp>
          <p:nvSpPr>
            <p:cNvPr name="Freeform 44" id="44"/>
            <p:cNvSpPr/>
            <p:nvPr/>
          </p:nvSpPr>
          <p:spPr>
            <a:xfrm flipH="false" flipV="false" rot="0">
              <a:off x="0" y="0"/>
              <a:ext cx="5461000" cy="3486277"/>
            </a:xfrm>
            <a:custGeom>
              <a:avLst/>
              <a:gdLst/>
              <a:ahLst/>
              <a:cxnLst/>
              <a:rect r="r" b="b" t="t" l="l"/>
              <a:pathLst>
                <a:path h="3486277" w="5461000">
                  <a:moveTo>
                    <a:pt x="0" y="368935"/>
                  </a:moveTo>
                  <a:cubicBezTo>
                    <a:pt x="0" y="165100"/>
                    <a:pt x="166116" y="0"/>
                    <a:pt x="370840" y="0"/>
                  </a:cubicBezTo>
                  <a:lnTo>
                    <a:pt x="5090160" y="0"/>
                  </a:lnTo>
                  <a:lnTo>
                    <a:pt x="5090160" y="25400"/>
                  </a:lnTo>
                  <a:lnTo>
                    <a:pt x="5090160" y="0"/>
                  </a:lnTo>
                  <a:cubicBezTo>
                    <a:pt x="5294884" y="0"/>
                    <a:pt x="5461000" y="165100"/>
                    <a:pt x="5461000" y="368935"/>
                  </a:cubicBezTo>
                  <a:lnTo>
                    <a:pt x="5435600" y="368935"/>
                  </a:lnTo>
                  <a:lnTo>
                    <a:pt x="5461000" y="368935"/>
                  </a:lnTo>
                  <a:lnTo>
                    <a:pt x="5461000" y="3117342"/>
                  </a:lnTo>
                  <a:lnTo>
                    <a:pt x="5435600" y="3117342"/>
                  </a:lnTo>
                  <a:lnTo>
                    <a:pt x="5461000" y="3117342"/>
                  </a:lnTo>
                  <a:cubicBezTo>
                    <a:pt x="5461000" y="3321177"/>
                    <a:pt x="5294884" y="3486277"/>
                    <a:pt x="5090160" y="3486277"/>
                  </a:cubicBezTo>
                  <a:lnTo>
                    <a:pt x="5090160" y="3460877"/>
                  </a:lnTo>
                  <a:lnTo>
                    <a:pt x="5090160" y="3486277"/>
                  </a:lnTo>
                  <a:lnTo>
                    <a:pt x="370840" y="3486277"/>
                  </a:lnTo>
                  <a:lnTo>
                    <a:pt x="370840" y="3460877"/>
                  </a:lnTo>
                  <a:lnTo>
                    <a:pt x="370840" y="3486277"/>
                  </a:lnTo>
                  <a:cubicBezTo>
                    <a:pt x="166243" y="3486277"/>
                    <a:pt x="0" y="3321177"/>
                    <a:pt x="0" y="3117342"/>
                  </a:cubicBezTo>
                  <a:lnTo>
                    <a:pt x="0" y="368935"/>
                  </a:lnTo>
                  <a:lnTo>
                    <a:pt x="25400" y="368935"/>
                  </a:lnTo>
                  <a:lnTo>
                    <a:pt x="0" y="368935"/>
                  </a:lnTo>
                  <a:moveTo>
                    <a:pt x="50800" y="368935"/>
                  </a:moveTo>
                  <a:lnTo>
                    <a:pt x="50800" y="3117342"/>
                  </a:lnTo>
                  <a:lnTo>
                    <a:pt x="25400" y="3117342"/>
                  </a:lnTo>
                  <a:lnTo>
                    <a:pt x="50800" y="3117342"/>
                  </a:lnTo>
                  <a:cubicBezTo>
                    <a:pt x="50800" y="3292983"/>
                    <a:pt x="193929" y="3435477"/>
                    <a:pt x="370840" y="3435477"/>
                  </a:cubicBezTo>
                  <a:lnTo>
                    <a:pt x="5090160" y="3435477"/>
                  </a:lnTo>
                  <a:cubicBezTo>
                    <a:pt x="5267071" y="3435477"/>
                    <a:pt x="5410200" y="3292856"/>
                    <a:pt x="5410200" y="3117342"/>
                  </a:cubicBezTo>
                  <a:lnTo>
                    <a:pt x="5410200" y="368935"/>
                  </a:lnTo>
                  <a:cubicBezTo>
                    <a:pt x="5410200" y="193421"/>
                    <a:pt x="5267071" y="50800"/>
                    <a:pt x="5090160" y="50800"/>
                  </a:cubicBezTo>
                  <a:lnTo>
                    <a:pt x="370840" y="50800"/>
                  </a:lnTo>
                  <a:lnTo>
                    <a:pt x="370840" y="25400"/>
                  </a:lnTo>
                  <a:lnTo>
                    <a:pt x="370840" y="50800"/>
                  </a:lnTo>
                  <a:cubicBezTo>
                    <a:pt x="193929" y="50800"/>
                    <a:pt x="50800" y="193421"/>
                    <a:pt x="50800" y="368935"/>
                  </a:cubicBezTo>
                  <a:close/>
                </a:path>
              </a:pathLst>
            </a:custGeom>
            <a:solidFill>
              <a:srgbClr val="90C226"/>
            </a:solidFill>
          </p:spPr>
        </p:sp>
      </p:grpSp>
      <p:sp>
        <p:nvSpPr>
          <p:cNvPr name="TextBox 45" id="45"/>
          <p:cNvSpPr txBox="true"/>
          <p:nvPr/>
        </p:nvSpPr>
        <p:spPr>
          <a:xfrm rot="0">
            <a:off x="12390652" y="5009480"/>
            <a:ext cx="3876236" cy="2395194"/>
          </a:xfrm>
          <a:prstGeom prst="rect">
            <a:avLst/>
          </a:prstGeom>
        </p:spPr>
        <p:txBody>
          <a:bodyPr anchor="t" rtlCol="false" tIns="0" lIns="0" bIns="0" rIns="0">
            <a:spAutoFit/>
          </a:bodyPr>
          <a:lstStyle/>
          <a:p>
            <a:pPr algn="ctr">
              <a:lnSpc>
                <a:spcPts val="1944"/>
              </a:lnSpc>
            </a:pPr>
            <a:r>
              <a:rPr lang="en-US" sz="1800" b="true">
                <a:solidFill>
                  <a:srgbClr val="000000"/>
                </a:solidFill>
                <a:latin typeface="Trebuchet MS Bold"/>
                <a:ea typeface="Trebuchet MS Bold"/>
                <a:cs typeface="Trebuchet MS Bold"/>
                <a:sym typeface="Trebuchet MS Bold"/>
              </a:rPr>
              <a:t>Eficiencia en el tráfico</a:t>
            </a:r>
            <a:r>
              <a:rPr lang="en-US" sz="1800">
                <a:solidFill>
                  <a:srgbClr val="000000"/>
                </a:solidFill>
                <a:latin typeface="Trebuchet MS"/>
                <a:ea typeface="Trebuchet MS"/>
                <a:cs typeface="Trebuchet MS"/>
                <a:sym typeface="Trebuchet MS"/>
              </a:rPr>
              <a:t>: Al tener un núcleo central que maneja todo el tráfico entre diferentes partes de la red, se pueden optimizar las rutas y evitar congestiones, lo que garantiza un flujo eficiente de datos.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sp>
        <p:nvSpPr>
          <p:cNvPr name="TextBox 20" id="20"/>
          <p:cNvSpPr txBox="true"/>
          <p:nvPr/>
        </p:nvSpPr>
        <p:spPr>
          <a:xfrm rot="0">
            <a:off x="1016002" y="1279375"/>
            <a:ext cx="12895002" cy="828675"/>
          </a:xfrm>
          <a:prstGeom prst="rect">
            <a:avLst/>
          </a:prstGeom>
        </p:spPr>
        <p:txBody>
          <a:bodyPr anchor="t" rtlCol="false" tIns="0" lIns="0" bIns="0" rIns="0">
            <a:spAutoFit/>
          </a:bodyPr>
          <a:lstStyle/>
          <a:p>
            <a:pPr algn="l">
              <a:lnSpc>
                <a:spcPts val="6480"/>
              </a:lnSpc>
            </a:pPr>
            <a:r>
              <a:rPr lang="en-US" sz="5400" spc="-160">
                <a:solidFill>
                  <a:srgbClr val="90C226"/>
                </a:solidFill>
                <a:latin typeface="Trebuchet MS"/>
                <a:ea typeface="Trebuchet MS"/>
                <a:cs typeface="Trebuchet MS"/>
                <a:sym typeface="Trebuchet MS"/>
              </a:rPr>
              <a:t>Intervlan</a:t>
            </a:r>
          </a:p>
        </p:txBody>
      </p:sp>
      <p:sp>
        <p:nvSpPr>
          <p:cNvPr name="TextBox 21" id="21"/>
          <p:cNvSpPr txBox="true"/>
          <p:nvPr/>
        </p:nvSpPr>
        <p:spPr>
          <a:xfrm rot="0">
            <a:off x="1144550" y="4015994"/>
            <a:ext cx="7368540" cy="2516890"/>
          </a:xfrm>
          <a:prstGeom prst="rect">
            <a:avLst/>
          </a:prstGeom>
        </p:spPr>
        <p:txBody>
          <a:bodyPr anchor="t" rtlCol="false" tIns="0" lIns="0" bIns="0" rIns="0">
            <a:spAutoFit/>
          </a:bodyPr>
          <a:lstStyle/>
          <a:p>
            <a:pPr algn="just">
              <a:lnSpc>
                <a:spcPts val="3311"/>
              </a:lnSpc>
            </a:pPr>
            <a:r>
              <a:rPr lang="en-US" sz="2400">
                <a:solidFill>
                  <a:srgbClr val="233944"/>
                </a:solidFill>
                <a:latin typeface="Arimo"/>
                <a:ea typeface="Arimo"/>
                <a:cs typeface="Arimo"/>
                <a:sym typeface="Arimo"/>
              </a:rPr>
              <a:t>El  enrutamiento  entre  VLAN  es  un  proceso  que permite reenviar el tráfico de la red desde una VLAN a otra mediante un enrutador. Las asociadas a subredes IP únicas en configuración de subred facilita el VLAN están la red. Esta proceso de enrutamiento en un entorno de múltiples VLAN.</a:t>
            </a:r>
          </a:p>
        </p:txBody>
      </p:sp>
      <p:sp>
        <p:nvSpPr>
          <p:cNvPr name="Freeform 22" id="22"/>
          <p:cNvSpPr/>
          <p:nvPr/>
        </p:nvSpPr>
        <p:spPr>
          <a:xfrm flipH="false" flipV="false" rot="0">
            <a:off x="8767650" y="2834800"/>
            <a:ext cx="8563548" cy="4617422"/>
          </a:xfrm>
          <a:custGeom>
            <a:avLst/>
            <a:gdLst/>
            <a:ahLst/>
            <a:cxnLst/>
            <a:rect r="r" b="b" t="t" l="l"/>
            <a:pathLst>
              <a:path h="4617422" w="8563548">
                <a:moveTo>
                  <a:pt x="0" y="0"/>
                </a:moveTo>
                <a:lnTo>
                  <a:pt x="8563548" y="0"/>
                </a:lnTo>
                <a:lnTo>
                  <a:pt x="8563548" y="4617422"/>
                </a:lnTo>
                <a:lnTo>
                  <a:pt x="0" y="4617422"/>
                </a:lnTo>
                <a:lnTo>
                  <a:pt x="0" y="0"/>
                </a:lnTo>
                <a:close/>
              </a:path>
            </a:pathLst>
          </a:custGeom>
          <a:blipFill>
            <a:blip r:embed="rId2"/>
            <a:stretch>
              <a:fillRect l="0" t="0" r="0" b="0"/>
            </a:stretch>
          </a:blipFill>
        </p:spPr>
      </p:sp>
      <p:sp>
        <p:nvSpPr>
          <p:cNvPr name="TextBox 23" id="23"/>
          <p:cNvSpPr txBox="true"/>
          <p:nvPr/>
        </p:nvSpPr>
        <p:spPr>
          <a:xfrm rot="0">
            <a:off x="1144550" y="7486777"/>
            <a:ext cx="6469380" cy="1095375"/>
          </a:xfrm>
          <a:prstGeom prst="rect">
            <a:avLst/>
          </a:prstGeom>
        </p:spPr>
        <p:txBody>
          <a:bodyPr anchor="t" rtlCol="false" tIns="0" lIns="0" bIns="0" rIns="0">
            <a:spAutoFit/>
          </a:bodyPr>
          <a:lstStyle/>
          <a:p>
            <a:pPr algn="l">
              <a:lnSpc>
                <a:spcPts val="2879"/>
              </a:lnSpc>
            </a:pPr>
            <a:r>
              <a:rPr lang="en-US" sz="2400">
                <a:solidFill>
                  <a:srgbClr val="233944"/>
                </a:solidFill>
                <a:latin typeface="Arimo"/>
                <a:ea typeface="Arimo"/>
                <a:cs typeface="Arimo"/>
                <a:sym typeface="Arimo"/>
              </a:rPr>
              <a:t>Comando para activar intervlan:</a:t>
            </a:r>
          </a:p>
          <a:p>
            <a:pPr algn="l" marL="518160" indent="-259080" lvl="1">
              <a:lnSpc>
                <a:spcPts val="2879"/>
              </a:lnSpc>
              <a:buFont typeface="Arial"/>
              <a:buChar char="•"/>
            </a:pPr>
            <a:r>
              <a:rPr lang="en-US" sz="2400">
                <a:solidFill>
                  <a:srgbClr val="233944"/>
                </a:solidFill>
                <a:latin typeface="Arimo"/>
                <a:ea typeface="Arimo"/>
                <a:cs typeface="Arimo"/>
                <a:sym typeface="Arimo"/>
              </a:rPr>
              <a:t>C</a:t>
            </a:r>
            <a:r>
              <a:rPr lang="en-US" b="true" sz="2400">
                <a:solidFill>
                  <a:srgbClr val="233944"/>
                </a:solidFill>
                <a:latin typeface="Arimo Bold"/>
                <a:ea typeface="Arimo Bold"/>
                <a:cs typeface="Arimo Bold"/>
                <a:sym typeface="Arimo Bold"/>
              </a:rPr>
              <a:t>onfigure terminal</a:t>
            </a:r>
          </a:p>
          <a:p>
            <a:pPr algn="l" marL="518160" indent="-259080" lvl="1">
              <a:lnSpc>
                <a:spcPts val="2879"/>
              </a:lnSpc>
              <a:buFont typeface="Arial"/>
              <a:buChar char="•"/>
            </a:pPr>
            <a:r>
              <a:rPr lang="en-US" b="true" sz="2400">
                <a:solidFill>
                  <a:srgbClr val="233944"/>
                </a:solidFill>
                <a:latin typeface="Arimo Bold"/>
                <a:ea typeface="Arimo Bold"/>
                <a:cs typeface="Arimo Bold"/>
                <a:sym typeface="Arimo Bold"/>
              </a:rPr>
              <a:t>Ip routing</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sp>
        <p:nvSpPr>
          <p:cNvPr name="Freeform 20" id="20"/>
          <p:cNvSpPr/>
          <p:nvPr/>
        </p:nvSpPr>
        <p:spPr>
          <a:xfrm flipH="false" flipV="false" rot="0">
            <a:off x="3581524" y="755624"/>
            <a:ext cx="11124950" cy="8775750"/>
          </a:xfrm>
          <a:custGeom>
            <a:avLst/>
            <a:gdLst/>
            <a:ahLst/>
            <a:cxnLst/>
            <a:rect r="r" b="b" t="t" l="l"/>
            <a:pathLst>
              <a:path h="8775750" w="11124950">
                <a:moveTo>
                  <a:pt x="0" y="0"/>
                </a:moveTo>
                <a:lnTo>
                  <a:pt x="11124950" y="0"/>
                </a:lnTo>
                <a:lnTo>
                  <a:pt x="11124950" y="8775750"/>
                </a:lnTo>
                <a:lnTo>
                  <a:pt x="0" y="8775750"/>
                </a:lnTo>
                <a:lnTo>
                  <a:pt x="0" y="0"/>
                </a:lnTo>
                <a:close/>
              </a:path>
            </a:pathLst>
          </a:custGeom>
          <a:blipFill>
            <a:blip r:embed="rId2"/>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sp>
        <p:nvSpPr>
          <p:cNvPr name="AutoShape 20" id="20"/>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21" id="21"/>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22" id="22"/>
          <p:cNvGrpSpPr/>
          <p:nvPr/>
        </p:nvGrpSpPr>
        <p:grpSpPr>
          <a:xfrm rot="0">
            <a:off x="13772214" y="-12700"/>
            <a:ext cx="4511024" cy="10299700"/>
            <a:chOff x="0" y="0"/>
            <a:chExt cx="6014698" cy="13732933"/>
          </a:xfrm>
        </p:grpSpPr>
        <p:sp>
          <p:nvSpPr>
            <p:cNvPr name="Freeform 23" id="23"/>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24" id="24"/>
          <p:cNvGrpSpPr/>
          <p:nvPr/>
        </p:nvGrpSpPr>
        <p:grpSpPr>
          <a:xfrm rot="0">
            <a:off x="14405163" y="-12700"/>
            <a:ext cx="3882837" cy="10299700"/>
            <a:chOff x="0" y="0"/>
            <a:chExt cx="5177116" cy="13732933"/>
          </a:xfrm>
        </p:grpSpPr>
        <p:sp>
          <p:nvSpPr>
            <p:cNvPr name="Freeform 25" id="25"/>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26" id="26"/>
          <p:cNvGrpSpPr/>
          <p:nvPr/>
        </p:nvGrpSpPr>
        <p:grpSpPr>
          <a:xfrm rot="0">
            <a:off x="13398499" y="4572000"/>
            <a:ext cx="4889501" cy="5715000"/>
            <a:chOff x="0" y="0"/>
            <a:chExt cx="6519334" cy="7620000"/>
          </a:xfrm>
        </p:grpSpPr>
        <p:sp>
          <p:nvSpPr>
            <p:cNvPr name="Freeform 27" id="27"/>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28" id="28"/>
          <p:cNvGrpSpPr/>
          <p:nvPr/>
        </p:nvGrpSpPr>
        <p:grpSpPr>
          <a:xfrm rot="0">
            <a:off x="14001750" y="-12700"/>
            <a:ext cx="4281489" cy="10299700"/>
            <a:chOff x="0" y="0"/>
            <a:chExt cx="5708652" cy="13732933"/>
          </a:xfrm>
        </p:grpSpPr>
        <p:sp>
          <p:nvSpPr>
            <p:cNvPr name="Freeform 29" id="29"/>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30" id="30"/>
          <p:cNvGrpSpPr/>
          <p:nvPr/>
        </p:nvGrpSpPr>
        <p:grpSpPr>
          <a:xfrm rot="0">
            <a:off x="16348095" y="-12700"/>
            <a:ext cx="1935141" cy="10299700"/>
            <a:chOff x="0" y="0"/>
            <a:chExt cx="2580188" cy="13732933"/>
          </a:xfrm>
        </p:grpSpPr>
        <p:sp>
          <p:nvSpPr>
            <p:cNvPr name="Freeform 31" id="31"/>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32" id="32"/>
          <p:cNvGrpSpPr/>
          <p:nvPr/>
        </p:nvGrpSpPr>
        <p:grpSpPr>
          <a:xfrm rot="0">
            <a:off x="16408499" y="-12700"/>
            <a:ext cx="1874737" cy="10299700"/>
            <a:chOff x="0" y="0"/>
            <a:chExt cx="2499650" cy="13732933"/>
          </a:xfrm>
        </p:grpSpPr>
        <p:sp>
          <p:nvSpPr>
            <p:cNvPr name="Freeform 33" id="33"/>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34" id="34"/>
          <p:cNvGrpSpPr/>
          <p:nvPr/>
        </p:nvGrpSpPr>
        <p:grpSpPr>
          <a:xfrm rot="0">
            <a:off x="15557499" y="5384801"/>
            <a:ext cx="2725738" cy="4902199"/>
            <a:chOff x="0" y="0"/>
            <a:chExt cx="3634318" cy="6536266"/>
          </a:xfrm>
        </p:grpSpPr>
        <p:sp>
          <p:nvSpPr>
            <p:cNvPr name="Freeform 35" id="35"/>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36" id="36"/>
          <p:cNvGrpSpPr/>
          <p:nvPr/>
        </p:nvGrpSpPr>
        <p:grpSpPr>
          <a:xfrm rot="-10800000">
            <a:off x="0" y="0"/>
            <a:ext cx="1263894" cy="8499231"/>
            <a:chOff x="0" y="0"/>
            <a:chExt cx="1685192" cy="11332307"/>
          </a:xfrm>
        </p:grpSpPr>
        <p:sp>
          <p:nvSpPr>
            <p:cNvPr name="Freeform 37" id="37"/>
            <p:cNvSpPr/>
            <p:nvPr/>
          </p:nvSpPr>
          <p:spPr>
            <a:xfrm flipH="false" flipV="false" rot="0">
              <a:off x="0" y="0"/>
              <a:ext cx="1685163" cy="11332337"/>
            </a:xfrm>
            <a:custGeom>
              <a:avLst/>
              <a:gdLst/>
              <a:ahLst/>
              <a:cxnLst/>
              <a:rect r="r" b="b" t="t" l="l"/>
              <a:pathLst>
                <a:path h="11332337" w="1685163">
                  <a:moveTo>
                    <a:pt x="0" y="11332337"/>
                  </a:moveTo>
                  <a:lnTo>
                    <a:pt x="1685163" y="0"/>
                  </a:lnTo>
                  <a:lnTo>
                    <a:pt x="1685163" y="11332337"/>
                  </a:lnTo>
                  <a:close/>
                </a:path>
              </a:pathLst>
            </a:custGeom>
            <a:solidFill>
              <a:srgbClr val="90C226">
                <a:alpha val="84706"/>
              </a:srgbClr>
            </a:solidFill>
          </p:spPr>
        </p:sp>
      </p:grpSp>
      <p:sp>
        <p:nvSpPr>
          <p:cNvPr name="AutoShape 38" id="38"/>
          <p:cNvSpPr/>
          <p:nvPr/>
        </p:nvSpPr>
        <p:spPr>
          <a:xfrm rot="4791364">
            <a:off x="9738485" y="5143500"/>
            <a:ext cx="10464869" cy="0"/>
          </a:xfrm>
          <a:prstGeom prst="line">
            <a:avLst/>
          </a:prstGeom>
          <a:ln cap="rnd" w="9525">
            <a:solidFill>
              <a:srgbClr val="FFFFFF"/>
            </a:solidFill>
            <a:prstDash val="solid"/>
            <a:headEnd type="none" len="sm" w="sm"/>
            <a:tailEnd type="none" len="sm" w="sm"/>
          </a:ln>
        </p:spPr>
      </p:sp>
      <p:sp>
        <p:nvSpPr>
          <p:cNvPr name="AutoShape 39" id="39"/>
          <p:cNvSpPr/>
          <p:nvPr/>
        </p:nvSpPr>
        <p:spPr>
          <a:xfrm rot="8776574">
            <a:off x="10406483" y="7904560"/>
            <a:ext cx="8608175" cy="0"/>
          </a:xfrm>
          <a:prstGeom prst="line">
            <a:avLst/>
          </a:prstGeom>
          <a:ln cap="rnd" w="9525">
            <a:solidFill>
              <a:srgbClr val="FFFFFF"/>
            </a:solidFill>
            <a:prstDash val="solid"/>
            <a:headEnd type="none" len="sm" w="sm"/>
            <a:tailEnd type="none" len="sm" w="sm"/>
          </a:ln>
        </p:spPr>
      </p:sp>
      <p:grpSp>
        <p:nvGrpSpPr>
          <p:cNvPr name="Group 40" id="40"/>
          <p:cNvGrpSpPr/>
          <p:nvPr/>
        </p:nvGrpSpPr>
        <p:grpSpPr>
          <a:xfrm rot="0">
            <a:off x="13772216" y="-12700"/>
            <a:ext cx="4511024" cy="10299700"/>
            <a:chOff x="0" y="0"/>
            <a:chExt cx="6014699" cy="13732933"/>
          </a:xfrm>
        </p:grpSpPr>
        <p:sp>
          <p:nvSpPr>
            <p:cNvPr name="Freeform 41" id="41"/>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42" id="42"/>
          <p:cNvGrpSpPr/>
          <p:nvPr/>
        </p:nvGrpSpPr>
        <p:grpSpPr>
          <a:xfrm rot="0">
            <a:off x="14405165" y="-12700"/>
            <a:ext cx="3882837" cy="10299700"/>
            <a:chOff x="0" y="0"/>
            <a:chExt cx="5177117" cy="13732933"/>
          </a:xfrm>
        </p:grpSpPr>
        <p:sp>
          <p:nvSpPr>
            <p:cNvPr name="Freeform 43" id="43"/>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44" id="44"/>
          <p:cNvGrpSpPr/>
          <p:nvPr/>
        </p:nvGrpSpPr>
        <p:grpSpPr>
          <a:xfrm rot="0">
            <a:off x="13398501" y="4572000"/>
            <a:ext cx="4889501" cy="5715000"/>
            <a:chOff x="0" y="0"/>
            <a:chExt cx="6519335" cy="7620000"/>
          </a:xfrm>
        </p:grpSpPr>
        <p:sp>
          <p:nvSpPr>
            <p:cNvPr name="Freeform 45" id="45"/>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46" id="46"/>
          <p:cNvGrpSpPr/>
          <p:nvPr/>
        </p:nvGrpSpPr>
        <p:grpSpPr>
          <a:xfrm rot="0">
            <a:off x="14001752" y="-12700"/>
            <a:ext cx="4281489" cy="10299700"/>
            <a:chOff x="0" y="0"/>
            <a:chExt cx="5708653" cy="13732933"/>
          </a:xfrm>
        </p:grpSpPr>
        <p:sp>
          <p:nvSpPr>
            <p:cNvPr name="Freeform 47" id="47"/>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48" id="48"/>
          <p:cNvGrpSpPr/>
          <p:nvPr/>
        </p:nvGrpSpPr>
        <p:grpSpPr>
          <a:xfrm rot="0">
            <a:off x="16348097" y="-12700"/>
            <a:ext cx="1935141" cy="10299700"/>
            <a:chOff x="0" y="0"/>
            <a:chExt cx="2580188" cy="13732933"/>
          </a:xfrm>
        </p:grpSpPr>
        <p:sp>
          <p:nvSpPr>
            <p:cNvPr name="Freeform 49" id="49"/>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50" id="50"/>
          <p:cNvGrpSpPr/>
          <p:nvPr/>
        </p:nvGrpSpPr>
        <p:grpSpPr>
          <a:xfrm rot="0">
            <a:off x="16408500" y="-12700"/>
            <a:ext cx="1874738" cy="10299700"/>
            <a:chOff x="0" y="0"/>
            <a:chExt cx="2499650" cy="13732933"/>
          </a:xfrm>
        </p:grpSpPr>
        <p:sp>
          <p:nvSpPr>
            <p:cNvPr name="Freeform 51" id="51"/>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52" id="52"/>
          <p:cNvGrpSpPr/>
          <p:nvPr/>
        </p:nvGrpSpPr>
        <p:grpSpPr>
          <a:xfrm rot="0">
            <a:off x="15557501" y="5384801"/>
            <a:ext cx="2725739" cy="4902199"/>
            <a:chOff x="0" y="0"/>
            <a:chExt cx="3634318" cy="6536266"/>
          </a:xfrm>
        </p:grpSpPr>
        <p:sp>
          <p:nvSpPr>
            <p:cNvPr name="Freeform 53" id="53"/>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54" id="54"/>
          <p:cNvGrpSpPr/>
          <p:nvPr/>
        </p:nvGrpSpPr>
        <p:grpSpPr>
          <a:xfrm rot="0">
            <a:off x="0" y="6019800"/>
            <a:ext cx="673100" cy="4267200"/>
            <a:chOff x="0" y="0"/>
            <a:chExt cx="897466" cy="5689600"/>
          </a:xfrm>
        </p:grpSpPr>
        <p:sp>
          <p:nvSpPr>
            <p:cNvPr name="Freeform 55" id="55"/>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sp>
        <p:nvSpPr>
          <p:cNvPr name="TextBox 56" id="56"/>
          <p:cNvSpPr txBox="true"/>
          <p:nvPr/>
        </p:nvSpPr>
        <p:spPr>
          <a:xfrm rot="0">
            <a:off x="1657364" y="4549906"/>
            <a:ext cx="4768090" cy="1114425"/>
          </a:xfrm>
          <a:prstGeom prst="rect">
            <a:avLst/>
          </a:prstGeom>
        </p:spPr>
        <p:txBody>
          <a:bodyPr anchor="t" rtlCol="false" tIns="0" lIns="0" bIns="0" rIns="0">
            <a:spAutoFit/>
          </a:bodyPr>
          <a:lstStyle/>
          <a:p>
            <a:pPr algn="l">
              <a:lnSpc>
                <a:spcPts val="8640"/>
              </a:lnSpc>
            </a:pPr>
            <a:r>
              <a:rPr lang="en-US" sz="7200">
                <a:solidFill>
                  <a:srgbClr val="90C226"/>
                </a:solidFill>
                <a:latin typeface="Trebuchet MS"/>
                <a:ea typeface="Trebuchet MS"/>
                <a:cs typeface="Trebuchet MS"/>
                <a:sym typeface="Trebuchet MS"/>
              </a:rPr>
              <a:t>OSPF</a:t>
            </a:r>
          </a:p>
        </p:txBody>
      </p:sp>
      <p:grpSp>
        <p:nvGrpSpPr>
          <p:cNvPr name="Group 57" id="57"/>
          <p:cNvGrpSpPr/>
          <p:nvPr/>
        </p:nvGrpSpPr>
        <p:grpSpPr>
          <a:xfrm rot="0">
            <a:off x="0" y="6019800"/>
            <a:ext cx="673098" cy="4267200"/>
            <a:chOff x="0" y="0"/>
            <a:chExt cx="897464" cy="5689600"/>
          </a:xfrm>
        </p:grpSpPr>
        <p:sp>
          <p:nvSpPr>
            <p:cNvPr name="Freeform 58" id="58"/>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solidFill>
          </p:spPr>
        </p:sp>
      </p:grpSp>
      <p:sp>
        <p:nvSpPr>
          <p:cNvPr name="AutoShape 59" id="59"/>
          <p:cNvSpPr/>
          <p:nvPr/>
        </p:nvSpPr>
        <p:spPr>
          <a:xfrm>
            <a:off x="4813304" y="2151193"/>
            <a:ext cx="25400" cy="5930900"/>
          </a:xfrm>
          <a:prstGeom prst="line">
            <a:avLst/>
          </a:prstGeom>
          <a:ln cap="rnd" w="9525">
            <a:solidFill>
              <a:srgbClr val="90C226"/>
            </a:solidFill>
            <a:prstDash val="solid"/>
            <a:headEnd type="none" len="sm" w="sm"/>
            <a:tailEnd type="none" len="sm" w="sm"/>
          </a:ln>
        </p:spPr>
      </p:sp>
      <p:sp>
        <p:nvSpPr>
          <p:cNvPr name="TextBox 60" id="60"/>
          <p:cNvSpPr txBox="true"/>
          <p:nvPr/>
        </p:nvSpPr>
        <p:spPr>
          <a:xfrm rot="0">
            <a:off x="5076521" y="2409825"/>
            <a:ext cx="9328644" cy="5448300"/>
          </a:xfrm>
          <a:prstGeom prst="rect">
            <a:avLst/>
          </a:prstGeom>
        </p:spPr>
        <p:txBody>
          <a:bodyPr anchor="t" rtlCol="false" tIns="0" lIns="0" bIns="0" rIns="0">
            <a:spAutoFit/>
          </a:bodyPr>
          <a:lstStyle/>
          <a:p>
            <a:pPr algn="just" marL="868680" indent="-434340" lvl="1">
              <a:lnSpc>
                <a:spcPts val="4320"/>
              </a:lnSpc>
              <a:buFont typeface="Arial"/>
              <a:buChar char="•"/>
            </a:pPr>
            <a:r>
              <a:rPr lang="en-US" sz="3600">
                <a:solidFill>
                  <a:srgbClr val="404040"/>
                </a:solidFill>
                <a:latin typeface="Trebuchet MS"/>
                <a:ea typeface="Trebuchet MS"/>
                <a:cs typeface="Trebuchet MS"/>
                <a:sym typeface="Trebuchet MS"/>
              </a:rPr>
              <a:t>Es un protocolo de enrutamiento de estado de enlace ampliamente utilizado en redes IP. OSPF es un protocolo de enrutamiento interno, lo que significa que se utiliza dentro de un solo sistema autónomo (AS) para determinar las mejores rutas entre los routers. Fue diseñado para ser un protocolo de enrutamiento eficiente y escalable para redes grandes y complejas.</a:t>
            </a:r>
          </a:p>
        </p:txBody>
      </p:sp>
      <p:grpSp>
        <p:nvGrpSpPr>
          <p:cNvPr name="Group 61" id="61"/>
          <p:cNvGrpSpPr/>
          <p:nvPr/>
        </p:nvGrpSpPr>
        <p:grpSpPr>
          <a:xfrm rot="-10800000">
            <a:off x="17046208" y="0"/>
            <a:ext cx="1263894" cy="6924432"/>
            <a:chOff x="0" y="0"/>
            <a:chExt cx="1685192" cy="9232576"/>
          </a:xfrm>
        </p:grpSpPr>
        <p:sp>
          <p:nvSpPr>
            <p:cNvPr name="Freeform 62" id="62"/>
            <p:cNvSpPr/>
            <p:nvPr/>
          </p:nvSpPr>
          <p:spPr>
            <a:xfrm flipH="false" flipV="false" rot="0">
              <a:off x="0" y="0"/>
              <a:ext cx="1685163" cy="9232519"/>
            </a:xfrm>
            <a:custGeom>
              <a:avLst/>
              <a:gdLst/>
              <a:ahLst/>
              <a:cxnLst/>
              <a:rect r="r" b="b" t="t" l="l"/>
              <a:pathLst>
                <a:path h="9232519" w="1685163">
                  <a:moveTo>
                    <a:pt x="1685163" y="9232519"/>
                  </a:moveTo>
                  <a:lnTo>
                    <a:pt x="0" y="0"/>
                  </a:lnTo>
                  <a:lnTo>
                    <a:pt x="0" y="9232519"/>
                  </a:lnTo>
                  <a:close/>
                </a:path>
              </a:pathLst>
            </a:custGeom>
            <a:solidFill>
              <a:srgbClr val="54A021"/>
            </a:solidFill>
          </p:spPr>
        </p:sp>
      </p:gr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sp>
        <p:nvSpPr>
          <p:cNvPr name="TextBox 20" id="20"/>
          <p:cNvSpPr txBox="true"/>
          <p:nvPr/>
        </p:nvSpPr>
        <p:spPr>
          <a:xfrm rot="0">
            <a:off x="1107442" y="950595"/>
            <a:ext cx="12712122" cy="828675"/>
          </a:xfrm>
          <a:prstGeom prst="rect">
            <a:avLst/>
          </a:prstGeom>
        </p:spPr>
        <p:txBody>
          <a:bodyPr anchor="t" rtlCol="false" tIns="0" lIns="0" bIns="0" rIns="0">
            <a:spAutoFit/>
          </a:bodyPr>
          <a:lstStyle/>
          <a:p>
            <a:pPr algn="l">
              <a:lnSpc>
                <a:spcPts val="6480"/>
              </a:lnSpc>
            </a:pPr>
            <a:r>
              <a:rPr lang="en-US" sz="5400">
                <a:solidFill>
                  <a:srgbClr val="90C226"/>
                </a:solidFill>
                <a:latin typeface="Trebuchet MS"/>
                <a:ea typeface="Trebuchet MS"/>
                <a:cs typeface="Trebuchet MS"/>
                <a:sym typeface="Trebuchet MS"/>
              </a:rPr>
              <a:t>Comandos para nfigurar OSPF</a:t>
            </a:r>
          </a:p>
        </p:txBody>
      </p:sp>
      <p:sp>
        <p:nvSpPr>
          <p:cNvPr name="TextBox 21" id="21"/>
          <p:cNvSpPr txBox="true"/>
          <p:nvPr/>
        </p:nvSpPr>
        <p:spPr>
          <a:xfrm rot="0">
            <a:off x="1107442" y="3277079"/>
            <a:ext cx="12712122" cy="1238250"/>
          </a:xfrm>
          <a:prstGeom prst="rect">
            <a:avLst/>
          </a:prstGeom>
        </p:spPr>
        <p:txBody>
          <a:bodyPr anchor="t" rtlCol="false" tIns="0" lIns="0" bIns="0" rIns="0">
            <a:spAutoFit/>
          </a:bodyPr>
          <a:lstStyle/>
          <a:p>
            <a:pPr algn="l" marL="651510" indent="-325755" lvl="1">
              <a:lnSpc>
                <a:spcPts val="3240"/>
              </a:lnSpc>
              <a:buFont typeface="Arial"/>
              <a:buChar char="•"/>
            </a:pPr>
            <a:r>
              <a:rPr lang="en-US" sz="2700">
                <a:solidFill>
                  <a:srgbClr val="404040"/>
                </a:solidFill>
                <a:latin typeface="Trebuchet MS"/>
                <a:ea typeface="Trebuchet MS"/>
                <a:cs typeface="Trebuchet MS"/>
                <a:sym typeface="Trebuchet MS"/>
              </a:rPr>
              <a:t>Configure terminal</a:t>
            </a:r>
          </a:p>
          <a:p>
            <a:pPr algn="l" marL="651510" indent="-325755" lvl="1">
              <a:lnSpc>
                <a:spcPts val="3240"/>
              </a:lnSpc>
              <a:buFont typeface="Arial"/>
              <a:buChar char="•"/>
            </a:pPr>
            <a:r>
              <a:rPr lang="en-US" sz="2700">
                <a:solidFill>
                  <a:srgbClr val="404040"/>
                </a:solidFill>
                <a:latin typeface="Trebuchet MS"/>
                <a:ea typeface="Trebuchet MS"/>
                <a:cs typeface="Trebuchet MS"/>
                <a:sym typeface="Trebuchet MS"/>
              </a:rPr>
              <a:t>Router ospf &lt;process-id&gt;</a:t>
            </a:r>
          </a:p>
          <a:p>
            <a:pPr algn="l" marL="651510" indent="-325755" lvl="1">
              <a:lnSpc>
                <a:spcPts val="3240"/>
              </a:lnSpc>
              <a:buFont typeface="Arial"/>
              <a:buChar char="•"/>
            </a:pPr>
            <a:r>
              <a:rPr lang="en-US" sz="2700">
                <a:solidFill>
                  <a:srgbClr val="404040"/>
                </a:solidFill>
                <a:latin typeface="Trebuchet MS"/>
                <a:ea typeface="Trebuchet MS"/>
                <a:cs typeface="Trebuchet MS"/>
                <a:sym typeface="Trebuchet MS"/>
              </a:rPr>
              <a:t>Network &lt;dirección-de-red&gt; &lt;wildcard&gt; area &lt;num-área-ospf&gt;</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sp>
        <p:nvSpPr>
          <p:cNvPr name="TextBox 20" id="20"/>
          <p:cNvSpPr txBox="true"/>
          <p:nvPr/>
        </p:nvSpPr>
        <p:spPr>
          <a:xfrm rot="0">
            <a:off x="1657364" y="4697543"/>
            <a:ext cx="4768090" cy="828675"/>
          </a:xfrm>
          <a:prstGeom prst="rect">
            <a:avLst/>
          </a:prstGeom>
        </p:spPr>
        <p:txBody>
          <a:bodyPr anchor="t" rtlCol="false" tIns="0" lIns="0" bIns="0" rIns="0">
            <a:spAutoFit/>
          </a:bodyPr>
          <a:lstStyle/>
          <a:p>
            <a:pPr algn="l">
              <a:lnSpc>
                <a:spcPts val="6480"/>
              </a:lnSpc>
            </a:pPr>
            <a:r>
              <a:rPr lang="en-US" sz="5400">
                <a:solidFill>
                  <a:srgbClr val="90C226"/>
                </a:solidFill>
                <a:latin typeface="Trebuchet MS"/>
                <a:ea typeface="Trebuchet MS"/>
                <a:cs typeface="Trebuchet MS"/>
                <a:sym typeface="Trebuchet MS"/>
              </a:rPr>
              <a:t>EIGRP</a:t>
            </a:r>
          </a:p>
        </p:txBody>
      </p:sp>
      <p:grpSp>
        <p:nvGrpSpPr>
          <p:cNvPr name="Group 21" id="21"/>
          <p:cNvGrpSpPr/>
          <p:nvPr/>
        </p:nvGrpSpPr>
        <p:grpSpPr>
          <a:xfrm rot="0">
            <a:off x="0" y="6019800"/>
            <a:ext cx="673098" cy="4267200"/>
            <a:chOff x="0" y="0"/>
            <a:chExt cx="897464" cy="5689600"/>
          </a:xfrm>
        </p:grpSpPr>
        <p:sp>
          <p:nvSpPr>
            <p:cNvPr name="Freeform 22" id="22"/>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solidFill>
          </p:spPr>
        </p:sp>
      </p:grpSp>
      <p:sp>
        <p:nvSpPr>
          <p:cNvPr name="AutoShape 23" id="23"/>
          <p:cNvSpPr/>
          <p:nvPr/>
        </p:nvSpPr>
        <p:spPr>
          <a:xfrm>
            <a:off x="4511679" y="2222480"/>
            <a:ext cx="25400" cy="5930900"/>
          </a:xfrm>
          <a:prstGeom prst="line">
            <a:avLst/>
          </a:prstGeom>
          <a:ln cap="rnd" w="9525">
            <a:solidFill>
              <a:srgbClr val="90C226"/>
            </a:solidFill>
            <a:prstDash val="solid"/>
            <a:headEnd type="none" len="sm" w="sm"/>
            <a:tailEnd type="none" len="sm" w="sm"/>
          </a:ln>
        </p:spPr>
      </p:sp>
      <p:sp>
        <p:nvSpPr>
          <p:cNvPr name="TextBox 24" id="24"/>
          <p:cNvSpPr txBox="true"/>
          <p:nvPr/>
        </p:nvSpPr>
        <p:spPr>
          <a:xfrm rot="0">
            <a:off x="4809180" y="3905250"/>
            <a:ext cx="9328644" cy="2466975"/>
          </a:xfrm>
          <a:prstGeom prst="rect">
            <a:avLst/>
          </a:prstGeom>
        </p:spPr>
        <p:txBody>
          <a:bodyPr anchor="t" rtlCol="false" tIns="0" lIns="0" bIns="0" rIns="0">
            <a:spAutoFit/>
          </a:bodyPr>
          <a:lstStyle/>
          <a:p>
            <a:pPr algn="just" marL="651510" indent="-325755" lvl="1">
              <a:lnSpc>
                <a:spcPts val="3240"/>
              </a:lnSpc>
              <a:buFont typeface="Arial"/>
              <a:buChar char="•"/>
            </a:pPr>
            <a:r>
              <a:rPr lang="en-US" sz="2700">
                <a:solidFill>
                  <a:srgbClr val="404040"/>
                </a:solidFill>
                <a:latin typeface="Trebuchet MS"/>
                <a:ea typeface="Trebuchet MS"/>
                <a:cs typeface="Trebuchet MS"/>
                <a:sym typeface="Trebuchet MS"/>
              </a:rPr>
              <a:t>EIGRP es un protocolo de enrutamiento avanzado desarrollado por Cisco, combina las características de los protocolos de enrutamiento de vector de distancia y de estado de enlace, lo que lo hace más eficiente y escalable en comparación con otros protocolos de enrutamiento.</a:t>
            </a:r>
          </a:p>
        </p:txBody>
      </p:sp>
      <p:grpSp>
        <p:nvGrpSpPr>
          <p:cNvPr name="Group 25" id="25"/>
          <p:cNvGrpSpPr/>
          <p:nvPr/>
        </p:nvGrpSpPr>
        <p:grpSpPr>
          <a:xfrm rot="-10800000">
            <a:off x="17046208" y="0"/>
            <a:ext cx="1263894" cy="6924432"/>
            <a:chOff x="0" y="0"/>
            <a:chExt cx="1685192" cy="9232576"/>
          </a:xfrm>
        </p:grpSpPr>
        <p:sp>
          <p:nvSpPr>
            <p:cNvPr name="Freeform 26" id="26"/>
            <p:cNvSpPr/>
            <p:nvPr/>
          </p:nvSpPr>
          <p:spPr>
            <a:xfrm flipH="false" flipV="false" rot="0">
              <a:off x="0" y="0"/>
              <a:ext cx="1685163" cy="9232519"/>
            </a:xfrm>
            <a:custGeom>
              <a:avLst/>
              <a:gdLst/>
              <a:ahLst/>
              <a:cxnLst/>
              <a:rect r="r" b="b" t="t" l="l"/>
              <a:pathLst>
                <a:path h="9232519" w="1685163">
                  <a:moveTo>
                    <a:pt x="1685163" y="9232519"/>
                  </a:moveTo>
                  <a:lnTo>
                    <a:pt x="0" y="0"/>
                  </a:lnTo>
                  <a:lnTo>
                    <a:pt x="0" y="9232519"/>
                  </a:lnTo>
                  <a:close/>
                </a:path>
              </a:pathLst>
            </a:custGeom>
            <a:solidFill>
              <a:srgbClr val="54A021"/>
            </a:solidFill>
          </p:spPr>
        </p:sp>
      </p:gr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sp>
        <p:nvSpPr>
          <p:cNvPr name="TextBox 20" id="20"/>
          <p:cNvSpPr txBox="true"/>
          <p:nvPr/>
        </p:nvSpPr>
        <p:spPr>
          <a:xfrm rot="0">
            <a:off x="1107442" y="950595"/>
            <a:ext cx="12712122" cy="828675"/>
          </a:xfrm>
          <a:prstGeom prst="rect">
            <a:avLst/>
          </a:prstGeom>
        </p:spPr>
        <p:txBody>
          <a:bodyPr anchor="t" rtlCol="false" tIns="0" lIns="0" bIns="0" rIns="0">
            <a:spAutoFit/>
          </a:bodyPr>
          <a:lstStyle/>
          <a:p>
            <a:pPr algn="l">
              <a:lnSpc>
                <a:spcPts val="6480"/>
              </a:lnSpc>
            </a:pPr>
            <a:r>
              <a:rPr lang="en-US" sz="5400">
                <a:solidFill>
                  <a:srgbClr val="90C226"/>
                </a:solidFill>
                <a:latin typeface="Trebuchet MS"/>
                <a:ea typeface="Trebuchet MS"/>
                <a:cs typeface="Trebuchet MS"/>
                <a:sym typeface="Trebuchet MS"/>
              </a:rPr>
              <a:t>Comandos para configurar EIGRP</a:t>
            </a:r>
          </a:p>
        </p:txBody>
      </p:sp>
      <p:sp>
        <p:nvSpPr>
          <p:cNvPr name="TextBox 21" id="21"/>
          <p:cNvSpPr txBox="true"/>
          <p:nvPr/>
        </p:nvSpPr>
        <p:spPr>
          <a:xfrm rot="0">
            <a:off x="1107442" y="3277079"/>
            <a:ext cx="12712122" cy="1647825"/>
          </a:xfrm>
          <a:prstGeom prst="rect">
            <a:avLst/>
          </a:prstGeom>
        </p:spPr>
        <p:txBody>
          <a:bodyPr anchor="t" rtlCol="false" tIns="0" lIns="0" bIns="0" rIns="0">
            <a:spAutoFit/>
          </a:bodyPr>
          <a:lstStyle/>
          <a:p>
            <a:pPr algn="l" marL="651510" indent="-325755" lvl="1">
              <a:lnSpc>
                <a:spcPts val="3240"/>
              </a:lnSpc>
              <a:buFont typeface="Arial"/>
              <a:buChar char="•"/>
            </a:pPr>
            <a:r>
              <a:rPr lang="en-US" sz="2700">
                <a:solidFill>
                  <a:srgbClr val="404040"/>
                </a:solidFill>
                <a:latin typeface="Trebuchet MS"/>
                <a:ea typeface="Trebuchet MS"/>
                <a:cs typeface="Trebuchet MS"/>
                <a:sym typeface="Trebuchet MS"/>
              </a:rPr>
              <a:t>Configure terminal</a:t>
            </a:r>
          </a:p>
          <a:p>
            <a:pPr algn="l" marL="651510" indent="-325755" lvl="1">
              <a:lnSpc>
                <a:spcPts val="3240"/>
              </a:lnSpc>
              <a:buFont typeface="Arial"/>
              <a:buChar char="•"/>
            </a:pPr>
            <a:r>
              <a:rPr lang="en-US" sz="2700">
                <a:solidFill>
                  <a:srgbClr val="404040"/>
                </a:solidFill>
                <a:latin typeface="Trebuchet MS"/>
                <a:ea typeface="Trebuchet MS"/>
                <a:cs typeface="Trebuchet MS"/>
                <a:sym typeface="Trebuchet MS"/>
              </a:rPr>
              <a:t>router eigrp &lt;AS-number&gt;</a:t>
            </a:r>
          </a:p>
          <a:p>
            <a:pPr algn="l" marL="651510" indent="-325755" lvl="1">
              <a:lnSpc>
                <a:spcPts val="3240"/>
              </a:lnSpc>
              <a:buFont typeface="Arial"/>
              <a:buChar char="•"/>
            </a:pPr>
            <a:r>
              <a:rPr lang="en-US" sz="2700">
                <a:solidFill>
                  <a:srgbClr val="404040"/>
                </a:solidFill>
                <a:latin typeface="Trebuchet MS"/>
                <a:ea typeface="Trebuchet MS"/>
                <a:cs typeface="Trebuchet MS"/>
                <a:sym typeface="Trebuchet MS"/>
              </a:rPr>
              <a:t>network &lt;network-address&gt;</a:t>
            </a:r>
          </a:p>
          <a:p>
            <a:pPr algn="l" marL="651510" indent="-325755" lvl="1">
              <a:lnSpc>
                <a:spcPts val="3240"/>
              </a:lnSpc>
              <a:buFont typeface="Arial"/>
              <a:buChar char="•"/>
            </a:pPr>
            <a:r>
              <a:rPr lang="en-US" sz="2700">
                <a:solidFill>
                  <a:srgbClr val="404040"/>
                </a:solidFill>
                <a:latin typeface="Trebuchet MS"/>
                <a:ea typeface="Trebuchet MS"/>
                <a:cs typeface="Trebuchet MS"/>
                <a:sym typeface="Trebuchet MS"/>
              </a:rPr>
              <a:t>no auto-summary</a:t>
            </a: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sp>
        <p:nvSpPr>
          <p:cNvPr name="AutoShape 20" id="20"/>
          <p:cNvSpPr/>
          <p:nvPr/>
        </p:nvSpPr>
        <p:spPr>
          <a:xfrm rot="4791364">
            <a:off x="9738485" y="5143500"/>
            <a:ext cx="10464869" cy="0"/>
          </a:xfrm>
          <a:prstGeom prst="line">
            <a:avLst/>
          </a:prstGeom>
          <a:ln cap="rnd" w="9525">
            <a:solidFill>
              <a:srgbClr val="FFFFFF"/>
            </a:solidFill>
            <a:prstDash val="solid"/>
            <a:headEnd type="none" len="sm" w="sm"/>
            <a:tailEnd type="none" len="sm" w="sm"/>
          </a:ln>
        </p:spPr>
      </p:sp>
      <p:sp>
        <p:nvSpPr>
          <p:cNvPr name="AutoShape 21" id="21"/>
          <p:cNvSpPr/>
          <p:nvPr/>
        </p:nvSpPr>
        <p:spPr>
          <a:xfrm rot="8776574">
            <a:off x="10406483" y="7904560"/>
            <a:ext cx="8608175" cy="0"/>
          </a:xfrm>
          <a:prstGeom prst="line">
            <a:avLst/>
          </a:prstGeom>
          <a:ln cap="rnd" w="9525">
            <a:solidFill>
              <a:srgbClr val="FFFFFF"/>
            </a:solidFill>
            <a:prstDash val="solid"/>
            <a:headEnd type="none" len="sm" w="sm"/>
            <a:tailEnd type="none" len="sm" w="sm"/>
          </a:ln>
        </p:spPr>
      </p:sp>
      <p:grpSp>
        <p:nvGrpSpPr>
          <p:cNvPr name="Group 22" id="22"/>
          <p:cNvGrpSpPr/>
          <p:nvPr/>
        </p:nvGrpSpPr>
        <p:grpSpPr>
          <a:xfrm rot="0">
            <a:off x="13772216" y="-12700"/>
            <a:ext cx="4511024" cy="10299700"/>
            <a:chOff x="0" y="0"/>
            <a:chExt cx="6014699" cy="13732933"/>
          </a:xfrm>
        </p:grpSpPr>
        <p:sp>
          <p:nvSpPr>
            <p:cNvPr name="Freeform 23" id="23"/>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24" id="24"/>
          <p:cNvGrpSpPr/>
          <p:nvPr/>
        </p:nvGrpSpPr>
        <p:grpSpPr>
          <a:xfrm rot="0">
            <a:off x="14405165" y="-12700"/>
            <a:ext cx="3882837" cy="10299700"/>
            <a:chOff x="0" y="0"/>
            <a:chExt cx="5177117" cy="13732933"/>
          </a:xfrm>
        </p:grpSpPr>
        <p:sp>
          <p:nvSpPr>
            <p:cNvPr name="Freeform 25" id="25"/>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26" id="26"/>
          <p:cNvGrpSpPr/>
          <p:nvPr/>
        </p:nvGrpSpPr>
        <p:grpSpPr>
          <a:xfrm rot="0">
            <a:off x="13398501" y="4572000"/>
            <a:ext cx="4889501" cy="5715000"/>
            <a:chOff x="0" y="0"/>
            <a:chExt cx="6519335" cy="7620000"/>
          </a:xfrm>
        </p:grpSpPr>
        <p:sp>
          <p:nvSpPr>
            <p:cNvPr name="Freeform 27" id="27"/>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28" id="28"/>
          <p:cNvGrpSpPr/>
          <p:nvPr/>
        </p:nvGrpSpPr>
        <p:grpSpPr>
          <a:xfrm rot="0">
            <a:off x="14001752" y="-12700"/>
            <a:ext cx="4281489" cy="10299700"/>
            <a:chOff x="0" y="0"/>
            <a:chExt cx="5708653" cy="13732933"/>
          </a:xfrm>
        </p:grpSpPr>
        <p:sp>
          <p:nvSpPr>
            <p:cNvPr name="Freeform 29" id="29"/>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30" id="30"/>
          <p:cNvGrpSpPr/>
          <p:nvPr/>
        </p:nvGrpSpPr>
        <p:grpSpPr>
          <a:xfrm rot="0">
            <a:off x="16348097" y="-12700"/>
            <a:ext cx="1935141" cy="10299700"/>
            <a:chOff x="0" y="0"/>
            <a:chExt cx="2580188" cy="13732933"/>
          </a:xfrm>
        </p:grpSpPr>
        <p:sp>
          <p:nvSpPr>
            <p:cNvPr name="Freeform 31" id="31"/>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32" id="32"/>
          <p:cNvGrpSpPr/>
          <p:nvPr/>
        </p:nvGrpSpPr>
        <p:grpSpPr>
          <a:xfrm rot="0">
            <a:off x="16408500" y="-12700"/>
            <a:ext cx="1874738" cy="10299700"/>
            <a:chOff x="0" y="0"/>
            <a:chExt cx="2499650" cy="13732933"/>
          </a:xfrm>
        </p:grpSpPr>
        <p:sp>
          <p:nvSpPr>
            <p:cNvPr name="Freeform 33" id="33"/>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34" id="34"/>
          <p:cNvGrpSpPr/>
          <p:nvPr/>
        </p:nvGrpSpPr>
        <p:grpSpPr>
          <a:xfrm rot="0">
            <a:off x="15557501" y="5384801"/>
            <a:ext cx="2725739" cy="4902199"/>
            <a:chOff x="0" y="0"/>
            <a:chExt cx="3634318" cy="6536266"/>
          </a:xfrm>
        </p:grpSpPr>
        <p:sp>
          <p:nvSpPr>
            <p:cNvPr name="Freeform 35" id="35"/>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36" id="36"/>
          <p:cNvGrpSpPr/>
          <p:nvPr/>
        </p:nvGrpSpPr>
        <p:grpSpPr>
          <a:xfrm rot="-10800000">
            <a:off x="0" y="0"/>
            <a:ext cx="1263894" cy="8499231"/>
            <a:chOff x="0" y="0"/>
            <a:chExt cx="1685192" cy="11332307"/>
          </a:xfrm>
        </p:grpSpPr>
        <p:sp>
          <p:nvSpPr>
            <p:cNvPr name="Freeform 37" id="37"/>
            <p:cNvSpPr/>
            <p:nvPr/>
          </p:nvSpPr>
          <p:spPr>
            <a:xfrm flipH="false" flipV="false" rot="0">
              <a:off x="0" y="0"/>
              <a:ext cx="1685163" cy="11332337"/>
            </a:xfrm>
            <a:custGeom>
              <a:avLst/>
              <a:gdLst/>
              <a:ahLst/>
              <a:cxnLst/>
              <a:rect r="r" b="b" t="t" l="l"/>
              <a:pathLst>
                <a:path h="11332337" w="1685163">
                  <a:moveTo>
                    <a:pt x="0" y="11332337"/>
                  </a:moveTo>
                  <a:lnTo>
                    <a:pt x="1685163" y="0"/>
                  </a:lnTo>
                  <a:lnTo>
                    <a:pt x="1685163" y="11332337"/>
                  </a:lnTo>
                  <a:close/>
                </a:path>
              </a:pathLst>
            </a:custGeom>
            <a:solidFill>
              <a:srgbClr val="90C226">
                <a:alpha val="84706"/>
              </a:srgbClr>
            </a:solidFill>
          </p:spPr>
        </p:sp>
      </p:grpSp>
      <p:grpSp>
        <p:nvGrpSpPr>
          <p:cNvPr name="Group 38" id="38"/>
          <p:cNvGrpSpPr/>
          <p:nvPr/>
        </p:nvGrpSpPr>
        <p:grpSpPr>
          <a:xfrm rot="-10800000">
            <a:off x="0" y="0"/>
            <a:ext cx="1263894" cy="8499230"/>
            <a:chOff x="0" y="0"/>
            <a:chExt cx="1685192" cy="11332307"/>
          </a:xfrm>
        </p:grpSpPr>
        <p:sp>
          <p:nvSpPr>
            <p:cNvPr name="Freeform 39" id="39"/>
            <p:cNvSpPr/>
            <p:nvPr/>
          </p:nvSpPr>
          <p:spPr>
            <a:xfrm flipH="false" flipV="false" rot="0">
              <a:off x="0" y="0"/>
              <a:ext cx="1685163" cy="11332337"/>
            </a:xfrm>
            <a:custGeom>
              <a:avLst/>
              <a:gdLst/>
              <a:ahLst/>
              <a:cxnLst/>
              <a:rect r="r" b="b" t="t" l="l"/>
              <a:pathLst>
                <a:path h="11332337" w="1685163">
                  <a:moveTo>
                    <a:pt x="0" y="11332337"/>
                  </a:moveTo>
                  <a:lnTo>
                    <a:pt x="1685163" y="0"/>
                  </a:lnTo>
                  <a:lnTo>
                    <a:pt x="1685163" y="11332337"/>
                  </a:lnTo>
                  <a:close/>
                </a:path>
              </a:pathLst>
            </a:custGeom>
            <a:solidFill>
              <a:srgbClr val="90C226"/>
            </a:solidFill>
          </p:spPr>
        </p:sp>
      </p:grpSp>
      <p:grpSp>
        <p:nvGrpSpPr>
          <p:cNvPr name="Group 40" id="40"/>
          <p:cNvGrpSpPr/>
          <p:nvPr/>
        </p:nvGrpSpPr>
        <p:grpSpPr>
          <a:xfrm rot="0">
            <a:off x="11607800" y="5727700"/>
            <a:ext cx="6675438" cy="4559300"/>
            <a:chOff x="0" y="0"/>
            <a:chExt cx="8900584" cy="6079067"/>
          </a:xfrm>
        </p:grpSpPr>
        <p:sp>
          <p:nvSpPr>
            <p:cNvPr name="Freeform 41" id="41"/>
            <p:cNvSpPr/>
            <p:nvPr/>
          </p:nvSpPr>
          <p:spPr>
            <a:xfrm flipH="false" flipV="false" rot="0">
              <a:off x="0" y="0"/>
              <a:ext cx="8900541" cy="6079109"/>
            </a:xfrm>
            <a:custGeom>
              <a:avLst/>
              <a:gdLst/>
              <a:ahLst/>
              <a:cxnLst/>
              <a:rect r="r" b="b" t="t" l="l"/>
              <a:pathLst>
                <a:path h="6079109" w="8900541">
                  <a:moveTo>
                    <a:pt x="0" y="6079109"/>
                  </a:moveTo>
                  <a:lnTo>
                    <a:pt x="8900541" y="0"/>
                  </a:lnTo>
                  <a:lnTo>
                    <a:pt x="8900541" y="6079109"/>
                  </a:lnTo>
                  <a:close/>
                </a:path>
              </a:pathLst>
            </a:custGeom>
            <a:solidFill>
              <a:srgbClr val="90C226">
                <a:alpha val="87843"/>
              </a:srgbClr>
            </a:solidFill>
          </p:spPr>
        </p:sp>
      </p:grpSp>
      <p:grpSp>
        <p:nvGrpSpPr>
          <p:cNvPr name="Group 42" id="42"/>
          <p:cNvGrpSpPr/>
          <p:nvPr/>
        </p:nvGrpSpPr>
        <p:grpSpPr>
          <a:xfrm rot="0">
            <a:off x="15638460" y="0"/>
            <a:ext cx="2649540" cy="10287000"/>
            <a:chOff x="0" y="0"/>
            <a:chExt cx="3532720" cy="13716000"/>
          </a:xfrm>
        </p:grpSpPr>
        <p:sp>
          <p:nvSpPr>
            <p:cNvPr name="Freeform 43" id="43"/>
            <p:cNvSpPr/>
            <p:nvPr/>
          </p:nvSpPr>
          <p:spPr>
            <a:xfrm flipH="false" flipV="false" rot="0">
              <a:off x="0" y="0"/>
              <a:ext cx="3532759" cy="13716000"/>
            </a:xfrm>
            <a:custGeom>
              <a:avLst/>
              <a:gdLst/>
              <a:ahLst/>
              <a:cxnLst/>
              <a:rect r="r" b="b" t="t" l="l"/>
              <a:pathLst>
                <a:path h="13716000" w="3532759">
                  <a:moveTo>
                    <a:pt x="0" y="0"/>
                  </a:moveTo>
                  <a:lnTo>
                    <a:pt x="3532759" y="0"/>
                  </a:lnTo>
                  <a:lnTo>
                    <a:pt x="3532759" y="13716000"/>
                  </a:lnTo>
                  <a:lnTo>
                    <a:pt x="3058033" y="13716000"/>
                  </a:lnTo>
                  <a:lnTo>
                    <a:pt x="0" y="0"/>
                  </a:lnTo>
                  <a:close/>
                </a:path>
              </a:pathLst>
            </a:custGeom>
            <a:solidFill>
              <a:srgbClr val="54A021"/>
            </a:solidFill>
          </p:spPr>
        </p:sp>
      </p:grpSp>
      <p:sp>
        <p:nvSpPr>
          <p:cNvPr name="AutoShape 44" id="44"/>
          <p:cNvSpPr/>
          <p:nvPr/>
        </p:nvSpPr>
        <p:spPr>
          <a:xfrm rot="4544398">
            <a:off x="11173900" y="5143500"/>
            <a:ext cx="10646801" cy="0"/>
          </a:xfrm>
          <a:prstGeom prst="line">
            <a:avLst/>
          </a:prstGeom>
          <a:ln cap="rnd" w="9525">
            <a:solidFill>
              <a:srgbClr val="54A021"/>
            </a:solidFill>
            <a:prstDash val="solid"/>
            <a:headEnd type="none" len="sm" w="sm"/>
            <a:tailEnd type="none" len="sm" w="sm"/>
          </a:ln>
        </p:spPr>
      </p:sp>
      <p:sp>
        <p:nvSpPr>
          <p:cNvPr name="AutoShape 45" id="45"/>
          <p:cNvSpPr/>
          <p:nvPr/>
        </p:nvSpPr>
        <p:spPr>
          <a:xfrm rot="8774650">
            <a:off x="10394371" y="7904559"/>
            <a:ext cx="8632395" cy="0"/>
          </a:xfrm>
          <a:prstGeom prst="line">
            <a:avLst/>
          </a:prstGeom>
          <a:ln cap="rnd" w="9525">
            <a:solidFill>
              <a:srgbClr val="90C226"/>
            </a:solidFill>
            <a:prstDash val="solid"/>
            <a:headEnd type="none" len="sm" w="sm"/>
            <a:tailEnd type="none" len="sm" w="sm"/>
          </a:ln>
        </p:spPr>
      </p:sp>
      <p:sp>
        <p:nvSpPr>
          <p:cNvPr name="TextBox 46" id="46"/>
          <p:cNvSpPr txBox="true"/>
          <p:nvPr/>
        </p:nvSpPr>
        <p:spPr>
          <a:xfrm rot="0">
            <a:off x="2352040" y="2992059"/>
            <a:ext cx="11467524" cy="3038475"/>
          </a:xfrm>
          <a:prstGeom prst="rect">
            <a:avLst/>
          </a:prstGeom>
        </p:spPr>
        <p:txBody>
          <a:bodyPr anchor="t" rtlCol="false" tIns="0" lIns="0" bIns="0" rIns="0">
            <a:spAutoFit/>
          </a:bodyPr>
          <a:lstStyle/>
          <a:p>
            <a:pPr algn="ctr">
              <a:lnSpc>
                <a:spcPts val="11999"/>
              </a:lnSpc>
            </a:pPr>
            <a:r>
              <a:rPr lang="en-US" sz="9999" spc="-320">
                <a:solidFill>
                  <a:srgbClr val="90C226"/>
                </a:solidFill>
                <a:latin typeface="Trebuchet MS"/>
                <a:ea typeface="Trebuchet MS"/>
                <a:cs typeface="Trebuchet MS"/>
                <a:sym typeface="Trebuchet MS"/>
              </a:rPr>
              <a:t>Ejemplo práctico con OSPF y EIGRP</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sp>
        <p:nvSpPr>
          <p:cNvPr name="AutoShape 20" id="20"/>
          <p:cNvSpPr/>
          <p:nvPr/>
        </p:nvSpPr>
        <p:spPr>
          <a:xfrm rot="4791364">
            <a:off x="9738485" y="5143500"/>
            <a:ext cx="10464869" cy="0"/>
          </a:xfrm>
          <a:prstGeom prst="line">
            <a:avLst/>
          </a:prstGeom>
          <a:ln cap="rnd" w="9525">
            <a:solidFill>
              <a:srgbClr val="FFFFFF"/>
            </a:solidFill>
            <a:prstDash val="solid"/>
            <a:headEnd type="none" len="sm" w="sm"/>
            <a:tailEnd type="none" len="sm" w="sm"/>
          </a:ln>
        </p:spPr>
      </p:sp>
      <p:sp>
        <p:nvSpPr>
          <p:cNvPr name="AutoShape 21" id="21"/>
          <p:cNvSpPr/>
          <p:nvPr/>
        </p:nvSpPr>
        <p:spPr>
          <a:xfrm rot="8776574">
            <a:off x="10406483" y="7904560"/>
            <a:ext cx="8608175" cy="0"/>
          </a:xfrm>
          <a:prstGeom prst="line">
            <a:avLst/>
          </a:prstGeom>
          <a:ln cap="rnd" w="9525">
            <a:solidFill>
              <a:srgbClr val="FFFFFF"/>
            </a:solidFill>
            <a:prstDash val="solid"/>
            <a:headEnd type="none" len="sm" w="sm"/>
            <a:tailEnd type="none" len="sm" w="sm"/>
          </a:ln>
        </p:spPr>
      </p:sp>
      <p:grpSp>
        <p:nvGrpSpPr>
          <p:cNvPr name="Group 22" id="22"/>
          <p:cNvGrpSpPr/>
          <p:nvPr/>
        </p:nvGrpSpPr>
        <p:grpSpPr>
          <a:xfrm rot="0">
            <a:off x="13772216" y="-12700"/>
            <a:ext cx="4511024" cy="10299700"/>
            <a:chOff x="0" y="0"/>
            <a:chExt cx="6014699" cy="13732933"/>
          </a:xfrm>
        </p:grpSpPr>
        <p:sp>
          <p:nvSpPr>
            <p:cNvPr name="Freeform 23" id="23"/>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24" id="24"/>
          <p:cNvGrpSpPr/>
          <p:nvPr/>
        </p:nvGrpSpPr>
        <p:grpSpPr>
          <a:xfrm rot="0">
            <a:off x="14405165" y="-12700"/>
            <a:ext cx="3882837" cy="10299700"/>
            <a:chOff x="0" y="0"/>
            <a:chExt cx="5177117" cy="13732933"/>
          </a:xfrm>
        </p:grpSpPr>
        <p:sp>
          <p:nvSpPr>
            <p:cNvPr name="Freeform 25" id="25"/>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26" id="26"/>
          <p:cNvGrpSpPr/>
          <p:nvPr/>
        </p:nvGrpSpPr>
        <p:grpSpPr>
          <a:xfrm rot="0">
            <a:off x="13398501" y="4572000"/>
            <a:ext cx="4889501" cy="5715000"/>
            <a:chOff x="0" y="0"/>
            <a:chExt cx="6519335" cy="7620000"/>
          </a:xfrm>
        </p:grpSpPr>
        <p:sp>
          <p:nvSpPr>
            <p:cNvPr name="Freeform 27" id="27"/>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28" id="28"/>
          <p:cNvGrpSpPr/>
          <p:nvPr/>
        </p:nvGrpSpPr>
        <p:grpSpPr>
          <a:xfrm rot="0">
            <a:off x="14001752" y="-12700"/>
            <a:ext cx="4281489" cy="10299700"/>
            <a:chOff x="0" y="0"/>
            <a:chExt cx="5708653" cy="13732933"/>
          </a:xfrm>
        </p:grpSpPr>
        <p:sp>
          <p:nvSpPr>
            <p:cNvPr name="Freeform 29" id="29"/>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30" id="30"/>
          <p:cNvGrpSpPr/>
          <p:nvPr/>
        </p:nvGrpSpPr>
        <p:grpSpPr>
          <a:xfrm rot="0">
            <a:off x="16348097" y="-12700"/>
            <a:ext cx="1935141" cy="10299700"/>
            <a:chOff x="0" y="0"/>
            <a:chExt cx="2580188" cy="13732933"/>
          </a:xfrm>
        </p:grpSpPr>
        <p:sp>
          <p:nvSpPr>
            <p:cNvPr name="Freeform 31" id="31"/>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32" id="32"/>
          <p:cNvGrpSpPr/>
          <p:nvPr/>
        </p:nvGrpSpPr>
        <p:grpSpPr>
          <a:xfrm rot="0">
            <a:off x="16408500" y="-12700"/>
            <a:ext cx="1874738" cy="10299700"/>
            <a:chOff x="0" y="0"/>
            <a:chExt cx="2499650" cy="13732933"/>
          </a:xfrm>
        </p:grpSpPr>
        <p:sp>
          <p:nvSpPr>
            <p:cNvPr name="Freeform 33" id="33"/>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34" id="34"/>
          <p:cNvGrpSpPr/>
          <p:nvPr/>
        </p:nvGrpSpPr>
        <p:grpSpPr>
          <a:xfrm rot="0">
            <a:off x="15557501" y="5384801"/>
            <a:ext cx="2725739" cy="4902199"/>
            <a:chOff x="0" y="0"/>
            <a:chExt cx="3634318" cy="6536266"/>
          </a:xfrm>
        </p:grpSpPr>
        <p:sp>
          <p:nvSpPr>
            <p:cNvPr name="Freeform 35" id="35"/>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36" id="36"/>
          <p:cNvGrpSpPr/>
          <p:nvPr/>
        </p:nvGrpSpPr>
        <p:grpSpPr>
          <a:xfrm rot="-10800000">
            <a:off x="0" y="0"/>
            <a:ext cx="1263894" cy="8499231"/>
            <a:chOff x="0" y="0"/>
            <a:chExt cx="1685192" cy="11332307"/>
          </a:xfrm>
        </p:grpSpPr>
        <p:sp>
          <p:nvSpPr>
            <p:cNvPr name="Freeform 37" id="37"/>
            <p:cNvSpPr/>
            <p:nvPr/>
          </p:nvSpPr>
          <p:spPr>
            <a:xfrm flipH="false" flipV="false" rot="0">
              <a:off x="0" y="0"/>
              <a:ext cx="1685163" cy="11332337"/>
            </a:xfrm>
            <a:custGeom>
              <a:avLst/>
              <a:gdLst/>
              <a:ahLst/>
              <a:cxnLst/>
              <a:rect r="r" b="b" t="t" l="l"/>
              <a:pathLst>
                <a:path h="11332337" w="1685163">
                  <a:moveTo>
                    <a:pt x="0" y="11332337"/>
                  </a:moveTo>
                  <a:lnTo>
                    <a:pt x="1685163" y="0"/>
                  </a:lnTo>
                  <a:lnTo>
                    <a:pt x="1685163" y="11332337"/>
                  </a:lnTo>
                  <a:close/>
                </a:path>
              </a:pathLst>
            </a:custGeom>
            <a:solidFill>
              <a:srgbClr val="90C226">
                <a:alpha val="84706"/>
              </a:srgbClr>
            </a:solidFill>
          </p:spPr>
        </p:sp>
      </p:grpSp>
      <p:sp>
        <p:nvSpPr>
          <p:cNvPr name="AutoShape 38" id="38"/>
          <p:cNvSpPr/>
          <p:nvPr/>
        </p:nvSpPr>
        <p:spPr>
          <a:xfrm rot="4791364">
            <a:off x="4154497" y="5143498"/>
            <a:ext cx="10464869" cy="0"/>
          </a:xfrm>
          <a:prstGeom prst="line">
            <a:avLst/>
          </a:prstGeom>
          <a:ln cap="rnd" w="9525">
            <a:solidFill>
              <a:srgbClr val="90C226"/>
            </a:solidFill>
            <a:prstDash val="solid"/>
            <a:headEnd type="none" len="sm" w="sm"/>
            <a:tailEnd type="none" len="sm" w="sm"/>
          </a:ln>
        </p:spPr>
      </p:sp>
      <p:sp>
        <p:nvSpPr>
          <p:cNvPr name="AutoShape 39" id="39"/>
          <p:cNvSpPr/>
          <p:nvPr/>
        </p:nvSpPr>
        <p:spPr>
          <a:xfrm rot="8776574">
            <a:off x="5669425" y="7904558"/>
            <a:ext cx="8608175" cy="0"/>
          </a:xfrm>
          <a:prstGeom prst="line">
            <a:avLst/>
          </a:prstGeom>
          <a:ln cap="rnd" w="9525">
            <a:solidFill>
              <a:srgbClr val="000000"/>
            </a:solidFill>
            <a:prstDash val="solid"/>
            <a:headEnd type="none" len="sm" w="sm"/>
            <a:tailEnd type="none" len="sm" w="sm"/>
          </a:ln>
        </p:spPr>
      </p:sp>
      <p:grpSp>
        <p:nvGrpSpPr>
          <p:cNvPr name="Group 40" id="40"/>
          <p:cNvGrpSpPr/>
          <p:nvPr/>
        </p:nvGrpSpPr>
        <p:grpSpPr>
          <a:xfrm rot="0">
            <a:off x="8188228" y="-12702"/>
            <a:ext cx="4511024" cy="10299700"/>
            <a:chOff x="0" y="0"/>
            <a:chExt cx="6014699" cy="13732933"/>
          </a:xfrm>
        </p:grpSpPr>
        <p:sp>
          <p:nvSpPr>
            <p:cNvPr name="Freeform 41" id="41"/>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42" id="42"/>
          <p:cNvGrpSpPr/>
          <p:nvPr/>
        </p:nvGrpSpPr>
        <p:grpSpPr>
          <a:xfrm rot="0">
            <a:off x="8821177" y="-12702"/>
            <a:ext cx="3882838" cy="10299700"/>
            <a:chOff x="0" y="0"/>
            <a:chExt cx="5177117" cy="13732933"/>
          </a:xfrm>
        </p:grpSpPr>
        <p:sp>
          <p:nvSpPr>
            <p:cNvPr name="Freeform 43" id="43"/>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44" id="44"/>
          <p:cNvGrpSpPr/>
          <p:nvPr/>
        </p:nvGrpSpPr>
        <p:grpSpPr>
          <a:xfrm rot="0">
            <a:off x="7814513" y="4571998"/>
            <a:ext cx="4889501" cy="5715000"/>
            <a:chOff x="0" y="0"/>
            <a:chExt cx="6519335" cy="7620000"/>
          </a:xfrm>
        </p:grpSpPr>
        <p:sp>
          <p:nvSpPr>
            <p:cNvPr name="Freeform 45" id="45"/>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46" id="46"/>
          <p:cNvGrpSpPr/>
          <p:nvPr/>
        </p:nvGrpSpPr>
        <p:grpSpPr>
          <a:xfrm rot="0">
            <a:off x="8417764" y="-12702"/>
            <a:ext cx="4281490" cy="10299700"/>
            <a:chOff x="0" y="0"/>
            <a:chExt cx="5708653" cy="13732933"/>
          </a:xfrm>
        </p:grpSpPr>
        <p:sp>
          <p:nvSpPr>
            <p:cNvPr name="Freeform 47" id="47"/>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48" id="48"/>
          <p:cNvGrpSpPr/>
          <p:nvPr/>
        </p:nvGrpSpPr>
        <p:grpSpPr>
          <a:xfrm rot="0">
            <a:off x="9973513" y="5384799"/>
            <a:ext cx="2725739" cy="4902199"/>
            <a:chOff x="0" y="0"/>
            <a:chExt cx="3634319" cy="6536266"/>
          </a:xfrm>
        </p:grpSpPr>
        <p:sp>
          <p:nvSpPr>
            <p:cNvPr name="Freeform 49" id="49"/>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sp>
        <p:nvSpPr>
          <p:cNvPr name="TextBox 50" id="50"/>
          <p:cNvSpPr txBox="true"/>
          <p:nvPr/>
        </p:nvSpPr>
        <p:spPr>
          <a:xfrm rot="0">
            <a:off x="1107442" y="4325736"/>
            <a:ext cx="7461210" cy="1647825"/>
          </a:xfrm>
          <a:prstGeom prst="rect">
            <a:avLst/>
          </a:prstGeom>
        </p:spPr>
        <p:txBody>
          <a:bodyPr anchor="t" rtlCol="false" tIns="0" lIns="0" bIns="0" rIns="0">
            <a:spAutoFit/>
          </a:bodyPr>
          <a:lstStyle/>
          <a:p>
            <a:pPr algn="r">
              <a:lnSpc>
                <a:spcPts val="12960"/>
              </a:lnSpc>
            </a:pPr>
            <a:r>
              <a:rPr lang="en-US" sz="10800" spc="-40">
                <a:solidFill>
                  <a:srgbClr val="90C226"/>
                </a:solidFill>
                <a:latin typeface="Trebuchet MS"/>
                <a:ea typeface="Trebuchet MS"/>
                <a:cs typeface="Trebuchet MS"/>
                <a:sym typeface="Trebuchet MS"/>
              </a:rPr>
              <a:t>LACP</a:t>
            </a:r>
          </a:p>
        </p:txBody>
      </p:sp>
      <p:grpSp>
        <p:nvGrpSpPr>
          <p:cNvPr name="Group 51" id="51"/>
          <p:cNvGrpSpPr/>
          <p:nvPr/>
        </p:nvGrpSpPr>
        <p:grpSpPr>
          <a:xfrm rot="0">
            <a:off x="10704744" y="-12702"/>
            <a:ext cx="7612396" cy="10299702"/>
            <a:chOff x="0" y="0"/>
            <a:chExt cx="10149861" cy="13732936"/>
          </a:xfrm>
        </p:grpSpPr>
        <p:sp>
          <p:nvSpPr>
            <p:cNvPr name="Freeform 52" id="52"/>
            <p:cNvSpPr/>
            <p:nvPr/>
          </p:nvSpPr>
          <p:spPr>
            <a:xfrm flipH="false" flipV="false" rot="0">
              <a:off x="0" y="0"/>
              <a:ext cx="10149840" cy="13732890"/>
            </a:xfrm>
            <a:custGeom>
              <a:avLst/>
              <a:gdLst/>
              <a:ahLst/>
              <a:cxnLst/>
              <a:rect r="r" b="b" t="t" l="l"/>
              <a:pathLst>
                <a:path h="13732890" w="10149840">
                  <a:moveTo>
                    <a:pt x="0" y="0"/>
                  </a:moveTo>
                  <a:lnTo>
                    <a:pt x="2499614" y="0"/>
                  </a:lnTo>
                  <a:lnTo>
                    <a:pt x="2499614" y="16891"/>
                  </a:lnTo>
                  <a:lnTo>
                    <a:pt x="10149840" y="16891"/>
                  </a:lnTo>
                  <a:lnTo>
                    <a:pt x="10149840" y="13732890"/>
                  </a:lnTo>
                  <a:lnTo>
                    <a:pt x="2499614" y="13732890"/>
                  </a:lnTo>
                  <a:lnTo>
                    <a:pt x="2218817" y="13732890"/>
                  </a:lnTo>
                  <a:close/>
                </a:path>
              </a:pathLst>
            </a:custGeom>
            <a:solidFill>
              <a:srgbClr val="90C226"/>
            </a:solid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sp>
        <p:nvSpPr>
          <p:cNvPr name="TextBox 20" id="20"/>
          <p:cNvSpPr txBox="true"/>
          <p:nvPr/>
        </p:nvSpPr>
        <p:spPr>
          <a:xfrm rot="0">
            <a:off x="1016002" y="1279375"/>
            <a:ext cx="12895002" cy="828675"/>
          </a:xfrm>
          <a:prstGeom prst="rect">
            <a:avLst/>
          </a:prstGeom>
        </p:spPr>
        <p:txBody>
          <a:bodyPr anchor="t" rtlCol="false" tIns="0" lIns="0" bIns="0" rIns="0">
            <a:spAutoFit/>
          </a:bodyPr>
          <a:lstStyle/>
          <a:p>
            <a:pPr algn="l">
              <a:lnSpc>
                <a:spcPts val="6480"/>
              </a:lnSpc>
            </a:pPr>
            <a:r>
              <a:rPr lang="en-US" sz="5400" spc="-40">
                <a:solidFill>
                  <a:srgbClr val="90C226"/>
                </a:solidFill>
                <a:latin typeface="Trebuchet MS"/>
                <a:ea typeface="Trebuchet MS"/>
                <a:cs typeface="Trebuchet MS"/>
                <a:sym typeface="Trebuchet MS"/>
              </a:rPr>
              <a:t>LACP</a:t>
            </a:r>
          </a:p>
        </p:txBody>
      </p:sp>
      <p:sp>
        <p:nvSpPr>
          <p:cNvPr name="TextBox 21" id="21"/>
          <p:cNvSpPr txBox="true"/>
          <p:nvPr/>
        </p:nvSpPr>
        <p:spPr>
          <a:xfrm rot="0">
            <a:off x="1016002" y="3196434"/>
            <a:ext cx="12895002" cy="2795782"/>
          </a:xfrm>
          <a:prstGeom prst="rect">
            <a:avLst/>
          </a:prstGeom>
        </p:spPr>
        <p:txBody>
          <a:bodyPr anchor="t" rtlCol="false" tIns="0" lIns="0" bIns="0" rIns="0">
            <a:spAutoFit/>
          </a:bodyPr>
          <a:lstStyle/>
          <a:p>
            <a:pPr algn="just" marL="162560" indent="-81280" lvl="1">
              <a:lnSpc>
                <a:spcPts val="3725"/>
              </a:lnSpc>
              <a:buFont typeface="Arial"/>
              <a:buChar char="•"/>
            </a:pPr>
            <a:r>
              <a:rPr lang="en-US" sz="2700">
                <a:solidFill>
                  <a:srgbClr val="404040"/>
                </a:solidFill>
                <a:latin typeface="Trebuchet MS"/>
                <a:ea typeface="Trebuchet MS"/>
                <a:cs typeface="Trebuchet MS"/>
                <a:sym typeface="Trebuchet MS"/>
              </a:rPr>
              <a:t>LACP forma parte de una especificación IEEE (802.3ad) que permite agrupar varios puertos físicos para formar un único canal lógico. LACP permite que un switch negocie un grupo automático mediante el envío de paquetes LACP. Realiza una función similar a PAgP con EtherChannel de Cisco. Debido a que LACP es un estándar IEEE, se puede usar para facilitar los EtherChannels en entornos de varios proveedores. En los dispositivos de Cisco, se admiten ambos protocolos.</a:t>
            </a:r>
          </a:p>
        </p:txBody>
      </p:sp>
      <p:sp>
        <p:nvSpPr>
          <p:cNvPr name="Freeform 22" id="22"/>
          <p:cNvSpPr/>
          <p:nvPr/>
        </p:nvSpPr>
        <p:spPr>
          <a:xfrm flipH="false" flipV="false" rot="0">
            <a:off x="3200400" y="6151464"/>
            <a:ext cx="10115548" cy="3543298"/>
          </a:xfrm>
          <a:custGeom>
            <a:avLst/>
            <a:gdLst/>
            <a:ahLst/>
            <a:cxnLst/>
            <a:rect r="r" b="b" t="t" l="l"/>
            <a:pathLst>
              <a:path h="3543298" w="10115548">
                <a:moveTo>
                  <a:pt x="0" y="0"/>
                </a:moveTo>
                <a:lnTo>
                  <a:pt x="10115548" y="0"/>
                </a:lnTo>
                <a:lnTo>
                  <a:pt x="10115548" y="3543298"/>
                </a:lnTo>
                <a:lnTo>
                  <a:pt x="0" y="3543298"/>
                </a:lnTo>
                <a:lnTo>
                  <a:pt x="0" y="0"/>
                </a:lnTo>
                <a:close/>
              </a:path>
            </a:pathLst>
          </a:custGeom>
          <a:blipFill>
            <a:blip r:embed="rId2"/>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sp>
        <p:nvSpPr>
          <p:cNvPr name="Freeform 20" id="20"/>
          <p:cNvSpPr/>
          <p:nvPr/>
        </p:nvSpPr>
        <p:spPr>
          <a:xfrm flipH="false" flipV="false" rot="0">
            <a:off x="3354900" y="1046150"/>
            <a:ext cx="12388898" cy="8051948"/>
          </a:xfrm>
          <a:custGeom>
            <a:avLst/>
            <a:gdLst/>
            <a:ahLst/>
            <a:cxnLst/>
            <a:rect r="r" b="b" t="t" l="l"/>
            <a:pathLst>
              <a:path h="8051948" w="12388898">
                <a:moveTo>
                  <a:pt x="0" y="0"/>
                </a:moveTo>
                <a:lnTo>
                  <a:pt x="12388898" y="0"/>
                </a:lnTo>
                <a:lnTo>
                  <a:pt x="12388898" y="8051948"/>
                </a:lnTo>
                <a:lnTo>
                  <a:pt x="0" y="8051948"/>
                </a:lnTo>
                <a:lnTo>
                  <a:pt x="0" y="0"/>
                </a:lnTo>
                <a:close/>
              </a:path>
            </a:pathLst>
          </a:custGeom>
          <a:blipFill>
            <a:blip r:embed="rId2"/>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sp>
        <p:nvSpPr>
          <p:cNvPr name="AutoShape 20" id="20"/>
          <p:cNvSpPr/>
          <p:nvPr/>
        </p:nvSpPr>
        <p:spPr>
          <a:xfrm rot="4791364">
            <a:off x="9738485" y="5143500"/>
            <a:ext cx="10464869" cy="0"/>
          </a:xfrm>
          <a:prstGeom prst="line">
            <a:avLst/>
          </a:prstGeom>
          <a:ln cap="rnd" w="9525">
            <a:solidFill>
              <a:srgbClr val="FFFFFF"/>
            </a:solidFill>
            <a:prstDash val="solid"/>
            <a:headEnd type="none" len="sm" w="sm"/>
            <a:tailEnd type="none" len="sm" w="sm"/>
          </a:ln>
        </p:spPr>
      </p:sp>
      <p:sp>
        <p:nvSpPr>
          <p:cNvPr name="AutoShape 21" id="21"/>
          <p:cNvSpPr/>
          <p:nvPr/>
        </p:nvSpPr>
        <p:spPr>
          <a:xfrm rot="8776574">
            <a:off x="10406483" y="7904560"/>
            <a:ext cx="8608175" cy="0"/>
          </a:xfrm>
          <a:prstGeom prst="line">
            <a:avLst/>
          </a:prstGeom>
          <a:ln cap="rnd" w="9525">
            <a:solidFill>
              <a:srgbClr val="FFFFFF"/>
            </a:solidFill>
            <a:prstDash val="solid"/>
            <a:headEnd type="none" len="sm" w="sm"/>
            <a:tailEnd type="none" len="sm" w="sm"/>
          </a:ln>
        </p:spPr>
      </p:sp>
      <p:grpSp>
        <p:nvGrpSpPr>
          <p:cNvPr name="Group 22" id="22"/>
          <p:cNvGrpSpPr/>
          <p:nvPr/>
        </p:nvGrpSpPr>
        <p:grpSpPr>
          <a:xfrm rot="0">
            <a:off x="13772216" y="-12700"/>
            <a:ext cx="4511024" cy="10299700"/>
            <a:chOff x="0" y="0"/>
            <a:chExt cx="6014699" cy="13732933"/>
          </a:xfrm>
        </p:grpSpPr>
        <p:sp>
          <p:nvSpPr>
            <p:cNvPr name="Freeform 23" id="23"/>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24" id="24"/>
          <p:cNvGrpSpPr/>
          <p:nvPr/>
        </p:nvGrpSpPr>
        <p:grpSpPr>
          <a:xfrm rot="0">
            <a:off x="14405165" y="-12700"/>
            <a:ext cx="3882837" cy="10299700"/>
            <a:chOff x="0" y="0"/>
            <a:chExt cx="5177117" cy="13732933"/>
          </a:xfrm>
        </p:grpSpPr>
        <p:sp>
          <p:nvSpPr>
            <p:cNvPr name="Freeform 25" id="25"/>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26" id="26"/>
          <p:cNvGrpSpPr/>
          <p:nvPr/>
        </p:nvGrpSpPr>
        <p:grpSpPr>
          <a:xfrm rot="0">
            <a:off x="13398501" y="4572000"/>
            <a:ext cx="4889501" cy="5715000"/>
            <a:chOff x="0" y="0"/>
            <a:chExt cx="6519335" cy="7620000"/>
          </a:xfrm>
        </p:grpSpPr>
        <p:sp>
          <p:nvSpPr>
            <p:cNvPr name="Freeform 27" id="27"/>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28" id="28"/>
          <p:cNvGrpSpPr/>
          <p:nvPr/>
        </p:nvGrpSpPr>
        <p:grpSpPr>
          <a:xfrm rot="0">
            <a:off x="14001752" y="-12700"/>
            <a:ext cx="4281489" cy="10299700"/>
            <a:chOff x="0" y="0"/>
            <a:chExt cx="5708653" cy="13732933"/>
          </a:xfrm>
        </p:grpSpPr>
        <p:sp>
          <p:nvSpPr>
            <p:cNvPr name="Freeform 29" id="29"/>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30" id="30"/>
          <p:cNvGrpSpPr/>
          <p:nvPr/>
        </p:nvGrpSpPr>
        <p:grpSpPr>
          <a:xfrm rot="0">
            <a:off x="16348097" y="-12700"/>
            <a:ext cx="1935141" cy="10299700"/>
            <a:chOff x="0" y="0"/>
            <a:chExt cx="2580188" cy="13732933"/>
          </a:xfrm>
        </p:grpSpPr>
        <p:sp>
          <p:nvSpPr>
            <p:cNvPr name="Freeform 31" id="31"/>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32" id="32"/>
          <p:cNvGrpSpPr/>
          <p:nvPr/>
        </p:nvGrpSpPr>
        <p:grpSpPr>
          <a:xfrm rot="0">
            <a:off x="16408500" y="-12700"/>
            <a:ext cx="1874738" cy="10299700"/>
            <a:chOff x="0" y="0"/>
            <a:chExt cx="2499650" cy="13732933"/>
          </a:xfrm>
        </p:grpSpPr>
        <p:sp>
          <p:nvSpPr>
            <p:cNvPr name="Freeform 33" id="33"/>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34" id="34"/>
          <p:cNvGrpSpPr/>
          <p:nvPr/>
        </p:nvGrpSpPr>
        <p:grpSpPr>
          <a:xfrm rot="0">
            <a:off x="15557501" y="5384801"/>
            <a:ext cx="2725739" cy="4902199"/>
            <a:chOff x="0" y="0"/>
            <a:chExt cx="3634318" cy="6536266"/>
          </a:xfrm>
        </p:grpSpPr>
        <p:sp>
          <p:nvSpPr>
            <p:cNvPr name="Freeform 35" id="35"/>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36" id="36"/>
          <p:cNvGrpSpPr/>
          <p:nvPr/>
        </p:nvGrpSpPr>
        <p:grpSpPr>
          <a:xfrm rot="-10800000">
            <a:off x="0" y="0"/>
            <a:ext cx="1263894" cy="8499231"/>
            <a:chOff x="0" y="0"/>
            <a:chExt cx="1685192" cy="11332307"/>
          </a:xfrm>
        </p:grpSpPr>
        <p:sp>
          <p:nvSpPr>
            <p:cNvPr name="Freeform 37" id="37"/>
            <p:cNvSpPr/>
            <p:nvPr/>
          </p:nvSpPr>
          <p:spPr>
            <a:xfrm flipH="false" flipV="false" rot="0">
              <a:off x="0" y="0"/>
              <a:ext cx="1685163" cy="11332337"/>
            </a:xfrm>
            <a:custGeom>
              <a:avLst/>
              <a:gdLst/>
              <a:ahLst/>
              <a:cxnLst/>
              <a:rect r="r" b="b" t="t" l="l"/>
              <a:pathLst>
                <a:path h="11332337" w="1685163">
                  <a:moveTo>
                    <a:pt x="0" y="11332337"/>
                  </a:moveTo>
                  <a:lnTo>
                    <a:pt x="1685163" y="0"/>
                  </a:lnTo>
                  <a:lnTo>
                    <a:pt x="1685163" y="11332337"/>
                  </a:lnTo>
                  <a:close/>
                </a:path>
              </a:pathLst>
            </a:custGeom>
            <a:solidFill>
              <a:srgbClr val="90C226">
                <a:alpha val="84706"/>
              </a:srgbClr>
            </a:solidFill>
          </p:spPr>
        </p:sp>
      </p:grpSp>
      <p:sp>
        <p:nvSpPr>
          <p:cNvPr name="AutoShape 38" id="38"/>
          <p:cNvSpPr/>
          <p:nvPr/>
        </p:nvSpPr>
        <p:spPr>
          <a:xfrm rot="4791364">
            <a:off x="4154497" y="5143498"/>
            <a:ext cx="10464869" cy="0"/>
          </a:xfrm>
          <a:prstGeom prst="line">
            <a:avLst/>
          </a:prstGeom>
          <a:ln cap="rnd" w="9525">
            <a:solidFill>
              <a:srgbClr val="90C226"/>
            </a:solidFill>
            <a:prstDash val="solid"/>
            <a:headEnd type="none" len="sm" w="sm"/>
            <a:tailEnd type="none" len="sm" w="sm"/>
          </a:ln>
        </p:spPr>
      </p:sp>
      <p:sp>
        <p:nvSpPr>
          <p:cNvPr name="AutoShape 39" id="39"/>
          <p:cNvSpPr/>
          <p:nvPr/>
        </p:nvSpPr>
        <p:spPr>
          <a:xfrm rot="8776574">
            <a:off x="5669425" y="7904558"/>
            <a:ext cx="8608175" cy="0"/>
          </a:xfrm>
          <a:prstGeom prst="line">
            <a:avLst/>
          </a:prstGeom>
          <a:ln cap="rnd" w="9525">
            <a:solidFill>
              <a:srgbClr val="000000"/>
            </a:solidFill>
            <a:prstDash val="solid"/>
            <a:headEnd type="none" len="sm" w="sm"/>
            <a:tailEnd type="none" len="sm" w="sm"/>
          </a:ln>
        </p:spPr>
      </p:sp>
      <p:grpSp>
        <p:nvGrpSpPr>
          <p:cNvPr name="Group 40" id="40"/>
          <p:cNvGrpSpPr/>
          <p:nvPr/>
        </p:nvGrpSpPr>
        <p:grpSpPr>
          <a:xfrm rot="0">
            <a:off x="8188228" y="-12702"/>
            <a:ext cx="4511024" cy="10299700"/>
            <a:chOff x="0" y="0"/>
            <a:chExt cx="6014699" cy="13732933"/>
          </a:xfrm>
        </p:grpSpPr>
        <p:sp>
          <p:nvSpPr>
            <p:cNvPr name="Freeform 41" id="41"/>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42" id="42"/>
          <p:cNvGrpSpPr/>
          <p:nvPr/>
        </p:nvGrpSpPr>
        <p:grpSpPr>
          <a:xfrm rot="0">
            <a:off x="8821177" y="-12702"/>
            <a:ext cx="3882838" cy="10299700"/>
            <a:chOff x="0" y="0"/>
            <a:chExt cx="5177117" cy="13732933"/>
          </a:xfrm>
        </p:grpSpPr>
        <p:sp>
          <p:nvSpPr>
            <p:cNvPr name="Freeform 43" id="43"/>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44" id="44"/>
          <p:cNvGrpSpPr/>
          <p:nvPr/>
        </p:nvGrpSpPr>
        <p:grpSpPr>
          <a:xfrm rot="0">
            <a:off x="7814513" y="4571998"/>
            <a:ext cx="4889501" cy="5715000"/>
            <a:chOff x="0" y="0"/>
            <a:chExt cx="6519335" cy="7620000"/>
          </a:xfrm>
        </p:grpSpPr>
        <p:sp>
          <p:nvSpPr>
            <p:cNvPr name="Freeform 45" id="45"/>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46" id="46"/>
          <p:cNvGrpSpPr/>
          <p:nvPr/>
        </p:nvGrpSpPr>
        <p:grpSpPr>
          <a:xfrm rot="0">
            <a:off x="8417764" y="-12702"/>
            <a:ext cx="4281490" cy="10299700"/>
            <a:chOff x="0" y="0"/>
            <a:chExt cx="5708653" cy="13732933"/>
          </a:xfrm>
        </p:grpSpPr>
        <p:sp>
          <p:nvSpPr>
            <p:cNvPr name="Freeform 47" id="47"/>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48" id="48"/>
          <p:cNvGrpSpPr/>
          <p:nvPr/>
        </p:nvGrpSpPr>
        <p:grpSpPr>
          <a:xfrm rot="0">
            <a:off x="9973513" y="5384799"/>
            <a:ext cx="2725739" cy="4902199"/>
            <a:chOff x="0" y="0"/>
            <a:chExt cx="3634319" cy="6536266"/>
          </a:xfrm>
        </p:grpSpPr>
        <p:sp>
          <p:nvSpPr>
            <p:cNvPr name="Freeform 49" id="49"/>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sp>
        <p:nvSpPr>
          <p:cNvPr name="TextBox 50" id="50"/>
          <p:cNvSpPr txBox="true"/>
          <p:nvPr/>
        </p:nvSpPr>
        <p:spPr>
          <a:xfrm rot="0">
            <a:off x="1107442" y="4325736"/>
            <a:ext cx="7461210" cy="1647825"/>
          </a:xfrm>
          <a:prstGeom prst="rect">
            <a:avLst/>
          </a:prstGeom>
        </p:spPr>
        <p:txBody>
          <a:bodyPr anchor="t" rtlCol="false" tIns="0" lIns="0" bIns="0" rIns="0">
            <a:spAutoFit/>
          </a:bodyPr>
          <a:lstStyle/>
          <a:p>
            <a:pPr algn="r">
              <a:lnSpc>
                <a:spcPts val="12960"/>
              </a:lnSpc>
            </a:pPr>
            <a:r>
              <a:rPr lang="en-US" sz="10800" spc="120">
                <a:solidFill>
                  <a:srgbClr val="90C226"/>
                </a:solidFill>
                <a:latin typeface="Trebuchet MS"/>
                <a:ea typeface="Trebuchet MS"/>
                <a:cs typeface="Trebuchet MS"/>
                <a:sym typeface="Trebuchet MS"/>
              </a:rPr>
              <a:t>PAGP</a:t>
            </a:r>
          </a:p>
        </p:txBody>
      </p:sp>
      <p:grpSp>
        <p:nvGrpSpPr>
          <p:cNvPr name="Group 51" id="51"/>
          <p:cNvGrpSpPr/>
          <p:nvPr/>
        </p:nvGrpSpPr>
        <p:grpSpPr>
          <a:xfrm rot="0">
            <a:off x="10704744" y="-12702"/>
            <a:ext cx="7612396" cy="10299702"/>
            <a:chOff x="0" y="0"/>
            <a:chExt cx="10149861" cy="13732936"/>
          </a:xfrm>
        </p:grpSpPr>
        <p:sp>
          <p:nvSpPr>
            <p:cNvPr name="Freeform 52" id="52"/>
            <p:cNvSpPr/>
            <p:nvPr/>
          </p:nvSpPr>
          <p:spPr>
            <a:xfrm flipH="false" flipV="false" rot="0">
              <a:off x="0" y="0"/>
              <a:ext cx="10149840" cy="13732890"/>
            </a:xfrm>
            <a:custGeom>
              <a:avLst/>
              <a:gdLst/>
              <a:ahLst/>
              <a:cxnLst/>
              <a:rect r="r" b="b" t="t" l="l"/>
              <a:pathLst>
                <a:path h="13732890" w="10149840">
                  <a:moveTo>
                    <a:pt x="0" y="0"/>
                  </a:moveTo>
                  <a:lnTo>
                    <a:pt x="2499614" y="0"/>
                  </a:lnTo>
                  <a:lnTo>
                    <a:pt x="2499614" y="16891"/>
                  </a:lnTo>
                  <a:lnTo>
                    <a:pt x="10149840" y="16891"/>
                  </a:lnTo>
                  <a:lnTo>
                    <a:pt x="10149840" y="13732890"/>
                  </a:lnTo>
                  <a:lnTo>
                    <a:pt x="2499614" y="13732890"/>
                  </a:lnTo>
                  <a:lnTo>
                    <a:pt x="2218817" y="13732890"/>
                  </a:lnTo>
                  <a:close/>
                </a:path>
              </a:pathLst>
            </a:custGeom>
            <a:solidFill>
              <a:srgbClr val="90C226"/>
            </a:solidFill>
          </p:spPr>
        </p:sp>
      </p:gr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sp>
        <p:nvSpPr>
          <p:cNvPr name="TextBox 20" id="20"/>
          <p:cNvSpPr txBox="true"/>
          <p:nvPr/>
        </p:nvSpPr>
        <p:spPr>
          <a:xfrm rot="0">
            <a:off x="2091692" y="941070"/>
            <a:ext cx="12712122" cy="1908810"/>
          </a:xfrm>
          <a:prstGeom prst="rect">
            <a:avLst/>
          </a:prstGeom>
        </p:spPr>
        <p:txBody>
          <a:bodyPr anchor="t" rtlCol="false" tIns="0" lIns="0" bIns="0" rIns="0">
            <a:spAutoFit/>
          </a:bodyPr>
          <a:lstStyle/>
          <a:p>
            <a:pPr algn="l">
              <a:lnSpc>
                <a:spcPts val="8640"/>
              </a:lnSpc>
            </a:pPr>
            <a:r>
              <a:rPr lang="en-US" sz="7200" spc="120">
                <a:solidFill>
                  <a:srgbClr val="90C226"/>
                </a:solidFill>
                <a:latin typeface="Trebuchet MS"/>
                <a:ea typeface="Trebuchet MS"/>
                <a:cs typeface="Trebuchet MS"/>
                <a:sym typeface="Trebuchet MS"/>
              </a:rPr>
              <a:t>PAGP</a:t>
            </a:r>
          </a:p>
        </p:txBody>
      </p:sp>
      <p:grpSp>
        <p:nvGrpSpPr>
          <p:cNvPr name="Group 21" id="21"/>
          <p:cNvGrpSpPr/>
          <p:nvPr/>
        </p:nvGrpSpPr>
        <p:grpSpPr>
          <a:xfrm rot="0">
            <a:off x="0" y="0"/>
            <a:ext cx="673098" cy="4267200"/>
            <a:chOff x="0" y="0"/>
            <a:chExt cx="897464" cy="5689600"/>
          </a:xfrm>
        </p:grpSpPr>
        <p:sp>
          <p:nvSpPr>
            <p:cNvPr name="Freeform 22" id="22"/>
            <p:cNvSpPr/>
            <p:nvPr/>
          </p:nvSpPr>
          <p:spPr>
            <a:xfrm flipH="false" flipV="false" rot="0">
              <a:off x="0" y="0"/>
              <a:ext cx="897509" cy="5689600"/>
            </a:xfrm>
            <a:custGeom>
              <a:avLst/>
              <a:gdLst/>
              <a:ahLst/>
              <a:cxnLst/>
              <a:rect r="r" b="b" t="t" l="l"/>
              <a:pathLst>
                <a:path h="5689600" w="897509">
                  <a:moveTo>
                    <a:pt x="0" y="0"/>
                  </a:moveTo>
                  <a:lnTo>
                    <a:pt x="0" y="5689600"/>
                  </a:lnTo>
                  <a:lnTo>
                    <a:pt x="897509" y="0"/>
                  </a:lnTo>
                  <a:close/>
                </a:path>
              </a:pathLst>
            </a:custGeom>
            <a:solidFill>
              <a:srgbClr val="90C226">
                <a:alpha val="84706"/>
              </a:srgbClr>
            </a:solidFill>
          </p:spPr>
        </p:sp>
      </p:grpSp>
      <p:grpSp>
        <p:nvGrpSpPr>
          <p:cNvPr name="Group 23" id="23"/>
          <p:cNvGrpSpPr/>
          <p:nvPr/>
        </p:nvGrpSpPr>
        <p:grpSpPr>
          <a:xfrm rot="0">
            <a:off x="11607800" y="5727700"/>
            <a:ext cx="6675438" cy="4559300"/>
            <a:chOff x="0" y="0"/>
            <a:chExt cx="8900584" cy="6079067"/>
          </a:xfrm>
        </p:grpSpPr>
        <p:sp>
          <p:nvSpPr>
            <p:cNvPr name="Freeform 24" id="24"/>
            <p:cNvSpPr/>
            <p:nvPr/>
          </p:nvSpPr>
          <p:spPr>
            <a:xfrm flipH="false" flipV="false" rot="0">
              <a:off x="0" y="0"/>
              <a:ext cx="8900541" cy="6079109"/>
            </a:xfrm>
            <a:custGeom>
              <a:avLst/>
              <a:gdLst/>
              <a:ahLst/>
              <a:cxnLst/>
              <a:rect r="r" b="b" t="t" l="l"/>
              <a:pathLst>
                <a:path h="6079109" w="8900541">
                  <a:moveTo>
                    <a:pt x="0" y="6079109"/>
                  </a:moveTo>
                  <a:lnTo>
                    <a:pt x="8900541" y="0"/>
                  </a:lnTo>
                  <a:lnTo>
                    <a:pt x="8900541" y="6079109"/>
                  </a:lnTo>
                  <a:close/>
                </a:path>
              </a:pathLst>
            </a:custGeom>
            <a:solidFill>
              <a:srgbClr val="90C226"/>
            </a:solidFill>
          </p:spPr>
        </p:sp>
      </p:grpSp>
      <p:sp>
        <p:nvSpPr>
          <p:cNvPr name="AutoShape 25" id="25"/>
          <p:cNvSpPr/>
          <p:nvPr/>
        </p:nvSpPr>
        <p:spPr>
          <a:xfrm rot="4544398">
            <a:off x="11173900" y="5143500"/>
            <a:ext cx="10646801" cy="0"/>
          </a:xfrm>
          <a:prstGeom prst="line">
            <a:avLst/>
          </a:prstGeom>
          <a:ln cap="rnd" w="9525">
            <a:solidFill>
              <a:srgbClr val="54A021"/>
            </a:solidFill>
            <a:prstDash val="solid"/>
            <a:headEnd type="none" len="sm" w="sm"/>
            <a:tailEnd type="none" len="sm" w="sm"/>
          </a:ln>
        </p:spPr>
      </p:sp>
      <p:sp>
        <p:nvSpPr>
          <p:cNvPr name="AutoShape 26" id="26"/>
          <p:cNvSpPr/>
          <p:nvPr/>
        </p:nvSpPr>
        <p:spPr>
          <a:xfrm rot="8774650">
            <a:off x="10394371" y="7904559"/>
            <a:ext cx="8632395" cy="0"/>
          </a:xfrm>
          <a:prstGeom prst="line">
            <a:avLst/>
          </a:prstGeom>
          <a:ln cap="rnd" w="9525">
            <a:solidFill>
              <a:srgbClr val="90C226"/>
            </a:solidFill>
            <a:prstDash val="solid"/>
            <a:headEnd type="none" len="sm" w="sm"/>
            <a:tailEnd type="none" len="sm" w="sm"/>
          </a:ln>
        </p:spPr>
      </p:sp>
      <p:sp>
        <p:nvSpPr>
          <p:cNvPr name="TextBox 27" id="27"/>
          <p:cNvSpPr txBox="true"/>
          <p:nvPr/>
        </p:nvSpPr>
        <p:spPr>
          <a:xfrm rot="0">
            <a:off x="2091692" y="3315179"/>
            <a:ext cx="12523468" cy="4595241"/>
          </a:xfrm>
          <a:prstGeom prst="rect">
            <a:avLst/>
          </a:prstGeom>
        </p:spPr>
        <p:txBody>
          <a:bodyPr anchor="t" rtlCol="false" tIns="0" lIns="0" bIns="0" rIns="0">
            <a:spAutoFit/>
          </a:bodyPr>
          <a:lstStyle/>
          <a:p>
            <a:pPr algn="just" marL="845820" indent="-422910" lvl="1">
              <a:lnSpc>
                <a:spcPts val="3672"/>
              </a:lnSpc>
              <a:buFont typeface="Arial"/>
              <a:buChar char="•"/>
            </a:pPr>
            <a:r>
              <a:rPr lang="en-US" sz="3400">
                <a:solidFill>
                  <a:srgbClr val="404040"/>
                </a:solidFill>
                <a:latin typeface="Trebuchet MS"/>
                <a:ea typeface="Trebuchet MS"/>
                <a:cs typeface="Trebuchet MS"/>
                <a:sym typeface="Trebuchet MS"/>
              </a:rPr>
              <a:t>El PAGP es un protocolo patentado por Cisco que sólo puede ejecutarse en los switches Cisco o en los switches cuyos proveedores licencian su compatibilidad con el PAGP. Este protocolo facilita la creación automática de Etherchannel mediante el intercambio de paquetes PAGP entre puertos Ethernet; los switches intercambian paquetes PAGP a través de puertos con capacidad para Etherchannel. Los puertos con el mismo ID de dispositivo vecino y la misma capacidad de grupo de puertos se agrupan en un enlace Etherchannel bidireccional punto a punto.</a:t>
            </a:r>
          </a:p>
        </p:txBody>
      </p:sp>
      <p:grpSp>
        <p:nvGrpSpPr>
          <p:cNvPr name="Group 28" id="28"/>
          <p:cNvGrpSpPr/>
          <p:nvPr/>
        </p:nvGrpSpPr>
        <p:grpSpPr>
          <a:xfrm rot="0">
            <a:off x="15638460" y="0"/>
            <a:ext cx="2649540" cy="10287000"/>
            <a:chOff x="0" y="0"/>
            <a:chExt cx="3532720" cy="13716000"/>
          </a:xfrm>
        </p:grpSpPr>
        <p:sp>
          <p:nvSpPr>
            <p:cNvPr name="Freeform 29" id="29"/>
            <p:cNvSpPr/>
            <p:nvPr/>
          </p:nvSpPr>
          <p:spPr>
            <a:xfrm flipH="false" flipV="false" rot="0">
              <a:off x="0" y="0"/>
              <a:ext cx="3532759" cy="13716000"/>
            </a:xfrm>
            <a:custGeom>
              <a:avLst/>
              <a:gdLst/>
              <a:ahLst/>
              <a:cxnLst/>
              <a:rect r="r" b="b" t="t" l="l"/>
              <a:pathLst>
                <a:path h="13716000" w="3532759">
                  <a:moveTo>
                    <a:pt x="0" y="0"/>
                  </a:moveTo>
                  <a:lnTo>
                    <a:pt x="3532759" y="0"/>
                  </a:lnTo>
                  <a:lnTo>
                    <a:pt x="3532759" y="13716000"/>
                  </a:lnTo>
                  <a:lnTo>
                    <a:pt x="3058033" y="13716000"/>
                  </a:lnTo>
                  <a:lnTo>
                    <a:pt x="0" y="0"/>
                  </a:lnTo>
                  <a:close/>
                </a:path>
              </a:pathLst>
            </a:custGeom>
            <a:solidFill>
              <a:srgbClr val="54A021"/>
            </a:solidFill>
          </p:spPr>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sp>
        <p:nvSpPr>
          <p:cNvPr name="Freeform 20" id="20"/>
          <p:cNvSpPr/>
          <p:nvPr/>
        </p:nvSpPr>
        <p:spPr>
          <a:xfrm flipH="false" flipV="false" rot="0">
            <a:off x="2604450" y="673450"/>
            <a:ext cx="11906248" cy="8724898"/>
          </a:xfrm>
          <a:custGeom>
            <a:avLst/>
            <a:gdLst/>
            <a:ahLst/>
            <a:cxnLst/>
            <a:rect r="r" b="b" t="t" l="l"/>
            <a:pathLst>
              <a:path h="8724898" w="11906248">
                <a:moveTo>
                  <a:pt x="0" y="0"/>
                </a:moveTo>
                <a:lnTo>
                  <a:pt x="11906248" y="0"/>
                </a:lnTo>
                <a:lnTo>
                  <a:pt x="11906248" y="8724898"/>
                </a:lnTo>
                <a:lnTo>
                  <a:pt x="0" y="8724898"/>
                </a:lnTo>
                <a:lnTo>
                  <a:pt x="0" y="0"/>
                </a:lnTo>
                <a:close/>
              </a:path>
            </a:pathLst>
          </a:custGeom>
          <a:blipFill>
            <a:blip r:embed="rId2"/>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p:cSld>
    <p:bg>
      <p:bgPr>
        <a:solidFill>
          <a:srgbClr val="2C3C43"/>
        </a:solidFill>
      </p:bgPr>
    </p:bg>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sp>
        <p:nvSpPr>
          <p:cNvPr name="AutoShape 20" id="20"/>
          <p:cNvSpPr/>
          <p:nvPr/>
        </p:nvSpPr>
        <p:spPr>
          <a:xfrm rot="4791364">
            <a:off x="9738485" y="5143500"/>
            <a:ext cx="10464869" cy="0"/>
          </a:xfrm>
          <a:prstGeom prst="line">
            <a:avLst/>
          </a:prstGeom>
          <a:ln cap="rnd" w="9525">
            <a:solidFill>
              <a:srgbClr val="000000"/>
            </a:solidFill>
            <a:prstDash val="solid"/>
            <a:headEnd type="none" len="sm" w="sm"/>
            <a:tailEnd type="none" len="sm" w="sm"/>
          </a:ln>
        </p:spPr>
      </p:sp>
      <p:sp>
        <p:nvSpPr>
          <p:cNvPr name="AutoShape 21" id="21"/>
          <p:cNvSpPr/>
          <p:nvPr/>
        </p:nvSpPr>
        <p:spPr>
          <a:xfrm rot="8776574">
            <a:off x="10406483" y="7904560"/>
            <a:ext cx="8608175" cy="0"/>
          </a:xfrm>
          <a:prstGeom prst="line">
            <a:avLst/>
          </a:prstGeom>
          <a:ln cap="rnd" w="9525">
            <a:solidFill>
              <a:srgbClr val="000000"/>
            </a:solidFill>
            <a:prstDash val="solid"/>
            <a:headEnd type="none" len="sm" w="sm"/>
            <a:tailEnd type="none" len="sm" w="sm"/>
          </a:ln>
        </p:spPr>
      </p:sp>
      <p:grpSp>
        <p:nvGrpSpPr>
          <p:cNvPr name="Group 22" id="22"/>
          <p:cNvGrpSpPr/>
          <p:nvPr/>
        </p:nvGrpSpPr>
        <p:grpSpPr>
          <a:xfrm rot="0">
            <a:off x="13772216" y="-12700"/>
            <a:ext cx="4511024" cy="10299700"/>
            <a:chOff x="0" y="0"/>
            <a:chExt cx="6014699" cy="13732933"/>
          </a:xfrm>
        </p:grpSpPr>
        <p:sp>
          <p:nvSpPr>
            <p:cNvPr name="Freeform 23" id="23"/>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24" id="24"/>
          <p:cNvGrpSpPr/>
          <p:nvPr/>
        </p:nvGrpSpPr>
        <p:grpSpPr>
          <a:xfrm rot="0">
            <a:off x="14405165" y="-12700"/>
            <a:ext cx="3882837" cy="10299700"/>
            <a:chOff x="0" y="0"/>
            <a:chExt cx="5177117" cy="13732933"/>
          </a:xfrm>
        </p:grpSpPr>
        <p:sp>
          <p:nvSpPr>
            <p:cNvPr name="Freeform 25" id="25"/>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26" id="26"/>
          <p:cNvGrpSpPr/>
          <p:nvPr/>
        </p:nvGrpSpPr>
        <p:grpSpPr>
          <a:xfrm rot="0">
            <a:off x="13398501" y="4572000"/>
            <a:ext cx="4889501" cy="5715000"/>
            <a:chOff x="0" y="0"/>
            <a:chExt cx="6519335" cy="7620000"/>
          </a:xfrm>
        </p:grpSpPr>
        <p:sp>
          <p:nvSpPr>
            <p:cNvPr name="Freeform 27" id="27"/>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28" id="28"/>
          <p:cNvGrpSpPr/>
          <p:nvPr/>
        </p:nvGrpSpPr>
        <p:grpSpPr>
          <a:xfrm rot="0">
            <a:off x="14001752" y="-12700"/>
            <a:ext cx="4281489" cy="10299700"/>
            <a:chOff x="0" y="0"/>
            <a:chExt cx="5708653" cy="13732933"/>
          </a:xfrm>
        </p:grpSpPr>
        <p:sp>
          <p:nvSpPr>
            <p:cNvPr name="Freeform 29" id="29"/>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30" id="30"/>
          <p:cNvGrpSpPr/>
          <p:nvPr/>
        </p:nvGrpSpPr>
        <p:grpSpPr>
          <a:xfrm rot="0">
            <a:off x="16348097" y="-12700"/>
            <a:ext cx="1935141" cy="10299700"/>
            <a:chOff x="0" y="0"/>
            <a:chExt cx="2580188" cy="13732933"/>
          </a:xfrm>
        </p:grpSpPr>
        <p:sp>
          <p:nvSpPr>
            <p:cNvPr name="Freeform 31" id="31"/>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32" id="32"/>
          <p:cNvGrpSpPr/>
          <p:nvPr/>
        </p:nvGrpSpPr>
        <p:grpSpPr>
          <a:xfrm rot="0">
            <a:off x="16408500" y="-12700"/>
            <a:ext cx="1874738" cy="10299700"/>
            <a:chOff x="0" y="0"/>
            <a:chExt cx="2499650" cy="13732933"/>
          </a:xfrm>
        </p:grpSpPr>
        <p:sp>
          <p:nvSpPr>
            <p:cNvPr name="Freeform 33" id="33"/>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34" id="34"/>
          <p:cNvGrpSpPr/>
          <p:nvPr/>
        </p:nvGrpSpPr>
        <p:grpSpPr>
          <a:xfrm rot="0">
            <a:off x="15557501" y="5384801"/>
            <a:ext cx="2725739" cy="4902199"/>
            <a:chOff x="0" y="0"/>
            <a:chExt cx="3634318" cy="6536266"/>
          </a:xfrm>
        </p:grpSpPr>
        <p:sp>
          <p:nvSpPr>
            <p:cNvPr name="Freeform 35" id="35"/>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36" id="36"/>
          <p:cNvGrpSpPr/>
          <p:nvPr/>
        </p:nvGrpSpPr>
        <p:grpSpPr>
          <a:xfrm rot="-10800000">
            <a:off x="0" y="0"/>
            <a:ext cx="1263894" cy="8499231"/>
            <a:chOff x="0" y="0"/>
            <a:chExt cx="1685192" cy="11332307"/>
          </a:xfrm>
        </p:grpSpPr>
        <p:sp>
          <p:nvSpPr>
            <p:cNvPr name="Freeform 37" id="37"/>
            <p:cNvSpPr/>
            <p:nvPr/>
          </p:nvSpPr>
          <p:spPr>
            <a:xfrm flipH="false" flipV="false" rot="0">
              <a:off x="0" y="0"/>
              <a:ext cx="1685163" cy="11332337"/>
            </a:xfrm>
            <a:custGeom>
              <a:avLst/>
              <a:gdLst/>
              <a:ahLst/>
              <a:cxnLst/>
              <a:rect r="r" b="b" t="t" l="l"/>
              <a:pathLst>
                <a:path h="11332337" w="1685163">
                  <a:moveTo>
                    <a:pt x="0" y="11332337"/>
                  </a:moveTo>
                  <a:lnTo>
                    <a:pt x="1685163" y="0"/>
                  </a:lnTo>
                  <a:lnTo>
                    <a:pt x="1685163" y="11332337"/>
                  </a:lnTo>
                  <a:close/>
                </a:path>
              </a:pathLst>
            </a:custGeom>
            <a:solidFill>
              <a:srgbClr val="90C226">
                <a:alpha val="84706"/>
              </a:srgbClr>
            </a:solidFill>
          </p:spPr>
        </p:sp>
      </p:grpSp>
      <p:sp>
        <p:nvSpPr>
          <p:cNvPr name="AutoShape 38" id="38"/>
          <p:cNvSpPr/>
          <p:nvPr/>
        </p:nvSpPr>
        <p:spPr>
          <a:xfrm rot="4791364">
            <a:off x="9738485" y="5143500"/>
            <a:ext cx="10464869" cy="0"/>
          </a:xfrm>
          <a:prstGeom prst="line">
            <a:avLst/>
          </a:prstGeom>
          <a:ln cap="rnd" w="9525">
            <a:solidFill>
              <a:srgbClr val="FFFFFF"/>
            </a:solidFill>
            <a:prstDash val="solid"/>
            <a:headEnd type="none" len="sm" w="sm"/>
            <a:tailEnd type="none" len="sm" w="sm"/>
          </a:ln>
        </p:spPr>
      </p:sp>
      <p:sp>
        <p:nvSpPr>
          <p:cNvPr name="AutoShape 39" id="39"/>
          <p:cNvSpPr/>
          <p:nvPr/>
        </p:nvSpPr>
        <p:spPr>
          <a:xfrm rot="8776574">
            <a:off x="10406483" y="7904560"/>
            <a:ext cx="8608175" cy="0"/>
          </a:xfrm>
          <a:prstGeom prst="line">
            <a:avLst/>
          </a:prstGeom>
          <a:ln cap="rnd" w="9525">
            <a:solidFill>
              <a:srgbClr val="000000"/>
            </a:solidFill>
            <a:prstDash val="solid"/>
            <a:headEnd type="none" len="sm" w="sm"/>
            <a:tailEnd type="none" len="sm" w="sm"/>
          </a:ln>
        </p:spPr>
      </p:sp>
      <p:grpSp>
        <p:nvGrpSpPr>
          <p:cNvPr name="Group 40" id="40"/>
          <p:cNvGrpSpPr/>
          <p:nvPr/>
        </p:nvGrpSpPr>
        <p:grpSpPr>
          <a:xfrm rot="0">
            <a:off x="13772216" y="-12700"/>
            <a:ext cx="4511024" cy="10299700"/>
            <a:chOff x="0" y="0"/>
            <a:chExt cx="6014699" cy="13732933"/>
          </a:xfrm>
        </p:grpSpPr>
        <p:sp>
          <p:nvSpPr>
            <p:cNvPr name="Freeform 41" id="41"/>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42" id="42"/>
          <p:cNvGrpSpPr/>
          <p:nvPr/>
        </p:nvGrpSpPr>
        <p:grpSpPr>
          <a:xfrm rot="0">
            <a:off x="14405165" y="-12700"/>
            <a:ext cx="3882837" cy="10299700"/>
            <a:chOff x="0" y="0"/>
            <a:chExt cx="5177117" cy="13732933"/>
          </a:xfrm>
        </p:grpSpPr>
        <p:sp>
          <p:nvSpPr>
            <p:cNvPr name="Freeform 43" id="43"/>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44" id="44"/>
          <p:cNvGrpSpPr/>
          <p:nvPr/>
        </p:nvGrpSpPr>
        <p:grpSpPr>
          <a:xfrm rot="0">
            <a:off x="13398501" y="4572000"/>
            <a:ext cx="4889501" cy="5715000"/>
            <a:chOff x="0" y="0"/>
            <a:chExt cx="6519335" cy="7620000"/>
          </a:xfrm>
        </p:grpSpPr>
        <p:sp>
          <p:nvSpPr>
            <p:cNvPr name="Freeform 45" id="45"/>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46" id="46"/>
          <p:cNvGrpSpPr/>
          <p:nvPr/>
        </p:nvGrpSpPr>
        <p:grpSpPr>
          <a:xfrm rot="0">
            <a:off x="14001752" y="-12700"/>
            <a:ext cx="4281489" cy="10299700"/>
            <a:chOff x="0" y="0"/>
            <a:chExt cx="5708653" cy="13732933"/>
          </a:xfrm>
        </p:grpSpPr>
        <p:sp>
          <p:nvSpPr>
            <p:cNvPr name="Freeform 47" id="47"/>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48" id="48"/>
          <p:cNvGrpSpPr/>
          <p:nvPr/>
        </p:nvGrpSpPr>
        <p:grpSpPr>
          <a:xfrm rot="0">
            <a:off x="16408500" y="-12700"/>
            <a:ext cx="1874738" cy="10299700"/>
            <a:chOff x="0" y="0"/>
            <a:chExt cx="2499650" cy="13732933"/>
          </a:xfrm>
        </p:grpSpPr>
        <p:sp>
          <p:nvSpPr>
            <p:cNvPr name="Freeform 49" id="49"/>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50" id="50"/>
          <p:cNvGrpSpPr/>
          <p:nvPr/>
        </p:nvGrpSpPr>
        <p:grpSpPr>
          <a:xfrm rot="0">
            <a:off x="15557501" y="5384801"/>
            <a:ext cx="2725739" cy="4902199"/>
            <a:chOff x="0" y="0"/>
            <a:chExt cx="3634318" cy="6536266"/>
          </a:xfrm>
        </p:grpSpPr>
        <p:sp>
          <p:nvSpPr>
            <p:cNvPr name="Freeform 51" id="51"/>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52" id="52"/>
          <p:cNvGrpSpPr/>
          <p:nvPr/>
        </p:nvGrpSpPr>
        <p:grpSpPr>
          <a:xfrm rot="-10800000">
            <a:off x="0" y="0"/>
            <a:ext cx="1263894" cy="8499231"/>
            <a:chOff x="0" y="0"/>
            <a:chExt cx="1685192" cy="11332307"/>
          </a:xfrm>
        </p:grpSpPr>
        <p:sp>
          <p:nvSpPr>
            <p:cNvPr name="Freeform 53" id="53"/>
            <p:cNvSpPr/>
            <p:nvPr/>
          </p:nvSpPr>
          <p:spPr>
            <a:xfrm flipH="false" flipV="false" rot="0">
              <a:off x="0" y="0"/>
              <a:ext cx="1685163" cy="11332337"/>
            </a:xfrm>
            <a:custGeom>
              <a:avLst/>
              <a:gdLst/>
              <a:ahLst/>
              <a:cxnLst/>
              <a:rect r="r" b="b" t="t" l="l"/>
              <a:pathLst>
                <a:path h="11332337" w="1685163">
                  <a:moveTo>
                    <a:pt x="0" y="11332337"/>
                  </a:moveTo>
                  <a:lnTo>
                    <a:pt x="1685163" y="0"/>
                  </a:lnTo>
                  <a:lnTo>
                    <a:pt x="1685163" y="11332337"/>
                  </a:lnTo>
                  <a:close/>
                </a:path>
              </a:pathLst>
            </a:custGeom>
            <a:solidFill>
              <a:srgbClr val="90C226">
                <a:alpha val="84706"/>
              </a:srgbClr>
            </a:solidFill>
          </p:spPr>
        </p:sp>
      </p:grpSp>
      <p:sp>
        <p:nvSpPr>
          <p:cNvPr name="TextBox 54" id="54"/>
          <p:cNvSpPr txBox="true"/>
          <p:nvPr/>
        </p:nvSpPr>
        <p:spPr>
          <a:xfrm rot="0">
            <a:off x="2352040" y="4845243"/>
            <a:ext cx="11467524" cy="1185291"/>
          </a:xfrm>
          <a:prstGeom prst="rect">
            <a:avLst/>
          </a:prstGeom>
        </p:spPr>
        <p:txBody>
          <a:bodyPr anchor="t" rtlCol="false" tIns="0" lIns="0" bIns="0" rIns="0">
            <a:spAutoFit/>
          </a:bodyPr>
          <a:lstStyle/>
          <a:p>
            <a:pPr algn="r">
              <a:lnSpc>
                <a:spcPts val="9072"/>
              </a:lnSpc>
            </a:pPr>
            <a:r>
              <a:rPr lang="en-US" sz="8400" spc="-260">
                <a:solidFill>
                  <a:srgbClr val="90C226"/>
                </a:solidFill>
                <a:latin typeface="Trebuchet MS"/>
                <a:ea typeface="Trebuchet MS"/>
                <a:cs typeface="Trebuchet MS"/>
                <a:sym typeface="Trebuchet MS"/>
              </a:rPr>
              <a:t>¡</a:t>
            </a:r>
            <a:r>
              <a:rPr lang="en-US" sz="8400" spc="-260">
                <a:solidFill>
                  <a:srgbClr val="90C226"/>
                </a:solidFill>
                <a:latin typeface="Trebuchet MS"/>
                <a:ea typeface="Trebuchet MS"/>
                <a:cs typeface="Trebuchet MS"/>
                <a:sym typeface="Trebuchet MS"/>
              </a:rPr>
              <a:t>Gracias por su atención!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DAF-Tp_Et1U</dc:identifier>
  <dcterms:modified xsi:type="dcterms:W3CDTF">2011-08-01T06:04:30Z</dcterms:modified>
  <cp:revision>1</cp:revision>
  <dc:title>Clase 6.pptx</dc:title>
</cp:coreProperties>
</file>