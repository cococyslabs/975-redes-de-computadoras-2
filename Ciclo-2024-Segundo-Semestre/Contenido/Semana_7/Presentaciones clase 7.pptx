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1430000" cy="9677400"/>
  <p:notesSz cx="11430000" cy="9677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57250" y="1998027"/>
            <a:ext cx="9715500" cy="13535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0" i="0">
                <a:solidFill>
                  <a:srgbClr val="C6BEEE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14500" y="3609340"/>
            <a:ext cx="8001000" cy="16113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rgbClr val="C6BEEE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rgbClr val="C6BEEE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7150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88645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rgbClr val="C6BEEE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0A0C22">
              <a:alpha val="948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948631" y="920750"/>
            <a:ext cx="5777230" cy="1073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0" i="0">
                <a:solidFill>
                  <a:srgbClr val="C6BEEE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933950" y="2324099"/>
            <a:ext cx="5848350" cy="31527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886200" y="5994082"/>
            <a:ext cx="36576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715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2296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7143750" y="253"/>
            <a:ext cx="4286250" cy="6438900"/>
            <a:chOff x="7143750" y="253"/>
            <a:chExt cx="4286250" cy="64389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750" y="253"/>
              <a:ext cx="4286249" cy="6438645"/>
            </a:xfrm>
            <a:prstGeom prst="rect">
              <a:avLst/>
            </a:prstGeom>
          </p:spPr>
        </p:pic>
        <p:pic>
          <p:nvPicPr>
            <p:cNvPr id="4" name="object 4" descr="">
              <a:hlinkClick r:id="rId3"/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80244" y="5926073"/>
              <a:ext cx="1754504" cy="4191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62385" y="815022"/>
            <a:ext cx="4055745" cy="295465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650" spc="250">
                <a:latin typeface="Trebuchet MS"/>
                <a:cs typeface="Trebuchet MS"/>
              </a:rPr>
              <a:t>BGP</a:t>
            </a:r>
            <a:r>
              <a:rPr dirty="0" sz="4650" spc="280">
                <a:latin typeface="Trebuchet MS"/>
                <a:cs typeface="Trebuchet MS"/>
              </a:rPr>
              <a:t> </a:t>
            </a:r>
            <a:r>
              <a:rPr dirty="0" sz="4650" spc="500">
                <a:latin typeface="Trebuchet MS"/>
                <a:cs typeface="Trebuchet MS"/>
              </a:rPr>
              <a:t>y</a:t>
            </a:r>
            <a:r>
              <a:rPr dirty="0" sz="4650" spc="280">
                <a:latin typeface="Trebuchet MS"/>
                <a:cs typeface="Trebuchet MS"/>
              </a:rPr>
              <a:t> </a:t>
            </a:r>
            <a:r>
              <a:rPr dirty="0" sz="4650" spc="-20">
                <a:latin typeface="Trebuchet MS"/>
                <a:cs typeface="Trebuchet MS"/>
              </a:rPr>
              <a:t>RIP:</a:t>
            </a:r>
            <a:endParaRPr sz="4650">
              <a:latin typeface="Trebuchet MS"/>
              <a:cs typeface="Trebuchet MS"/>
            </a:endParaRPr>
          </a:p>
          <a:p>
            <a:pPr marL="12700" marR="5080">
              <a:lnSpc>
                <a:spcPct val="104200"/>
              </a:lnSpc>
              <a:spcBef>
                <a:spcPts val="35"/>
              </a:spcBef>
            </a:pPr>
            <a:r>
              <a:rPr dirty="0" sz="4650" spc="225">
                <a:latin typeface="Trebuchet MS"/>
                <a:cs typeface="Trebuchet MS"/>
              </a:rPr>
              <a:t>Protocolo</a:t>
            </a:r>
            <a:r>
              <a:rPr dirty="0" cap="small" sz="4650" spc="225">
                <a:latin typeface="Trebuchet MS"/>
                <a:cs typeface="Trebuchet MS"/>
              </a:rPr>
              <a:t>s</a:t>
            </a:r>
            <a:r>
              <a:rPr dirty="0" sz="4650" spc="280">
                <a:latin typeface="Trebuchet MS"/>
                <a:cs typeface="Trebuchet MS"/>
              </a:rPr>
              <a:t> </a:t>
            </a:r>
            <a:r>
              <a:rPr dirty="0" sz="4650" spc="215">
                <a:latin typeface="Trebuchet MS"/>
                <a:cs typeface="Trebuchet MS"/>
              </a:rPr>
              <a:t>de </a:t>
            </a:r>
            <a:r>
              <a:rPr dirty="0" sz="4650" spc="145">
                <a:latin typeface="Trebuchet MS"/>
                <a:cs typeface="Trebuchet MS"/>
              </a:rPr>
              <a:t>Enrutamiento </a:t>
            </a:r>
            <a:r>
              <a:rPr dirty="0" sz="4650" spc="190">
                <a:latin typeface="Trebuchet MS"/>
                <a:cs typeface="Trebuchet MS"/>
              </a:rPr>
              <a:t>E</a:t>
            </a:r>
            <a:r>
              <a:rPr dirty="0" cap="small" sz="4650" spc="190">
                <a:latin typeface="Trebuchet MS"/>
                <a:cs typeface="Trebuchet MS"/>
              </a:rPr>
              <a:t>s</a:t>
            </a:r>
            <a:r>
              <a:rPr dirty="0" sz="4650" spc="190">
                <a:latin typeface="Trebuchet MS"/>
                <a:cs typeface="Trebuchet MS"/>
              </a:rPr>
              <a:t>enciale</a:t>
            </a:r>
            <a:r>
              <a:rPr dirty="0" cap="small" sz="4650" spc="190">
                <a:latin typeface="Trebuchet MS"/>
                <a:cs typeface="Trebuchet MS"/>
              </a:rPr>
              <a:t>s</a:t>
            </a:r>
            <a:endParaRPr sz="4650">
              <a:latin typeface="Trebuchet MS"/>
              <a:cs typeface="Trebuchet MS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662385" y="4035901"/>
            <a:ext cx="5600700" cy="939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33300"/>
              </a:lnSpc>
              <a:spcBef>
                <a:spcPts val="95"/>
              </a:spcBef>
            </a:pPr>
            <a:r>
              <a:rPr dirty="0" sz="1500" spc="-65">
                <a:solidFill>
                  <a:srgbClr val="DAD8E9"/>
                </a:solidFill>
                <a:latin typeface="Trebuchet MS"/>
                <a:cs typeface="Trebuchet MS"/>
              </a:rPr>
              <a:t>Bienvenidos</a:t>
            </a:r>
            <a:r>
              <a:rPr dirty="0" sz="1500" spc="-75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dirty="0" sz="1500" spc="-80">
                <a:solidFill>
                  <a:srgbClr val="DAD8E9"/>
                </a:solidFill>
                <a:latin typeface="Trebuchet MS"/>
                <a:cs typeface="Trebuchet MS"/>
              </a:rPr>
              <a:t>a</a:t>
            </a:r>
            <a:r>
              <a:rPr dirty="0" sz="1500" spc="-75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dirty="0" sz="1500" spc="-55">
                <a:solidFill>
                  <a:srgbClr val="DAD8E9"/>
                </a:solidFill>
                <a:latin typeface="Trebuchet MS"/>
                <a:cs typeface="Trebuchet MS"/>
              </a:rPr>
              <a:t>esta</a:t>
            </a:r>
            <a:r>
              <a:rPr dirty="0" sz="1500" spc="-75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dirty="0" sz="1500" spc="-65">
                <a:solidFill>
                  <a:srgbClr val="DAD8E9"/>
                </a:solidFill>
                <a:latin typeface="Trebuchet MS"/>
                <a:cs typeface="Trebuchet MS"/>
              </a:rPr>
              <a:t>presentación</a:t>
            </a:r>
            <a:r>
              <a:rPr dirty="0" sz="1500" spc="-75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dirty="0" sz="1500" spc="-45">
                <a:solidFill>
                  <a:srgbClr val="DAD8E9"/>
                </a:solidFill>
                <a:latin typeface="Trebuchet MS"/>
                <a:cs typeface="Trebuchet MS"/>
              </a:rPr>
              <a:t>sobre</a:t>
            </a:r>
            <a:r>
              <a:rPr dirty="0" sz="1500" spc="-75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dirty="0" sz="1500" spc="-60">
                <a:solidFill>
                  <a:srgbClr val="DAD8E9"/>
                </a:solidFill>
                <a:latin typeface="Trebuchet MS"/>
                <a:cs typeface="Trebuchet MS"/>
              </a:rPr>
              <a:t>Border</a:t>
            </a:r>
            <a:r>
              <a:rPr dirty="0" sz="1500" spc="-75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dirty="0" sz="1500" spc="-85">
                <a:solidFill>
                  <a:srgbClr val="DAD8E9"/>
                </a:solidFill>
                <a:latin typeface="Trebuchet MS"/>
                <a:cs typeface="Trebuchet MS"/>
              </a:rPr>
              <a:t>Gateway</a:t>
            </a:r>
            <a:r>
              <a:rPr dirty="0" sz="1500" spc="-75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dirty="0" sz="1500" spc="-65">
                <a:solidFill>
                  <a:srgbClr val="DAD8E9"/>
                </a:solidFill>
                <a:latin typeface="Trebuchet MS"/>
                <a:cs typeface="Trebuchet MS"/>
              </a:rPr>
              <a:t>Protocol</a:t>
            </a:r>
            <a:r>
              <a:rPr dirty="0" sz="1500" spc="-75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dirty="0" sz="1500" spc="-114">
                <a:solidFill>
                  <a:srgbClr val="DAD8E9"/>
                </a:solidFill>
                <a:latin typeface="Trebuchet MS"/>
                <a:cs typeface="Trebuchet MS"/>
              </a:rPr>
              <a:t>(BGP)</a:t>
            </a:r>
            <a:r>
              <a:rPr dirty="0" sz="1500" spc="-75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dirty="0" sz="1500" spc="-50">
                <a:solidFill>
                  <a:srgbClr val="DAD8E9"/>
                </a:solidFill>
                <a:latin typeface="Trebuchet MS"/>
                <a:cs typeface="Trebuchet MS"/>
              </a:rPr>
              <a:t>y </a:t>
            </a:r>
            <a:r>
              <a:rPr dirty="0" sz="1500" spc="-45">
                <a:solidFill>
                  <a:srgbClr val="DAD8E9"/>
                </a:solidFill>
                <a:latin typeface="Trebuchet MS"/>
                <a:cs typeface="Trebuchet MS"/>
              </a:rPr>
              <a:t>Routing</a:t>
            </a:r>
            <a:r>
              <a:rPr dirty="0" sz="1500" spc="-75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dirty="0" sz="1500" spc="-55">
                <a:solidFill>
                  <a:srgbClr val="DAD8E9"/>
                </a:solidFill>
                <a:latin typeface="Trebuchet MS"/>
                <a:cs typeface="Trebuchet MS"/>
              </a:rPr>
              <a:t>Information</a:t>
            </a:r>
            <a:r>
              <a:rPr dirty="0" sz="1500" spc="-70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dirty="0" sz="1500" spc="-65">
                <a:solidFill>
                  <a:srgbClr val="DAD8E9"/>
                </a:solidFill>
                <a:latin typeface="Trebuchet MS"/>
                <a:cs typeface="Trebuchet MS"/>
              </a:rPr>
              <a:t>Protocol</a:t>
            </a:r>
            <a:r>
              <a:rPr dirty="0" sz="1500" spc="-70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dirty="0" sz="1500" spc="-135">
                <a:solidFill>
                  <a:srgbClr val="DAD8E9"/>
                </a:solidFill>
                <a:latin typeface="Trebuchet MS"/>
                <a:cs typeface="Trebuchet MS"/>
              </a:rPr>
              <a:t>(RIP).</a:t>
            </a:r>
            <a:r>
              <a:rPr dirty="0" sz="1500" spc="-70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dirty="0" sz="1500" spc="-60">
                <a:solidFill>
                  <a:srgbClr val="DAD8E9"/>
                </a:solidFill>
                <a:latin typeface="Trebuchet MS"/>
                <a:cs typeface="Trebuchet MS"/>
              </a:rPr>
              <a:t>Exploraremos</a:t>
            </a:r>
            <a:r>
              <a:rPr dirty="0" sz="1500" spc="-75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dirty="0" sz="1500" spc="-40">
                <a:solidFill>
                  <a:srgbClr val="DAD8E9"/>
                </a:solidFill>
                <a:latin typeface="Trebuchet MS"/>
                <a:cs typeface="Trebuchet MS"/>
              </a:rPr>
              <a:t>estos</a:t>
            </a:r>
            <a:r>
              <a:rPr dirty="0" sz="1500" spc="-70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dirty="0" sz="1500" spc="-10">
                <a:solidFill>
                  <a:srgbClr val="DAD8E9"/>
                </a:solidFill>
                <a:latin typeface="Trebuchet MS"/>
                <a:cs typeface="Trebuchet MS"/>
              </a:rPr>
              <a:t>protocolos </a:t>
            </a:r>
            <a:r>
              <a:rPr dirty="0" sz="1500" spc="-60">
                <a:solidFill>
                  <a:srgbClr val="DAD8E9"/>
                </a:solidFill>
                <a:latin typeface="Trebuchet MS"/>
                <a:cs typeface="Trebuchet MS"/>
              </a:rPr>
              <a:t>fundamentales</a:t>
            </a:r>
            <a:r>
              <a:rPr dirty="0" sz="1500" spc="-80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dirty="0" sz="1500" spc="-70">
                <a:solidFill>
                  <a:srgbClr val="DAD8E9"/>
                </a:solidFill>
                <a:latin typeface="Trebuchet MS"/>
                <a:cs typeface="Trebuchet MS"/>
              </a:rPr>
              <a:t>para</a:t>
            </a:r>
            <a:r>
              <a:rPr dirty="0" sz="1500" spc="-75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dirty="0" sz="1500" spc="-95">
                <a:solidFill>
                  <a:srgbClr val="DAD8E9"/>
                </a:solidFill>
                <a:latin typeface="Trebuchet MS"/>
                <a:cs typeface="Trebuchet MS"/>
              </a:rPr>
              <a:t>el</a:t>
            </a:r>
            <a:r>
              <a:rPr dirty="0" sz="1500" spc="-80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dirty="0" sz="1500" spc="-55">
                <a:solidFill>
                  <a:srgbClr val="DAD8E9"/>
                </a:solidFill>
                <a:latin typeface="Trebuchet MS"/>
                <a:cs typeface="Trebuchet MS"/>
              </a:rPr>
              <a:t>enrutamiento</a:t>
            </a:r>
            <a:r>
              <a:rPr dirty="0" sz="1500" spc="-75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dirty="0" sz="1500" spc="-65">
                <a:solidFill>
                  <a:srgbClr val="DAD8E9"/>
                </a:solidFill>
                <a:latin typeface="Trebuchet MS"/>
                <a:cs typeface="Trebuchet MS"/>
              </a:rPr>
              <a:t>en</a:t>
            </a:r>
            <a:r>
              <a:rPr dirty="0" sz="1500" spc="-80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dirty="0" sz="1500" spc="-65">
                <a:solidFill>
                  <a:srgbClr val="DAD8E9"/>
                </a:solidFill>
                <a:latin typeface="Trebuchet MS"/>
                <a:cs typeface="Trebuchet MS"/>
              </a:rPr>
              <a:t>redes</a:t>
            </a:r>
            <a:r>
              <a:rPr dirty="0" sz="1500" spc="-75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dirty="0" sz="1500" spc="-10">
                <a:solidFill>
                  <a:srgbClr val="DAD8E9"/>
                </a:solidFill>
                <a:latin typeface="Trebuchet MS"/>
                <a:cs typeface="Trebuchet MS"/>
              </a:rPr>
              <a:t>modernas.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067346" y="5232622"/>
            <a:ext cx="1816100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-60" b="1">
                <a:solidFill>
                  <a:srgbClr val="DAD8E9"/>
                </a:solidFill>
                <a:latin typeface="Trebuchet MS"/>
                <a:cs typeface="Trebuchet MS"/>
              </a:rPr>
              <a:t>por</a:t>
            </a:r>
            <a:r>
              <a:rPr dirty="0" sz="1900" spc="-100" b="1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dirty="0" sz="1900" spc="-80" b="1">
                <a:solidFill>
                  <a:srgbClr val="DAD8E9"/>
                </a:solidFill>
                <a:latin typeface="Trebuchet MS"/>
                <a:cs typeface="Trebuchet MS"/>
              </a:rPr>
              <a:t>Eduardo</a:t>
            </a:r>
            <a:r>
              <a:rPr dirty="0" sz="1900" spc="-100" b="1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dirty="0" sz="1900" spc="-45" b="1">
                <a:solidFill>
                  <a:srgbClr val="DAD8E9"/>
                </a:solidFill>
                <a:latin typeface="Trebuchet MS"/>
                <a:cs typeface="Trebuchet MS"/>
              </a:rPr>
              <a:t>Ixén</a:t>
            </a:r>
            <a:endParaRPr sz="1900">
              <a:latin typeface="Trebuchet MS"/>
              <a:cs typeface="Trebuchet MS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676275" y="5257801"/>
            <a:ext cx="304800" cy="314325"/>
            <a:chOff x="676275" y="5257801"/>
            <a:chExt cx="304800" cy="314325"/>
          </a:xfrm>
        </p:grpSpPr>
        <p:sp>
          <p:nvSpPr>
            <p:cNvPr id="9" name="object 9" descr=""/>
            <p:cNvSpPr/>
            <p:nvPr/>
          </p:nvSpPr>
          <p:spPr>
            <a:xfrm>
              <a:off x="681037" y="5262563"/>
              <a:ext cx="295275" cy="304800"/>
            </a:xfrm>
            <a:custGeom>
              <a:avLst/>
              <a:gdLst/>
              <a:ahLst/>
              <a:cxnLst/>
              <a:rect l="l" t="t" r="r" b="b"/>
              <a:pathLst>
                <a:path w="295275" h="304800">
                  <a:moveTo>
                    <a:pt x="147637" y="0"/>
                  </a:moveTo>
                  <a:lnTo>
                    <a:pt x="104781" y="6353"/>
                  </a:lnTo>
                  <a:lnTo>
                    <a:pt x="65613" y="24879"/>
                  </a:lnTo>
                  <a:lnTo>
                    <a:pt x="33510" y="53974"/>
                  </a:lnTo>
                  <a:lnTo>
                    <a:pt x="11236" y="91136"/>
                  </a:lnTo>
                  <a:lnTo>
                    <a:pt x="709" y="133164"/>
                  </a:lnTo>
                  <a:lnTo>
                    <a:pt x="0" y="147637"/>
                  </a:lnTo>
                  <a:lnTo>
                    <a:pt x="0" y="157162"/>
                  </a:lnTo>
                  <a:lnTo>
                    <a:pt x="6356" y="200017"/>
                  </a:lnTo>
                  <a:lnTo>
                    <a:pt x="24879" y="239181"/>
                  </a:lnTo>
                  <a:lnTo>
                    <a:pt x="53974" y="271285"/>
                  </a:lnTo>
                  <a:lnTo>
                    <a:pt x="91137" y="293557"/>
                  </a:lnTo>
                  <a:lnTo>
                    <a:pt x="133167" y="304089"/>
                  </a:lnTo>
                  <a:lnTo>
                    <a:pt x="147637" y="304800"/>
                  </a:lnTo>
                  <a:lnTo>
                    <a:pt x="154890" y="304622"/>
                  </a:lnTo>
                  <a:lnTo>
                    <a:pt x="197366" y="296170"/>
                  </a:lnTo>
                  <a:lnTo>
                    <a:pt x="235592" y="275738"/>
                  </a:lnTo>
                  <a:lnTo>
                    <a:pt x="266217" y="245114"/>
                  </a:lnTo>
                  <a:lnTo>
                    <a:pt x="286647" y="206889"/>
                  </a:lnTo>
                  <a:lnTo>
                    <a:pt x="295097" y="164415"/>
                  </a:lnTo>
                  <a:lnTo>
                    <a:pt x="295275" y="157162"/>
                  </a:lnTo>
                  <a:lnTo>
                    <a:pt x="295275" y="147637"/>
                  </a:lnTo>
                  <a:lnTo>
                    <a:pt x="288918" y="104777"/>
                  </a:lnTo>
                  <a:lnTo>
                    <a:pt x="270395" y="65613"/>
                  </a:lnTo>
                  <a:lnTo>
                    <a:pt x="241298" y="33508"/>
                  </a:lnTo>
                  <a:lnTo>
                    <a:pt x="204137" y="11235"/>
                  </a:lnTo>
                  <a:lnTo>
                    <a:pt x="162107" y="707"/>
                  </a:lnTo>
                  <a:lnTo>
                    <a:pt x="147637" y="0"/>
                  </a:lnTo>
                  <a:close/>
                </a:path>
              </a:pathLst>
            </a:custGeom>
            <a:solidFill>
              <a:srgbClr val="81333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681037" y="5262563"/>
              <a:ext cx="295275" cy="304800"/>
            </a:xfrm>
            <a:custGeom>
              <a:avLst/>
              <a:gdLst/>
              <a:ahLst/>
              <a:cxnLst/>
              <a:rect l="l" t="t" r="r" b="b"/>
              <a:pathLst>
                <a:path w="295275" h="304800">
                  <a:moveTo>
                    <a:pt x="0" y="157162"/>
                  </a:moveTo>
                  <a:lnTo>
                    <a:pt x="0" y="147637"/>
                  </a:lnTo>
                  <a:lnTo>
                    <a:pt x="177" y="140383"/>
                  </a:lnTo>
                  <a:lnTo>
                    <a:pt x="8627" y="97904"/>
                  </a:lnTo>
                  <a:lnTo>
                    <a:pt x="29057" y="59680"/>
                  </a:lnTo>
                  <a:lnTo>
                    <a:pt x="59680" y="29056"/>
                  </a:lnTo>
                  <a:lnTo>
                    <a:pt x="97908" y="8624"/>
                  </a:lnTo>
                  <a:lnTo>
                    <a:pt x="140384" y="176"/>
                  </a:lnTo>
                  <a:lnTo>
                    <a:pt x="147637" y="0"/>
                  </a:lnTo>
                  <a:lnTo>
                    <a:pt x="154890" y="176"/>
                  </a:lnTo>
                  <a:lnTo>
                    <a:pt x="197366" y="8624"/>
                  </a:lnTo>
                  <a:lnTo>
                    <a:pt x="235592" y="29056"/>
                  </a:lnTo>
                  <a:lnTo>
                    <a:pt x="266217" y="59680"/>
                  </a:lnTo>
                  <a:lnTo>
                    <a:pt x="286647" y="97904"/>
                  </a:lnTo>
                  <a:lnTo>
                    <a:pt x="295097" y="140383"/>
                  </a:lnTo>
                  <a:lnTo>
                    <a:pt x="295275" y="147637"/>
                  </a:lnTo>
                  <a:lnTo>
                    <a:pt x="295275" y="157162"/>
                  </a:lnTo>
                  <a:lnTo>
                    <a:pt x="288918" y="200017"/>
                  </a:lnTo>
                  <a:lnTo>
                    <a:pt x="270395" y="239181"/>
                  </a:lnTo>
                  <a:lnTo>
                    <a:pt x="241298" y="271285"/>
                  </a:lnTo>
                  <a:lnTo>
                    <a:pt x="204137" y="293557"/>
                  </a:lnTo>
                  <a:lnTo>
                    <a:pt x="162107" y="304089"/>
                  </a:lnTo>
                  <a:lnTo>
                    <a:pt x="147637" y="304800"/>
                  </a:lnTo>
                  <a:lnTo>
                    <a:pt x="140384" y="304622"/>
                  </a:lnTo>
                  <a:lnTo>
                    <a:pt x="97908" y="296170"/>
                  </a:lnTo>
                  <a:lnTo>
                    <a:pt x="59680" y="275738"/>
                  </a:lnTo>
                  <a:lnTo>
                    <a:pt x="29057" y="245114"/>
                  </a:lnTo>
                  <a:lnTo>
                    <a:pt x="8627" y="206889"/>
                  </a:lnTo>
                  <a:lnTo>
                    <a:pt x="177" y="164415"/>
                  </a:lnTo>
                  <a:lnTo>
                    <a:pt x="0" y="157162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769987" y="5304156"/>
            <a:ext cx="118745" cy="1720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50" spc="-25">
                <a:solidFill>
                  <a:srgbClr val="FFFFFF"/>
                </a:solidFill>
                <a:latin typeface="Segoe UI Symbol"/>
                <a:cs typeface="Segoe UI Symbol"/>
              </a:rPr>
              <a:t>EI</a:t>
            </a:r>
            <a:endParaRPr sz="950">
              <a:latin typeface="Segoe UI Symbol"/>
              <a:cs typeface="Segoe UI Symbo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4286250" cy="643864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0"/>
              </a:spcBef>
            </a:pPr>
            <a:r>
              <a:rPr dirty="0" spc="175">
                <a:latin typeface="Trebuchet MS"/>
                <a:cs typeface="Trebuchet MS"/>
              </a:rPr>
              <a:t>Fundamento</a:t>
            </a:r>
            <a:r>
              <a:rPr dirty="0" cap="small" spc="175">
                <a:latin typeface="Trebuchet MS"/>
                <a:cs typeface="Trebuchet MS"/>
              </a:rPr>
              <a:t>s</a:t>
            </a:r>
            <a:r>
              <a:rPr dirty="0" spc="220">
                <a:latin typeface="Trebuchet MS"/>
                <a:cs typeface="Trebuchet MS"/>
              </a:rPr>
              <a:t> </a:t>
            </a:r>
            <a:r>
              <a:rPr dirty="0" spc="295">
                <a:latin typeface="Trebuchet MS"/>
                <a:cs typeface="Trebuchet MS"/>
              </a:rPr>
              <a:t>de</a:t>
            </a:r>
            <a:r>
              <a:rPr dirty="0" spc="225">
                <a:latin typeface="Trebuchet MS"/>
                <a:cs typeface="Trebuchet MS"/>
              </a:rPr>
              <a:t> </a:t>
            </a:r>
            <a:r>
              <a:rPr dirty="0" spc="155">
                <a:latin typeface="Trebuchet MS"/>
                <a:cs typeface="Trebuchet MS"/>
              </a:rPr>
              <a:t>Border </a:t>
            </a:r>
            <a:r>
              <a:rPr dirty="0" spc="114">
                <a:latin typeface="Trebuchet MS"/>
                <a:cs typeface="Trebuchet MS"/>
              </a:rPr>
              <a:t>Gateway</a:t>
            </a:r>
            <a:r>
              <a:rPr dirty="0" spc="215">
                <a:latin typeface="Trebuchet MS"/>
                <a:cs typeface="Trebuchet MS"/>
              </a:rPr>
              <a:t> </a:t>
            </a:r>
            <a:r>
              <a:rPr dirty="0" spc="135">
                <a:latin typeface="Trebuchet MS"/>
                <a:cs typeface="Trebuchet MS"/>
              </a:rPr>
              <a:t>Protocol</a:t>
            </a:r>
            <a:r>
              <a:rPr dirty="0" spc="210">
                <a:latin typeface="Trebuchet MS"/>
                <a:cs typeface="Trebuchet MS"/>
              </a:rPr>
              <a:t> </a:t>
            </a:r>
            <a:r>
              <a:rPr dirty="0" spc="75">
                <a:latin typeface="Trebuchet MS"/>
                <a:cs typeface="Trebuchet MS"/>
              </a:rPr>
              <a:t>(BGP)</a:t>
            </a:r>
          </a:p>
        </p:txBody>
      </p:sp>
      <p:grpSp>
        <p:nvGrpSpPr>
          <p:cNvPr id="4" name="object 4" descr=""/>
          <p:cNvGrpSpPr/>
          <p:nvPr/>
        </p:nvGrpSpPr>
        <p:grpSpPr>
          <a:xfrm>
            <a:off x="4962525" y="2495549"/>
            <a:ext cx="428625" cy="428625"/>
            <a:chOff x="4962525" y="2495549"/>
            <a:chExt cx="428625" cy="428625"/>
          </a:xfrm>
        </p:grpSpPr>
        <p:sp>
          <p:nvSpPr>
            <p:cNvPr id="5" name="object 5" descr=""/>
            <p:cNvSpPr/>
            <p:nvPr/>
          </p:nvSpPr>
          <p:spPr>
            <a:xfrm>
              <a:off x="4967287" y="2500312"/>
              <a:ext cx="419100" cy="419100"/>
            </a:xfrm>
            <a:custGeom>
              <a:avLst/>
              <a:gdLst/>
              <a:ahLst/>
              <a:cxnLst/>
              <a:rect l="l" t="t" r="r" b="b"/>
              <a:pathLst>
                <a:path w="419100" h="419100">
                  <a:moveTo>
                    <a:pt x="360476" y="0"/>
                  </a:moveTo>
                  <a:lnTo>
                    <a:pt x="58623" y="0"/>
                  </a:lnTo>
                  <a:lnTo>
                    <a:pt x="54546" y="406"/>
                  </a:lnTo>
                  <a:lnTo>
                    <a:pt x="15468" y="21285"/>
                  </a:lnTo>
                  <a:lnTo>
                    <a:pt x="0" y="58623"/>
                  </a:lnTo>
                  <a:lnTo>
                    <a:pt x="0" y="356349"/>
                  </a:lnTo>
                  <a:lnTo>
                    <a:pt x="0" y="360476"/>
                  </a:lnTo>
                  <a:lnTo>
                    <a:pt x="15468" y="397814"/>
                  </a:lnTo>
                  <a:lnTo>
                    <a:pt x="54546" y="418693"/>
                  </a:lnTo>
                  <a:lnTo>
                    <a:pt x="58623" y="419100"/>
                  </a:lnTo>
                  <a:lnTo>
                    <a:pt x="360476" y="419100"/>
                  </a:lnTo>
                  <a:lnTo>
                    <a:pt x="397802" y="403631"/>
                  </a:lnTo>
                  <a:lnTo>
                    <a:pt x="418693" y="364553"/>
                  </a:lnTo>
                  <a:lnTo>
                    <a:pt x="419100" y="360476"/>
                  </a:lnTo>
                  <a:lnTo>
                    <a:pt x="419100" y="58623"/>
                  </a:lnTo>
                  <a:lnTo>
                    <a:pt x="403631" y="21285"/>
                  </a:lnTo>
                  <a:lnTo>
                    <a:pt x="364553" y="406"/>
                  </a:lnTo>
                  <a:lnTo>
                    <a:pt x="360476" y="0"/>
                  </a:lnTo>
                  <a:close/>
                </a:path>
              </a:pathLst>
            </a:custGeom>
            <a:solidFill>
              <a:srgbClr val="532C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4967287" y="2500312"/>
              <a:ext cx="419100" cy="419100"/>
            </a:xfrm>
            <a:custGeom>
              <a:avLst/>
              <a:gdLst/>
              <a:ahLst/>
              <a:cxnLst/>
              <a:rect l="l" t="t" r="r" b="b"/>
              <a:pathLst>
                <a:path w="419100" h="419100">
                  <a:moveTo>
                    <a:pt x="0" y="356349"/>
                  </a:moveTo>
                  <a:lnTo>
                    <a:pt x="0" y="62750"/>
                  </a:lnTo>
                  <a:lnTo>
                    <a:pt x="0" y="58623"/>
                  </a:lnTo>
                  <a:lnTo>
                    <a:pt x="406" y="54546"/>
                  </a:lnTo>
                  <a:lnTo>
                    <a:pt x="1206" y="50507"/>
                  </a:lnTo>
                  <a:lnTo>
                    <a:pt x="2006" y="46469"/>
                  </a:lnTo>
                  <a:lnTo>
                    <a:pt x="3200" y="42545"/>
                  </a:lnTo>
                  <a:lnTo>
                    <a:pt x="4775" y="38735"/>
                  </a:lnTo>
                  <a:lnTo>
                    <a:pt x="6350" y="34925"/>
                  </a:lnTo>
                  <a:lnTo>
                    <a:pt x="8280" y="31305"/>
                  </a:lnTo>
                  <a:lnTo>
                    <a:pt x="38735" y="4775"/>
                  </a:lnTo>
                  <a:lnTo>
                    <a:pt x="50507" y="1206"/>
                  </a:lnTo>
                  <a:lnTo>
                    <a:pt x="54546" y="406"/>
                  </a:lnTo>
                  <a:lnTo>
                    <a:pt x="58623" y="0"/>
                  </a:lnTo>
                  <a:lnTo>
                    <a:pt x="62750" y="0"/>
                  </a:lnTo>
                  <a:lnTo>
                    <a:pt x="356349" y="0"/>
                  </a:lnTo>
                  <a:lnTo>
                    <a:pt x="360476" y="0"/>
                  </a:lnTo>
                  <a:lnTo>
                    <a:pt x="364553" y="406"/>
                  </a:lnTo>
                  <a:lnTo>
                    <a:pt x="368592" y="1206"/>
                  </a:lnTo>
                  <a:lnTo>
                    <a:pt x="372630" y="2006"/>
                  </a:lnTo>
                  <a:lnTo>
                    <a:pt x="406234" y="24460"/>
                  </a:lnTo>
                  <a:lnTo>
                    <a:pt x="408520" y="27889"/>
                  </a:lnTo>
                  <a:lnTo>
                    <a:pt x="410819" y="31305"/>
                  </a:lnTo>
                  <a:lnTo>
                    <a:pt x="412750" y="34925"/>
                  </a:lnTo>
                  <a:lnTo>
                    <a:pt x="414324" y="38735"/>
                  </a:lnTo>
                  <a:lnTo>
                    <a:pt x="415899" y="42545"/>
                  </a:lnTo>
                  <a:lnTo>
                    <a:pt x="417093" y="46469"/>
                  </a:lnTo>
                  <a:lnTo>
                    <a:pt x="417893" y="50507"/>
                  </a:lnTo>
                  <a:lnTo>
                    <a:pt x="418693" y="54546"/>
                  </a:lnTo>
                  <a:lnTo>
                    <a:pt x="419100" y="58623"/>
                  </a:lnTo>
                  <a:lnTo>
                    <a:pt x="419100" y="62750"/>
                  </a:lnTo>
                  <a:lnTo>
                    <a:pt x="419100" y="356349"/>
                  </a:lnTo>
                  <a:lnTo>
                    <a:pt x="419100" y="360476"/>
                  </a:lnTo>
                  <a:lnTo>
                    <a:pt x="418693" y="364553"/>
                  </a:lnTo>
                  <a:lnTo>
                    <a:pt x="417893" y="368592"/>
                  </a:lnTo>
                  <a:lnTo>
                    <a:pt x="417093" y="372630"/>
                  </a:lnTo>
                  <a:lnTo>
                    <a:pt x="415899" y="376555"/>
                  </a:lnTo>
                  <a:lnTo>
                    <a:pt x="414324" y="380365"/>
                  </a:lnTo>
                  <a:lnTo>
                    <a:pt x="412750" y="384175"/>
                  </a:lnTo>
                  <a:lnTo>
                    <a:pt x="410819" y="387781"/>
                  </a:lnTo>
                  <a:lnTo>
                    <a:pt x="408520" y="391210"/>
                  </a:lnTo>
                  <a:lnTo>
                    <a:pt x="406234" y="394639"/>
                  </a:lnTo>
                  <a:lnTo>
                    <a:pt x="391210" y="408520"/>
                  </a:lnTo>
                  <a:lnTo>
                    <a:pt x="387781" y="410806"/>
                  </a:lnTo>
                  <a:lnTo>
                    <a:pt x="384175" y="412750"/>
                  </a:lnTo>
                  <a:lnTo>
                    <a:pt x="380365" y="414324"/>
                  </a:lnTo>
                  <a:lnTo>
                    <a:pt x="376555" y="415899"/>
                  </a:lnTo>
                  <a:lnTo>
                    <a:pt x="372630" y="417093"/>
                  </a:lnTo>
                  <a:lnTo>
                    <a:pt x="368592" y="417893"/>
                  </a:lnTo>
                  <a:lnTo>
                    <a:pt x="364553" y="418693"/>
                  </a:lnTo>
                  <a:lnTo>
                    <a:pt x="360476" y="419100"/>
                  </a:lnTo>
                  <a:lnTo>
                    <a:pt x="356349" y="419100"/>
                  </a:lnTo>
                  <a:lnTo>
                    <a:pt x="62750" y="419100"/>
                  </a:lnTo>
                  <a:lnTo>
                    <a:pt x="58623" y="419100"/>
                  </a:lnTo>
                  <a:lnTo>
                    <a:pt x="54546" y="418693"/>
                  </a:lnTo>
                  <a:lnTo>
                    <a:pt x="50507" y="417893"/>
                  </a:lnTo>
                  <a:lnTo>
                    <a:pt x="46469" y="417093"/>
                  </a:lnTo>
                  <a:lnTo>
                    <a:pt x="42545" y="415899"/>
                  </a:lnTo>
                  <a:lnTo>
                    <a:pt x="38735" y="414324"/>
                  </a:lnTo>
                  <a:lnTo>
                    <a:pt x="34925" y="412750"/>
                  </a:lnTo>
                  <a:lnTo>
                    <a:pt x="31318" y="410806"/>
                  </a:lnTo>
                  <a:lnTo>
                    <a:pt x="27889" y="408520"/>
                  </a:lnTo>
                  <a:lnTo>
                    <a:pt x="24460" y="406234"/>
                  </a:lnTo>
                  <a:lnTo>
                    <a:pt x="4775" y="380365"/>
                  </a:lnTo>
                  <a:lnTo>
                    <a:pt x="3200" y="376555"/>
                  </a:lnTo>
                  <a:lnTo>
                    <a:pt x="2006" y="372630"/>
                  </a:lnTo>
                  <a:lnTo>
                    <a:pt x="1206" y="368592"/>
                  </a:lnTo>
                  <a:lnTo>
                    <a:pt x="406" y="364553"/>
                  </a:lnTo>
                  <a:lnTo>
                    <a:pt x="0" y="360476"/>
                  </a:lnTo>
                  <a:lnTo>
                    <a:pt x="0" y="356349"/>
                  </a:lnTo>
                  <a:close/>
                </a:path>
              </a:pathLst>
            </a:custGeom>
            <a:ln w="9525">
              <a:solidFill>
                <a:srgbClr val="6D446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5117401" y="2520950"/>
            <a:ext cx="121920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345">
                <a:solidFill>
                  <a:srgbClr val="DAD8E9"/>
                </a:solidFill>
                <a:latin typeface="Trebuchet MS"/>
                <a:cs typeface="Trebuchet MS"/>
              </a:rPr>
              <a:t>1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575494" y="2478087"/>
            <a:ext cx="2011045" cy="15836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60">
                <a:solidFill>
                  <a:srgbClr val="DAD8E9"/>
                </a:solidFill>
                <a:latin typeface="Trebuchet MS"/>
                <a:cs typeface="Trebuchet MS"/>
              </a:rPr>
              <a:t>Definición</a:t>
            </a:r>
            <a:endParaRPr sz="1650">
              <a:latin typeface="Trebuchet MS"/>
              <a:cs typeface="Trebuchet MS"/>
            </a:endParaRPr>
          </a:p>
          <a:p>
            <a:pPr marL="12700" marR="5080">
              <a:lnSpc>
                <a:spcPct val="134700"/>
              </a:lnSpc>
              <a:spcBef>
                <a:spcPts val="545"/>
              </a:spcBef>
            </a:pPr>
            <a:r>
              <a:rPr dirty="0" sz="1500" spc="-90">
                <a:solidFill>
                  <a:srgbClr val="DAD8E9"/>
                </a:solidFill>
                <a:latin typeface="Trebuchet MS"/>
                <a:cs typeface="Trebuchet MS"/>
              </a:rPr>
              <a:t>BGP</a:t>
            </a:r>
            <a:r>
              <a:rPr dirty="0" sz="1500" spc="-100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dirty="0" sz="1500" spc="-50">
                <a:solidFill>
                  <a:srgbClr val="DAD8E9"/>
                </a:solidFill>
                <a:latin typeface="Trebuchet MS"/>
                <a:cs typeface="Trebuchet MS"/>
              </a:rPr>
              <a:t>es</a:t>
            </a:r>
            <a:r>
              <a:rPr dirty="0" sz="1500" spc="-95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dirty="0" sz="1500" spc="-40">
                <a:solidFill>
                  <a:srgbClr val="DAD8E9"/>
                </a:solidFill>
                <a:latin typeface="Trebuchet MS"/>
                <a:cs typeface="Trebuchet MS"/>
              </a:rPr>
              <a:t>un</a:t>
            </a:r>
            <a:r>
              <a:rPr dirty="0" sz="1500" spc="-95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dirty="0" sz="1500" spc="-60">
                <a:solidFill>
                  <a:srgbClr val="DAD8E9"/>
                </a:solidFill>
                <a:latin typeface="Trebuchet MS"/>
                <a:cs typeface="Trebuchet MS"/>
              </a:rPr>
              <a:t>protocolo</a:t>
            </a:r>
            <a:r>
              <a:rPr dirty="0" sz="1500" spc="-95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dirty="0" sz="1500" spc="-25">
                <a:solidFill>
                  <a:srgbClr val="DAD8E9"/>
                </a:solidFill>
                <a:latin typeface="Trebuchet MS"/>
                <a:cs typeface="Trebuchet MS"/>
              </a:rPr>
              <a:t>de </a:t>
            </a:r>
            <a:r>
              <a:rPr dirty="0" sz="1500" spc="-55">
                <a:solidFill>
                  <a:srgbClr val="DAD8E9"/>
                </a:solidFill>
                <a:latin typeface="Trebuchet MS"/>
                <a:cs typeface="Trebuchet MS"/>
              </a:rPr>
              <a:t>enrutamiento</a:t>
            </a:r>
            <a:r>
              <a:rPr dirty="0" sz="1500" spc="-15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dirty="0" sz="1500" spc="-20">
                <a:solidFill>
                  <a:srgbClr val="DAD8E9"/>
                </a:solidFill>
                <a:latin typeface="Trebuchet MS"/>
                <a:cs typeface="Trebuchet MS"/>
              </a:rPr>
              <a:t>entre </a:t>
            </a:r>
            <a:r>
              <a:rPr dirty="0" sz="1500" spc="-45">
                <a:solidFill>
                  <a:srgbClr val="DAD8E9"/>
                </a:solidFill>
                <a:latin typeface="Trebuchet MS"/>
                <a:cs typeface="Trebuchet MS"/>
              </a:rPr>
              <a:t>sistemas</a:t>
            </a:r>
            <a:r>
              <a:rPr dirty="0" sz="1500" spc="-65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dirty="0" sz="1500" spc="-40">
                <a:solidFill>
                  <a:srgbClr val="DAD8E9"/>
                </a:solidFill>
                <a:latin typeface="Trebuchet MS"/>
                <a:cs typeface="Trebuchet MS"/>
              </a:rPr>
              <a:t>autónomos</a:t>
            </a:r>
            <a:r>
              <a:rPr dirty="0" sz="1500" spc="-65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dirty="0" sz="1500" spc="-55">
                <a:solidFill>
                  <a:srgbClr val="DAD8E9"/>
                </a:solidFill>
                <a:latin typeface="Trebuchet MS"/>
                <a:cs typeface="Trebuchet MS"/>
              </a:rPr>
              <a:t>(AS) </a:t>
            </a:r>
            <a:r>
              <a:rPr dirty="0" sz="1500" spc="-65">
                <a:solidFill>
                  <a:srgbClr val="DAD8E9"/>
                </a:solidFill>
                <a:latin typeface="Trebuchet MS"/>
                <a:cs typeface="Trebuchet MS"/>
              </a:rPr>
              <a:t>en</a:t>
            </a:r>
            <a:r>
              <a:rPr dirty="0" sz="1500" spc="-110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dirty="0" sz="1500" spc="-10">
                <a:solidFill>
                  <a:srgbClr val="DAD8E9"/>
                </a:solidFill>
                <a:latin typeface="Trebuchet MS"/>
                <a:cs typeface="Trebuchet MS"/>
              </a:rPr>
              <a:t>Internet.</a:t>
            </a:r>
            <a:endParaRPr sz="1500">
              <a:latin typeface="Trebuchet MS"/>
              <a:cs typeface="Trebuchet MS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7953375" y="2495549"/>
            <a:ext cx="438150" cy="428625"/>
            <a:chOff x="7953375" y="2495549"/>
            <a:chExt cx="438150" cy="428625"/>
          </a:xfrm>
        </p:grpSpPr>
        <p:sp>
          <p:nvSpPr>
            <p:cNvPr id="10" name="object 10" descr=""/>
            <p:cNvSpPr/>
            <p:nvPr/>
          </p:nvSpPr>
          <p:spPr>
            <a:xfrm>
              <a:off x="7958137" y="2500312"/>
              <a:ext cx="428625" cy="419100"/>
            </a:xfrm>
            <a:custGeom>
              <a:avLst/>
              <a:gdLst/>
              <a:ahLst/>
              <a:cxnLst/>
              <a:rect l="l" t="t" r="r" b="b"/>
              <a:pathLst>
                <a:path w="428625" h="419100">
                  <a:moveTo>
                    <a:pt x="370001" y="0"/>
                  </a:moveTo>
                  <a:lnTo>
                    <a:pt x="58623" y="0"/>
                  </a:lnTo>
                  <a:lnTo>
                    <a:pt x="54546" y="406"/>
                  </a:lnTo>
                  <a:lnTo>
                    <a:pt x="15468" y="21285"/>
                  </a:lnTo>
                  <a:lnTo>
                    <a:pt x="0" y="58623"/>
                  </a:lnTo>
                  <a:lnTo>
                    <a:pt x="0" y="356349"/>
                  </a:lnTo>
                  <a:lnTo>
                    <a:pt x="0" y="360476"/>
                  </a:lnTo>
                  <a:lnTo>
                    <a:pt x="15468" y="397814"/>
                  </a:lnTo>
                  <a:lnTo>
                    <a:pt x="54546" y="418693"/>
                  </a:lnTo>
                  <a:lnTo>
                    <a:pt x="58623" y="419100"/>
                  </a:lnTo>
                  <a:lnTo>
                    <a:pt x="370001" y="419100"/>
                  </a:lnTo>
                  <a:lnTo>
                    <a:pt x="407327" y="403631"/>
                  </a:lnTo>
                  <a:lnTo>
                    <a:pt x="428218" y="364553"/>
                  </a:lnTo>
                  <a:lnTo>
                    <a:pt x="428625" y="360476"/>
                  </a:lnTo>
                  <a:lnTo>
                    <a:pt x="428625" y="58623"/>
                  </a:lnTo>
                  <a:lnTo>
                    <a:pt x="413156" y="21285"/>
                  </a:lnTo>
                  <a:lnTo>
                    <a:pt x="374078" y="406"/>
                  </a:lnTo>
                  <a:lnTo>
                    <a:pt x="370001" y="0"/>
                  </a:lnTo>
                  <a:close/>
                </a:path>
              </a:pathLst>
            </a:custGeom>
            <a:solidFill>
              <a:srgbClr val="532C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7958137" y="2500312"/>
              <a:ext cx="428625" cy="419100"/>
            </a:xfrm>
            <a:custGeom>
              <a:avLst/>
              <a:gdLst/>
              <a:ahLst/>
              <a:cxnLst/>
              <a:rect l="l" t="t" r="r" b="b"/>
              <a:pathLst>
                <a:path w="428625" h="419100">
                  <a:moveTo>
                    <a:pt x="0" y="356349"/>
                  </a:moveTo>
                  <a:lnTo>
                    <a:pt x="0" y="62750"/>
                  </a:lnTo>
                  <a:lnTo>
                    <a:pt x="0" y="58623"/>
                  </a:lnTo>
                  <a:lnTo>
                    <a:pt x="406" y="54546"/>
                  </a:lnTo>
                  <a:lnTo>
                    <a:pt x="18376" y="18376"/>
                  </a:lnTo>
                  <a:lnTo>
                    <a:pt x="50507" y="1206"/>
                  </a:lnTo>
                  <a:lnTo>
                    <a:pt x="54546" y="406"/>
                  </a:lnTo>
                  <a:lnTo>
                    <a:pt x="58623" y="0"/>
                  </a:lnTo>
                  <a:lnTo>
                    <a:pt x="62750" y="0"/>
                  </a:lnTo>
                  <a:lnTo>
                    <a:pt x="365874" y="0"/>
                  </a:lnTo>
                  <a:lnTo>
                    <a:pt x="370001" y="0"/>
                  </a:lnTo>
                  <a:lnTo>
                    <a:pt x="374078" y="406"/>
                  </a:lnTo>
                  <a:lnTo>
                    <a:pt x="378117" y="1206"/>
                  </a:lnTo>
                  <a:lnTo>
                    <a:pt x="382155" y="2006"/>
                  </a:lnTo>
                  <a:lnTo>
                    <a:pt x="415759" y="24460"/>
                  </a:lnTo>
                  <a:lnTo>
                    <a:pt x="418045" y="27889"/>
                  </a:lnTo>
                  <a:lnTo>
                    <a:pt x="420344" y="31305"/>
                  </a:lnTo>
                  <a:lnTo>
                    <a:pt x="428625" y="58623"/>
                  </a:lnTo>
                  <a:lnTo>
                    <a:pt x="428625" y="62750"/>
                  </a:lnTo>
                  <a:lnTo>
                    <a:pt x="428625" y="356349"/>
                  </a:lnTo>
                  <a:lnTo>
                    <a:pt x="428625" y="360476"/>
                  </a:lnTo>
                  <a:lnTo>
                    <a:pt x="428218" y="364553"/>
                  </a:lnTo>
                  <a:lnTo>
                    <a:pt x="418045" y="391210"/>
                  </a:lnTo>
                  <a:lnTo>
                    <a:pt x="415759" y="394639"/>
                  </a:lnTo>
                  <a:lnTo>
                    <a:pt x="400735" y="408520"/>
                  </a:lnTo>
                  <a:lnTo>
                    <a:pt x="397306" y="410806"/>
                  </a:lnTo>
                  <a:lnTo>
                    <a:pt x="393700" y="412750"/>
                  </a:lnTo>
                  <a:lnTo>
                    <a:pt x="389890" y="414324"/>
                  </a:lnTo>
                  <a:lnTo>
                    <a:pt x="386080" y="415899"/>
                  </a:lnTo>
                  <a:lnTo>
                    <a:pt x="382155" y="417093"/>
                  </a:lnTo>
                  <a:lnTo>
                    <a:pt x="378117" y="417893"/>
                  </a:lnTo>
                  <a:lnTo>
                    <a:pt x="374078" y="418693"/>
                  </a:lnTo>
                  <a:lnTo>
                    <a:pt x="370001" y="419100"/>
                  </a:lnTo>
                  <a:lnTo>
                    <a:pt x="365874" y="419100"/>
                  </a:lnTo>
                  <a:lnTo>
                    <a:pt x="62750" y="419100"/>
                  </a:lnTo>
                  <a:lnTo>
                    <a:pt x="58623" y="419100"/>
                  </a:lnTo>
                  <a:lnTo>
                    <a:pt x="54546" y="418693"/>
                  </a:lnTo>
                  <a:lnTo>
                    <a:pt x="50507" y="417893"/>
                  </a:lnTo>
                  <a:lnTo>
                    <a:pt x="46469" y="417093"/>
                  </a:lnTo>
                  <a:lnTo>
                    <a:pt x="42545" y="415899"/>
                  </a:lnTo>
                  <a:lnTo>
                    <a:pt x="38735" y="414324"/>
                  </a:lnTo>
                  <a:lnTo>
                    <a:pt x="34925" y="412750"/>
                  </a:lnTo>
                  <a:lnTo>
                    <a:pt x="31318" y="410806"/>
                  </a:lnTo>
                  <a:lnTo>
                    <a:pt x="27889" y="408520"/>
                  </a:lnTo>
                  <a:lnTo>
                    <a:pt x="24460" y="406234"/>
                  </a:lnTo>
                  <a:lnTo>
                    <a:pt x="2006" y="372630"/>
                  </a:lnTo>
                  <a:lnTo>
                    <a:pt x="0" y="360476"/>
                  </a:lnTo>
                  <a:lnTo>
                    <a:pt x="0" y="356349"/>
                  </a:lnTo>
                  <a:close/>
                </a:path>
              </a:pathLst>
            </a:custGeom>
            <a:ln w="9525">
              <a:solidFill>
                <a:srgbClr val="6D446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8083550" y="2520950"/>
            <a:ext cx="175895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75">
                <a:solidFill>
                  <a:srgbClr val="DAD8E9"/>
                </a:solidFill>
                <a:latin typeface="Trebuchet MS"/>
                <a:cs typeface="Trebuchet MS"/>
              </a:rPr>
              <a:t>2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8568729" y="2478087"/>
            <a:ext cx="2090420" cy="15836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75">
                <a:solidFill>
                  <a:srgbClr val="DAD8E9"/>
                </a:solidFill>
                <a:latin typeface="Trebuchet MS"/>
                <a:cs typeface="Trebuchet MS"/>
              </a:rPr>
              <a:t>Función</a:t>
            </a:r>
            <a:r>
              <a:rPr dirty="0" sz="1650" spc="140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dirty="0" sz="1650" spc="55">
                <a:solidFill>
                  <a:srgbClr val="DAD8E9"/>
                </a:solidFill>
                <a:latin typeface="Trebuchet MS"/>
                <a:cs typeface="Trebuchet MS"/>
              </a:rPr>
              <a:t>principal</a:t>
            </a:r>
            <a:endParaRPr sz="1650">
              <a:latin typeface="Trebuchet MS"/>
              <a:cs typeface="Trebuchet MS"/>
            </a:endParaRPr>
          </a:p>
          <a:p>
            <a:pPr marL="12700" marR="5080">
              <a:lnSpc>
                <a:spcPct val="134700"/>
              </a:lnSpc>
              <a:spcBef>
                <a:spcPts val="545"/>
              </a:spcBef>
            </a:pPr>
            <a:r>
              <a:rPr dirty="0" sz="1500" spc="-60">
                <a:solidFill>
                  <a:srgbClr val="DAD8E9"/>
                </a:solidFill>
                <a:latin typeface="Trebuchet MS"/>
                <a:cs typeface="Trebuchet MS"/>
              </a:rPr>
              <a:t>Conecta</a:t>
            </a:r>
            <a:r>
              <a:rPr dirty="0" sz="1500" spc="-90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dirty="0" sz="1500" spc="-65">
                <a:solidFill>
                  <a:srgbClr val="DAD8E9"/>
                </a:solidFill>
                <a:latin typeface="Trebuchet MS"/>
                <a:cs typeface="Trebuchet MS"/>
              </a:rPr>
              <a:t>redes</a:t>
            </a:r>
            <a:r>
              <a:rPr dirty="0" sz="1500" spc="-90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dirty="0" sz="1500" spc="-25">
                <a:solidFill>
                  <a:srgbClr val="DAD8E9"/>
                </a:solidFill>
                <a:latin typeface="Trebuchet MS"/>
                <a:cs typeface="Trebuchet MS"/>
              </a:rPr>
              <a:t>autónomas </a:t>
            </a:r>
            <a:r>
              <a:rPr dirty="0" sz="1500" spc="-75">
                <a:solidFill>
                  <a:srgbClr val="DAD8E9"/>
                </a:solidFill>
                <a:latin typeface="Trebuchet MS"/>
                <a:cs typeface="Trebuchet MS"/>
              </a:rPr>
              <a:t>y</a:t>
            </a:r>
            <a:r>
              <a:rPr dirty="0" sz="1500" spc="-90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dirty="0" sz="1500" spc="-85">
                <a:solidFill>
                  <a:srgbClr val="DAD8E9"/>
                </a:solidFill>
                <a:latin typeface="Trebuchet MS"/>
                <a:cs typeface="Trebuchet MS"/>
              </a:rPr>
              <a:t>facilita </a:t>
            </a:r>
            <a:r>
              <a:rPr dirty="0" sz="1500" spc="-95">
                <a:solidFill>
                  <a:srgbClr val="DAD8E9"/>
                </a:solidFill>
                <a:latin typeface="Trebuchet MS"/>
                <a:cs typeface="Trebuchet MS"/>
              </a:rPr>
              <a:t>el</a:t>
            </a:r>
            <a:r>
              <a:rPr dirty="0" sz="1500" spc="-85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dirty="0" sz="1500" spc="-65">
                <a:solidFill>
                  <a:srgbClr val="DAD8E9"/>
                </a:solidFill>
                <a:latin typeface="Trebuchet MS"/>
                <a:cs typeface="Trebuchet MS"/>
              </a:rPr>
              <a:t>intercambio</a:t>
            </a:r>
            <a:r>
              <a:rPr dirty="0" sz="1500" spc="-90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dirty="0" sz="1500" spc="-25">
                <a:solidFill>
                  <a:srgbClr val="DAD8E9"/>
                </a:solidFill>
                <a:latin typeface="Trebuchet MS"/>
                <a:cs typeface="Trebuchet MS"/>
              </a:rPr>
              <a:t>de </a:t>
            </a:r>
            <a:r>
              <a:rPr dirty="0" sz="1500" spc="-60">
                <a:solidFill>
                  <a:srgbClr val="DAD8E9"/>
                </a:solidFill>
                <a:latin typeface="Trebuchet MS"/>
                <a:cs typeface="Trebuchet MS"/>
              </a:rPr>
              <a:t>información</a:t>
            </a:r>
            <a:r>
              <a:rPr dirty="0" sz="1500" spc="-45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dirty="0" sz="1500" spc="-25">
                <a:solidFill>
                  <a:srgbClr val="DAD8E9"/>
                </a:solidFill>
                <a:latin typeface="Trebuchet MS"/>
                <a:cs typeface="Trebuchet MS"/>
              </a:rPr>
              <a:t>de </a:t>
            </a:r>
            <a:r>
              <a:rPr dirty="0" sz="1500" spc="-55">
                <a:solidFill>
                  <a:srgbClr val="DAD8E9"/>
                </a:solidFill>
                <a:latin typeface="Trebuchet MS"/>
                <a:cs typeface="Trebuchet MS"/>
              </a:rPr>
              <a:t>enrutamiento</a:t>
            </a:r>
            <a:r>
              <a:rPr dirty="0" sz="1500" spc="-15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dirty="0" sz="1500" spc="-10">
                <a:solidFill>
                  <a:srgbClr val="DAD8E9"/>
                </a:solidFill>
                <a:latin typeface="Trebuchet MS"/>
                <a:cs typeface="Trebuchet MS"/>
              </a:rPr>
              <a:t>global.</a:t>
            </a:r>
            <a:endParaRPr sz="1500">
              <a:latin typeface="Trebuchet MS"/>
              <a:cs typeface="Trebuchet MS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4962525" y="4524375"/>
            <a:ext cx="428625" cy="428625"/>
            <a:chOff x="4962525" y="4524375"/>
            <a:chExt cx="428625" cy="428625"/>
          </a:xfrm>
        </p:grpSpPr>
        <p:sp>
          <p:nvSpPr>
            <p:cNvPr id="15" name="object 15" descr=""/>
            <p:cNvSpPr/>
            <p:nvPr/>
          </p:nvSpPr>
          <p:spPr>
            <a:xfrm>
              <a:off x="4967287" y="4529137"/>
              <a:ext cx="419100" cy="419100"/>
            </a:xfrm>
            <a:custGeom>
              <a:avLst/>
              <a:gdLst/>
              <a:ahLst/>
              <a:cxnLst/>
              <a:rect l="l" t="t" r="r" b="b"/>
              <a:pathLst>
                <a:path w="419100" h="419100">
                  <a:moveTo>
                    <a:pt x="360476" y="0"/>
                  </a:moveTo>
                  <a:lnTo>
                    <a:pt x="58623" y="0"/>
                  </a:lnTo>
                  <a:lnTo>
                    <a:pt x="54546" y="406"/>
                  </a:lnTo>
                  <a:lnTo>
                    <a:pt x="15468" y="21285"/>
                  </a:lnTo>
                  <a:lnTo>
                    <a:pt x="0" y="58623"/>
                  </a:lnTo>
                  <a:lnTo>
                    <a:pt x="0" y="356349"/>
                  </a:lnTo>
                  <a:lnTo>
                    <a:pt x="0" y="360476"/>
                  </a:lnTo>
                  <a:lnTo>
                    <a:pt x="15468" y="397814"/>
                  </a:lnTo>
                  <a:lnTo>
                    <a:pt x="54546" y="418693"/>
                  </a:lnTo>
                  <a:lnTo>
                    <a:pt x="58623" y="419100"/>
                  </a:lnTo>
                  <a:lnTo>
                    <a:pt x="360476" y="419100"/>
                  </a:lnTo>
                  <a:lnTo>
                    <a:pt x="397802" y="403631"/>
                  </a:lnTo>
                  <a:lnTo>
                    <a:pt x="418693" y="364553"/>
                  </a:lnTo>
                  <a:lnTo>
                    <a:pt x="419100" y="360476"/>
                  </a:lnTo>
                  <a:lnTo>
                    <a:pt x="419100" y="58623"/>
                  </a:lnTo>
                  <a:lnTo>
                    <a:pt x="403631" y="21285"/>
                  </a:lnTo>
                  <a:lnTo>
                    <a:pt x="364553" y="406"/>
                  </a:lnTo>
                  <a:lnTo>
                    <a:pt x="360476" y="0"/>
                  </a:lnTo>
                  <a:close/>
                </a:path>
              </a:pathLst>
            </a:custGeom>
            <a:solidFill>
              <a:srgbClr val="532C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4967287" y="4529137"/>
              <a:ext cx="419100" cy="419100"/>
            </a:xfrm>
            <a:custGeom>
              <a:avLst/>
              <a:gdLst/>
              <a:ahLst/>
              <a:cxnLst/>
              <a:rect l="l" t="t" r="r" b="b"/>
              <a:pathLst>
                <a:path w="419100" h="419100">
                  <a:moveTo>
                    <a:pt x="0" y="356349"/>
                  </a:moveTo>
                  <a:lnTo>
                    <a:pt x="0" y="62750"/>
                  </a:lnTo>
                  <a:lnTo>
                    <a:pt x="0" y="58623"/>
                  </a:lnTo>
                  <a:lnTo>
                    <a:pt x="406" y="54546"/>
                  </a:lnTo>
                  <a:lnTo>
                    <a:pt x="1206" y="50507"/>
                  </a:lnTo>
                  <a:lnTo>
                    <a:pt x="2006" y="46469"/>
                  </a:lnTo>
                  <a:lnTo>
                    <a:pt x="3200" y="42545"/>
                  </a:lnTo>
                  <a:lnTo>
                    <a:pt x="4775" y="38735"/>
                  </a:lnTo>
                  <a:lnTo>
                    <a:pt x="6350" y="34925"/>
                  </a:lnTo>
                  <a:lnTo>
                    <a:pt x="8280" y="31305"/>
                  </a:lnTo>
                  <a:lnTo>
                    <a:pt x="38735" y="4775"/>
                  </a:lnTo>
                  <a:lnTo>
                    <a:pt x="42545" y="3200"/>
                  </a:lnTo>
                  <a:lnTo>
                    <a:pt x="46469" y="2006"/>
                  </a:lnTo>
                  <a:lnTo>
                    <a:pt x="50507" y="1206"/>
                  </a:lnTo>
                  <a:lnTo>
                    <a:pt x="54546" y="406"/>
                  </a:lnTo>
                  <a:lnTo>
                    <a:pt x="58623" y="0"/>
                  </a:lnTo>
                  <a:lnTo>
                    <a:pt x="62750" y="0"/>
                  </a:lnTo>
                  <a:lnTo>
                    <a:pt x="356349" y="0"/>
                  </a:lnTo>
                  <a:lnTo>
                    <a:pt x="360476" y="0"/>
                  </a:lnTo>
                  <a:lnTo>
                    <a:pt x="364553" y="406"/>
                  </a:lnTo>
                  <a:lnTo>
                    <a:pt x="368592" y="1206"/>
                  </a:lnTo>
                  <a:lnTo>
                    <a:pt x="372630" y="2006"/>
                  </a:lnTo>
                  <a:lnTo>
                    <a:pt x="376555" y="3200"/>
                  </a:lnTo>
                  <a:lnTo>
                    <a:pt x="380365" y="4775"/>
                  </a:lnTo>
                  <a:lnTo>
                    <a:pt x="384175" y="6350"/>
                  </a:lnTo>
                  <a:lnTo>
                    <a:pt x="408520" y="27889"/>
                  </a:lnTo>
                  <a:lnTo>
                    <a:pt x="410819" y="31305"/>
                  </a:lnTo>
                  <a:lnTo>
                    <a:pt x="412750" y="34925"/>
                  </a:lnTo>
                  <a:lnTo>
                    <a:pt x="414324" y="38735"/>
                  </a:lnTo>
                  <a:lnTo>
                    <a:pt x="415899" y="42545"/>
                  </a:lnTo>
                  <a:lnTo>
                    <a:pt x="417093" y="46469"/>
                  </a:lnTo>
                  <a:lnTo>
                    <a:pt x="417893" y="50507"/>
                  </a:lnTo>
                  <a:lnTo>
                    <a:pt x="418693" y="54546"/>
                  </a:lnTo>
                  <a:lnTo>
                    <a:pt x="419100" y="58623"/>
                  </a:lnTo>
                  <a:lnTo>
                    <a:pt x="419100" y="62750"/>
                  </a:lnTo>
                  <a:lnTo>
                    <a:pt x="419100" y="356349"/>
                  </a:lnTo>
                  <a:lnTo>
                    <a:pt x="419100" y="360476"/>
                  </a:lnTo>
                  <a:lnTo>
                    <a:pt x="418693" y="364553"/>
                  </a:lnTo>
                  <a:lnTo>
                    <a:pt x="417893" y="368592"/>
                  </a:lnTo>
                  <a:lnTo>
                    <a:pt x="417093" y="372630"/>
                  </a:lnTo>
                  <a:lnTo>
                    <a:pt x="415899" y="376555"/>
                  </a:lnTo>
                  <a:lnTo>
                    <a:pt x="414324" y="380365"/>
                  </a:lnTo>
                  <a:lnTo>
                    <a:pt x="412750" y="384175"/>
                  </a:lnTo>
                  <a:lnTo>
                    <a:pt x="410819" y="387781"/>
                  </a:lnTo>
                  <a:lnTo>
                    <a:pt x="408520" y="391210"/>
                  </a:lnTo>
                  <a:lnTo>
                    <a:pt x="406234" y="394639"/>
                  </a:lnTo>
                  <a:lnTo>
                    <a:pt x="391210" y="408520"/>
                  </a:lnTo>
                  <a:lnTo>
                    <a:pt x="387781" y="410806"/>
                  </a:lnTo>
                  <a:lnTo>
                    <a:pt x="384175" y="412750"/>
                  </a:lnTo>
                  <a:lnTo>
                    <a:pt x="380365" y="414324"/>
                  </a:lnTo>
                  <a:lnTo>
                    <a:pt x="376555" y="415899"/>
                  </a:lnTo>
                  <a:lnTo>
                    <a:pt x="372630" y="417093"/>
                  </a:lnTo>
                  <a:lnTo>
                    <a:pt x="368592" y="417893"/>
                  </a:lnTo>
                  <a:lnTo>
                    <a:pt x="364553" y="418693"/>
                  </a:lnTo>
                  <a:lnTo>
                    <a:pt x="360476" y="419100"/>
                  </a:lnTo>
                  <a:lnTo>
                    <a:pt x="356349" y="419100"/>
                  </a:lnTo>
                  <a:lnTo>
                    <a:pt x="62750" y="419100"/>
                  </a:lnTo>
                  <a:lnTo>
                    <a:pt x="58623" y="419100"/>
                  </a:lnTo>
                  <a:lnTo>
                    <a:pt x="54546" y="418693"/>
                  </a:lnTo>
                  <a:lnTo>
                    <a:pt x="50507" y="417893"/>
                  </a:lnTo>
                  <a:lnTo>
                    <a:pt x="46469" y="417093"/>
                  </a:lnTo>
                  <a:lnTo>
                    <a:pt x="42545" y="415899"/>
                  </a:lnTo>
                  <a:lnTo>
                    <a:pt x="38735" y="414324"/>
                  </a:lnTo>
                  <a:lnTo>
                    <a:pt x="34925" y="412750"/>
                  </a:lnTo>
                  <a:lnTo>
                    <a:pt x="31318" y="410806"/>
                  </a:lnTo>
                  <a:lnTo>
                    <a:pt x="27889" y="408520"/>
                  </a:lnTo>
                  <a:lnTo>
                    <a:pt x="24460" y="406234"/>
                  </a:lnTo>
                  <a:lnTo>
                    <a:pt x="4775" y="380365"/>
                  </a:lnTo>
                  <a:lnTo>
                    <a:pt x="3200" y="376555"/>
                  </a:lnTo>
                  <a:lnTo>
                    <a:pt x="2006" y="372630"/>
                  </a:lnTo>
                  <a:lnTo>
                    <a:pt x="1206" y="368592"/>
                  </a:lnTo>
                  <a:lnTo>
                    <a:pt x="406" y="364553"/>
                  </a:lnTo>
                  <a:lnTo>
                    <a:pt x="0" y="360476"/>
                  </a:lnTo>
                  <a:lnTo>
                    <a:pt x="0" y="356349"/>
                  </a:lnTo>
                  <a:close/>
                </a:path>
              </a:pathLst>
            </a:custGeom>
            <a:ln w="9525">
              <a:solidFill>
                <a:srgbClr val="6D446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5090909" y="4549775"/>
            <a:ext cx="174625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65">
                <a:solidFill>
                  <a:srgbClr val="DAD8E9"/>
                </a:solidFill>
                <a:latin typeface="Trebuchet MS"/>
                <a:cs typeface="Trebuchet MS"/>
              </a:rPr>
              <a:t>3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5575494" y="4506912"/>
            <a:ext cx="1259205" cy="2825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60">
                <a:solidFill>
                  <a:srgbClr val="DAD8E9"/>
                </a:solidFill>
                <a:latin typeface="Trebuchet MS"/>
                <a:cs typeface="Trebuchet MS"/>
              </a:rPr>
              <a:t>Importancia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5575494" y="4836001"/>
            <a:ext cx="4794250" cy="635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33300"/>
              </a:lnSpc>
              <a:spcBef>
                <a:spcPts val="95"/>
              </a:spcBef>
            </a:pPr>
            <a:r>
              <a:rPr dirty="0" sz="1500" spc="-35">
                <a:solidFill>
                  <a:srgbClr val="DAD8E9"/>
                </a:solidFill>
                <a:latin typeface="Trebuchet MS"/>
                <a:cs typeface="Trebuchet MS"/>
              </a:rPr>
              <a:t>Es</a:t>
            </a:r>
            <a:r>
              <a:rPr dirty="0" sz="1500" spc="-75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dirty="0" sz="1500" spc="-80">
                <a:solidFill>
                  <a:srgbClr val="DAD8E9"/>
                </a:solidFill>
                <a:latin typeface="Trebuchet MS"/>
                <a:cs typeface="Trebuchet MS"/>
              </a:rPr>
              <a:t>crucial</a:t>
            </a:r>
            <a:r>
              <a:rPr dirty="0" sz="1500" spc="-75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dirty="0" sz="1500" spc="-70">
                <a:solidFill>
                  <a:srgbClr val="DAD8E9"/>
                </a:solidFill>
                <a:latin typeface="Trebuchet MS"/>
                <a:cs typeface="Trebuchet MS"/>
              </a:rPr>
              <a:t>para</a:t>
            </a:r>
            <a:r>
              <a:rPr dirty="0" sz="1500" spc="-75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dirty="0" sz="1500" spc="-95">
                <a:solidFill>
                  <a:srgbClr val="DAD8E9"/>
                </a:solidFill>
                <a:latin typeface="Trebuchet MS"/>
                <a:cs typeface="Trebuchet MS"/>
              </a:rPr>
              <a:t>la</a:t>
            </a:r>
            <a:r>
              <a:rPr dirty="0" sz="1500" spc="-75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dirty="0" sz="1500" spc="-70">
                <a:solidFill>
                  <a:srgbClr val="DAD8E9"/>
                </a:solidFill>
                <a:latin typeface="Trebuchet MS"/>
                <a:cs typeface="Trebuchet MS"/>
              </a:rPr>
              <a:t>estabilidad</a:t>
            </a:r>
            <a:r>
              <a:rPr dirty="0" sz="1500" spc="-75">
                <a:solidFill>
                  <a:srgbClr val="DAD8E9"/>
                </a:solidFill>
                <a:latin typeface="Trebuchet MS"/>
                <a:cs typeface="Trebuchet MS"/>
              </a:rPr>
              <a:t> y </a:t>
            </a:r>
            <a:r>
              <a:rPr dirty="0" sz="1500" spc="-80">
                <a:solidFill>
                  <a:srgbClr val="DAD8E9"/>
                </a:solidFill>
                <a:latin typeface="Trebuchet MS"/>
                <a:cs typeface="Trebuchet MS"/>
              </a:rPr>
              <a:t>eficiencia</a:t>
            </a:r>
            <a:r>
              <a:rPr dirty="0" sz="1500" spc="-75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dirty="0" sz="1500" spc="-85">
                <a:solidFill>
                  <a:srgbClr val="DAD8E9"/>
                </a:solidFill>
                <a:latin typeface="Trebuchet MS"/>
                <a:cs typeface="Trebuchet MS"/>
              </a:rPr>
              <a:t>del</a:t>
            </a:r>
            <a:r>
              <a:rPr dirty="0" sz="1500" spc="-75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dirty="0" sz="1500" spc="-55">
                <a:solidFill>
                  <a:srgbClr val="DAD8E9"/>
                </a:solidFill>
                <a:latin typeface="Trebuchet MS"/>
                <a:cs typeface="Trebuchet MS"/>
              </a:rPr>
              <a:t>enrutamiento</a:t>
            </a:r>
            <a:r>
              <a:rPr dirty="0" sz="1500" spc="-75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dirty="0" sz="1500" spc="-25">
                <a:solidFill>
                  <a:srgbClr val="DAD8E9"/>
                </a:solidFill>
                <a:latin typeface="Trebuchet MS"/>
                <a:cs typeface="Trebuchet MS"/>
              </a:rPr>
              <a:t>en </a:t>
            </a:r>
            <a:r>
              <a:rPr dirty="0" sz="1500" spc="-10">
                <a:solidFill>
                  <a:srgbClr val="DAD8E9"/>
                </a:solidFill>
                <a:latin typeface="Trebuchet MS"/>
                <a:cs typeface="Trebuchet MS"/>
              </a:rPr>
              <a:t>Internet.</a:t>
            </a:r>
            <a:endParaRPr sz="1500">
              <a:latin typeface="Trebuchet MS"/>
              <a:cs typeface="Trebuchet MS"/>
            </a:endParaRPr>
          </a:p>
        </p:txBody>
      </p:sp>
      <p:pic>
        <p:nvPicPr>
          <p:cNvPr id="20" name="object 20" descr="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2385" y="2054225"/>
            <a:ext cx="971804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160">
                <a:latin typeface="Trebuchet MS"/>
                <a:cs typeface="Trebuchet MS"/>
              </a:rPr>
              <a:t>Tipo</a:t>
            </a:r>
            <a:r>
              <a:rPr dirty="0" cap="small" spc="160">
                <a:latin typeface="Trebuchet MS"/>
                <a:cs typeface="Trebuchet MS"/>
              </a:rPr>
              <a:t>s</a:t>
            </a:r>
            <a:r>
              <a:rPr dirty="0" spc="215">
                <a:latin typeface="Trebuchet MS"/>
                <a:cs typeface="Trebuchet MS"/>
              </a:rPr>
              <a:t> </a:t>
            </a:r>
            <a:r>
              <a:rPr dirty="0" spc="295">
                <a:latin typeface="Trebuchet MS"/>
                <a:cs typeface="Trebuchet MS"/>
              </a:rPr>
              <a:t>de</a:t>
            </a:r>
            <a:r>
              <a:rPr dirty="0" spc="225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BGP:</a:t>
            </a:r>
            <a:r>
              <a:rPr dirty="0" spc="229">
                <a:latin typeface="Trebuchet MS"/>
                <a:cs typeface="Trebuchet MS"/>
              </a:rPr>
              <a:t> </a:t>
            </a:r>
            <a:r>
              <a:rPr dirty="0" spc="130">
                <a:latin typeface="Trebuchet MS"/>
                <a:cs typeface="Trebuchet MS"/>
              </a:rPr>
              <a:t>Interno</a:t>
            </a:r>
            <a:r>
              <a:rPr dirty="0" spc="225">
                <a:latin typeface="Trebuchet MS"/>
                <a:cs typeface="Trebuchet MS"/>
              </a:rPr>
              <a:t> </a:t>
            </a:r>
            <a:r>
              <a:rPr dirty="0" spc="60">
                <a:latin typeface="Trebuchet MS"/>
                <a:cs typeface="Trebuchet MS"/>
              </a:rPr>
              <a:t>(iBGP)</a:t>
            </a:r>
            <a:r>
              <a:rPr dirty="0" spc="225">
                <a:latin typeface="Trebuchet MS"/>
                <a:cs typeface="Trebuchet MS"/>
              </a:rPr>
              <a:t> </a:t>
            </a:r>
            <a:r>
              <a:rPr dirty="0" spc="360">
                <a:latin typeface="Trebuchet MS"/>
                <a:cs typeface="Trebuchet MS"/>
              </a:rPr>
              <a:t>y</a:t>
            </a:r>
            <a:r>
              <a:rPr dirty="0" spc="229">
                <a:latin typeface="Trebuchet MS"/>
                <a:cs typeface="Trebuchet MS"/>
              </a:rPr>
              <a:t> </a:t>
            </a:r>
            <a:r>
              <a:rPr dirty="0" spc="165">
                <a:latin typeface="Trebuchet MS"/>
                <a:cs typeface="Trebuchet MS"/>
              </a:rPr>
              <a:t>Externo</a:t>
            </a:r>
            <a:r>
              <a:rPr dirty="0" spc="229">
                <a:latin typeface="Trebuchet MS"/>
                <a:cs typeface="Trebuchet MS"/>
              </a:rPr>
              <a:t> </a:t>
            </a:r>
            <a:r>
              <a:rPr dirty="0" spc="70">
                <a:latin typeface="Trebuchet MS"/>
                <a:cs typeface="Trebuchet MS"/>
              </a:rPr>
              <a:t>(eBGP)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62385" y="3087687"/>
            <a:ext cx="4689475" cy="10502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50">
                <a:solidFill>
                  <a:srgbClr val="C6BEEE"/>
                </a:solidFill>
                <a:latin typeface="Trebuchet MS"/>
                <a:cs typeface="Trebuchet MS"/>
              </a:rPr>
              <a:t>iBGP</a:t>
            </a:r>
            <a:endParaRPr sz="1650">
              <a:latin typeface="Trebuchet MS"/>
              <a:cs typeface="Trebuchet MS"/>
            </a:endParaRPr>
          </a:p>
          <a:p>
            <a:pPr marL="12700" marR="5080">
              <a:lnSpc>
                <a:spcPct val="137500"/>
              </a:lnSpc>
              <a:spcBef>
                <a:spcPts val="1095"/>
              </a:spcBef>
            </a:pPr>
            <a:r>
              <a:rPr dirty="0" sz="1500" spc="-25">
                <a:solidFill>
                  <a:srgbClr val="DAD8E9"/>
                </a:solidFill>
                <a:latin typeface="Tahoma"/>
                <a:cs typeface="Tahoma"/>
              </a:rPr>
              <a:t>Utilizado</a:t>
            </a:r>
            <a:r>
              <a:rPr dirty="0" sz="1500" spc="-95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dirty="0" sz="1500" spc="-30">
                <a:solidFill>
                  <a:srgbClr val="DAD8E9"/>
                </a:solidFill>
                <a:latin typeface="Tahoma"/>
                <a:cs typeface="Tahoma"/>
              </a:rPr>
              <a:t>dentro</a:t>
            </a:r>
            <a:r>
              <a:rPr dirty="0" sz="1500" spc="-95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dirty="0" sz="1500" spc="-55">
                <a:solidFill>
                  <a:srgbClr val="DAD8E9"/>
                </a:solidFill>
                <a:latin typeface="Tahoma"/>
                <a:cs typeface="Tahoma"/>
              </a:rPr>
              <a:t>de</a:t>
            </a:r>
            <a:r>
              <a:rPr dirty="0" sz="1500" spc="-95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dirty="0" sz="1500" spc="-50">
                <a:solidFill>
                  <a:srgbClr val="DAD8E9"/>
                </a:solidFill>
                <a:latin typeface="Tahoma"/>
                <a:cs typeface="Tahoma"/>
              </a:rPr>
              <a:t>un</a:t>
            </a:r>
            <a:r>
              <a:rPr dirty="0" sz="1500" spc="-95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dirty="0" sz="1500" spc="-35">
                <a:solidFill>
                  <a:srgbClr val="DAD8E9"/>
                </a:solidFill>
                <a:latin typeface="Tahoma"/>
                <a:cs typeface="Tahoma"/>
              </a:rPr>
              <a:t>mismo</a:t>
            </a:r>
            <a:r>
              <a:rPr dirty="0" sz="1500" spc="-95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dirty="0" sz="1500" spc="-45">
                <a:solidFill>
                  <a:srgbClr val="DAD8E9"/>
                </a:solidFill>
                <a:latin typeface="Tahoma"/>
                <a:cs typeface="Tahoma"/>
              </a:rPr>
              <a:t>sistema</a:t>
            </a:r>
            <a:r>
              <a:rPr dirty="0" sz="1500" spc="-9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dirty="0" sz="1500" spc="-55">
                <a:solidFill>
                  <a:srgbClr val="DAD8E9"/>
                </a:solidFill>
                <a:latin typeface="Tahoma"/>
                <a:cs typeface="Tahoma"/>
              </a:rPr>
              <a:t>autónomo.</a:t>
            </a:r>
            <a:r>
              <a:rPr dirty="0" sz="1500" spc="-95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DAD8E9"/>
                </a:solidFill>
                <a:latin typeface="Tahoma"/>
                <a:cs typeface="Tahoma"/>
              </a:rPr>
              <a:t>Mantiene </a:t>
            </a:r>
            <a:r>
              <a:rPr dirty="0" sz="1500" spc="-45">
                <a:solidFill>
                  <a:srgbClr val="DAD8E9"/>
                </a:solidFill>
                <a:latin typeface="Tahoma"/>
                <a:cs typeface="Tahoma"/>
              </a:rPr>
              <a:t>consistencia</a:t>
            </a:r>
            <a:r>
              <a:rPr dirty="0" sz="1500" spc="-85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dirty="0" sz="1500" spc="-30">
                <a:solidFill>
                  <a:srgbClr val="DAD8E9"/>
                </a:solidFill>
                <a:latin typeface="Tahoma"/>
                <a:cs typeface="Tahoma"/>
              </a:rPr>
              <a:t>interna</a:t>
            </a:r>
            <a:r>
              <a:rPr dirty="0" sz="1500" spc="-85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dirty="0" sz="1500" spc="-55">
                <a:solidFill>
                  <a:srgbClr val="DAD8E9"/>
                </a:solidFill>
                <a:latin typeface="Tahoma"/>
                <a:cs typeface="Tahoma"/>
              </a:rPr>
              <a:t>de</a:t>
            </a:r>
            <a:r>
              <a:rPr dirty="0" sz="1500" spc="-8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DAD8E9"/>
                </a:solidFill>
                <a:latin typeface="Tahoma"/>
                <a:cs typeface="Tahoma"/>
              </a:rPr>
              <a:t>enrutamiento.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947118" y="3087687"/>
            <a:ext cx="578485" cy="2825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90">
                <a:solidFill>
                  <a:srgbClr val="C6BEEE"/>
                </a:solidFill>
                <a:latin typeface="Trebuchet MS"/>
                <a:cs typeface="Trebuchet MS"/>
              </a:rPr>
              <a:t>eBGP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947118" y="3483451"/>
            <a:ext cx="4676140" cy="6540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37500"/>
              </a:lnSpc>
              <a:spcBef>
                <a:spcPts val="95"/>
              </a:spcBef>
            </a:pPr>
            <a:r>
              <a:rPr dirty="0" sz="1500" spc="-45">
                <a:solidFill>
                  <a:srgbClr val="DAD8E9"/>
                </a:solidFill>
                <a:latin typeface="Tahoma"/>
                <a:cs typeface="Tahoma"/>
              </a:rPr>
              <a:t>Conecta</a:t>
            </a:r>
            <a:r>
              <a:rPr dirty="0" sz="1500" spc="-95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dirty="0" sz="1500" spc="-35">
                <a:solidFill>
                  <a:srgbClr val="DAD8E9"/>
                </a:solidFill>
                <a:latin typeface="Tahoma"/>
                <a:cs typeface="Tahoma"/>
              </a:rPr>
              <a:t>diferentes</a:t>
            </a:r>
            <a:r>
              <a:rPr dirty="0" sz="1500" spc="-95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dirty="0" sz="1500" spc="-45">
                <a:solidFill>
                  <a:srgbClr val="DAD8E9"/>
                </a:solidFill>
                <a:latin typeface="Tahoma"/>
                <a:cs typeface="Tahoma"/>
              </a:rPr>
              <a:t>sistemas</a:t>
            </a:r>
            <a:r>
              <a:rPr dirty="0" sz="1500" spc="-9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dirty="0" sz="1500" spc="-55">
                <a:solidFill>
                  <a:srgbClr val="DAD8E9"/>
                </a:solidFill>
                <a:latin typeface="Tahoma"/>
                <a:cs typeface="Tahoma"/>
              </a:rPr>
              <a:t>autónomos.</a:t>
            </a:r>
            <a:r>
              <a:rPr dirty="0" sz="1500" spc="-95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dirty="0" sz="1500" spc="-90">
                <a:solidFill>
                  <a:srgbClr val="DAD8E9"/>
                </a:solidFill>
                <a:latin typeface="Tahoma"/>
                <a:cs typeface="Tahoma"/>
              </a:rPr>
              <a:t>Es</a:t>
            </a:r>
            <a:r>
              <a:rPr dirty="0" sz="1500" spc="-95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dirty="0" sz="1500" spc="-45">
                <a:solidFill>
                  <a:srgbClr val="DAD8E9"/>
                </a:solidFill>
                <a:latin typeface="Tahoma"/>
                <a:cs typeface="Tahoma"/>
              </a:rPr>
              <a:t>esencial</a:t>
            </a:r>
            <a:r>
              <a:rPr dirty="0" sz="1500" spc="-9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dirty="0" sz="1500" spc="-55">
                <a:solidFill>
                  <a:srgbClr val="DAD8E9"/>
                </a:solidFill>
                <a:latin typeface="Tahoma"/>
                <a:cs typeface="Tahoma"/>
              </a:rPr>
              <a:t>para</a:t>
            </a:r>
            <a:r>
              <a:rPr dirty="0" sz="1500" spc="-95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dirty="0" sz="1500" spc="-25">
                <a:solidFill>
                  <a:srgbClr val="DAD8E9"/>
                </a:solidFill>
                <a:latin typeface="Tahoma"/>
                <a:cs typeface="Tahoma"/>
              </a:rPr>
              <a:t>el </a:t>
            </a:r>
            <a:r>
              <a:rPr dirty="0" sz="1500" spc="-30">
                <a:solidFill>
                  <a:srgbClr val="DAD8E9"/>
                </a:solidFill>
                <a:latin typeface="Tahoma"/>
                <a:cs typeface="Tahoma"/>
              </a:rPr>
              <a:t>enrutamiento</a:t>
            </a:r>
            <a:r>
              <a:rPr dirty="0" sz="1500" spc="-85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dirty="0" sz="1500" spc="-30">
                <a:solidFill>
                  <a:srgbClr val="DAD8E9"/>
                </a:solidFill>
                <a:latin typeface="Tahoma"/>
                <a:cs typeface="Tahoma"/>
              </a:rPr>
              <a:t>entre</a:t>
            </a:r>
            <a:r>
              <a:rPr dirty="0" sz="1500" spc="-8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dirty="0" sz="1500" spc="-55">
                <a:solidFill>
                  <a:srgbClr val="DAD8E9"/>
                </a:solidFill>
                <a:latin typeface="Tahoma"/>
                <a:cs typeface="Tahoma"/>
              </a:rPr>
              <a:t>proveedores</a:t>
            </a:r>
            <a:r>
              <a:rPr dirty="0" sz="1500" spc="-85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dirty="0" sz="1500" spc="-55">
                <a:solidFill>
                  <a:srgbClr val="DAD8E9"/>
                </a:solidFill>
                <a:latin typeface="Tahoma"/>
                <a:cs typeface="Tahoma"/>
              </a:rPr>
              <a:t>de</a:t>
            </a:r>
            <a:r>
              <a:rPr dirty="0" sz="1500" spc="-8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DAD8E9"/>
                </a:solidFill>
                <a:latin typeface="Tahoma"/>
                <a:cs typeface="Tahoma"/>
              </a:rPr>
              <a:t>servicios.</a:t>
            </a:r>
            <a:endParaRPr sz="1500">
              <a:latin typeface="Tahoma"/>
              <a:cs typeface="Tahoma"/>
            </a:endParaRPr>
          </a:p>
        </p:txBody>
      </p:sp>
      <p:pic>
        <p:nvPicPr>
          <p:cNvPr id="6" name="object 6" descr="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1430000" cy="6972300"/>
          </a:xfrm>
          <a:custGeom>
            <a:avLst/>
            <a:gdLst/>
            <a:ahLst/>
            <a:cxnLst/>
            <a:rect l="l" t="t" r="r" b="b"/>
            <a:pathLst>
              <a:path w="11430000" h="6972300">
                <a:moveTo>
                  <a:pt x="11430000" y="0"/>
                </a:moveTo>
                <a:lnTo>
                  <a:pt x="0" y="0"/>
                </a:lnTo>
                <a:lnTo>
                  <a:pt x="0" y="6972300"/>
                </a:lnTo>
                <a:lnTo>
                  <a:pt x="11430000" y="69723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0A0C22">
              <a:alpha val="94898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4286250" cy="697204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948631" y="501650"/>
            <a:ext cx="5128895" cy="1073150"/>
          </a:xfrm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0"/>
              </a:spcBef>
            </a:pPr>
            <a:r>
              <a:rPr dirty="0" spc="200"/>
              <a:t>Configuración</a:t>
            </a:r>
            <a:r>
              <a:rPr dirty="0" spc="210"/>
              <a:t> </a:t>
            </a:r>
            <a:r>
              <a:rPr dirty="0" spc="180"/>
              <a:t>Bá</a:t>
            </a:r>
            <a:r>
              <a:rPr dirty="0" cap="small" spc="180"/>
              <a:t>s</a:t>
            </a:r>
            <a:r>
              <a:rPr dirty="0" spc="180"/>
              <a:t>ica</a:t>
            </a:r>
            <a:r>
              <a:rPr dirty="0" spc="210"/>
              <a:t> </a:t>
            </a:r>
            <a:r>
              <a:rPr dirty="0" spc="145"/>
              <a:t>de </a:t>
            </a:r>
            <a:r>
              <a:rPr dirty="0" spc="180"/>
              <a:t>BGP</a:t>
            </a:r>
            <a:r>
              <a:rPr dirty="0" spc="170"/>
              <a:t> </a:t>
            </a:r>
            <a:r>
              <a:rPr dirty="0" spc="235"/>
              <a:t>en</a:t>
            </a:r>
            <a:r>
              <a:rPr dirty="0" spc="170"/>
              <a:t> </a:t>
            </a:r>
            <a:r>
              <a:rPr dirty="0" spc="160"/>
              <a:t>Router</a:t>
            </a:r>
            <a:r>
              <a:rPr dirty="0" cap="small" spc="160"/>
              <a:t>s</a:t>
            </a:r>
          </a:p>
        </p:txBody>
      </p:sp>
      <p:grpSp>
        <p:nvGrpSpPr>
          <p:cNvPr id="5" name="object 5" descr=""/>
          <p:cNvGrpSpPr/>
          <p:nvPr/>
        </p:nvGrpSpPr>
        <p:grpSpPr>
          <a:xfrm>
            <a:off x="5031282" y="1895474"/>
            <a:ext cx="1085850" cy="4543425"/>
            <a:chOff x="5031282" y="1895474"/>
            <a:chExt cx="1085850" cy="4543425"/>
          </a:xfrm>
        </p:grpSpPr>
        <p:sp>
          <p:nvSpPr>
            <p:cNvPr id="6" name="object 6" descr=""/>
            <p:cNvSpPr/>
            <p:nvPr/>
          </p:nvSpPr>
          <p:spPr>
            <a:xfrm>
              <a:off x="5238750" y="1895474"/>
              <a:ext cx="878840" cy="4543425"/>
            </a:xfrm>
            <a:custGeom>
              <a:avLst/>
              <a:gdLst/>
              <a:ahLst/>
              <a:cxnLst/>
              <a:rect l="l" t="t" r="r" b="b"/>
              <a:pathLst>
                <a:path w="878839" h="4543425">
                  <a:moveTo>
                    <a:pt x="28575" y="12395"/>
                  </a:moveTo>
                  <a:lnTo>
                    <a:pt x="16179" y="0"/>
                  </a:lnTo>
                  <a:lnTo>
                    <a:pt x="12395" y="0"/>
                  </a:lnTo>
                  <a:lnTo>
                    <a:pt x="0" y="12395"/>
                  </a:lnTo>
                  <a:lnTo>
                    <a:pt x="0" y="4529150"/>
                  </a:lnTo>
                  <a:lnTo>
                    <a:pt x="0" y="4531030"/>
                  </a:lnTo>
                  <a:lnTo>
                    <a:pt x="12395" y="4543425"/>
                  </a:lnTo>
                  <a:lnTo>
                    <a:pt x="16179" y="4543425"/>
                  </a:lnTo>
                  <a:lnTo>
                    <a:pt x="28575" y="4531030"/>
                  </a:lnTo>
                  <a:lnTo>
                    <a:pt x="28575" y="12395"/>
                  </a:lnTo>
                  <a:close/>
                </a:path>
                <a:path w="878839" h="4543425">
                  <a:moveTo>
                    <a:pt x="878382" y="426732"/>
                  </a:moveTo>
                  <a:lnTo>
                    <a:pt x="865987" y="414337"/>
                  </a:lnTo>
                  <a:lnTo>
                    <a:pt x="214490" y="414337"/>
                  </a:lnTo>
                  <a:lnTo>
                    <a:pt x="202107" y="426732"/>
                  </a:lnTo>
                  <a:lnTo>
                    <a:pt x="202107" y="428625"/>
                  </a:lnTo>
                  <a:lnTo>
                    <a:pt x="202107" y="430517"/>
                  </a:lnTo>
                  <a:lnTo>
                    <a:pt x="214490" y="442912"/>
                  </a:lnTo>
                  <a:lnTo>
                    <a:pt x="865987" y="442912"/>
                  </a:lnTo>
                  <a:lnTo>
                    <a:pt x="878382" y="430517"/>
                  </a:lnTo>
                  <a:lnTo>
                    <a:pt x="878382" y="426732"/>
                  </a:lnTo>
                  <a:close/>
                </a:path>
              </a:pathLst>
            </a:custGeom>
            <a:solidFill>
              <a:srgbClr val="6D446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5036045" y="2119312"/>
              <a:ext cx="428625" cy="419100"/>
            </a:xfrm>
            <a:custGeom>
              <a:avLst/>
              <a:gdLst/>
              <a:ahLst/>
              <a:cxnLst/>
              <a:rect l="l" t="t" r="r" b="b"/>
              <a:pathLst>
                <a:path w="428625" h="419100">
                  <a:moveTo>
                    <a:pt x="370001" y="0"/>
                  </a:moveTo>
                  <a:lnTo>
                    <a:pt x="58623" y="0"/>
                  </a:lnTo>
                  <a:lnTo>
                    <a:pt x="54546" y="406"/>
                  </a:lnTo>
                  <a:lnTo>
                    <a:pt x="15468" y="21285"/>
                  </a:lnTo>
                  <a:lnTo>
                    <a:pt x="0" y="58623"/>
                  </a:lnTo>
                  <a:lnTo>
                    <a:pt x="0" y="356349"/>
                  </a:lnTo>
                  <a:lnTo>
                    <a:pt x="0" y="360476"/>
                  </a:lnTo>
                  <a:lnTo>
                    <a:pt x="15468" y="397814"/>
                  </a:lnTo>
                  <a:lnTo>
                    <a:pt x="54546" y="418693"/>
                  </a:lnTo>
                  <a:lnTo>
                    <a:pt x="58623" y="419100"/>
                  </a:lnTo>
                  <a:lnTo>
                    <a:pt x="370001" y="419100"/>
                  </a:lnTo>
                  <a:lnTo>
                    <a:pt x="407339" y="403631"/>
                  </a:lnTo>
                  <a:lnTo>
                    <a:pt x="428218" y="364553"/>
                  </a:lnTo>
                  <a:lnTo>
                    <a:pt x="428625" y="360476"/>
                  </a:lnTo>
                  <a:lnTo>
                    <a:pt x="428625" y="58623"/>
                  </a:lnTo>
                  <a:lnTo>
                    <a:pt x="413156" y="21285"/>
                  </a:lnTo>
                  <a:lnTo>
                    <a:pt x="374078" y="406"/>
                  </a:lnTo>
                  <a:lnTo>
                    <a:pt x="370001" y="0"/>
                  </a:lnTo>
                  <a:close/>
                </a:path>
              </a:pathLst>
            </a:custGeom>
            <a:solidFill>
              <a:srgbClr val="532C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5036045" y="2119312"/>
              <a:ext cx="428625" cy="419100"/>
            </a:xfrm>
            <a:custGeom>
              <a:avLst/>
              <a:gdLst/>
              <a:ahLst/>
              <a:cxnLst/>
              <a:rect l="l" t="t" r="r" b="b"/>
              <a:pathLst>
                <a:path w="428625" h="419100">
                  <a:moveTo>
                    <a:pt x="0" y="356349"/>
                  </a:moveTo>
                  <a:lnTo>
                    <a:pt x="0" y="62750"/>
                  </a:lnTo>
                  <a:lnTo>
                    <a:pt x="0" y="58623"/>
                  </a:lnTo>
                  <a:lnTo>
                    <a:pt x="406" y="54546"/>
                  </a:lnTo>
                  <a:lnTo>
                    <a:pt x="1206" y="50507"/>
                  </a:lnTo>
                  <a:lnTo>
                    <a:pt x="2006" y="46469"/>
                  </a:lnTo>
                  <a:lnTo>
                    <a:pt x="3200" y="42545"/>
                  </a:lnTo>
                  <a:lnTo>
                    <a:pt x="4775" y="38735"/>
                  </a:lnTo>
                  <a:lnTo>
                    <a:pt x="6350" y="34925"/>
                  </a:lnTo>
                  <a:lnTo>
                    <a:pt x="8280" y="31305"/>
                  </a:lnTo>
                  <a:lnTo>
                    <a:pt x="10579" y="27889"/>
                  </a:lnTo>
                  <a:lnTo>
                    <a:pt x="12865" y="24460"/>
                  </a:lnTo>
                  <a:lnTo>
                    <a:pt x="15468" y="21285"/>
                  </a:lnTo>
                  <a:lnTo>
                    <a:pt x="50507" y="1206"/>
                  </a:lnTo>
                  <a:lnTo>
                    <a:pt x="54546" y="406"/>
                  </a:lnTo>
                  <a:lnTo>
                    <a:pt x="58623" y="0"/>
                  </a:lnTo>
                  <a:lnTo>
                    <a:pt x="62750" y="0"/>
                  </a:lnTo>
                  <a:lnTo>
                    <a:pt x="365874" y="0"/>
                  </a:lnTo>
                  <a:lnTo>
                    <a:pt x="370001" y="0"/>
                  </a:lnTo>
                  <a:lnTo>
                    <a:pt x="374078" y="406"/>
                  </a:lnTo>
                  <a:lnTo>
                    <a:pt x="410248" y="18376"/>
                  </a:lnTo>
                  <a:lnTo>
                    <a:pt x="418045" y="27889"/>
                  </a:lnTo>
                  <a:lnTo>
                    <a:pt x="420344" y="31305"/>
                  </a:lnTo>
                  <a:lnTo>
                    <a:pt x="422275" y="34925"/>
                  </a:lnTo>
                  <a:lnTo>
                    <a:pt x="423849" y="38735"/>
                  </a:lnTo>
                  <a:lnTo>
                    <a:pt x="425424" y="42545"/>
                  </a:lnTo>
                  <a:lnTo>
                    <a:pt x="426618" y="46469"/>
                  </a:lnTo>
                  <a:lnTo>
                    <a:pt x="427418" y="50507"/>
                  </a:lnTo>
                  <a:lnTo>
                    <a:pt x="428218" y="54546"/>
                  </a:lnTo>
                  <a:lnTo>
                    <a:pt x="428625" y="58623"/>
                  </a:lnTo>
                  <a:lnTo>
                    <a:pt x="428625" y="62750"/>
                  </a:lnTo>
                  <a:lnTo>
                    <a:pt x="428625" y="356349"/>
                  </a:lnTo>
                  <a:lnTo>
                    <a:pt x="428625" y="360476"/>
                  </a:lnTo>
                  <a:lnTo>
                    <a:pt x="428218" y="364553"/>
                  </a:lnTo>
                  <a:lnTo>
                    <a:pt x="427418" y="368592"/>
                  </a:lnTo>
                  <a:lnTo>
                    <a:pt x="426618" y="372630"/>
                  </a:lnTo>
                  <a:lnTo>
                    <a:pt x="425424" y="376555"/>
                  </a:lnTo>
                  <a:lnTo>
                    <a:pt x="423849" y="380365"/>
                  </a:lnTo>
                  <a:lnTo>
                    <a:pt x="422275" y="384175"/>
                  </a:lnTo>
                  <a:lnTo>
                    <a:pt x="420344" y="387781"/>
                  </a:lnTo>
                  <a:lnTo>
                    <a:pt x="418045" y="391210"/>
                  </a:lnTo>
                  <a:lnTo>
                    <a:pt x="415759" y="394639"/>
                  </a:lnTo>
                  <a:lnTo>
                    <a:pt x="413156" y="397814"/>
                  </a:lnTo>
                  <a:lnTo>
                    <a:pt x="410248" y="400723"/>
                  </a:lnTo>
                  <a:lnTo>
                    <a:pt x="407339" y="403631"/>
                  </a:lnTo>
                  <a:lnTo>
                    <a:pt x="404164" y="406234"/>
                  </a:lnTo>
                  <a:lnTo>
                    <a:pt x="400735" y="408520"/>
                  </a:lnTo>
                  <a:lnTo>
                    <a:pt x="397306" y="410819"/>
                  </a:lnTo>
                  <a:lnTo>
                    <a:pt x="393700" y="412750"/>
                  </a:lnTo>
                  <a:lnTo>
                    <a:pt x="389890" y="414324"/>
                  </a:lnTo>
                  <a:lnTo>
                    <a:pt x="386080" y="415899"/>
                  </a:lnTo>
                  <a:lnTo>
                    <a:pt x="382155" y="417093"/>
                  </a:lnTo>
                  <a:lnTo>
                    <a:pt x="378117" y="417893"/>
                  </a:lnTo>
                  <a:lnTo>
                    <a:pt x="374078" y="418693"/>
                  </a:lnTo>
                  <a:lnTo>
                    <a:pt x="370001" y="419100"/>
                  </a:lnTo>
                  <a:lnTo>
                    <a:pt x="365874" y="419100"/>
                  </a:lnTo>
                  <a:lnTo>
                    <a:pt x="62750" y="419100"/>
                  </a:lnTo>
                  <a:lnTo>
                    <a:pt x="58623" y="419100"/>
                  </a:lnTo>
                  <a:lnTo>
                    <a:pt x="54546" y="418693"/>
                  </a:lnTo>
                  <a:lnTo>
                    <a:pt x="50507" y="417893"/>
                  </a:lnTo>
                  <a:lnTo>
                    <a:pt x="46469" y="417093"/>
                  </a:lnTo>
                  <a:lnTo>
                    <a:pt x="42545" y="415899"/>
                  </a:lnTo>
                  <a:lnTo>
                    <a:pt x="38735" y="414324"/>
                  </a:lnTo>
                  <a:lnTo>
                    <a:pt x="34925" y="412750"/>
                  </a:lnTo>
                  <a:lnTo>
                    <a:pt x="31318" y="410819"/>
                  </a:lnTo>
                  <a:lnTo>
                    <a:pt x="27889" y="408520"/>
                  </a:lnTo>
                  <a:lnTo>
                    <a:pt x="24460" y="406234"/>
                  </a:lnTo>
                  <a:lnTo>
                    <a:pt x="10579" y="391210"/>
                  </a:lnTo>
                  <a:lnTo>
                    <a:pt x="8280" y="387781"/>
                  </a:lnTo>
                  <a:lnTo>
                    <a:pt x="6350" y="384175"/>
                  </a:lnTo>
                  <a:lnTo>
                    <a:pt x="4775" y="380365"/>
                  </a:lnTo>
                  <a:lnTo>
                    <a:pt x="3200" y="376555"/>
                  </a:lnTo>
                  <a:lnTo>
                    <a:pt x="2006" y="372630"/>
                  </a:lnTo>
                  <a:lnTo>
                    <a:pt x="1206" y="368592"/>
                  </a:lnTo>
                  <a:lnTo>
                    <a:pt x="406" y="364553"/>
                  </a:lnTo>
                  <a:lnTo>
                    <a:pt x="0" y="360476"/>
                  </a:lnTo>
                  <a:lnTo>
                    <a:pt x="0" y="356349"/>
                  </a:lnTo>
                  <a:close/>
                </a:path>
              </a:pathLst>
            </a:custGeom>
            <a:ln w="9525">
              <a:solidFill>
                <a:srgbClr val="6D446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5189740" y="2139950"/>
            <a:ext cx="121920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390">
                <a:solidFill>
                  <a:srgbClr val="DAD8E9"/>
                </a:solidFill>
                <a:latin typeface="Tahoma"/>
                <a:cs typeface="Tahoma"/>
              </a:rPr>
              <a:t>1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6298807" y="2068512"/>
            <a:ext cx="2025650" cy="2825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85">
                <a:solidFill>
                  <a:srgbClr val="DAD8E9"/>
                </a:solidFill>
                <a:latin typeface="Tahoma"/>
                <a:cs typeface="Tahoma"/>
              </a:rPr>
              <a:t>Pa</a:t>
            </a:r>
            <a:r>
              <a:rPr dirty="0" cap="small" sz="1650" spc="85">
                <a:solidFill>
                  <a:srgbClr val="DAD8E9"/>
                </a:solidFill>
                <a:latin typeface="Tahoma"/>
                <a:cs typeface="Tahoma"/>
              </a:rPr>
              <a:t>s</a:t>
            </a:r>
            <a:r>
              <a:rPr dirty="0" sz="1650" spc="85">
                <a:solidFill>
                  <a:srgbClr val="DAD8E9"/>
                </a:solidFill>
                <a:latin typeface="Tahoma"/>
                <a:cs typeface="Tahoma"/>
              </a:rPr>
              <a:t>o</a:t>
            </a:r>
            <a:r>
              <a:rPr dirty="0" sz="1650" spc="10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dirty="0" sz="1650" spc="-254">
                <a:solidFill>
                  <a:srgbClr val="DAD8E9"/>
                </a:solidFill>
                <a:latin typeface="Tahoma"/>
                <a:cs typeface="Tahoma"/>
              </a:rPr>
              <a:t>1:</a:t>
            </a:r>
            <a:r>
              <a:rPr dirty="0" sz="1650" spc="105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dirty="0" sz="1650" spc="114">
                <a:solidFill>
                  <a:srgbClr val="DAD8E9"/>
                </a:solidFill>
                <a:latin typeface="Tahoma"/>
                <a:cs typeface="Tahoma"/>
              </a:rPr>
              <a:t>Activar</a:t>
            </a:r>
            <a:r>
              <a:rPr dirty="0" sz="1650" spc="105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dirty="0" sz="1650" spc="-5">
                <a:solidFill>
                  <a:srgbClr val="DAD8E9"/>
                </a:solidFill>
                <a:latin typeface="Tahoma"/>
                <a:cs typeface="Tahoma"/>
              </a:rPr>
              <a:t>BGP</a:t>
            </a:r>
            <a:endParaRPr sz="1650">
              <a:latin typeface="Tahoma"/>
              <a:cs typeface="Tahoma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6298807" y="2388076"/>
            <a:ext cx="4417695" cy="6540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37500"/>
              </a:lnSpc>
              <a:spcBef>
                <a:spcPts val="95"/>
              </a:spcBef>
            </a:pPr>
            <a:r>
              <a:rPr dirty="0" sz="1500" spc="-45">
                <a:solidFill>
                  <a:srgbClr val="DAD8E9"/>
                </a:solidFill>
                <a:latin typeface="Trebuchet MS"/>
                <a:cs typeface="Trebuchet MS"/>
              </a:rPr>
              <a:t>Usar</a:t>
            </a:r>
            <a:r>
              <a:rPr dirty="0" sz="1500" spc="-85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dirty="0" sz="1500" spc="-95">
                <a:solidFill>
                  <a:srgbClr val="DAD8E9"/>
                </a:solidFill>
                <a:latin typeface="Trebuchet MS"/>
                <a:cs typeface="Trebuchet MS"/>
              </a:rPr>
              <a:t>el</a:t>
            </a:r>
            <a:r>
              <a:rPr dirty="0" sz="1500" spc="-80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dirty="0" sz="1500" spc="-55">
                <a:solidFill>
                  <a:srgbClr val="DAD8E9"/>
                </a:solidFill>
                <a:latin typeface="Trebuchet MS"/>
                <a:cs typeface="Trebuchet MS"/>
              </a:rPr>
              <a:t>comando</a:t>
            </a:r>
            <a:r>
              <a:rPr dirty="0" sz="1500" spc="-80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dirty="0" sz="1500" spc="-45">
                <a:solidFill>
                  <a:srgbClr val="DAD8E9"/>
                </a:solidFill>
                <a:latin typeface="Trebuchet MS"/>
                <a:cs typeface="Trebuchet MS"/>
              </a:rPr>
              <a:t>'router</a:t>
            </a:r>
            <a:r>
              <a:rPr dirty="0" sz="1500" spc="-85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dirty="0" sz="1500" spc="-10">
                <a:solidFill>
                  <a:srgbClr val="DAD8E9"/>
                </a:solidFill>
                <a:latin typeface="Trebuchet MS"/>
                <a:cs typeface="Trebuchet MS"/>
              </a:rPr>
              <a:t>bgp</a:t>
            </a:r>
            <a:r>
              <a:rPr dirty="0" sz="1500" spc="-80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dirty="0" sz="1500" spc="-70">
                <a:solidFill>
                  <a:srgbClr val="DAD8E9"/>
                </a:solidFill>
                <a:latin typeface="Trebuchet MS"/>
                <a:cs typeface="Trebuchet MS"/>
              </a:rPr>
              <a:t>[AS-</a:t>
            </a:r>
            <a:r>
              <a:rPr dirty="0" sz="1500" spc="-60">
                <a:solidFill>
                  <a:srgbClr val="DAD8E9"/>
                </a:solidFill>
                <a:latin typeface="Trebuchet MS"/>
                <a:cs typeface="Trebuchet MS"/>
              </a:rPr>
              <a:t>number]'</a:t>
            </a:r>
            <a:r>
              <a:rPr dirty="0" sz="1500" spc="-80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dirty="0" sz="1500" spc="-70">
                <a:solidFill>
                  <a:srgbClr val="DAD8E9"/>
                </a:solidFill>
                <a:latin typeface="Trebuchet MS"/>
                <a:cs typeface="Trebuchet MS"/>
              </a:rPr>
              <a:t>para</a:t>
            </a:r>
            <a:r>
              <a:rPr dirty="0" sz="1500" spc="-85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dirty="0" sz="1500" spc="-75">
                <a:solidFill>
                  <a:srgbClr val="DAD8E9"/>
                </a:solidFill>
                <a:latin typeface="Trebuchet MS"/>
                <a:cs typeface="Trebuchet MS"/>
              </a:rPr>
              <a:t>iniciar</a:t>
            </a:r>
            <a:r>
              <a:rPr dirty="0" sz="1500" spc="-80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dirty="0" sz="1500" spc="-25">
                <a:solidFill>
                  <a:srgbClr val="DAD8E9"/>
                </a:solidFill>
                <a:latin typeface="Trebuchet MS"/>
                <a:cs typeface="Trebuchet MS"/>
              </a:rPr>
              <a:t>el </a:t>
            </a:r>
            <a:r>
              <a:rPr dirty="0" sz="1500" spc="-55">
                <a:solidFill>
                  <a:srgbClr val="DAD8E9"/>
                </a:solidFill>
                <a:latin typeface="Trebuchet MS"/>
                <a:cs typeface="Trebuchet MS"/>
              </a:rPr>
              <a:t>proceso</a:t>
            </a:r>
            <a:r>
              <a:rPr dirty="0" sz="1500" spc="-90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dirty="0" sz="1500" spc="-20">
                <a:solidFill>
                  <a:srgbClr val="DAD8E9"/>
                </a:solidFill>
                <a:latin typeface="Trebuchet MS"/>
                <a:cs typeface="Trebuchet MS"/>
              </a:rPr>
              <a:t>BGP.</a:t>
            </a:r>
            <a:endParaRPr sz="1500">
              <a:latin typeface="Trebuchet MS"/>
              <a:cs typeface="Trebuchet MS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5031282" y="3686175"/>
            <a:ext cx="1085850" cy="438150"/>
            <a:chOff x="5031282" y="3686175"/>
            <a:chExt cx="1085850" cy="438150"/>
          </a:xfrm>
        </p:grpSpPr>
        <p:sp>
          <p:nvSpPr>
            <p:cNvPr id="13" name="object 13" descr=""/>
            <p:cNvSpPr/>
            <p:nvPr/>
          </p:nvSpPr>
          <p:spPr>
            <a:xfrm>
              <a:off x="5440857" y="3890962"/>
              <a:ext cx="676275" cy="28575"/>
            </a:xfrm>
            <a:custGeom>
              <a:avLst/>
              <a:gdLst/>
              <a:ahLst/>
              <a:cxnLst/>
              <a:rect l="l" t="t" r="r" b="b"/>
              <a:pathLst>
                <a:path w="676275" h="28575">
                  <a:moveTo>
                    <a:pt x="663879" y="0"/>
                  </a:moveTo>
                  <a:lnTo>
                    <a:pt x="12395" y="0"/>
                  </a:lnTo>
                  <a:lnTo>
                    <a:pt x="10566" y="368"/>
                  </a:lnTo>
                  <a:lnTo>
                    <a:pt x="0" y="12395"/>
                  </a:lnTo>
                  <a:lnTo>
                    <a:pt x="0" y="14287"/>
                  </a:lnTo>
                  <a:lnTo>
                    <a:pt x="0" y="16179"/>
                  </a:lnTo>
                  <a:lnTo>
                    <a:pt x="12395" y="28575"/>
                  </a:lnTo>
                  <a:lnTo>
                    <a:pt x="663879" y="28575"/>
                  </a:lnTo>
                  <a:lnTo>
                    <a:pt x="676275" y="16179"/>
                  </a:lnTo>
                  <a:lnTo>
                    <a:pt x="676275" y="12395"/>
                  </a:lnTo>
                  <a:lnTo>
                    <a:pt x="665708" y="368"/>
                  </a:lnTo>
                  <a:lnTo>
                    <a:pt x="663879" y="0"/>
                  </a:lnTo>
                  <a:close/>
                </a:path>
              </a:pathLst>
            </a:custGeom>
            <a:solidFill>
              <a:srgbClr val="6D446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5036045" y="3690937"/>
              <a:ext cx="428625" cy="428625"/>
            </a:xfrm>
            <a:custGeom>
              <a:avLst/>
              <a:gdLst/>
              <a:ahLst/>
              <a:cxnLst/>
              <a:rect l="l" t="t" r="r" b="b"/>
              <a:pathLst>
                <a:path w="428625" h="428625">
                  <a:moveTo>
                    <a:pt x="370001" y="0"/>
                  </a:moveTo>
                  <a:lnTo>
                    <a:pt x="58623" y="0"/>
                  </a:lnTo>
                  <a:lnTo>
                    <a:pt x="54546" y="406"/>
                  </a:lnTo>
                  <a:lnTo>
                    <a:pt x="15468" y="21285"/>
                  </a:lnTo>
                  <a:lnTo>
                    <a:pt x="0" y="58623"/>
                  </a:lnTo>
                  <a:lnTo>
                    <a:pt x="0" y="365874"/>
                  </a:lnTo>
                  <a:lnTo>
                    <a:pt x="0" y="370001"/>
                  </a:lnTo>
                  <a:lnTo>
                    <a:pt x="15468" y="407339"/>
                  </a:lnTo>
                  <a:lnTo>
                    <a:pt x="54546" y="428218"/>
                  </a:lnTo>
                  <a:lnTo>
                    <a:pt x="58623" y="428625"/>
                  </a:lnTo>
                  <a:lnTo>
                    <a:pt x="370001" y="428625"/>
                  </a:lnTo>
                  <a:lnTo>
                    <a:pt x="407339" y="413156"/>
                  </a:lnTo>
                  <a:lnTo>
                    <a:pt x="428218" y="374078"/>
                  </a:lnTo>
                  <a:lnTo>
                    <a:pt x="428625" y="370001"/>
                  </a:lnTo>
                  <a:lnTo>
                    <a:pt x="428625" y="58623"/>
                  </a:lnTo>
                  <a:lnTo>
                    <a:pt x="413156" y="21285"/>
                  </a:lnTo>
                  <a:lnTo>
                    <a:pt x="374078" y="406"/>
                  </a:lnTo>
                  <a:lnTo>
                    <a:pt x="370001" y="0"/>
                  </a:lnTo>
                  <a:close/>
                </a:path>
              </a:pathLst>
            </a:custGeom>
            <a:solidFill>
              <a:srgbClr val="532C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5036045" y="3690937"/>
              <a:ext cx="428625" cy="428625"/>
            </a:xfrm>
            <a:custGeom>
              <a:avLst/>
              <a:gdLst/>
              <a:ahLst/>
              <a:cxnLst/>
              <a:rect l="l" t="t" r="r" b="b"/>
              <a:pathLst>
                <a:path w="428625" h="428625">
                  <a:moveTo>
                    <a:pt x="0" y="365874"/>
                  </a:moveTo>
                  <a:lnTo>
                    <a:pt x="0" y="62750"/>
                  </a:lnTo>
                  <a:lnTo>
                    <a:pt x="0" y="58623"/>
                  </a:lnTo>
                  <a:lnTo>
                    <a:pt x="406" y="54546"/>
                  </a:lnTo>
                  <a:lnTo>
                    <a:pt x="1206" y="50507"/>
                  </a:lnTo>
                  <a:lnTo>
                    <a:pt x="2006" y="46469"/>
                  </a:lnTo>
                  <a:lnTo>
                    <a:pt x="3200" y="42545"/>
                  </a:lnTo>
                  <a:lnTo>
                    <a:pt x="4775" y="38735"/>
                  </a:lnTo>
                  <a:lnTo>
                    <a:pt x="6350" y="34925"/>
                  </a:lnTo>
                  <a:lnTo>
                    <a:pt x="8280" y="31305"/>
                  </a:lnTo>
                  <a:lnTo>
                    <a:pt x="10579" y="27889"/>
                  </a:lnTo>
                  <a:lnTo>
                    <a:pt x="12865" y="24460"/>
                  </a:lnTo>
                  <a:lnTo>
                    <a:pt x="15468" y="21285"/>
                  </a:lnTo>
                  <a:lnTo>
                    <a:pt x="50507" y="1206"/>
                  </a:lnTo>
                  <a:lnTo>
                    <a:pt x="54546" y="406"/>
                  </a:lnTo>
                  <a:lnTo>
                    <a:pt x="58623" y="0"/>
                  </a:lnTo>
                  <a:lnTo>
                    <a:pt x="62750" y="0"/>
                  </a:lnTo>
                  <a:lnTo>
                    <a:pt x="365874" y="0"/>
                  </a:lnTo>
                  <a:lnTo>
                    <a:pt x="370001" y="0"/>
                  </a:lnTo>
                  <a:lnTo>
                    <a:pt x="374078" y="406"/>
                  </a:lnTo>
                  <a:lnTo>
                    <a:pt x="410248" y="18376"/>
                  </a:lnTo>
                  <a:lnTo>
                    <a:pt x="418045" y="27889"/>
                  </a:lnTo>
                  <a:lnTo>
                    <a:pt x="420344" y="31305"/>
                  </a:lnTo>
                  <a:lnTo>
                    <a:pt x="422275" y="34925"/>
                  </a:lnTo>
                  <a:lnTo>
                    <a:pt x="423849" y="38735"/>
                  </a:lnTo>
                  <a:lnTo>
                    <a:pt x="425424" y="42545"/>
                  </a:lnTo>
                  <a:lnTo>
                    <a:pt x="426618" y="46469"/>
                  </a:lnTo>
                  <a:lnTo>
                    <a:pt x="427418" y="50507"/>
                  </a:lnTo>
                  <a:lnTo>
                    <a:pt x="428218" y="54546"/>
                  </a:lnTo>
                  <a:lnTo>
                    <a:pt x="428625" y="58623"/>
                  </a:lnTo>
                  <a:lnTo>
                    <a:pt x="428625" y="62750"/>
                  </a:lnTo>
                  <a:lnTo>
                    <a:pt x="428625" y="365874"/>
                  </a:lnTo>
                  <a:lnTo>
                    <a:pt x="428625" y="370001"/>
                  </a:lnTo>
                  <a:lnTo>
                    <a:pt x="428218" y="374078"/>
                  </a:lnTo>
                  <a:lnTo>
                    <a:pt x="427418" y="378117"/>
                  </a:lnTo>
                  <a:lnTo>
                    <a:pt x="426618" y="382155"/>
                  </a:lnTo>
                  <a:lnTo>
                    <a:pt x="425424" y="386080"/>
                  </a:lnTo>
                  <a:lnTo>
                    <a:pt x="423849" y="389890"/>
                  </a:lnTo>
                  <a:lnTo>
                    <a:pt x="422275" y="393700"/>
                  </a:lnTo>
                  <a:lnTo>
                    <a:pt x="420344" y="397306"/>
                  </a:lnTo>
                  <a:lnTo>
                    <a:pt x="418045" y="400735"/>
                  </a:lnTo>
                  <a:lnTo>
                    <a:pt x="415759" y="404164"/>
                  </a:lnTo>
                  <a:lnTo>
                    <a:pt x="389890" y="423849"/>
                  </a:lnTo>
                  <a:lnTo>
                    <a:pt x="386080" y="425424"/>
                  </a:lnTo>
                  <a:lnTo>
                    <a:pt x="382155" y="426618"/>
                  </a:lnTo>
                  <a:lnTo>
                    <a:pt x="378117" y="427418"/>
                  </a:lnTo>
                  <a:lnTo>
                    <a:pt x="374078" y="428218"/>
                  </a:lnTo>
                  <a:lnTo>
                    <a:pt x="370001" y="428625"/>
                  </a:lnTo>
                  <a:lnTo>
                    <a:pt x="365874" y="428625"/>
                  </a:lnTo>
                  <a:lnTo>
                    <a:pt x="62750" y="428625"/>
                  </a:lnTo>
                  <a:lnTo>
                    <a:pt x="58623" y="428625"/>
                  </a:lnTo>
                  <a:lnTo>
                    <a:pt x="54546" y="428218"/>
                  </a:lnTo>
                  <a:lnTo>
                    <a:pt x="50507" y="427418"/>
                  </a:lnTo>
                  <a:lnTo>
                    <a:pt x="46469" y="426618"/>
                  </a:lnTo>
                  <a:lnTo>
                    <a:pt x="42545" y="425424"/>
                  </a:lnTo>
                  <a:lnTo>
                    <a:pt x="38735" y="423849"/>
                  </a:lnTo>
                  <a:lnTo>
                    <a:pt x="34925" y="422275"/>
                  </a:lnTo>
                  <a:lnTo>
                    <a:pt x="10579" y="400735"/>
                  </a:lnTo>
                  <a:lnTo>
                    <a:pt x="8280" y="397306"/>
                  </a:lnTo>
                  <a:lnTo>
                    <a:pt x="6350" y="393700"/>
                  </a:lnTo>
                  <a:lnTo>
                    <a:pt x="4775" y="389890"/>
                  </a:lnTo>
                  <a:lnTo>
                    <a:pt x="3200" y="386080"/>
                  </a:lnTo>
                  <a:lnTo>
                    <a:pt x="2006" y="382155"/>
                  </a:lnTo>
                  <a:lnTo>
                    <a:pt x="1206" y="378117"/>
                  </a:lnTo>
                  <a:lnTo>
                    <a:pt x="406" y="374078"/>
                  </a:lnTo>
                  <a:lnTo>
                    <a:pt x="0" y="370001"/>
                  </a:lnTo>
                  <a:lnTo>
                    <a:pt x="0" y="365874"/>
                  </a:lnTo>
                  <a:close/>
                </a:path>
              </a:pathLst>
            </a:custGeom>
            <a:ln w="9525">
              <a:solidFill>
                <a:srgbClr val="6D446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5162651" y="3721100"/>
            <a:ext cx="175895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35">
                <a:solidFill>
                  <a:srgbClr val="DAD8E9"/>
                </a:solidFill>
                <a:latin typeface="Tahoma"/>
                <a:cs typeface="Tahoma"/>
              </a:rPr>
              <a:t>2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6298805" y="3649662"/>
            <a:ext cx="2388870" cy="2825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85">
                <a:solidFill>
                  <a:srgbClr val="DAD8E9"/>
                </a:solidFill>
                <a:latin typeface="Tahoma"/>
                <a:cs typeface="Tahoma"/>
              </a:rPr>
              <a:t>Pa</a:t>
            </a:r>
            <a:r>
              <a:rPr dirty="0" cap="small" sz="1650" spc="85">
                <a:solidFill>
                  <a:srgbClr val="DAD8E9"/>
                </a:solidFill>
                <a:latin typeface="Tahoma"/>
                <a:cs typeface="Tahoma"/>
              </a:rPr>
              <a:t>s</a:t>
            </a:r>
            <a:r>
              <a:rPr dirty="0" sz="1650" spc="85">
                <a:solidFill>
                  <a:srgbClr val="DAD8E9"/>
                </a:solidFill>
                <a:latin typeface="Tahoma"/>
                <a:cs typeface="Tahoma"/>
              </a:rPr>
              <a:t>o</a:t>
            </a:r>
            <a:r>
              <a:rPr dirty="0" sz="1650" spc="5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dirty="0" sz="1650">
                <a:solidFill>
                  <a:srgbClr val="DAD8E9"/>
                </a:solidFill>
                <a:latin typeface="Tahoma"/>
                <a:cs typeface="Tahoma"/>
              </a:rPr>
              <a:t>2:</a:t>
            </a:r>
            <a:r>
              <a:rPr dirty="0" sz="1650" spc="5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dirty="0" sz="1650" spc="85">
                <a:solidFill>
                  <a:srgbClr val="DAD8E9"/>
                </a:solidFill>
                <a:latin typeface="Tahoma"/>
                <a:cs typeface="Tahoma"/>
              </a:rPr>
              <a:t>Definir</a:t>
            </a:r>
            <a:r>
              <a:rPr dirty="0" sz="1650" spc="5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dirty="0" sz="1650" spc="60">
                <a:solidFill>
                  <a:srgbClr val="DAD8E9"/>
                </a:solidFill>
                <a:latin typeface="Tahoma"/>
                <a:cs typeface="Tahoma"/>
              </a:rPr>
              <a:t>vecino</a:t>
            </a:r>
            <a:r>
              <a:rPr dirty="0" cap="small" sz="1650" spc="60">
                <a:solidFill>
                  <a:srgbClr val="DAD8E9"/>
                </a:solidFill>
                <a:latin typeface="Tahoma"/>
                <a:cs typeface="Tahoma"/>
              </a:rPr>
              <a:t>s</a:t>
            </a:r>
            <a:endParaRPr sz="1650">
              <a:latin typeface="Tahoma"/>
              <a:cs typeface="Tahoma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6298805" y="3969226"/>
            <a:ext cx="4404995" cy="6540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37500"/>
              </a:lnSpc>
              <a:spcBef>
                <a:spcPts val="95"/>
              </a:spcBef>
            </a:pPr>
            <a:r>
              <a:rPr dirty="0" sz="1500" spc="-50">
                <a:solidFill>
                  <a:srgbClr val="DAD8E9"/>
                </a:solidFill>
                <a:latin typeface="Trebuchet MS"/>
                <a:cs typeface="Trebuchet MS"/>
              </a:rPr>
              <a:t>Configurar</a:t>
            </a:r>
            <a:r>
              <a:rPr dirty="0" sz="1500" spc="-55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dirty="0" sz="1500" spc="-65">
                <a:solidFill>
                  <a:srgbClr val="DAD8E9"/>
                </a:solidFill>
                <a:latin typeface="Trebuchet MS"/>
                <a:cs typeface="Trebuchet MS"/>
              </a:rPr>
              <a:t>vecinos</a:t>
            </a:r>
            <a:r>
              <a:rPr dirty="0" sz="1500" spc="-55">
                <a:solidFill>
                  <a:srgbClr val="DAD8E9"/>
                </a:solidFill>
                <a:latin typeface="Trebuchet MS"/>
                <a:cs typeface="Trebuchet MS"/>
              </a:rPr>
              <a:t> con</a:t>
            </a:r>
            <a:r>
              <a:rPr dirty="0" sz="1500" spc="-50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dirty="0" sz="1500" spc="-35">
                <a:solidFill>
                  <a:srgbClr val="DAD8E9"/>
                </a:solidFill>
                <a:latin typeface="Trebuchet MS"/>
                <a:cs typeface="Trebuchet MS"/>
              </a:rPr>
              <a:t>'neighbor</a:t>
            </a:r>
            <a:r>
              <a:rPr dirty="0" sz="1500" spc="-55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dirty="0" sz="1500" spc="-90">
                <a:solidFill>
                  <a:srgbClr val="DAD8E9"/>
                </a:solidFill>
                <a:latin typeface="Trebuchet MS"/>
                <a:cs typeface="Trebuchet MS"/>
              </a:rPr>
              <a:t>[IP-</a:t>
            </a:r>
            <a:r>
              <a:rPr dirty="0" sz="1500" spc="-80">
                <a:solidFill>
                  <a:srgbClr val="DAD8E9"/>
                </a:solidFill>
                <a:latin typeface="Trebuchet MS"/>
                <a:cs typeface="Trebuchet MS"/>
              </a:rPr>
              <a:t>address]</a:t>
            </a:r>
            <a:r>
              <a:rPr dirty="0" sz="1500" spc="-55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dirty="0" sz="1500" spc="-75">
                <a:solidFill>
                  <a:srgbClr val="DAD8E9"/>
                </a:solidFill>
                <a:latin typeface="Trebuchet MS"/>
                <a:cs typeface="Trebuchet MS"/>
              </a:rPr>
              <a:t>remote-</a:t>
            </a:r>
            <a:r>
              <a:rPr dirty="0" sz="1500" spc="-25">
                <a:solidFill>
                  <a:srgbClr val="DAD8E9"/>
                </a:solidFill>
                <a:latin typeface="Trebuchet MS"/>
                <a:cs typeface="Trebuchet MS"/>
              </a:rPr>
              <a:t>as </a:t>
            </a:r>
            <a:r>
              <a:rPr dirty="0" sz="1500" spc="-70">
                <a:solidFill>
                  <a:srgbClr val="DAD8E9"/>
                </a:solidFill>
                <a:latin typeface="Trebuchet MS"/>
                <a:cs typeface="Trebuchet MS"/>
              </a:rPr>
              <a:t>[AS-</a:t>
            </a:r>
            <a:r>
              <a:rPr dirty="0" sz="1500" spc="-10">
                <a:solidFill>
                  <a:srgbClr val="DAD8E9"/>
                </a:solidFill>
                <a:latin typeface="Trebuchet MS"/>
                <a:cs typeface="Trebuchet MS"/>
              </a:rPr>
              <a:t>number]'.</a:t>
            </a:r>
            <a:endParaRPr sz="1500">
              <a:latin typeface="Trebuchet MS"/>
              <a:cs typeface="Trebuchet MS"/>
            </a:endParaRPr>
          </a:p>
        </p:txBody>
      </p:sp>
      <p:grpSp>
        <p:nvGrpSpPr>
          <p:cNvPr id="19" name="object 19" descr=""/>
          <p:cNvGrpSpPr/>
          <p:nvPr/>
        </p:nvGrpSpPr>
        <p:grpSpPr>
          <a:xfrm>
            <a:off x="5031282" y="5267325"/>
            <a:ext cx="1085850" cy="438150"/>
            <a:chOff x="5031282" y="5267325"/>
            <a:chExt cx="1085850" cy="438150"/>
          </a:xfrm>
        </p:grpSpPr>
        <p:sp>
          <p:nvSpPr>
            <p:cNvPr id="20" name="object 20" descr=""/>
            <p:cNvSpPr/>
            <p:nvPr/>
          </p:nvSpPr>
          <p:spPr>
            <a:xfrm>
              <a:off x="5440857" y="5472112"/>
              <a:ext cx="676275" cy="28575"/>
            </a:xfrm>
            <a:custGeom>
              <a:avLst/>
              <a:gdLst/>
              <a:ahLst/>
              <a:cxnLst/>
              <a:rect l="l" t="t" r="r" b="b"/>
              <a:pathLst>
                <a:path w="676275" h="28575">
                  <a:moveTo>
                    <a:pt x="663879" y="0"/>
                  </a:moveTo>
                  <a:lnTo>
                    <a:pt x="12395" y="0"/>
                  </a:lnTo>
                  <a:lnTo>
                    <a:pt x="10566" y="368"/>
                  </a:lnTo>
                  <a:lnTo>
                    <a:pt x="0" y="12395"/>
                  </a:lnTo>
                  <a:lnTo>
                    <a:pt x="0" y="14287"/>
                  </a:lnTo>
                  <a:lnTo>
                    <a:pt x="0" y="16179"/>
                  </a:lnTo>
                  <a:lnTo>
                    <a:pt x="12395" y="28575"/>
                  </a:lnTo>
                  <a:lnTo>
                    <a:pt x="663879" y="28575"/>
                  </a:lnTo>
                  <a:lnTo>
                    <a:pt x="676275" y="16179"/>
                  </a:lnTo>
                  <a:lnTo>
                    <a:pt x="676275" y="12395"/>
                  </a:lnTo>
                  <a:lnTo>
                    <a:pt x="665708" y="368"/>
                  </a:lnTo>
                  <a:lnTo>
                    <a:pt x="663879" y="0"/>
                  </a:lnTo>
                  <a:close/>
                </a:path>
              </a:pathLst>
            </a:custGeom>
            <a:solidFill>
              <a:srgbClr val="6D446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5036045" y="5272087"/>
              <a:ext cx="428625" cy="428625"/>
            </a:xfrm>
            <a:custGeom>
              <a:avLst/>
              <a:gdLst/>
              <a:ahLst/>
              <a:cxnLst/>
              <a:rect l="l" t="t" r="r" b="b"/>
              <a:pathLst>
                <a:path w="428625" h="428625">
                  <a:moveTo>
                    <a:pt x="370001" y="0"/>
                  </a:moveTo>
                  <a:lnTo>
                    <a:pt x="58623" y="0"/>
                  </a:lnTo>
                  <a:lnTo>
                    <a:pt x="54546" y="406"/>
                  </a:lnTo>
                  <a:lnTo>
                    <a:pt x="15468" y="21285"/>
                  </a:lnTo>
                  <a:lnTo>
                    <a:pt x="0" y="58623"/>
                  </a:lnTo>
                  <a:lnTo>
                    <a:pt x="0" y="365874"/>
                  </a:lnTo>
                  <a:lnTo>
                    <a:pt x="0" y="370001"/>
                  </a:lnTo>
                  <a:lnTo>
                    <a:pt x="15468" y="407339"/>
                  </a:lnTo>
                  <a:lnTo>
                    <a:pt x="54546" y="428218"/>
                  </a:lnTo>
                  <a:lnTo>
                    <a:pt x="58623" y="428625"/>
                  </a:lnTo>
                  <a:lnTo>
                    <a:pt x="370001" y="428625"/>
                  </a:lnTo>
                  <a:lnTo>
                    <a:pt x="407339" y="413156"/>
                  </a:lnTo>
                  <a:lnTo>
                    <a:pt x="428218" y="374078"/>
                  </a:lnTo>
                  <a:lnTo>
                    <a:pt x="428625" y="370001"/>
                  </a:lnTo>
                  <a:lnTo>
                    <a:pt x="428625" y="58623"/>
                  </a:lnTo>
                  <a:lnTo>
                    <a:pt x="413156" y="21285"/>
                  </a:lnTo>
                  <a:lnTo>
                    <a:pt x="374078" y="406"/>
                  </a:lnTo>
                  <a:lnTo>
                    <a:pt x="370001" y="0"/>
                  </a:lnTo>
                  <a:close/>
                </a:path>
              </a:pathLst>
            </a:custGeom>
            <a:solidFill>
              <a:srgbClr val="532C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5036045" y="5272087"/>
              <a:ext cx="428625" cy="428625"/>
            </a:xfrm>
            <a:custGeom>
              <a:avLst/>
              <a:gdLst/>
              <a:ahLst/>
              <a:cxnLst/>
              <a:rect l="l" t="t" r="r" b="b"/>
              <a:pathLst>
                <a:path w="428625" h="428625">
                  <a:moveTo>
                    <a:pt x="0" y="365874"/>
                  </a:moveTo>
                  <a:lnTo>
                    <a:pt x="0" y="62750"/>
                  </a:lnTo>
                  <a:lnTo>
                    <a:pt x="0" y="58623"/>
                  </a:lnTo>
                  <a:lnTo>
                    <a:pt x="406" y="54546"/>
                  </a:lnTo>
                  <a:lnTo>
                    <a:pt x="1206" y="50507"/>
                  </a:lnTo>
                  <a:lnTo>
                    <a:pt x="2006" y="46469"/>
                  </a:lnTo>
                  <a:lnTo>
                    <a:pt x="3200" y="42545"/>
                  </a:lnTo>
                  <a:lnTo>
                    <a:pt x="4775" y="38735"/>
                  </a:lnTo>
                  <a:lnTo>
                    <a:pt x="6350" y="34925"/>
                  </a:lnTo>
                  <a:lnTo>
                    <a:pt x="8280" y="31305"/>
                  </a:lnTo>
                  <a:lnTo>
                    <a:pt x="10579" y="27889"/>
                  </a:lnTo>
                  <a:lnTo>
                    <a:pt x="12865" y="24460"/>
                  </a:lnTo>
                  <a:lnTo>
                    <a:pt x="15468" y="21285"/>
                  </a:lnTo>
                  <a:lnTo>
                    <a:pt x="38735" y="4775"/>
                  </a:lnTo>
                  <a:lnTo>
                    <a:pt x="42545" y="3200"/>
                  </a:lnTo>
                  <a:lnTo>
                    <a:pt x="46469" y="2006"/>
                  </a:lnTo>
                  <a:lnTo>
                    <a:pt x="50507" y="1206"/>
                  </a:lnTo>
                  <a:lnTo>
                    <a:pt x="54546" y="406"/>
                  </a:lnTo>
                  <a:lnTo>
                    <a:pt x="58623" y="0"/>
                  </a:lnTo>
                  <a:lnTo>
                    <a:pt x="62750" y="0"/>
                  </a:lnTo>
                  <a:lnTo>
                    <a:pt x="365874" y="0"/>
                  </a:lnTo>
                  <a:lnTo>
                    <a:pt x="370001" y="0"/>
                  </a:lnTo>
                  <a:lnTo>
                    <a:pt x="374078" y="406"/>
                  </a:lnTo>
                  <a:lnTo>
                    <a:pt x="378117" y="1206"/>
                  </a:lnTo>
                  <a:lnTo>
                    <a:pt x="382155" y="2006"/>
                  </a:lnTo>
                  <a:lnTo>
                    <a:pt x="386080" y="3200"/>
                  </a:lnTo>
                  <a:lnTo>
                    <a:pt x="389890" y="4775"/>
                  </a:lnTo>
                  <a:lnTo>
                    <a:pt x="393700" y="6350"/>
                  </a:lnTo>
                  <a:lnTo>
                    <a:pt x="418045" y="27889"/>
                  </a:lnTo>
                  <a:lnTo>
                    <a:pt x="420344" y="31305"/>
                  </a:lnTo>
                  <a:lnTo>
                    <a:pt x="422275" y="34925"/>
                  </a:lnTo>
                  <a:lnTo>
                    <a:pt x="423849" y="38735"/>
                  </a:lnTo>
                  <a:lnTo>
                    <a:pt x="425424" y="42545"/>
                  </a:lnTo>
                  <a:lnTo>
                    <a:pt x="426618" y="46469"/>
                  </a:lnTo>
                  <a:lnTo>
                    <a:pt x="427418" y="50507"/>
                  </a:lnTo>
                  <a:lnTo>
                    <a:pt x="428218" y="54546"/>
                  </a:lnTo>
                  <a:lnTo>
                    <a:pt x="428625" y="58623"/>
                  </a:lnTo>
                  <a:lnTo>
                    <a:pt x="428625" y="62750"/>
                  </a:lnTo>
                  <a:lnTo>
                    <a:pt x="428625" y="365874"/>
                  </a:lnTo>
                  <a:lnTo>
                    <a:pt x="428625" y="370001"/>
                  </a:lnTo>
                  <a:lnTo>
                    <a:pt x="428218" y="374078"/>
                  </a:lnTo>
                  <a:lnTo>
                    <a:pt x="427418" y="378117"/>
                  </a:lnTo>
                  <a:lnTo>
                    <a:pt x="426618" y="382155"/>
                  </a:lnTo>
                  <a:lnTo>
                    <a:pt x="425424" y="386080"/>
                  </a:lnTo>
                  <a:lnTo>
                    <a:pt x="423849" y="389890"/>
                  </a:lnTo>
                  <a:lnTo>
                    <a:pt x="422275" y="393700"/>
                  </a:lnTo>
                  <a:lnTo>
                    <a:pt x="420344" y="397306"/>
                  </a:lnTo>
                  <a:lnTo>
                    <a:pt x="418045" y="400735"/>
                  </a:lnTo>
                  <a:lnTo>
                    <a:pt x="415759" y="404164"/>
                  </a:lnTo>
                  <a:lnTo>
                    <a:pt x="389890" y="423849"/>
                  </a:lnTo>
                  <a:lnTo>
                    <a:pt x="386080" y="425424"/>
                  </a:lnTo>
                  <a:lnTo>
                    <a:pt x="382155" y="426618"/>
                  </a:lnTo>
                  <a:lnTo>
                    <a:pt x="378117" y="427418"/>
                  </a:lnTo>
                  <a:lnTo>
                    <a:pt x="374078" y="428218"/>
                  </a:lnTo>
                  <a:lnTo>
                    <a:pt x="370001" y="428625"/>
                  </a:lnTo>
                  <a:lnTo>
                    <a:pt x="365874" y="428625"/>
                  </a:lnTo>
                  <a:lnTo>
                    <a:pt x="62750" y="428625"/>
                  </a:lnTo>
                  <a:lnTo>
                    <a:pt x="58623" y="428625"/>
                  </a:lnTo>
                  <a:lnTo>
                    <a:pt x="54546" y="428218"/>
                  </a:lnTo>
                  <a:lnTo>
                    <a:pt x="50507" y="427418"/>
                  </a:lnTo>
                  <a:lnTo>
                    <a:pt x="46469" y="426618"/>
                  </a:lnTo>
                  <a:lnTo>
                    <a:pt x="42545" y="425424"/>
                  </a:lnTo>
                  <a:lnTo>
                    <a:pt x="38735" y="423849"/>
                  </a:lnTo>
                  <a:lnTo>
                    <a:pt x="34925" y="422275"/>
                  </a:lnTo>
                  <a:lnTo>
                    <a:pt x="10579" y="400735"/>
                  </a:lnTo>
                  <a:lnTo>
                    <a:pt x="8280" y="397306"/>
                  </a:lnTo>
                  <a:lnTo>
                    <a:pt x="6350" y="393700"/>
                  </a:lnTo>
                  <a:lnTo>
                    <a:pt x="4775" y="389890"/>
                  </a:lnTo>
                  <a:lnTo>
                    <a:pt x="3200" y="386080"/>
                  </a:lnTo>
                  <a:lnTo>
                    <a:pt x="2006" y="382155"/>
                  </a:lnTo>
                  <a:lnTo>
                    <a:pt x="1206" y="378117"/>
                  </a:lnTo>
                  <a:lnTo>
                    <a:pt x="406" y="374078"/>
                  </a:lnTo>
                  <a:lnTo>
                    <a:pt x="0" y="370001"/>
                  </a:lnTo>
                  <a:lnTo>
                    <a:pt x="0" y="365874"/>
                  </a:lnTo>
                  <a:close/>
                </a:path>
              </a:pathLst>
            </a:custGeom>
            <a:ln w="9525">
              <a:solidFill>
                <a:srgbClr val="6D446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 descr=""/>
          <p:cNvSpPr txBox="1"/>
          <p:nvPr/>
        </p:nvSpPr>
        <p:spPr>
          <a:xfrm>
            <a:off x="5163248" y="5302250"/>
            <a:ext cx="174625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35">
                <a:solidFill>
                  <a:srgbClr val="DAD8E9"/>
                </a:solidFill>
                <a:latin typeface="Tahoma"/>
                <a:cs typeface="Tahoma"/>
              </a:rPr>
              <a:t>3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6298807" y="5230812"/>
            <a:ext cx="2439670" cy="2825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85">
                <a:solidFill>
                  <a:srgbClr val="DAD8E9"/>
                </a:solidFill>
                <a:latin typeface="Tahoma"/>
                <a:cs typeface="Tahoma"/>
              </a:rPr>
              <a:t>Pa</a:t>
            </a:r>
            <a:r>
              <a:rPr dirty="0" cap="small" sz="1650" spc="85">
                <a:solidFill>
                  <a:srgbClr val="DAD8E9"/>
                </a:solidFill>
                <a:latin typeface="Tahoma"/>
                <a:cs typeface="Tahoma"/>
              </a:rPr>
              <a:t>s</a:t>
            </a:r>
            <a:r>
              <a:rPr dirty="0" sz="1650" spc="85">
                <a:solidFill>
                  <a:srgbClr val="DAD8E9"/>
                </a:solidFill>
                <a:latin typeface="Tahoma"/>
                <a:cs typeface="Tahoma"/>
              </a:rPr>
              <a:t>o</a:t>
            </a:r>
            <a:r>
              <a:rPr dirty="0" sz="1650" spc="45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dirty="0" sz="1650">
                <a:solidFill>
                  <a:srgbClr val="DAD8E9"/>
                </a:solidFill>
                <a:latin typeface="Tahoma"/>
                <a:cs typeface="Tahoma"/>
              </a:rPr>
              <a:t>3:</a:t>
            </a:r>
            <a:r>
              <a:rPr dirty="0" sz="1650" spc="45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dirty="0" sz="1650" spc="125">
                <a:solidFill>
                  <a:srgbClr val="DAD8E9"/>
                </a:solidFill>
                <a:latin typeface="Tahoma"/>
                <a:cs typeface="Tahoma"/>
              </a:rPr>
              <a:t>Anunciar</a:t>
            </a:r>
            <a:r>
              <a:rPr dirty="0" sz="1650" spc="5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dirty="0" sz="1650" spc="60">
                <a:solidFill>
                  <a:srgbClr val="DAD8E9"/>
                </a:solidFill>
                <a:latin typeface="Tahoma"/>
                <a:cs typeface="Tahoma"/>
              </a:rPr>
              <a:t>rede</a:t>
            </a:r>
            <a:r>
              <a:rPr dirty="0" cap="small" sz="1650" spc="60">
                <a:solidFill>
                  <a:srgbClr val="DAD8E9"/>
                </a:solidFill>
                <a:latin typeface="Tahoma"/>
                <a:cs typeface="Tahoma"/>
              </a:rPr>
              <a:t>s</a:t>
            </a:r>
            <a:endParaRPr sz="1650">
              <a:latin typeface="Tahoma"/>
              <a:cs typeface="Tahoma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6298807" y="5559901"/>
            <a:ext cx="4109085" cy="635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33300"/>
              </a:lnSpc>
              <a:spcBef>
                <a:spcPts val="95"/>
              </a:spcBef>
            </a:pPr>
            <a:r>
              <a:rPr dirty="0" sz="1500" spc="-75">
                <a:solidFill>
                  <a:srgbClr val="DAD8E9"/>
                </a:solidFill>
                <a:latin typeface="Trebuchet MS"/>
                <a:cs typeface="Trebuchet MS"/>
              </a:rPr>
              <a:t>Utilizar </a:t>
            </a:r>
            <a:r>
              <a:rPr dirty="0" sz="1500" spc="-50">
                <a:solidFill>
                  <a:srgbClr val="DAD8E9"/>
                </a:solidFill>
                <a:latin typeface="Trebuchet MS"/>
                <a:cs typeface="Trebuchet MS"/>
              </a:rPr>
              <a:t>'network</a:t>
            </a:r>
            <a:r>
              <a:rPr dirty="0" sz="1500" spc="-75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dirty="0" sz="1500" spc="-80">
                <a:solidFill>
                  <a:srgbClr val="DAD8E9"/>
                </a:solidFill>
                <a:latin typeface="Trebuchet MS"/>
                <a:cs typeface="Trebuchet MS"/>
              </a:rPr>
              <a:t>[address]</a:t>
            </a:r>
            <a:r>
              <a:rPr dirty="0" sz="1500" spc="-70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dirty="0" sz="1500" spc="-45">
                <a:solidFill>
                  <a:srgbClr val="DAD8E9"/>
                </a:solidFill>
                <a:latin typeface="Trebuchet MS"/>
                <a:cs typeface="Trebuchet MS"/>
              </a:rPr>
              <a:t>mask</a:t>
            </a:r>
            <a:r>
              <a:rPr dirty="0" sz="1500" spc="-75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dirty="0" sz="1500" spc="-60">
                <a:solidFill>
                  <a:srgbClr val="DAD8E9"/>
                </a:solidFill>
                <a:latin typeface="Trebuchet MS"/>
                <a:cs typeface="Trebuchet MS"/>
              </a:rPr>
              <a:t>[subnet-</a:t>
            </a:r>
            <a:r>
              <a:rPr dirty="0" sz="1500" spc="-65">
                <a:solidFill>
                  <a:srgbClr val="DAD8E9"/>
                </a:solidFill>
                <a:latin typeface="Trebuchet MS"/>
                <a:cs typeface="Trebuchet MS"/>
              </a:rPr>
              <a:t>mask]'</a:t>
            </a:r>
            <a:r>
              <a:rPr dirty="0" sz="1500" spc="-70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dirty="0" sz="1500" spc="-35">
                <a:solidFill>
                  <a:srgbClr val="DAD8E9"/>
                </a:solidFill>
                <a:latin typeface="Trebuchet MS"/>
                <a:cs typeface="Trebuchet MS"/>
              </a:rPr>
              <a:t>para </a:t>
            </a:r>
            <a:r>
              <a:rPr dirty="0" sz="1500" spc="-60">
                <a:solidFill>
                  <a:srgbClr val="DAD8E9"/>
                </a:solidFill>
                <a:latin typeface="Trebuchet MS"/>
                <a:cs typeface="Trebuchet MS"/>
              </a:rPr>
              <a:t>anunciar</a:t>
            </a:r>
            <a:r>
              <a:rPr dirty="0" sz="1500" spc="-75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dirty="0" sz="1500" spc="-65">
                <a:solidFill>
                  <a:srgbClr val="DAD8E9"/>
                </a:solidFill>
                <a:latin typeface="Trebuchet MS"/>
                <a:cs typeface="Trebuchet MS"/>
              </a:rPr>
              <a:t>redes</a:t>
            </a:r>
            <a:r>
              <a:rPr dirty="0" sz="1500" spc="-70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dirty="0" sz="1500" spc="-10">
                <a:solidFill>
                  <a:srgbClr val="DAD8E9"/>
                </a:solidFill>
                <a:latin typeface="Trebuchet MS"/>
                <a:cs typeface="Trebuchet MS"/>
              </a:rPr>
              <a:t>locales.</a:t>
            </a:r>
            <a:endParaRPr sz="1500">
              <a:latin typeface="Trebuchet MS"/>
              <a:cs typeface="Trebuchet MS"/>
            </a:endParaRPr>
          </a:p>
        </p:txBody>
      </p:sp>
      <p:pic>
        <p:nvPicPr>
          <p:cNvPr id="26" name="object 26" descr="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80244" y="64594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4286250" cy="643864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0"/>
              </a:spcBef>
            </a:pPr>
            <a:r>
              <a:rPr dirty="0" spc="155"/>
              <a:t>Política</a:t>
            </a:r>
            <a:r>
              <a:rPr dirty="0" cap="small" spc="155"/>
              <a:t>s</a:t>
            </a:r>
            <a:r>
              <a:rPr dirty="0" spc="160"/>
              <a:t> </a:t>
            </a:r>
            <a:r>
              <a:rPr dirty="0" spc="340"/>
              <a:t>de</a:t>
            </a:r>
            <a:r>
              <a:rPr dirty="0" spc="170"/>
              <a:t> Enrutamiento</a:t>
            </a:r>
            <a:r>
              <a:rPr dirty="0" spc="175"/>
              <a:t> </a:t>
            </a:r>
            <a:r>
              <a:rPr dirty="0" spc="-60"/>
              <a:t>y </a:t>
            </a:r>
            <a:r>
              <a:rPr dirty="0" spc="200"/>
              <a:t>Atributo</a:t>
            </a:r>
            <a:r>
              <a:rPr dirty="0" cap="small" spc="200"/>
              <a:t>s</a:t>
            </a:r>
            <a:r>
              <a:rPr dirty="0" spc="185"/>
              <a:t> </a:t>
            </a:r>
            <a:r>
              <a:rPr dirty="0" spc="235"/>
              <a:t>en</a:t>
            </a:r>
            <a:r>
              <a:rPr dirty="0" spc="185"/>
              <a:t> </a:t>
            </a:r>
            <a:r>
              <a:rPr dirty="0" spc="155"/>
              <a:t>BGP</a:t>
            </a:r>
          </a:p>
        </p:txBody>
      </p:sp>
      <p:sp>
        <p:nvSpPr>
          <p:cNvPr id="4" name="object 4" descr=""/>
          <p:cNvSpPr/>
          <p:nvPr/>
        </p:nvSpPr>
        <p:spPr>
          <a:xfrm>
            <a:off x="4967287" y="2319337"/>
            <a:ext cx="5781675" cy="3162300"/>
          </a:xfrm>
          <a:custGeom>
            <a:avLst/>
            <a:gdLst/>
            <a:ahLst/>
            <a:cxnLst/>
            <a:rect l="l" t="t" r="r" b="b"/>
            <a:pathLst>
              <a:path w="5781675" h="3162300">
                <a:moveTo>
                  <a:pt x="0" y="3099555"/>
                </a:moveTo>
                <a:lnTo>
                  <a:pt x="0" y="62750"/>
                </a:lnTo>
                <a:lnTo>
                  <a:pt x="0" y="58623"/>
                </a:lnTo>
                <a:lnTo>
                  <a:pt x="406" y="54546"/>
                </a:lnTo>
                <a:lnTo>
                  <a:pt x="1206" y="50507"/>
                </a:lnTo>
                <a:lnTo>
                  <a:pt x="2006" y="46469"/>
                </a:lnTo>
                <a:lnTo>
                  <a:pt x="3200" y="42545"/>
                </a:lnTo>
                <a:lnTo>
                  <a:pt x="4775" y="38735"/>
                </a:lnTo>
                <a:lnTo>
                  <a:pt x="6350" y="34925"/>
                </a:lnTo>
                <a:lnTo>
                  <a:pt x="8280" y="31305"/>
                </a:lnTo>
                <a:lnTo>
                  <a:pt x="38735" y="4775"/>
                </a:lnTo>
                <a:lnTo>
                  <a:pt x="50507" y="1206"/>
                </a:lnTo>
                <a:lnTo>
                  <a:pt x="54546" y="406"/>
                </a:lnTo>
                <a:lnTo>
                  <a:pt x="58623" y="0"/>
                </a:lnTo>
                <a:lnTo>
                  <a:pt x="62750" y="0"/>
                </a:lnTo>
                <a:lnTo>
                  <a:pt x="5718924" y="0"/>
                </a:lnTo>
                <a:lnTo>
                  <a:pt x="5723051" y="0"/>
                </a:lnTo>
                <a:lnTo>
                  <a:pt x="5727128" y="406"/>
                </a:lnTo>
                <a:lnTo>
                  <a:pt x="5731167" y="1206"/>
                </a:lnTo>
                <a:lnTo>
                  <a:pt x="5735205" y="2006"/>
                </a:lnTo>
                <a:lnTo>
                  <a:pt x="5768809" y="24460"/>
                </a:lnTo>
                <a:lnTo>
                  <a:pt x="5771095" y="27889"/>
                </a:lnTo>
                <a:lnTo>
                  <a:pt x="5773394" y="31305"/>
                </a:lnTo>
                <a:lnTo>
                  <a:pt x="5780468" y="50507"/>
                </a:lnTo>
                <a:lnTo>
                  <a:pt x="5781268" y="54546"/>
                </a:lnTo>
                <a:lnTo>
                  <a:pt x="5781675" y="58623"/>
                </a:lnTo>
                <a:lnTo>
                  <a:pt x="5781675" y="62750"/>
                </a:lnTo>
                <a:lnTo>
                  <a:pt x="5781675" y="3099555"/>
                </a:lnTo>
                <a:lnTo>
                  <a:pt x="5781675" y="3103673"/>
                </a:lnTo>
                <a:lnTo>
                  <a:pt x="5781268" y="3107756"/>
                </a:lnTo>
                <a:lnTo>
                  <a:pt x="5780468" y="3111793"/>
                </a:lnTo>
                <a:lnTo>
                  <a:pt x="5779668" y="3115837"/>
                </a:lnTo>
                <a:lnTo>
                  <a:pt x="5771095" y="3134410"/>
                </a:lnTo>
                <a:lnTo>
                  <a:pt x="5768809" y="3137838"/>
                </a:lnTo>
                <a:lnTo>
                  <a:pt x="5742940" y="3157523"/>
                </a:lnTo>
                <a:lnTo>
                  <a:pt x="5739130" y="3159100"/>
                </a:lnTo>
                <a:lnTo>
                  <a:pt x="5735205" y="3160292"/>
                </a:lnTo>
                <a:lnTo>
                  <a:pt x="5731167" y="3161096"/>
                </a:lnTo>
                <a:lnTo>
                  <a:pt x="5727128" y="3161898"/>
                </a:lnTo>
                <a:lnTo>
                  <a:pt x="5723051" y="3162301"/>
                </a:lnTo>
                <a:lnTo>
                  <a:pt x="5718924" y="3162301"/>
                </a:lnTo>
                <a:lnTo>
                  <a:pt x="62750" y="3162301"/>
                </a:lnTo>
                <a:lnTo>
                  <a:pt x="58623" y="3162301"/>
                </a:lnTo>
                <a:lnTo>
                  <a:pt x="54546" y="3161898"/>
                </a:lnTo>
                <a:lnTo>
                  <a:pt x="50507" y="3161096"/>
                </a:lnTo>
                <a:lnTo>
                  <a:pt x="46469" y="3160292"/>
                </a:lnTo>
                <a:lnTo>
                  <a:pt x="42545" y="3159100"/>
                </a:lnTo>
                <a:lnTo>
                  <a:pt x="38735" y="3157523"/>
                </a:lnTo>
                <a:lnTo>
                  <a:pt x="34925" y="3155946"/>
                </a:lnTo>
                <a:lnTo>
                  <a:pt x="6350" y="3127371"/>
                </a:lnTo>
                <a:lnTo>
                  <a:pt x="1206" y="3111793"/>
                </a:lnTo>
                <a:lnTo>
                  <a:pt x="406" y="3107756"/>
                </a:lnTo>
                <a:lnTo>
                  <a:pt x="0" y="3103673"/>
                </a:lnTo>
                <a:lnTo>
                  <a:pt x="0" y="3099555"/>
                </a:lnTo>
                <a:close/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5" name="object 5" descr=""/>
          <p:cNvGraphicFramePr>
            <a:graphicFrameLocks noGrp="1"/>
          </p:cNvGraphicFramePr>
          <p:nvPr/>
        </p:nvGraphicFramePr>
        <p:xfrm>
          <a:off x="4972050" y="2324099"/>
          <a:ext cx="5848350" cy="31527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90520"/>
                <a:gridCol w="2880995"/>
              </a:tblGrid>
              <a:tr h="552450">
                <a:tc>
                  <a:txBody>
                    <a:bodyPr/>
                    <a:lstStyle/>
                    <a:p>
                      <a:pPr marL="191135"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r>
                        <a:rPr dirty="0" sz="1500" spc="-10">
                          <a:solidFill>
                            <a:srgbClr val="DAD8E9"/>
                          </a:solidFill>
                          <a:latin typeface="Trebuchet MS"/>
                          <a:cs typeface="Trebuchet MS"/>
                        </a:rPr>
                        <a:t>Atributo</a:t>
                      </a:r>
                      <a:endParaRPr sz="1500">
                        <a:latin typeface="Trebuchet MS"/>
                        <a:cs typeface="Trebuchet MS"/>
                      </a:endParaRPr>
                    </a:p>
                  </a:txBody>
                  <a:tcPr marL="0" marR="0" marB="0" marT="142875">
                    <a:lnR w="9525">
                      <a:solidFill>
                        <a:srgbClr val="16182D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92405"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r>
                        <a:rPr dirty="0" sz="1500" spc="-10">
                          <a:solidFill>
                            <a:srgbClr val="DAD8E9"/>
                          </a:solidFill>
                          <a:latin typeface="Trebuchet MS"/>
                          <a:cs typeface="Trebuchet MS"/>
                        </a:rPr>
                        <a:t>Función</a:t>
                      </a:r>
                      <a:endParaRPr sz="1500">
                        <a:latin typeface="Trebuchet MS"/>
                        <a:cs typeface="Trebuchet MS"/>
                      </a:endParaRPr>
                    </a:p>
                  </a:txBody>
                  <a:tcPr marL="0" marR="0" marB="0" marT="142875">
                    <a:lnL w="9525">
                      <a:solidFill>
                        <a:srgbClr val="16182D"/>
                      </a:solidFill>
                      <a:prstDash val="solid"/>
                    </a:lnL>
                    <a:solidFill>
                      <a:srgbClr val="FFFFFF">
                        <a:alpha val="3919"/>
                      </a:srgbClr>
                    </a:solidFill>
                  </a:tcPr>
                </a:tc>
              </a:tr>
              <a:tr h="866775">
                <a:tc>
                  <a:txBody>
                    <a:bodyPr/>
                    <a:lstStyle/>
                    <a:p>
                      <a:pPr marL="191135"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r>
                        <a:rPr dirty="0" sz="1500" spc="-45">
                          <a:solidFill>
                            <a:srgbClr val="DAD8E9"/>
                          </a:solidFill>
                          <a:latin typeface="Trebuchet MS"/>
                          <a:cs typeface="Trebuchet MS"/>
                        </a:rPr>
                        <a:t>AS-</a:t>
                      </a:r>
                      <a:r>
                        <a:rPr dirty="0" sz="1500" spc="-20">
                          <a:solidFill>
                            <a:srgbClr val="DAD8E9"/>
                          </a:solidFill>
                          <a:latin typeface="Trebuchet MS"/>
                          <a:cs typeface="Trebuchet MS"/>
                        </a:rPr>
                        <a:t>PATH</a:t>
                      </a:r>
                      <a:endParaRPr sz="1500">
                        <a:latin typeface="Trebuchet MS"/>
                        <a:cs typeface="Trebuchet MS"/>
                      </a:endParaRPr>
                    </a:p>
                  </a:txBody>
                  <a:tcPr marL="0" marR="0" marB="0" marT="142875">
                    <a:lnR w="9525">
                      <a:solidFill>
                        <a:srgbClr val="16182D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92405" marR="290830">
                        <a:lnSpc>
                          <a:spcPct val="137500"/>
                        </a:lnSpc>
                        <a:spcBef>
                          <a:spcPts val="450"/>
                        </a:spcBef>
                      </a:pPr>
                      <a:r>
                        <a:rPr dirty="0" sz="1500" spc="-65">
                          <a:solidFill>
                            <a:srgbClr val="DAD8E9"/>
                          </a:solidFill>
                          <a:latin typeface="Trebuchet MS"/>
                          <a:cs typeface="Trebuchet MS"/>
                        </a:rPr>
                        <a:t>Lista</a:t>
                      </a:r>
                      <a:r>
                        <a:rPr dirty="0" sz="1500" spc="-85">
                          <a:solidFill>
                            <a:srgbClr val="DAD8E9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500" spc="-75">
                          <a:solidFill>
                            <a:srgbClr val="DAD8E9"/>
                          </a:solidFill>
                          <a:latin typeface="Trebuchet MS"/>
                          <a:cs typeface="Trebuchet MS"/>
                        </a:rPr>
                        <a:t>de</a:t>
                      </a:r>
                      <a:r>
                        <a:rPr dirty="0" sz="1500" spc="-80">
                          <a:solidFill>
                            <a:srgbClr val="DAD8E9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500">
                          <a:solidFill>
                            <a:srgbClr val="DAD8E9"/>
                          </a:solidFill>
                          <a:latin typeface="Trebuchet MS"/>
                          <a:cs typeface="Trebuchet MS"/>
                        </a:rPr>
                        <a:t>AS</a:t>
                      </a:r>
                      <a:r>
                        <a:rPr dirty="0" sz="1500" spc="-85">
                          <a:solidFill>
                            <a:srgbClr val="DAD8E9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500" spc="-80">
                          <a:solidFill>
                            <a:srgbClr val="DAD8E9"/>
                          </a:solidFill>
                          <a:latin typeface="Trebuchet MS"/>
                          <a:cs typeface="Trebuchet MS"/>
                        </a:rPr>
                        <a:t>atravesados, </a:t>
                      </a:r>
                      <a:r>
                        <a:rPr dirty="0" sz="1500" spc="-25">
                          <a:solidFill>
                            <a:srgbClr val="DAD8E9"/>
                          </a:solidFill>
                          <a:latin typeface="Trebuchet MS"/>
                          <a:cs typeface="Trebuchet MS"/>
                        </a:rPr>
                        <a:t>usado </a:t>
                      </a:r>
                      <a:r>
                        <a:rPr dirty="0" sz="1500" spc="-70">
                          <a:solidFill>
                            <a:srgbClr val="DAD8E9"/>
                          </a:solidFill>
                          <a:latin typeface="Trebuchet MS"/>
                          <a:cs typeface="Trebuchet MS"/>
                        </a:rPr>
                        <a:t>para</a:t>
                      </a:r>
                      <a:r>
                        <a:rPr dirty="0" sz="1500" spc="-90">
                          <a:solidFill>
                            <a:srgbClr val="DAD8E9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500" spc="-75">
                          <a:solidFill>
                            <a:srgbClr val="DAD8E9"/>
                          </a:solidFill>
                          <a:latin typeface="Trebuchet MS"/>
                          <a:cs typeface="Trebuchet MS"/>
                        </a:rPr>
                        <a:t>evitar</a:t>
                      </a:r>
                      <a:r>
                        <a:rPr dirty="0" sz="1500" spc="-90">
                          <a:solidFill>
                            <a:srgbClr val="DAD8E9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500" spc="-10">
                          <a:solidFill>
                            <a:srgbClr val="DAD8E9"/>
                          </a:solidFill>
                          <a:latin typeface="Trebuchet MS"/>
                          <a:cs typeface="Trebuchet MS"/>
                        </a:rPr>
                        <a:t>bucles</a:t>
                      </a:r>
                      <a:endParaRPr sz="1500">
                        <a:latin typeface="Trebuchet MS"/>
                        <a:cs typeface="Trebuchet MS"/>
                      </a:endParaRPr>
                    </a:p>
                  </a:txBody>
                  <a:tcPr marL="0" marR="0" marB="0" marT="57150">
                    <a:lnL w="9525">
                      <a:solidFill>
                        <a:srgbClr val="16182D"/>
                      </a:solidFill>
                      <a:prstDash val="solid"/>
                    </a:lnL>
                    <a:solidFill>
                      <a:srgbClr val="000000">
                        <a:alpha val="3919"/>
                      </a:srgbClr>
                    </a:solidFill>
                  </a:tcPr>
                </a:tc>
              </a:tr>
              <a:tr h="866775">
                <a:tc>
                  <a:txBody>
                    <a:bodyPr/>
                    <a:lstStyle/>
                    <a:p>
                      <a:pPr marL="191135"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r>
                        <a:rPr dirty="0" sz="1500" spc="-65">
                          <a:solidFill>
                            <a:srgbClr val="DAD8E9"/>
                          </a:solidFill>
                          <a:latin typeface="Trebuchet MS"/>
                          <a:cs typeface="Trebuchet MS"/>
                        </a:rPr>
                        <a:t>NEXT-</a:t>
                      </a:r>
                      <a:r>
                        <a:rPr dirty="0" sz="1500" spc="-25">
                          <a:solidFill>
                            <a:srgbClr val="DAD8E9"/>
                          </a:solidFill>
                          <a:latin typeface="Trebuchet MS"/>
                          <a:cs typeface="Trebuchet MS"/>
                        </a:rPr>
                        <a:t>HOP</a:t>
                      </a:r>
                      <a:endParaRPr sz="1500">
                        <a:latin typeface="Trebuchet MS"/>
                        <a:cs typeface="Trebuchet MS"/>
                      </a:endParaRPr>
                    </a:p>
                  </a:txBody>
                  <a:tcPr marL="0" marR="0" marB="0" marT="142875">
                    <a:lnR w="9525">
                      <a:solidFill>
                        <a:srgbClr val="16182D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92405" marR="713105">
                        <a:lnSpc>
                          <a:spcPct val="137500"/>
                        </a:lnSpc>
                        <a:spcBef>
                          <a:spcPts val="450"/>
                        </a:spcBef>
                      </a:pPr>
                      <a:r>
                        <a:rPr dirty="0" sz="1500" spc="-65">
                          <a:solidFill>
                            <a:srgbClr val="DAD8E9"/>
                          </a:solidFill>
                          <a:latin typeface="Trebuchet MS"/>
                          <a:cs typeface="Trebuchet MS"/>
                        </a:rPr>
                        <a:t>Dirección</a:t>
                      </a:r>
                      <a:r>
                        <a:rPr dirty="0" sz="1500" spc="-95">
                          <a:solidFill>
                            <a:srgbClr val="DAD8E9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500" spc="-70">
                          <a:solidFill>
                            <a:srgbClr val="DAD8E9"/>
                          </a:solidFill>
                          <a:latin typeface="Trebuchet MS"/>
                          <a:cs typeface="Trebuchet MS"/>
                        </a:rPr>
                        <a:t>IP</a:t>
                      </a:r>
                      <a:r>
                        <a:rPr dirty="0" sz="1500" spc="-95">
                          <a:solidFill>
                            <a:srgbClr val="DAD8E9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500" spc="-85">
                          <a:solidFill>
                            <a:srgbClr val="DAD8E9"/>
                          </a:solidFill>
                          <a:latin typeface="Trebuchet MS"/>
                          <a:cs typeface="Trebuchet MS"/>
                        </a:rPr>
                        <a:t>del</a:t>
                      </a:r>
                      <a:r>
                        <a:rPr dirty="0" sz="1500" spc="-95">
                          <a:solidFill>
                            <a:srgbClr val="DAD8E9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500" spc="-45">
                          <a:solidFill>
                            <a:srgbClr val="DAD8E9"/>
                          </a:solidFill>
                          <a:latin typeface="Trebuchet MS"/>
                          <a:cs typeface="Trebuchet MS"/>
                        </a:rPr>
                        <a:t>siguiente </a:t>
                      </a:r>
                      <a:r>
                        <a:rPr dirty="0" sz="1500" spc="-55">
                          <a:solidFill>
                            <a:srgbClr val="DAD8E9"/>
                          </a:solidFill>
                          <a:latin typeface="Trebuchet MS"/>
                          <a:cs typeface="Trebuchet MS"/>
                        </a:rPr>
                        <a:t>router</a:t>
                      </a:r>
                      <a:r>
                        <a:rPr dirty="0" sz="1500" spc="-105">
                          <a:solidFill>
                            <a:srgbClr val="DAD8E9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500" spc="-65">
                          <a:solidFill>
                            <a:srgbClr val="DAD8E9"/>
                          </a:solidFill>
                          <a:latin typeface="Trebuchet MS"/>
                          <a:cs typeface="Trebuchet MS"/>
                        </a:rPr>
                        <a:t>en</a:t>
                      </a:r>
                      <a:r>
                        <a:rPr dirty="0" sz="1500" spc="-105">
                          <a:solidFill>
                            <a:srgbClr val="DAD8E9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500" spc="-95">
                          <a:solidFill>
                            <a:srgbClr val="DAD8E9"/>
                          </a:solidFill>
                          <a:latin typeface="Trebuchet MS"/>
                          <a:cs typeface="Trebuchet MS"/>
                        </a:rPr>
                        <a:t>la</a:t>
                      </a:r>
                      <a:r>
                        <a:rPr dirty="0" sz="1500" spc="-100">
                          <a:solidFill>
                            <a:srgbClr val="DAD8E9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500" spc="-20">
                          <a:solidFill>
                            <a:srgbClr val="DAD8E9"/>
                          </a:solidFill>
                          <a:latin typeface="Trebuchet MS"/>
                          <a:cs typeface="Trebuchet MS"/>
                        </a:rPr>
                        <a:t>ruta</a:t>
                      </a:r>
                      <a:endParaRPr sz="1500">
                        <a:latin typeface="Trebuchet MS"/>
                        <a:cs typeface="Trebuchet MS"/>
                      </a:endParaRPr>
                    </a:p>
                  </a:txBody>
                  <a:tcPr marL="0" marR="0" marB="0" marT="57150">
                    <a:lnL w="9525">
                      <a:solidFill>
                        <a:srgbClr val="16182D"/>
                      </a:solidFill>
                      <a:prstDash val="solid"/>
                    </a:lnL>
                    <a:solidFill>
                      <a:srgbClr val="FFFFFF">
                        <a:alpha val="3919"/>
                      </a:srgbClr>
                    </a:solidFill>
                  </a:tcPr>
                </a:tc>
              </a:tr>
              <a:tr h="866775">
                <a:tc>
                  <a:txBody>
                    <a:bodyPr/>
                    <a:lstStyle/>
                    <a:p>
                      <a:pPr marL="191135"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r>
                        <a:rPr dirty="0" sz="1500" spc="-75">
                          <a:solidFill>
                            <a:srgbClr val="DAD8E9"/>
                          </a:solidFill>
                          <a:latin typeface="Trebuchet MS"/>
                          <a:cs typeface="Trebuchet MS"/>
                        </a:rPr>
                        <a:t>LOCAL-</a:t>
                      </a:r>
                      <a:r>
                        <a:rPr dirty="0" sz="1500" spc="-10">
                          <a:solidFill>
                            <a:srgbClr val="DAD8E9"/>
                          </a:solidFill>
                          <a:latin typeface="Trebuchet MS"/>
                          <a:cs typeface="Trebuchet MS"/>
                        </a:rPr>
                        <a:t>PREFERENCE</a:t>
                      </a:r>
                      <a:endParaRPr sz="1500">
                        <a:latin typeface="Trebuchet MS"/>
                        <a:cs typeface="Trebuchet MS"/>
                      </a:endParaRPr>
                    </a:p>
                  </a:txBody>
                  <a:tcPr marL="0" marR="0" marB="0" marT="142875">
                    <a:lnR w="9525">
                      <a:solidFill>
                        <a:srgbClr val="16182D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92405" marR="332105" indent="-635">
                        <a:lnSpc>
                          <a:spcPct val="137500"/>
                        </a:lnSpc>
                        <a:spcBef>
                          <a:spcPts val="450"/>
                        </a:spcBef>
                      </a:pPr>
                      <a:r>
                        <a:rPr dirty="0" sz="1500" spc="-65">
                          <a:solidFill>
                            <a:srgbClr val="DAD8E9"/>
                          </a:solidFill>
                          <a:latin typeface="Trebuchet MS"/>
                          <a:cs typeface="Trebuchet MS"/>
                        </a:rPr>
                        <a:t>Prioriza</a:t>
                      </a:r>
                      <a:r>
                        <a:rPr dirty="0" sz="1500" spc="-100">
                          <a:solidFill>
                            <a:srgbClr val="DAD8E9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500" spc="-45">
                          <a:solidFill>
                            <a:srgbClr val="DAD8E9"/>
                          </a:solidFill>
                          <a:latin typeface="Trebuchet MS"/>
                          <a:cs typeface="Trebuchet MS"/>
                        </a:rPr>
                        <a:t>rutas</a:t>
                      </a:r>
                      <a:r>
                        <a:rPr dirty="0" sz="1500" spc="-95">
                          <a:solidFill>
                            <a:srgbClr val="DAD8E9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500" spc="-75">
                          <a:solidFill>
                            <a:srgbClr val="DAD8E9"/>
                          </a:solidFill>
                          <a:latin typeface="Trebuchet MS"/>
                          <a:cs typeface="Trebuchet MS"/>
                        </a:rPr>
                        <a:t>de</a:t>
                      </a:r>
                      <a:r>
                        <a:rPr dirty="0" sz="1500" spc="-95">
                          <a:solidFill>
                            <a:srgbClr val="DAD8E9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500" spc="-70">
                          <a:solidFill>
                            <a:srgbClr val="DAD8E9"/>
                          </a:solidFill>
                          <a:latin typeface="Trebuchet MS"/>
                          <a:cs typeface="Trebuchet MS"/>
                        </a:rPr>
                        <a:t>salida</a:t>
                      </a:r>
                      <a:r>
                        <a:rPr dirty="0" sz="1500" spc="-95">
                          <a:solidFill>
                            <a:srgbClr val="DAD8E9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500" spc="-45">
                          <a:solidFill>
                            <a:srgbClr val="DAD8E9"/>
                          </a:solidFill>
                          <a:latin typeface="Trebuchet MS"/>
                          <a:cs typeface="Trebuchet MS"/>
                        </a:rPr>
                        <a:t>dentro </a:t>
                      </a:r>
                      <a:r>
                        <a:rPr dirty="0" sz="1500" spc="-85">
                          <a:solidFill>
                            <a:srgbClr val="DAD8E9"/>
                          </a:solidFill>
                          <a:latin typeface="Trebuchet MS"/>
                          <a:cs typeface="Trebuchet MS"/>
                        </a:rPr>
                        <a:t>del</a:t>
                      </a:r>
                      <a:r>
                        <a:rPr dirty="0" sz="1500" spc="-100">
                          <a:solidFill>
                            <a:srgbClr val="DAD8E9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500" spc="-25">
                          <a:solidFill>
                            <a:srgbClr val="DAD8E9"/>
                          </a:solidFill>
                          <a:latin typeface="Trebuchet MS"/>
                          <a:cs typeface="Trebuchet MS"/>
                        </a:rPr>
                        <a:t>AS</a:t>
                      </a:r>
                      <a:endParaRPr sz="1500">
                        <a:latin typeface="Trebuchet MS"/>
                        <a:cs typeface="Trebuchet MS"/>
                      </a:endParaRPr>
                    </a:p>
                  </a:txBody>
                  <a:tcPr marL="0" marR="0" marB="0" marT="57150">
                    <a:lnL w="9525">
                      <a:solidFill>
                        <a:srgbClr val="16182D"/>
                      </a:solidFill>
                      <a:prstDash val="solid"/>
                    </a:lnL>
                    <a:solidFill>
                      <a:srgbClr val="000000">
                        <a:alpha val="3919"/>
                      </a:srgbClr>
                    </a:solidFill>
                  </a:tcPr>
                </a:tc>
              </a:tr>
            </a:tbl>
          </a:graphicData>
        </a:graphic>
      </p:graphicFrame>
      <p:pic>
        <p:nvPicPr>
          <p:cNvPr id="6" name="object 6" descr="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7143750" y="253"/>
            <a:ext cx="4286250" cy="6438900"/>
            <a:chOff x="7143750" y="253"/>
            <a:chExt cx="4286250" cy="64389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750" y="253"/>
              <a:ext cx="4286249" cy="6438645"/>
            </a:xfrm>
            <a:prstGeom prst="rect">
              <a:avLst/>
            </a:prstGeom>
          </p:spPr>
        </p:pic>
        <p:pic>
          <p:nvPicPr>
            <p:cNvPr id="4" name="object 4" descr="">
              <a:hlinkClick r:id="rId3"/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80244" y="5926073"/>
              <a:ext cx="1754504" cy="4191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62385" y="854075"/>
            <a:ext cx="5386070" cy="1073150"/>
          </a:xfrm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0"/>
              </a:spcBef>
            </a:pPr>
            <a:r>
              <a:rPr dirty="0" spc="150">
                <a:latin typeface="Trebuchet MS"/>
                <a:cs typeface="Trebuchet MS"/>
              </a:rPr>
              <a:t>Introducción</a:t>
            </a:r>
            <a:r>
              <a:rPr dirty="0" spc="229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al</a:t>
            </a:r>
            <a:r>
              <a:rPr dirty="0" spc="245">
                <a:latin typeface="Trebuchet MS"/>
                <a:cs typeface="Trebuchet MS"/>
              </a:rPr>
              <a:t> </a:t>
            </a:r>
            <a:r>
              <a:rPr dirty="0" spc="170">
                <a:latin typeface="Trebuchet MS"/>
                <a:cs typeface="Trebuchet MS"/>
              </a:rPr>
              <a:t>Routing </a:t>
            </a:r>
            <a:r>
              <a:rPr dirty="0" spc="95">
                <a:latin typeface="Trebuchet MS"/>
                <a:cs typeface="Trebuchet MS"/>
              </a:rPr>
              <a:t>Information</a:t>
            </a:r>
            <a:r>
              <a:rPr dirty="0" spc="210">
                <a:latin typeface="Trebuchet MS"/>
                <a:cs typeface="Trebuchet MS"/>
              </a:rPr>
              <a:t> </a:t>
            </a:r>
            <a:r>
              <a:rPr dirty="0" spc="135">
                <a:latin typeface="Trebuchet MS"/>
                <a:cs typeface="Trebuchet MS"/>
              </a:rPr>
              <a:t>Protocol</a:t>
            </a:r>
            <a:r>
              <a:rPr dirty="0" spc="225">
                <a:latin typeface="Trebuchet MS"/>
                <a:cs typeface="Trebuchet MS"/>
              </a:rPr>
              <a:t> </a:t>
            </a:r>
            <a:r>
              <a:rPr dirty="0" spc="-10">
                <a:latin typeface="Trebuchet MS"/>
                <a:cs typeface="Trebuchet MS"/>
              </a:rPr>
              <a:t>(RIP)</a:t>
            </a:r>
          </a:p>
        </p:txBody>
      </p:sp>
      <p:grpSp>
        <p:nvGrpSpPr>
          <p:cNvPr id="6" name="object 6" descr=""/>
          <p:cNvGrpSpPr/>
          <p:nvPr/>
        </p:nvGrpSpPr>
        <p:grpSpPr>
          <a:xfrm>
            <a:off x="676275" y="2247899"/>
            <a:ext cx="2800350" cy="2019300"/>
            <a:chOff x="676275" y="2247899"/>
            <a:chExt cx="2800350" cy="2019300"/>
          </a:xfrm>
        </p:grpSpPr>
        <p:sp>
          <p:nvSpPr>
            <p:cNvPr id="7" name="object 7" descr=""/>
            <p:cNvSpPr/>
            <p:nvPr/>
          </p:nvSpPr>
          <p:spPr>
            <a:xfrm>
              <a:off x="681037" y="2252662"/>
              <a:ext cx="2790825" cy="2009775"/>
            </a:xfrm>
            <a:custGeom>
              <a:avLst/>
              <a:gdLst/>
              <a:ahLst/>
              <a:cxnLst/>
              <a:rect l="l" t="t" r="r" b="b"/>
              <a:pathLst>
                <a:path w="2790825" h="2009775">
                  <a:moveTo>
                    <a:pt x="2732201" y="0"/>
                  </a:moveTo>
                  <a:lnTo>
                    <a:pt x="58628" y="0"/>
                  </a:lnTo>
                  <a:lnTo>
                    <a:pt x="54545" y="406"/>
                  </a:lnTo>
                  <a:lnTo>
                    <a:pt x="15463" y="21285"/>
                  </a:lnTo>
                  <a:lnTo>
                    <a:pt x="0" y="58623"/>
                  </a:lnTo>
                  <a:lnTo>
                    <a:pt x="0" y="1947024"/>
                  </a:lnTo>
                  <a:lnTo>
                    <a:pt x="0" y="1951151"/>
                  </a:lnTo>
                  <a:lnTo>
                    <a:pt x="15463" y="1988489"/>
                  </a:lnTo>
                  <a:lnTo>
                    <a:pt x="54545" y="2009368"/>
                  </a:lnTo>
                  <a:lnTo>
                    <a:pt x="58628" y="2009775"/>
                  </a:lnTo>
                  <a:lnTo>
                    <a:pt x="2732201" y="2009775"/>
                  </a:lnTo>
                  <a:lnTo>
                    <a:pt x="2769527" y="1994306"/>
                  </a:lnTo>
                  <a:lnTo>
                    <a:pt x="2790418" y="1955228"/>
                  </a:lnTo>
                  <a:lnTo>
                    <a:pt x="2790825" y="1951151"/>
                  </a:lnTo>
                  <a:lnTo>
                    <a:pt x="2790825" y="58623"/>
                  </a:lnTo>
                  <a:lnTo>
                    <a:pt x="2775356" y="21285"/>
                  </a:lnTo>
                  <a:lnTo>
                    <a:pt x="2736278" y="406"/>
                  </a:lnTo>
                  <a:lnTo>
                    <a:pt x="2732201" y="0"/>
                  </a:lnTo>
                  <a:close/>
                </a:path>
              </a:pathLst>
            </a:custGeom>
            <a:solidFill>
              <a:srgbClr val="532C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681037" y="2252662"/>
              <a:ext cx="2790825" cy="2009775"/>
            </a:xfrm>
            <a:custGeom>
              <a:avLst/>
              <a:gdLst/>
              <a:ahLst/>
              <a:cxnLst/>
              <a:rect l="l" t="t" r="r" b="b"/>
              <a:pathLst>
                <a:path w="2790825" h="2009775">
                  <a:moveTo>
                    <a:pt x="0" y="1947024"/>
                  </a:moveTo>
                  <a:lnTo>
                    <a:pt x="0" y="62750"/>
                  </a:lnTo>
                  <a:lnTo>
                    <a:pt x="0" y="58623"/>
                  </a:lnTo>
                  <a:lnTo>
                    <a:pt x="401" y="54546"/>
                  </a:lnTo>
                  <a:lnTo>
                    <a:pt x="10576" y="27889"/>
                  </a:lnTo>
                  <a:lnTo>
                    <a:pt x="12863" y="24460"/>
                  </a:lnTo>
                  <a:lnTo>
                    <a:pt x="15463" y="21285"/>
                  </a:lnTo>
                  <a:lnTo>
                    <a:pt x="18380" y="18376"/>
                  </a:lnTo>
                  <a:lnTo>
                    <a:pt x="21292" y="15468"/>
                  </a:lnTo>
                  <a:lnTo>
                    <a:pt x="58628" y="0"/>
                  </a:lnTo>
                  <a:lnTo>
                    <a:pt x="62745" y="0"/>
                  </a:lnTo>
                  <a:lnTo>
                    <a:pt x="2728074" y="0"/>
                  </a:lnTo>
                  <a:lnTo>
                    <a:pt x="2732201" y="0"/>
                  </a:lnTo>
                  <a:lnTo>
                    <a:pt x="2736278" y="406"/>
                  </a:lnTo>
                  <a:lnTo>
                    <a:pt x="2740317" y="1206"/>
                  </a:lnTo>
                  <a:lnTo>
                    <a:pt x="2744355" y="2006"/>
                  </a:lnTo>
                  <a:lnTo>
                    <a:pt x="2777959" y="24460"/>
                  </a:lnTo>
                  <a:lnTo>
                    <a:pt x="2780245" y="27889"/>
                  </a:lnTo>
                  <a:lnTo>
                    <a:pt x="2782544" y="31305"/>
                  </a:lnTo>
                  <a:lnTo>
                    <a:pt x="2784475" y="34925"/>
                  </a:lnTo>
                  <a:lnTo>
                    <a:pt x="2786049" y="38735"/>
                  </a:lnTo>
                  <a:lnTo>
                    <a:pt x="2787624" y="42545"/>
                  </a:lnTo>
                  <a:lnTo>
                    <a:pt x="2788818" y="46469"/>
                  </a:lnTo>
                  <a:lnTo>
                    <a:pt x="2789618" y="50507"/>
                  </a:lnTo>
                  <a:lnTo>
                    <a:pt x="2790418" y="54546"/>
                  </a:lnTo>
                  <a:lnTo>
                    <a:pt x="2790825" y="58623"/>
                  </a:lnTo>
                  <a:lnTo>
                    <a:pt x="2790825" y="62750"/>
                  </a:lnTo>
                  <a:lnTo>
                    <a:pt x="2790825" y="1947024"/>
                  </a:lnTo>
                  <a:lnTo>
                    <a:pt x="2790825" y="1951151"/>
                  </a:lnTo>
                  <a:lnTo>
                    <a:pt x="2790418" y="1955228"/>
                  </a:lnTo>
                  <a:lnTo>
                    <a:pt x="2789618" y="1959267"/>
                  </a:lnTo>
                  <a:lnTo>
                    <a:pt x="2788818" y="1963305"/>
                  </a:lnTo>
                  <a:lnTo>
                    <a:pt x="2787624" y="1967230"/>
                  </a:lnTo>
                  <a:lnTo>
                    <a:pt x="2786049" y="1971040"/>
                  </a:lnTo>
                  <a:lnTo>
                    <a:pt x="2784475" y="1974850"/>
                  </a:lnTo>
                  <a:lnTo>
                    <a:pt x="2782544" y="1978456"/>
                  </a:lnTo>
                  <a:lnTo>
                    <a:pt x="2780245" y="1981885"/>
                  </a:lnTo>
                  <a:lnTo>
                    <a:pt x="2777959" y="1985314"/>
                  </a:lnTo>
                  <a:lnTo>
                    <a:pt x="2752090" y="2004999"/>
                  </a:lnTo>
                  <a:lnTo>
                    <a:pt x="2748280" y="2006574"/>
                  </a:lnTo>
                  <a:lnTo>
                    <a:pt x="2744355" y="2007755"/>
                  </a:lnTo>
                  <a:lnTo>
                    <a:pt x="2740317" y="2008568"/>
                  </a:lnTo>
                  <a:lnTo>
                    <a:pt x="2736278" y="2009368"/>
                  </a:lnTo>
                  <a:lnTo>
                    <a:pt x="2732201" y="2009775"/>
                  </a:lnTo>
                  <a:lnTo>
                    <a:pt x="2728074" y="2009775"/>
                  </a:lnTo>
                  <a:lnTo>
                    <a:pt x="62745" y="2009775"/>
                  </a:lnTo>
                  <a:lnTo>
                    <a:pt x="58628" y="2009775"/>
                  </a:lnTo>
                  <a:lnTo>
                    <a:pt x="54545" y="2009368"/>
                  </a:lnTo>
                  <a:lnTo>
                    <a:pt x="50502" y="2008568"/>
                  </a:lnTo>
                  <a:lnTo>
                    <a:pt x="46464" y="2007755"/>
                  </a:lnTo>
                  <a:lnTo>
                    <a:pt x="42539" y="2006574"/>
                  </a:lnTo>
                  <a:lnTo>
                    <a:pt x="38735" y="2004999"/>
                  </a:lnTo>
                  <a:lnTo>
                    <a:pt x="34930" y="2003425"/>
                  </a:lnTo>
                  <a:lnTo>
                    <a:pt x="18380" y="1991398"/>
                  </a:lnTo>
                  <a:lnTo>
                    <a:pt x="15463" y="1988489"/>
                  </a:lnTo>
                  <a:lnTo>
                    <a:pt x="12863" y="1985314"/>
                  </a:lnTo>
                  <a:lnTo>
                    <a:pt x="10576" y="1981885"/>
                  </a:lnTo>
                  <a:lnTo>
                    <a:pt x="8284" y="1978456"/>
                  </a:lnTo>
                  <a:lnTo>
                    <a:pt x="0" y="1951151"/>
                  </a:lnTo>
                  <a:lnTo>
                    <a:pt x="0" y="1947024"/>
                  </a:lnTo>
                  <a:close/>
                </a:path>
              </a:pathLst>
            </a:custGeom>
            <a:ln w="9525">
              <a:solidFill>
                <a:srgbClr val="6D446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864791" y="2430462"/>
            <a:ext cx="1069975" cy="2825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60">
                <a:solidFill>
                  <a:srgbClr val="DAD8E9"/>
                </a:solidFill>
                <a:latin typeface="Trebuchet MS"/>
                <a:cs typeface="Trebuchet MS"/>
              </a:rPr>
              <a:t>Definición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864791" y="2759551"/>
            <a:ext cx="1898650" cy="1254125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12700" marR="5080">
              <a:lnSpc>
                <a:spcPct val="134700"/>
              </a:lnSpc>
              <a:spcBef>
                <a:spcPts val="70"/>
              </a:spcBef>
            </a:pPr>
            <a:r>
              <a:rPr dirty="0" sz="1500" spc="-140">
                <a:solidFill>
                  <a:srgbClr val="DAD8E9"/>
                </a:solidFill>
                <a:latin typeface="Tahoma"/>
                <a:cs typeface="Tahoma"/>
              </a:rPr>
              <a:t>RIP</a:t>
            </a:r>
            <a:r>
              <a:rPr dirty="0" sz="1500" spc="-11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dirty="0" sz="1500" spc="-65">
                <a:solidFill>
                  <a:srgbClr val="DAD8E9"/>
                </a:solidFill>
                <a:latin typeface="Tahoma"/>
                <a:cs typeface="Tahoma"/>
              </a:rPr>
              <a:t>es</a:t>
            </a:r>
            <a:r>
              <a:rPr dirty="0" sz="1500" spc="-105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dirty="0" sz="1500" spc="-50">
                <a:solidFill>
                  <a:srgbClr val="DAD8E9"/>
                </a:solidFill>
                <a:latin typeface="Tahoma"/>
                <a:cs typeface="Tahoma"/>
              </a:rPr>
              <a:t>un</a:t>
            </a:r>
            <a:r>
              <a:rPr dirty="0" sz="1500" spc="-105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dirty="0" sz="1500" spc="-30">
                <a:solidFill>
                  <a:srgbClr val="DAD8E9"/>
                </a:solidFill>
                <a:latin typeface="Tahoma"/>
                <a:cs typeface="Tahoma"/>
              </a:rPr>
              <a:t>protocolo</a:t>
            </a:r>
            <a:r>
              <a:rPr dirty="0" sz="1500" spc="-105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dirty="0" sz="1500" spc="-25">
                <a:solidFill>
                  <a:srgbClr val="DAD8E9"/>
                </a:solidFill>
                <a:latin typeface="Tahoma"/>
                <a:cs typeface="Tahoma"/>
              </a:rPr>
              <a:t>de </a:t>
            </a:r>
            <a:r>
              <a:rPr dirty="0" sz="1500" spc="-30">
                <a:solidFill>
                  <a:srgbClr val="DAD8E9"/>
                </a:solidFill>
                <a:latin typeface="Tahoma"/>
                <a:cs typeface="Tahoma"/>
              </a:rPr>
              <a:t>enrutamiento</a:t>
            </a:r>
            <a:r>
              <a:rPr dirty="0" sz="1500" spc="-9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dirty="0" sz="1500" spc="-55">
                <a:solidFill>
                  <a:srgbClr val="DAD8E9"/>
                </a:solidFill>
                <a:latin typeface="Tahoma"/>
                <a:cs typeface="Tahoma"/>
              </a:rPr>
              <a:t>de</a:t>
            </a:r>
            <a:r>
              <a:rPr dirty="0" sz="1500" spc="-85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dirty="0" sz="1500" spc="-25">
                <a:solidFill>
                  <a:srgbClr val="DAD8E9"/>
                </a:solidFill>
                <a:latin typeface="Tahoma"/>
                <a:cs typeface="Tahoma"/>
              </a:rPr>
              <a:t>vector </a:t>
            </a:r>
            <a:r>
              <a:rPr dirty="0" sz="1500" spc="-35">
                <a:solidFill>
                  <a:srgbClr val="DAD8E9"/>
                </a:solidFill>
                <a:latin typeface="Tahoma"/>
                <a:cs typeface="Tahoma"/>
              </a:rPr>
              <a:t>distancia</a:t>
            </a:r>
            <a:r>
              <a:rPr dirty="0" sz="1500" spc="-8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dirty="0" sz="1500" spc="-55">
                <a:solidFill>
                  <a:srgbClr val="DAD8E9"/>
                </a:solidFill>
                <a:latin typeface="Tahoma"/>
                <a:cs typeface="Tahoma"/>
              </a:rPr>
              <a:t>para</a:t>
            </a:r>
            <a:r>
              <a:rPr dirty="0" sz="1500" spc="-8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DAD8E9"/>
                </a:solidFill>
                <a:latin typeface="Tahoma"/>
                <a:cs typeface="Tahoma"/>
              </a:rPr>
              <a:t>redes pequeñas.</a:t>
            </a:r>
            <a:endParaRPr sz="1500">
              <a:latin typeface="Tahoma"/>
              <a:cs typeface="Tahoma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3667125" y="2247899"/>
            <a:ext cx="2800350" cy="2019300"/>
            <a:chOff x="3667125" y="2247899"/>
            <a:chExt cx="2800350" cy="2019300"/>
          </a:xfrm>
        </p:grpSpPr>
        <p:sp>
          <p:nvSpPr>
            <p:cNvPr id="12" name="object 12" descr=""/>
            <p:cNvSpPr/>
            <p:nvPr/>
          </p:nvSpPr>
          <p:spPr>
            <a:xfrm>
              <a:off x="3671887" y="2252662"/>
              <a:ext cx="2790825" cy="2009775"/>
            </a:xfrm>
            <a:custGeom>
              <a:avLst/>
              <a:gdLst/>
              <a:ahLst/>
              <a:cxnLst/>
              <a:rect l="l" t="t" r="r" b="b"/>
              <a:pathLst>
                <a:path w="2790825" h="2009775">
                  <a:moveTo>
                    <a:pt x="2732201" y="0"/>
                  </a:moveTo>
                  <a:lnTo>
                    <a:pt x="58623" y="0"/>
                  </a:lnTo>
                  <a:lnTo>
                    <a:pt x="54546" y="406"/>
                  </a:lnTo>
                  <a:lnTo>
                    <a:pt x="15468" y="21285"/>
                  </a:lnTo>
                  <a:lnTo>
                    <a:pt x="0" y="58623"/>
                  </a:lnTo>
                  <a:lnTo>
                    <a:pt x="0" y="1947024"/>
                  </a:lnTo>
                  <a:lnTo>
                    <a:pt x="0" y="1951151"/>
                  </a:lnTo>
                  <a:lnTo>
                    <a:pt x="15468" y="1988489"/>
                  </a:lnTo>
                  <a:lnTo>
                    <a:pt x="54546" y="2009368"/>
                  </a:lnTo>
                  <a:lnTo>
                    <a:pt x="58623" y="2009775"/>
                  </a:lnTo>
                  <a:lnTo>
                    <a:pt x="2732201" y="2009775"/>
                  </a:lnTo>
                  <a:lnTo>
                    <a:pt x="2769527" y="1994306"/>
                  </a:lnTo>
                  <a:lnTo>
                    <a:pt x="2790418" y="1955228"/>
                  </a:lnTo>
                  <a:lnTo>
                    <a:pt x="2790825" y="1951151"/>
                  </a:lnTo>
                  <a:lnTo>
                    <a:pt x="2790825" y="58623"/>
                  </a:lnTo>
                  <a:lnTo>
                    <a:pt x="2775356" y="21285"/>
                  </a:lnTo>
                  <a:lnTo>
                    <a:pt x="2736278" y="406"/>
                  </a:lnTo>
                  <a:lnTo>
                    <a:pt x="2732201" y="0"/>
                  </a:lnTo>
                  <a:close/>
                </a:path>
              </a:pathLst>
            </a:custGeom>
            <a:solidFill>
              <a:srgbClr val="532C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3671887" y="2252662"/>
              <a:ext cx="2790825" cy="2009775"/>
            </a:xfrm>
            <a:custGeom>
              <a:avLst/>
              <a:gdLst/>
              <a:ahLst/>
              <a:cxnLst/>
              <a:rect l="l" t="t" r="r" b="b"/>
              <a:pathLst>
                <a:path w="2790825" h="2009775">
                  <a:moveTo>
                    <a:pt x="0" y="1947024"/>
                  </a:moveTo>
                  <a:lnTo>
                    <a:pt x="0" y="62750"/>
                  </a:lnTo>
                  <a:lnTo>
                    <a:pt x="0" y="58623"/>
                  </a:lnTo>
                  <a:lnTo>
                    <a:pt x="406" y="54546"/>
                  </a:lnTo>
                  <a:lnTo>
                    <a:pt x="1206" y="50507"/>
                  </a:lnTo>
                  <a:lnTo>
                    <a:pt x="2006" y="46469"/>
                  </a:lnTo>
                  <a:lnTo>
                    <a:pt x="3200" y="42545"/>
                  </a:lnTo>
                  <a:lnTo>
                    <a:pt x="4775" y="38735"/>
                  </a:lnTo>
                  <a:lnTo>
                    <a:pt x="6350" y="34925"/>
                  </a:lnTo>
                  <a:lnTo>
                    <a:pt x="8280" y="31305"/>
                  </a:lnTo>
                  <a:lnTo>
                    <a:pt x="10579" y="27889"/>
                  </a:lnTo>
                  <a:lnTo>
                    <a:pt x="12865" y="24460"/>
                  </a:lnTo>
                  <a:lnTo>
                    <a:pt x="15468" y="21285"/>
                  </a:lnTo>
                  <a:lnTo>
                    <a:pt x="50507" y="1206"/>
                  </a:lnTo>
                  <a:lnTo>
                    <a:pt x="54546" y="406"/>
                  </a:lnTo>
                  <a:lnTo>
                    <a:pt x="58623" y="0"/>
                  </a:lnTo>
                  <a:lnTo>
                    <a:pt x="62750" y="0"/>
                  </a:lnTo>
                  <a:lnTo>
                    <a:pt x="2728074" y="0"/>
                  </a:lnTo>
                  <a:lnTo>
                    <a:pt x="2732201" y="0"/>
                  </a:lnTo>
                  <a:lnTo>
                    <a:pt x="2736278" y="406"/>
                  </a:lnTo>
                  <a:lnTo>
                    <a:pt x="2740317" y="1206"/>
                  </a:lnTo>
                  <a:lnTo>
                    <a:pt x="2744355" y="2006"/>
                  </a:lnTo>
                  <a:lnTo>
                    <a:pt x="2777959" y="24460"/>
                  </a:lnTo>
                  <a:lnTo>
                    <a:pt x="2780245" y="27889"/>
                  </a:lnTo>
                  <a:lnTo>
                    <a:pt x="2782544" y="31305"/>
                  </a:lnTo>
                  <a:lnTo>
                    <a:pt x="2784475" y="34925"/>
                  </a:lnTo>
                  <a:lnTo>
                    <a:pt x="2786049" y="38735"/>
                  </a:lnTo>
                  <a:lnTo>
                    <a:pt x="2787624" y="42545"/>
                  </a:lnTo>
                  <a:lnTo>
                    <a:pt x="2788818" y="46469"/>
                  </a:lnTo>
                  <a:lnTo>
                    <a:pt x="2789618" y="50507"/>
                  </a:lnTo>
                  <a:lnTo>
                    <a:pt x="2790418" y="54546"/>
                  </a:lnTo>
                  <a:lnTo>
                    <a:pt x="2790825" y="58623"/>
                  </a:lnTo>
                  <a:lnTo>
                    <a:pt x="2790825" y="62750"/>
                  </a:lnTo>
                  <a:lnTo>
                    <a:pt x="2790825" y="1947024"/>
                  </a:lnTo>
                  <a:lnTo>
                    <a:pt x="2790825" y="1951151"/>
                  </a:lnTo>
                  <a:lnTo>
                    <a:pt x="2790418" y="1955228"/>
                  </a:lnTo>
                  <a:lnTo>
                    <a:pt x="2789618" y="1959267"/>
                  </a:lnTo>
                  <a:lnTo>
                    <a:pt x="2788818" y="1963305"/>
                  </a:lnTo>
                  <a:lnTo>
                    <a:pt x="2787624" y="1967230"/>
                  </a:lnTo>
                  <a:lnTo>
                    <a:pt x="2786049" y="1971040"/>
                  </a:lnTo>
                  <a:lnTo>
                    <a:pt x="2784475" y="1974850"/>
                  </a:lnTo>
                  <a:lnTo>
                    <a:pt x="2782544" y="1978456"/>
                  </a:lnTo>
                  <a:lnTo>
                    <a:pt x="2780245" y="1981885"/>
                  </a:lnTo>
                  <a:lnTo>
                    <a:pt x="2777959" y="1985314"/>
                  </a:lnTo>
                  <a:lnTo>
                    <a:pt x="2752090" y="2004999"/>
                  </a:lnTo>
                  <a:lnTo>
                    <a:pt x="2748280" y="2006574"/>
                  </a:lnTo>
                  <a:lnTo>
                    <a:pt x="2744355" y="2007755"/>
                  </a:lnTo>
                  <a:lnTo>
                    <a:pt x="2740317" y="2008568"/>
                  </a:lnTo>
                  <a:lnTo>
                    <a:pt x="2736278" y="2009368"/>
                  </a:lnTo>
                  <a:lnTo>
                    <a:pt x="2732201" y="2009775"/>
                  </a:lnTo>
                  <a:lnTo>
                    <a:pt x="2728074" y="2009775"/>
                  </a:lnTo>
                  <a:lnTo>
                    <a:pt x="62750" y="2009775"/>
                  </a:lnTo>
                  <a:lnTo>
                    <a:pt x="58623" y="2009775"/>
                  </a:lnTo>
                  <a:lnTo>
                    <a:pt x="54546" y="2009368"/>
                  </a:lnTo>
                  <a:lnTo>
                    <a:pt x="50507" y="2008568"/>
                  </a:lnTo>
                  <a:lnTo>
                    <a:pt x="46469" y="2007755"/>
                  </a:lnTo>
                  <a:lnTo>
                    <a:pt x="42545" y="2006574"/>
                  </a:lnTo>
                  <a:lnTo>
                    <a:pt x="38735" y="2004999"/>
                  </a:lnTo>
                  <a:lnTo>
                    <a:pt x="34925" y="2003425"/>
                  </a:lnTo>
                  <a:lnTo>
                    <a:pt x="10579" y="1981885"/>
                  </a:lnTo>
                  <a:lnTo>
                    <a:pt x="8280" y="1978456"/>
                  </a:lnTo>
                  <a:lnTo>
                    <a:pt x="6350" y="1974850"/>
                  </a:lnTo>
                  <a:lnTo>
                    <a:pt x="4775" y="1971040"/>
                  </a:lnTo>
                  <a:lnTo>
                    <a:pt x="3200" y="1967230"/>
                  </a:lnTo>
                  <a:lnTo>
                    <a:pt x="2006" y="1963305"/>
                  </a:lnTo>
                  <a:lnTo>
                    <a:pt x="1206" y="1959267"/>
                  </a:lnTo>
                  <a:lnTo>
                    <a:pt x="406" y="1955228"/>
                  </a:lnTo>
                  <a:lnTo>
                    <a:pt x="0" y="1951151"/>
                  </a:lnTo>
                  <a:lnTo>
                    <a:pt x="0" y="1947024"/>
                  </a:lnTo>
                  <a:close/>
                </a:path>
              </a:pathLst>
            </a:custGeom>
            <a:ln w="9525">
              <a:solidFill>
                <a:srgbClr val="6D446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3858018" y="2430462"/>
            <a:ext cx="1674495" cy="2825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70">
                <a:solidFill>
                  <a:srgbClr val="DAD8E9"/>
                </a:solidFill>
                <a:latin typeface="Trebuchet MS"/>
                <a:cs typeface="Trebuchet MS"/>
              </a:rPr>
              <a:t>Funcionamiento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3858018" y="2759551"/>
            <a:ext cx="2021205" cy="949325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12700" marR="5080">
              <a:lnSpc>
                <a:spcPct val="135400"/>
              </a:lnSpc>
              <a:spcBef>
                <a:spcPts val="60"/>
              </a:spcBef>
            </a:pPr>
            <a:r>
              <a:rPr dirty="0" sz="1500" spc="-20">
                <a:solidFill>
                  <a:srgbClr val="DAD8E9"/>
                </a:solidFill>
                <a:latin typeface="Tahoma"/>
                <a:cs typeface="Tahoma"/>
              </a:rPr>
              <a:t>Utiliza</a:t>
            </a:r>
            <a:r>
              <a:rPr dirty="0" sz="1500" spc="-105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dirty="0" sz="1500" spc="-35">
                <a:solidFill>
                  <a:srgbClr val="DAD8E9"/>
                </a:solidFill>
                <a:latin typeface="Tahoma"/>
                <a:cs typeface="Tahoma"/>
              </a:rPr>
              <a:t>el</a:t>
            </a:r>
            <a:r>
              <a:rPr dirty="0" sz="1500" spc="-105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dirty="0" sz="1500" spc="-40">
                <a:solidFill>
                  <a:srgbClr val="DAD8E9"/>
                </a:solidFill>
                <a:latin typeface="Tahoma"/>
                <a:cs typeface="Tahoma"/>
              </a:rPr>
              <a:t>conteo</a:t>
            </a:r>
            <a:r>
              <a:rPr dirty="0" sz="1500" spc="-105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dirty="0" sz="1500" spc="-55">
                <a:solidFill>
                  <a:srgbClr val="DAD8E9"/>
                </a:solidFill>
                <a:latin typeface="Tahoma"/>
                <a:cs typeface="Tahoma"/>
              </a:rPr>
              <a:t>de</a:t>
            </a:r>
            <a:r>
              <a:rPr dirty="0" sz="1500" spc="-10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dirty="0" sz="1500" spc="-35">
                <a:solidFill>
                  <a:srgbClr val="DAD8E9"/>
                </a:solidFill>
                <a:latin typeface="Tahoma"/>
                <a:cs typeface="Tahoma"/>
              </a:rPr>
              <a:t>saltos </a:t>
            </a:r>
            <a:r>
              <a:rPr dirty="0" sz="1500" spc="-45">
                <a:solidFill>
                  <a:srgbClr val="DAD8E9"/>
                </a:solidFill>
                <a:latin typeface="Tahoma"/>
                <a:cs typeface="Tahoma"/>
              </a:rPr>
              <a:t>como</a:t>
            </a:r>
            <a:r>
              <a:rPr dirty="0" sz="1500" spc="-10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dirty="0" sz="1500" spc="-25">
                <a:solidFill>
                  <a:srgbClr val="DAD8E9"/>
                </a:solidFill>
                <a:latin typeface="Tahoma"/>
                <a:cs typeface="Tahoma"/>
              </a:rPr>
              <a:t>métrica</a:t>
            </a:r>
            <a:r>
              <a:rPr dirty="0" sz="1500" spc="-95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dirty="0" sz="1500" spc="-20">
                <a:solidFill>
                  <a:srgbClr val="DAD8E9"/>
                </a:solidFill>
                <a:latin typeface="Tahoma"/>
                <a:cs typeface="Tahoma"/>
              </a:rPr>
              <a:t>para </a:t>
            </a:r>
            <a:r>
              <a:rPr dirty="0" sz="1500" spc="-45">
                <a:solidFill>
                  <a:srgbClr val="DAD8E9"/>
                </a:solidFill>
                <a:latin typeface="Tahoma"/>
                <a:cs typeface="Tahoma"/>
              </a:rPr>
              <a:t>seleccionar</a:t>
            </a:r>
            <a:r>
              <a:rPr dirty="0" sz="1500" spc="-95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dirty="0" sz="1500" spc="-45">
                <a:solidFill>
                  <a:srgbClr val="DAD8E9"/>
                </a:solidFill>
                <a:latin typeface="Tahoma"/>
                <a:cs typeface="Tahoma"/>
              </a:rPr>
              <a:t>la</a:t>
            </a:r>
            <a:r>
              <a:rPr dirty="0" sz="1500" spc="-9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dirty="0" sz="1500" spc="-40">
                <a:solidFill>
                  <a:srgbClr val="DAD8E9"/>
                </a:solidFill>
                <a:latin typeface="Tahoma"/>
                <a:cs typeface="Tahoma"/>
              </a:rPr>
              <a:t>mejor</a:t>
            </a:r>
            <a:r>
              <a:rPr dirty="0" sz="1500" spc="-95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DAD8E9"/>
                </a:solidFill>
                <a:latin typeface="Tahoma"/>
                <a:cs typeface="Tahoma"/>
              </a:rPr>
              <a:t>ruta.</a:t>
            </a:r>
            <a:endParaRPr sz="1500">
              <a:latin typeface="Tahoma"/>
              <a:cs typeface="Tahoma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676275" y="4457700"/>
            <a:ext cx="5791200" cy="1095375"/>
            <a:chOff x="676275" y="4457700"/>
            <a:chExt cx="5791200" cy="1095375"/>
          </a:xfrm>
        </p:grpSpPr>
        <p:sp>
          <p:nvSpPr>
            <p:cNvPr id="17" name="object 17" descr=""/>
            <p:cNvSpPr/>
            <p:nvPr/>
          </p:nvSpPr>
          <p:spPr>
            <a:xfrm>
              <a:off x="681037" y="4462462"/>
              <a:ext cx="5781675" cy="1085850"/>
            </a:xfrm>
            <a:custGeom>
              <a:avLst/>
              <a:gdLst/>
              <a:ahLst/>
              <a:cxnLst/>
              <a:rect l="l" t="t" r="r" b="b"/>
              <a:pathLst>
                <a:path w="5781675" h="1085850">
                  <a:moveTo>
                    <a:pt x="5723051" y="0"/>
                  </a:moveTo>
                  <a:lnTo>
                    <a:pt x="58628" y="0"/>
                  </a:lnTo>
                  <a:lnTo>
                    <a:pt x="54545" y="406"/>
                  </a:lnTo>
                  <a:lnTo>
                    <a:pt x="15463" y="21285"/>
                  </a:lnTo>
                  <a:lnTo>
                    <a:pt x="0" y="58623"/>
                  </a:lnTo>
                  <a:lnTo>
                    <a:pt x="0" y="1023105"/>
                  </a:lnTo>
                  <a:lnTo>
                    <a:pt x="0" y="1027223"/>
                  </a:lnTo>
                  <a:lnTo>
                    <a:pt x="15463" y="1064558"/>
                  </a:lnTo>
                  <a:lnTo>
                    <a:pt x="54545" y="1085448"/>
                  </a:lnTo>
                  <a:lnTo>
                    <a:pt x="58628" y="1085846"/>
                  </a:lnTo>
                  <a:lnTo>
                    <a:pt x="5723051" y="1085846"/>
                  </a:lnTo>
                  <a:lnTo>
                    <a:pt x="5760377" y="1070382"/>
                  </a:lnTo>
                  <a:lnTo>
                    <a:pt x="5781268" y="1031300"/>
                  </a:lnTo>
                  <a:lnTo>
                    <a:pt x="5781675" y="1027223"/>
                  </a:lnTo>
                  <a:lnTo>
                    <a:pt x="5781675" y="58623"/>
                  </a:lnTo>
                  <a:lnTo>
                    <a:pt x="5766206" y="21285"/>
                  </a:lnTo>
                  <a:lnTo>
                    <a:pt x="5727128" y="406"/>
                  </a:lnTo>
                  <a:lnTo>
                    <a:pt x="5723051" y="0"/>
                  </a:lnTo>
                  <a:close/>
                </a:path>
              </a:pathLst>
            </a:custGeom>
            <a:solidFill>
              <a:srgbClr val="532C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681037" y="4462462"/>
              <a:ext cx="5781675" cy="1085850"/>
            </a:xfrm>
            <a:custGeom>
              <a:avLst/>
              <a:gdLst/>
              <a:ahLst/>
              <a:cxnLst/>
              <a:rect l="l" t="t" r="r" b="b"/>
              <a:pathLst>
                <a:path w="5781675" h="1085850">
                  <a:moveTo>
                    <a:pt x="0" y="1023105"/>
                  </a:moveTo>
                  <a:lnTo>
                    <a:pt x="0" y="62750"/>
                  </a:lnTo>
                  <a:lnTo>
                    <a:pt x="0" y="58623"/>
                  </a:lnTo>
                  <a:lnTo>
                    <a:pt x="401" y="54546"/>
                  </a:lnTo>
                  <a:lnTo>
                    <a:pt x="10576" y="27889"/>
                  </a:lnTo>
                  <a:lnTo>
                    <a:pt x="12863" y="24460"/>
                  </a:lnTo>
                  <a:lnTo>
                    <a:pt x="15463" y="21285"/>
                  </a:lnTo>
                  <a:lnTo>
                    <a:pt x="18380" y="18376"/>
                  </a:lnTo>
                  <a:lnTo>
                    <a:pt x="21292" y="15468"/>
                  </a:lnTo>
                  <a:lnTo>
                    <a:pt x="38735" y="4775"/>
                  </a:lnTo>
                  <a:lnTo>
                    <a:pt x="42539" y="3200"/>
                  </a:lnTo>
                  <a:lnTo>
                    <a:pt x="46464" y="2006"/>
                  </a:lnTo>
                  <a:lnTo>
                    <a:pt x="50502" y="1206"/>
                  </a:lnTo>
                  <a:lnTo>
                    <a:pt x="54545" y="406"/>
                  </a:lnTo>
                  <a:lnTo>
                    <a:pt x="58628" y="0"/>
                  </a:lnTo>
                  <a:lnTo>
                    <a:pt x="62745" y="0"/>
                  </a:lnTo>
                  <a:lnTo>
                    <a:pt x="5718924" y="0"/>
                  </a:lnTo>
                  <a:lnTo>
                    <a:pt x="5723051" y="0"/>
                  </a:lnTo>
                  <a:lnTo>
                    <a:pt x="5727128" y="406"/>
                  </a:lnTo>
                  <a:lnTo>
                    <a:pt x="5731167" y="1206"/>
                  </a:lnTo>
                  <a:lnTo>
                    <a:pt x="5735205" y="2006"/>
                  </a:lnTo>
                  <a:lnTo>
                    <a:pt x="5739130" y="3200"/>
                  </a:lnTo>
                  <a:lnTo>
                    <a:pt x="5742940" y="4775"/>
                  </a:lnTo>
                  <a:lnTo>
                    <a:pt x="5746750" y="6350"/>
                  </a:lnTo>
                  <a:lnTo>
                    <a:pt x="5771095" y="27889"/>
                  </a:lnTo>
                  <a:lnTo>
                    <a:pt x="5773394" y="31305"/>
                  </a:lnTo>
                  <a:lnTo>
                    <a:pt x="5775325" y="34925"/>
                  </a:lnTo>
                  <a:lnTo>
                    <a:pt x="5776899" y="38735"/>
                  </a:lnTo>
                  <a:lnTo>
                    <a:pt x="5778474" y="42545"/>
                  </a:lnTo>
                  <a:lnTo>
                    <a:pt x="5779668" y="46469"/>
                  </a:lnTo>
                  <a:lnTo>
                    <a:pt x="5780468" y="50507"/>
                  </a:lnTo>
                  <a:lnTo>
                    <a:pt x="5781268" y="54546"/>
                  </a:lnTo>
                  <a:lnTo>
                    <a:pt x="5781675" y="58623"/>
                  </a:lnTo>
                  <a:lnTo>
                    <a:pt x="5781675" y="62750"/>
                  </a:lnTo>
                  <a:lnTo>
                    <a:pt x="5781675" y="1023105"/>
                  </a:lnTo>
                  <a:lnTo>
                    <a:pt x="5781675" y="1027223"/>
                  </a:lnTo>
                  <a:lnTo>
                    <a:pt x="5781268" y="1031300"/>
                  </a:lnTo>
                  <a:lnTo>
                    <a:pt x="5780468" y="1035343"/>
                  </a:lnTo>
                  <a:lnTo>
                    <a:pt x="5779668" y="1039387"/>
                  </a:lnTo>
                  <a:lnTo>
                    <a:pt x="5771095" y="1057960"/>
                  </a:lnTo>
                  <a:lnTo>
                    <a:pt x="5768809" y="1061388"/>
                  </a:lnTo>
                  <a:lnTo>
                    <a:pt x="5742940" y="1081073"/>
                  </a:lnTo>
                  <a:lnTo>
                    <a:pt x="5739130" y="1082650"/>
                  </a:lnTo>
                  <a:lnTo>
                    <a:pt x="5735205" y="1083837"/>
                  </a:lnTo>
                  <a:lnTo>
                    <a:pt x="5731167" y="1084640"/>
                  </a:lnTo>
                  <a:lnTo>
                    <a:pt x="5727128" y="1085448"/>
                  </a:lnTo>
                  <a:lnTo>
                    <a:pt x="5723051" y="1085846"/>
                  </a:lnTo>
                  <a:lnTo>
                    <a:pt x="5718924" y="1085851"/>
                  </a:lnTo>
                  <a:lnTo>
                    <a:pt x="62745" y="1085851"/>
                  </a:lnTo>
                  <a:lnTo>
                    <a:pt x="58628" y="1085846"/>
                  </a:lnTo>
                  <a:lnTo>
                    <a:pt x="54545" y="1085448"/>
                  </a:lnTo>
                  <a:lnTo>
                    <a:pt x="50502" y="1084640"/>
                  </a:lnTo>
                  <a:lnTo>
                    <a:pt x="46464" y="1083837"/>
                  </a:lnTo>
                  <a:lnTo>
                    <a:pt x="42539" y="1082650"/>
                  </a:lnTo>
                  <a:lnTo>
                    <a:pt x="38735" y="1081073"/>
                  </a:lnTo>
                  <a:lnTo>
                    <a:pt x="34930" y="1079496"/>
                  </a:lnTo>
                  <a:lnTo>
                    <a:pt x="18380" y="1067470"/>
                  </a:lnTo>
                  <a:lnTo>
                    <a:pt x="15463" y="1064558"/>
                  </a:lnTo>
                  <a:lnTo>
                    <a:pt x="12863" y="1061388"/>
                  </a:lnTo>
                  <a:lnTo>
                    <a:pt x="10576" y="1057960"/>
                  </a:lnTo>
                  <a:lnTo>
                    <a:pt x="8284" y="1054538"/>
                  </a:lnTo>
                  <a:lnTo>
                    <a:pt x="1205" y="1035343"/>
                  </a:lnTo>
                  <a:lnTo>
                    <a:pt x="401" y="1031300"/>
                  </a:lnTo>
                  <a:lnTo>
                    <a:pt x="0" y="1027223"/>
                  </a:lnTo>
                  <a:lnTo>
                    <a:pt x="0" y="1023105"/>
                  </a:lnTo>
                  <a:close/>
                </a:path>
              </a:pathLst>
            </a:custGeom>
            <a:ln w="9525">
              <a:solidFill>
                <a:srgbClr val="6D446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864791" y="4640262"/>
            <a:ext cx="5233035" cy="6692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60">
                <a:solidFill>
                  <a:srgbClr val="DAD8E9"/>
                </a:solidFill>
                <a:latin typeface="Trebuchet MS"/>
                <a:cs typeface="Trebuchet MS"/>
              </a:rPr>
              <a:t>Limitacione</a:t>
            </a:r>
            <a:r>
              <a:rPr dirty="0" cap="small" sz="1650" spc="60">
                <a:solidFill>
                  <a:srgbClr val="DAD8E9"/>
                </a:solidFill>
                <a:latin typeface="Trebuchet MS"/>
                <a:cs typeface="Trebuchet MS"/>
              </a:rPr>
              <a:t>s</a:t>
            </a:r>
            <a:endParaRPr sz="16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dirty="0" sz="1500" spc="-35">
                <a:solidFill>
                  <a:srgbClr val="DAD8E9"/>
                </a:solidFill>
                <a:latin typeface="Tahoma"/>
                <a:cs typeface="Tahoma"/>
              </a:rPr>
              <a:t>Máximo</a:t>
            </a:r>
            <a:r>
              <a:rPr dirty="0" sz="1500" spc="-11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dirty="0" sz="1500" spc="-55">
                <a:solidFill>
                  <a:srgbClr val="DAD8E9"/>
                </a:solidFill>
                <a:latin typeface="Tahoma"/>
                <a:cs typeface="Tahoma"/>
              </a:rPr>
              <a:t>de</a:t>
            </a:r>
            <a:r>
              <a:rPr dirty="0" sz="1500" spc="-11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dirty="0" sz="1500" spc="-190">
                <a:solidFill>
                  <a:srgbClr val="DAD8E9"/>
                </a:solidFill>
                <a:latin typeface="Tahoma"/>
                <a:cs typeface="Tahoma"/>
              </a:rPr>
              <a:t>15</a:t>
            </a:r>
            <a:r>
              <a:rPr dirty="0" sz="1500" spc="-11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dirty="0" sz="1500" spc="-60">
                <a:solidFill>
                  <a:srgbClr val="DAD8E9"/>
                </a:solidFill>
                <a:latin typeface="Tahoma"/>
                <a:cs typeface="Tahoma"/>
              </a:rPr>
              <a:t>saltos,</a:t>
            </a:r>
            <a:r>
              <a:rPr dirty="0" sz="1500" spc="-105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dirty="0" sz="1500" spc="-40">
                <a:solidFill>
                  <a:srgbClr val="DAD8E9"/>
                </a:solidFill>
                <a:latin typeface="Tahoma"/>
                <a:cs typeface="Tahoma"/>
              </a:rPr>
              <a:t>no</a:t>
            </a:r>
            <a:r>
              <a:rPr dirty="0" sz="1500" spc="-11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dirty="0" sz="1500" spc="-55">
                <a:solidFill>
                  <a:srgbClr val="DAD8E9"/>
                </a:solidFill>
                <a:latin typeface="Tahoma"/>
                <a:cs typeface="Tahoma"/>
              </a:rPr>
              <a:t>adecuado</a:t>
            </a:r>
            <a:r>
              <a:rPr dirty="0" sz="1500" spc="-11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dirty="0" sz="1500" spc="-55">
                <a:solidFill>
                  <a:srgbClr val="DAD8E9"/>
                </a:solidFill>
                <a:latin typeface="Tahoma"/>
                <a:cs typeface="Tahoma"/>
              </a:rPr>
              <a:t>para</a:t>
            </a:r>
            <a:r>
              <a:rPr dirty="0" sz="1500" spc="-105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dirty="0" sz="1500" spc="-55">
                <a:solidFill>
                  <a:srgbClr val="DAD8E9"/>
                </a:solidFill>
                <a:latin typeface="Tahoma"/>
                <a:cs typeface="Tahoma"/>
              </a:rPr>
              <a:t>redes</a:t>
            </a:r>
            <a:r>
              <a:rPr dirty="0" sz="1500" spc="-11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dirty="0" sz="1500" spc="-50">
                <a:solidFill>
                  <a:srgbClr val="DAD8E9"/>
                </a:solidFill>
                <a:latin typeface="Tahoma"/>
                <a:cs typeface="Tahoma"/>
              </a:rPr>
              <a:t>grandes</a:t>
            </a:r>
            <a:r>
              <a:rPr dirty="0" sz="1500" spc="-110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dirty="0" sz="1500" spc="-30">
                <a:solidFill>
                  <a:srgbClr val="DAD8E9"/>
                </a:solidFill>
                <a:latin typeface="Tahoma"/>
                <a:cs typeface="Tahoma"/>
              </a:rPr>
              <a:t>o</a:t>
            </a:r>
            <a:r>
              <a:rPr dirty="0" sz="1500" spc="-105">
                <a:solidFill>
                  <a:srgbClr val="DAD8E9"/>
                </a:solidFill>
                <a:latin typeface="Tahoma"/>
                <a:cs typeface="Tahoma"/>
              </a:rPr>
              <a:t> </a:t>
            </a:r>
            <a:r>
              <a:rPr dirty="0" sz="1500" spc="-45">
                <a:solidFill>
                  <a:srgbClr val="DAD8E9"/>
                </a:solidFill>
                <a:latin typeface="Tahoma"/>
                <a:cs typeface="Tahoma"/>
              </a:rPr>
              <a:t>complejas.</a:t>
            </a:r>
            <a:endParaRPr sz="15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1"/>
            <a:ext cx="11430000" cy="7677150"/>
          </a:xfrm>
          <a:custGeom>
            <a:avLst/>
            <a:gdLst/>
            <a:ahLst/>
            <a:cxnLst/>
            <a:rect l="l" t="t" r="r" b="b"/>
            <a:pathLst>
              <a:path w="11430000" h="7677150">
                <a:moveTo>
                  <a:pt x="11430000" y="0"/>
                </a:moveTo>
                <a:lnTo>
                  <a:pt x="0" y="0"/>
                </a:lnTo>
                <a:lnTo>
                  <a:pt x="0" y="7677150"/>
                </a:lnTo>
                <a:lnTo>
                  <a:pt x="11430000" y="7677150"/>
                </a:lnTo>
                <a:lnTo>
                  <a:pt x="11430000" y="0"/>
                </a:lnTo>
                <a:close/>
              </a:path>
            </a:pathLst>
          </a:custGeom>
          <a:solidFill>
            <a:srgbClr val="0A0C22">
              <a:alpha val="94898"/>
            </a:srgbClr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7143750" y="507"/>
            <a:ext cx="4286250" cy="7677150"/>
            <a:chOff x="7143750" y="507"/>
            <a:chExt cx="4286250" cy="767715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750" y="507"/>
              <a:ext cx="4286249" cy="7676641"/>
            </a:xfrm>
            <a:prstGeom prst="rect">
              <a:avLst/>
            </a:prstGeom>
          </p:spPr>
        </p:pic>
        <p:pic>
          <p:nvPicPr>
            <p:cNvPr id="5" name="object 5" descr="">
              <a:hlinkClick r:id="rId3"/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80244" y="7169657"/>
              <a:ext cx="1754504" cy="41910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62385" y="501650"/>
            <a:ext cx="5441315" cy="1073150"/>
          </a:xfrm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0"/>
              </a:spcBef>
            </a:pPr>
            <a:r>
              <a:rPr dirty="0" spc="175">
                <a:latin typeface="Trebuchet MS"/>
                <a:cs typeface="Trebuchet MS"/>
              </a:rPr>
              <a:t>Comparación</a:t>
            </a:r>
            <a:r>
              <a:rPr dirty="0" spc="225">
                <a:latin typeface="Trebuchet MS"/>
                <a:cs typeface="Trebuchet MS"/>
              </a:rPr>
              <a:t> </a:t>
            </a:r>
            <a:r>
              <a:rPr dirty="0" spc="125">
                <a:latin typeface="Trebuchet MS"/>
                <a:cs typeface="Trebuchet MS"/>
              </a:rPr>
              <a:t>entre</a:t>
            </a:r>
            <a:r>
              <a:rPr dirty="0" spc="220">
                <a:latin typeface="Trebuchet MS"/>
                <a:cs typeface="Trebuchet MS"/>
              </a:rPr>
              <a:t> </a:t>
            </a:r>
            <a:r>
              <a:rPr dirty="0" spc="190">
                <a:latin typeface="Trebuchet MS"/>
                <a:cs typeface="Trebuchet MS"/>
              </a:rPr>
              <a:t>BGP</a:t>
            </a:r>
            <a:r>
              <a:rPr dirty="0" spc="225">
                <a:latin typeface="Trebuchet MS"/>
                <a:cs typeface="Trebuchet MS"/>
              </a:rPr>
              <a:t> </a:t>
            </a:r>
            <a:r>
              <a:rPr dirty="0" spc="310">
                <a:latin typeface="Trebuchet MS"/>
                <a:cs typeface="Trebuchet MS"/>
              </a:rPr>
              <a:t>y </a:t>
            </a:r>
            <a:r>
              <a:rPr dirty="0" spc="70">
                <a:latin typeface="Trebuchet MS"/>
                <a:cs typeface="Trebuchet MS"/>
              </a:rPr>
              <a:t>RIP</a:t>
            </a:r>
          </a:p>
        </p:txBody>
      </p:sp>
      <p:sp>
        <p:nvSpPr>
          <p:cNvPr id="7" name="object 7" descr=""/>
          <p:cNvSpPr/>
          <p:nvPr/>
        </p:nvSpPr>
        <p:spPr>
          <a:xfrm>
            <a:off x="676274" y="1896745"/>
            <a:ext cx="482600" cy="474980"/>
          </a:xfrm>
          <a:custGeom>
            <a:avLst/>
            <a:gdLst/>
            <a:ahLst/>
            <a:cxnLst/>
            <a:rect l="l" t="t" r="r" b="b"/>
            <a:pathLst>
              <a:path w="482600" h="474980">
                <a:moveTo>
                  <a:pt x="256877" y="0"/>
                </a:moveTo>
                <a:lnTo>
                  <a:pt x="225325" y="0"/>
                </a:lnTo>
                <a:lnTo>
                  <a:pt x="209609" y="1270"/>
                </a:lnTo>
                <a:lnTo>
                  <a:pt x="186317" y="5080"/>
                </a:lnTo>
                <a:lnTo>
                  <a:pt x="178668" y="7620"/>
                </a:lnTo>
                <a:lnTo>
                  <a:pt x="163556" y="11430"/>
                </a:lnTo>
                <a:lnTo>
                  <a:pt x="156131" y="15240"/>
                </a:lnTo>
                <a:lnTo>
                  <a:pt x="141540" y="20320"/>
                </a:lnTo>
                <a:lnTo>
                  <a:pt x="134411" y="24130"/>
                </a:lnTo>
                <a:lnTo>
                  <a:pt x="100587" y="44450"/>
                </a:lnTo>
                <a:lnTo>
                  <a:pt x="65032" y="76200"/>
                </a:lnTo>
                <a:lnTo>
                  <a:pt x="59734" y="81280"/>
                </a:lnTo>
                <a:lnTo>
                  <a:pt x="36244" y="113030"/>
                </a:lnTo>
                <a:lnTo>
                  <a:pt x="15328" y="154940"/>
                </a:lnTo>
                <a:lnTo>
                  <a:pt x="3091" y="200660"/>
                </a:lnTo>
                <a:lnTo>
                  <a:pt x="0" y="232410"/>
                </a:lnTo>
                <a:lnTo>
                  <a:pt x="0" y="248920"/>
                </a:lnTo>
                <a:lnTo>
                  <a:pt x="6170" y="294640"/>
                </a:lnTo>
                <a:lnTo>
                  <a:pt x="21376" y="340360"/>
                </a:lnTo>
                <a:lnTo>
                  <a:pt x="45020" y="381000"/>
                </a:lnTo>
                <a:lnTo>
                  <a:pt x="65032" y="405130"/>
                </a:lnTo>
                <a:lnTo>
                  <a:pt x="76199" y="416560"/>
                </a:lnTo>
                <a:lnTo>
                  <a:pt x="113719" y="445770"/>
                </a:lnTo>
                <a:lnTo>
                  <a:pt x="141540" y="459740"/>
                </a:lnTo>
                <a:lnTo>
                  <a:pt x="156131" y="466090"/>
                </a:lnTo>
                <a:lnTo>
                  <a:pt x="178668" y="473710"/>
                </a:lnTo>
                <a:lnTo>
                  <a:pt x="186317" y="474980"/>
                </a:lnTo>
                <a:lnTo>
                  <a:pt x="295884" y="474980"/>
                </a:lnTo>
                <a:lnTo>
                  <a:pt x="303535" y="473710"/>
                </a:lnTo>
                <a:lnTo>
                  <a:pt x="326072" y="466090"/>
                </a:lnTo>
                <a:lnTo>
                  <a:pt x="340662" y="459740"/>
                </a:lnTo>
                <a:lnTo>
                  <a:pt x="347792" y="457200"/>
                </a:lnTo>
                <a:lnTo>
                  <a:pt x="359399" y="450850"/>
                </a:lnTo>
                <a:lnTo>
                  <a:pt x="241101" y="450850"/>
                </a:lnTo>
                <a:lnTo>
                  <a:pt x="228205" y="448310"/>
                </a:lnTo>
                <a:lnTo>
                  <a:pt x="215728" y="440690"/>
                </a:lnTo>
                <a:lnTo>
                  <a:pt x="173761" y="440690"/>
                </a:lnTo>
                <a:lnTo>
                  <a:pt x="134964" y="422910"/>
                </a:lnTo>
                <a:lnTo>
                  <a:pt x="100855" y="397510"/>
                </a:lnTo>
                <a:lnTo>
                  <a:pt x="72380" y="367030"/>
                </a:lnTo>
                <a:lnTo>
                  <a:pt x="50482" y="331470"/>
                </a:lnTo>
                <a:lnTo>
                  <a:pt x="464353" y="331470"/>
                </a:lnTo>
                <a:lnTo>
                  <a:pt x="466873" y="325120"/>
                </a:lnTo>
                <a:lnTo>
                  <a:pt x="469527" y="317500"/>
                </a:lnTo>
                <a:lnTo>
                  <a:pt x="474111" y="303530"/>
                </a:lnTo>
                <a:lnTo>
                  <a:pt x="474659" y="300990"/>
                </a:lnTo>
                <a:lnTo>
                  <a:pt x="38992" y="300990"/>
                </a:lnTo>
                <a:lnTo>
                  <a:pt x="35198" y="285750"/>
                </a:lnTo>
                <a:lnTo>
                  <a:pt x="32456" y="271780"/>
                </a:lnTo>
                <a:lnTo>
                  <a:pt x="30792" y="256540"/>
                </a:lnTo>
                <a:lnTo>
                  <a:pt x="30232" y="240030"/>
                </a:lnTo>
                <a:lnTo>
                  <a:pt x="30805" y="224790"/>
                </a:lnTo>
                <a:lnTo>
                  <a:pt x="32491" y="209550"/>
                </a:lnTo>
                <a:lnTo>
                  <a:pt x="35238" y="194310"/>
                </a:lnTo>
                <a:lnTo>
                  <a:pt x="38992" y="180340"/>
                </a:lnTo>
                <a:lnTo>
                  <a:pt x="474751" y="180340"/>
                </a:lnTo>
                <a:lnTo>
                  <a:pt x="474111" y="177800"/>
                </a:lnTo>
                <a:lnTo>
                  <a:pt x="469527" y="162560"/>
                </a:lnTo>
                <a:lnTo>
                  <a:pt x="466873" y="154940"/>
                </a:lnTo>
                <a:lnTo>
                  <a:pt x="464674" y="149860"/>
                </a:lnTo>
                <a:lnTo>
                  <a:pt x="50482" y="149860"/>
                </a:lnTo>
                <a:lnTo>
                  <a:pt x="72342" y="114300"/>
                </a:lnTo>
                <a:lnTo>
                  <a:pt x="100832" y="82550"/>
                </a:lnTo>
                <a:lnTo>
                  <a:pt x="134991" y="58420"/>
                </a:lnTo>
                <a:lnTo>
                  <a:pt x="173856" y="40640"/>
                </a:lnTo>
                <a:lnTo>
                  <a:pt x="215468" y="40640"/>
                </a:lnTo>
                <a:lnTo>
                  <a:pt x="228205" y="31750"/>
                </a:lnTo>
                <a:lnTo>
                  <a:pt x="241101" y="29210"/>
                </a:lnTo>
                <a:lnTo>
                  <a:pt x="357078" y="29210"/>
                </a:lnTo>
                <a:lnTo>
                  <a:pt x="347792" y="24130"/>
                </a:lnTo>
                <a:lnTo>
                  <a:pt x="340662" y="20320"/>
                </a:lnTo>
                <a:lnTo>
                  <a:pt x="326072" y="15240"/>
                </a:lnTo>
                <a:lnTo>
                  <a:pt x="318645" y="11430"/>
                </a:lnTo>
                <a:lnTo>
                  <a:pt x="303535" y="7620"/>
                </a:lnTo>
                <a:lnTo>
                  <a:pt x="295884" y="5080"/>
                </a:lnTo>
                <a:lnTo>
                  <a:pt x="272594" y="1270"/>
                </a:lnTo>
                <a:lnTo>
                  <a:pt x="256877" y="0"/>
                </a:lnTo>
                <a:close/>
              </a:path>
              <a:path w="482600" h="474980">
                <a:moveTo>
                  <a:pt x="352891" y="331470"/>
                </a:moveTo>
                <a:lnTo>
                  <a:pt x="322098" y="331470"/>
                </a:lnTo>
                <a:lnTo>
                  <a:pt x="317516" y="349250"/>
                </a:lnTo>
                <a:lnTo>
                  <a:pt x="312160" y="367030"/>
                </a:lnTo>
                <a:lnTo>
                  <a:pt x="283959" y="422910"/>
                </a:lnTo>
                <a:lnTo>
                  <a:pt x="253998" y="448310"/>
                </a:lnTo>
                <a:lnTo>
                  <a:pt x="241101" y="450850"/>
                </a:lnTo>
                <a:lnTo>
                  <a:pt x="359399" y="450850"/>
                </a:lnTo>
                <a:lnTo>
                  <a:pt x="361721" y="449580"/>
                </a:lnTo>
                <a:lnTo>
                  <a:pt x="368484" y="445770"/>
                </a:lnTo>
                <a:lnTo>
                  <a:pt x="375987" y="440690"/>
                </a:lnTo>
                <a:lnTo>
                  <a:pt x="308441" y="440690"/>
                </a:lnTo>
                <a:lnTo>
                  <a:pt x="322459" y="417830"/>
                </a:lnTo>
                <a:lnTo>
                  <a:pt x="334693" y="392430"/>
                </a:lnTo>
                <a:lnTo>
                  <a:pt x="344914" y="363220"/>
                </a:lnTo>
                <a:lnTo>
                  <a:pt x="352891" y="331470"/>
                </a:lnTo>
                <a:close/>
              </a:path>
              <a:path w="482600" h="474980">
                <a:moveTo>
                  <a:pt x="160103" y="331470"/>
                </a:moveTo>
                <a:lnTo>
                  <a:pt x="129311" y="331470"/>
                </a:lnTo>
                <a:lnTo>
                  <a:pt x="137328" y="363220"/>
                </a:lnTo>
                <a:lnTo>
                  <a:pt x="147544" y="392430"/>
                </a:lnTo>
                <a:lnTo>
                  <a:pt x="159756" y="417830"/>
                </a:lnTo>
                <a:lnTo>
                  <a:pt x="173761" y="440690"/>
                </a:lnTo>
                <a:lnTo>
                  <a:pt x="215728" y="440690"/>
                </a:lnTo>
                <a:lnTo>
                  <a:pt x="213648" y="439420"/>
                </a:lnTo>
                <a:lnTo>
                  <a:pt x="198243" y="422910"/>
                </a:lnTo>
                <a:lnTo>
                  <a:pt x="182805" y="397510"/>
                </a:lnTo>
                <a:lnTo>
                  <a:pt x="176105" y="382270"/>
                </a:lnTo>
                <a:lnTo>
                  <a:pt x="170042" y="367030"/>
                </a:lnTo>
                <a:lnTo>
                  <a:pt x="164685" y="349250"/>
                </a:lnTo>
                <a:lnTo>
                  <a:pt x="160103" y="331470"/>
                </a:lnTo>
                <a:close/>
              </a:path>
              <a:path w="482600" h="474980">
                <a:moveTo>
                  <a:pt x="464353" y="331470"/>
                </a:moveTo>
                <a:lnTo>
                  <a:pt x="431721" y="331470"/>
                </a:lnTo>
                <a:lnTo>
                  <a:pt x="409822" y="367030"/>
                </a:lnTo>
                <a:lnTo>
                  <a:pt x="381346" y="397510"/>
                </a:lnTo>
                <a:lnTo>
                  <a:pt x="347238" y="422910"/>
                </a:lnTo>
                <a:lnTo>
                  <a:pt x="308441" y="440690"/>
                </a:lnTo>
                <a:lnTo>
                  <a:pt x="375987" y="440690"/>
                </a:lnTo>
                <a:lnTo>
                  <a:pt x="406003" y="416560"/>
                </a:lnTo>
                <a:lnTo>
                  <a:pt x="417169" y="405130"/>
                </a:lnTo>
                <a:lnTo>
                  <a:pt x="422468" y="400050"/>
                </a:lnTo>
                <a:lnTo>
                  <a:pt x="432484" y="387350"/>
                </a:lnTo>
                <a:lnTo>
                  <a:pt x="437182" y="381000"/>
                </a:lnTo>
                <a:lnTo>
                  <a:pt x="445957" y="368300"/>
                </a:lnTo>
                <a:lnTo>
                  <a:pt x="460825" y="340360"/>
                </a:lnTo>
                <a:lnTo>
                  <a:pt x="464353" y="331470"/>
                </a:lnTo>
                <a:close/>
              </a:path>
              <a:path w="482600" h="474980">
                <a:moveTo>
                  <a:pt x="154736" y="180340"/>
                </a:moveTo>
                <a:lnTo>
                  <a:pt x="124316" y="180340"/>
                </a:lnTo>
                <a:lnTo>
                  <a:pt x="122696" y="194310"/>
                </a:lnTo>
                <a:lnTo>
                  <a:pt x="121516" y="209550"/>
                </a:lnTo>
                <a:lnTo>
                  <a:pt x="120795" y="224790"/>
                </a:lnTo>
                <a:lnTo>
                  <a:pt x="120550" y="240030"/>
                </a:lnTo>
                <a:lnTo>
                  <a:pt x="120795" y="256540"/>
                </a:lnTo>
                <a:lnTo>
                  <a:pt x="121516" y="271780"/>
                </a:lnTo>
                <a:lnTo>
                  <a:pt x="122696" y="285750"/>
                </a:lnTo>
                <a:lnTo>
                  <a:pt x="124316" y="300990"/>
                </a:lnTo>
                <a:lnTo>
                  <a:pt x="154736" y="300990"/>
                </a:lnTo>
                <a:lnTo>
                  <a:pt x="152992" y="285750"/>
                </a:lnTo>
                <a:lnTo>
                  <a:pt x="151724" y="271780"/>
                </a:lnTo>
                <a:lnTo>
                  <a:pt x="150950" y="256540"/>
                </a:lnTo>
                <a:lnTo>
                  <a:pt x="150688" y="240030"/>
                </a:lnTo>
                <a:lnTo>
                  <a:pt x="150950" y="224790"/>
                </a:lnTo>
                <a:lnTo>
                  <a:pt x="151724" y="209550"/>
                </a:lnTo>
                <a:lnTo>
                  <a:pt x="152992" y="194310"/>
                </a:lnTo>
                <a:lnTo>
                  <a:pt x="154736" y="180340"/>
                </a:lnTo>
                <a:close/>
              </a:path>
              <a:path w="482600" h="474980">
                <a:moveTo>
                  <a:pt x="357887" y="180340"/>
                </a:moveTo>
                <a:lnTo>
                  <a:pt x="327466" y="180340"/>
                </a:lnTo>
                <a:lnTo>
                  <a:pt x="329210" y="194310"/>
                </a:lnTo>
                <a:lnTo>
                  <a:pt x="330478" y="209550"/>
                </a:lnTo>
                <a:lnTo>
                  <a:pt x="331252" y="224790"/>
                </a:lnTo>
                <a:lnTo>
                  <a:pt x="331514" y="240030"/>
                </a:lnTo>
                <a:lnTo>
                  <a:pt x="331252" y="256540"/>
                </a:lnTo>
                <a:lnTo>
                  <a:pt x="330478" y="271780"/>
                </a:lnTo>
                <a:lnTo>
                  <a:pt x="329210" y="285750"/>
                </a:lnTo>
                <a:lnTo>
                  <a:pt x="327466" y="300990"/>
                </a:lnTo>
                <a:lnTo>
                  <a:pt x="357887" y="300990"/>
                </a:lnTo>
                <a:lnTo>
                  <a:pt x="359507" y="285750"/>
                </a:lnTo>
                <a:lnTo>
                  <a:pt x="360687" y="271780"/>
                </a:lnTo>
                <a:lnTo>
                  <a:pt x="361408" y="256540"/>
                </a:lnTo>
                <a:lnTo>
                  <a:pt x="361521" y="248920"/>
                </a:lnTo>
                <a:lnTo>
                  <a:pt x="361408" y="224790"/>
                </a:lnTo>
                <a:lnTo>
                  <a:pt x="360687" y="209550"/>
                </a:lnTo>
                <a:lnTo>
                  <a:pt x="359507" y="194310"/>
                </a:lnTo>
                <a:lnTo>
                  <a:pt x="357887" y="180340"/>
                </a:lnTo>
                <a:close/>
              </a:path>
              <a:path w="482600" h="474980">
                <a:moveTo>
                  <a:pt x="474751" y="180340"/>
                </a:moveTo>
                <a:lnTo>
                  <a:pt x="443398" y="180340"/>
                </a:lnTo>
                <a:lnTo>
                  <a:pt x="447191" y="194310"/>
                </a:lnTo>
                <a:lnTo>
                  <a:pt x="449933" y="209550"/>
                </a:lnTo>
                <a:lnTo>
                  <a:pt x="451598" y="224790"/>
                </a:lnTo>
                <a:lnTo>
                  <a:pt x="452159" y="240030"/>
                </a:lnTo>
                <a:lnTo>
                  <a:pt x="451585" y="256540"/>
                </a:lnTo>
                <a:lnTo>
                  <a:pt x="449897" y="271780"/>
                </a:lnTo>
                <a:lnTo>
                  <a:pt x="447151" y="285750"/>
                </a:lnTo>
                <a:lnTo>
                  <a:pt x="443398" y="300990"/>
                </a:lnTo>
                <a:lnTo>
                  <a:pt x="474659" y="300990"/>
                </a:lnTo>
                <a:lnTo>
                  <a:pt x="481816" y="256540"/>
                </a:lnTo>
                <a:lnTo>
                  <a:pt x="482203" y="248920"/>
                </a:lnTo>
                <a:lnTo>
                  <a:pt x="482203" y="232410"/>
                </a:lnTo>
                <a:lnTo>
                  <a:pt x="481816" y="224790"/>
                </a:lnTo>
                <a:lnTo>
                  <a:pt x="480268" y="209550"/>
                </a:lnTo>
                <a:lnTo>
                  <a:pt x="479112" y="200660"/>
                </a:lnTo>
                <a:lnTo>
                  <a:pt x="476031" y="185420"/>
                </a:lnTo>
                <a:lnTo>
                  <a:pt x="474751" y="180340"/>
                </a:lnTo>
                <a:close/>
              </a:path>
              <a:path w="482600" h="474980">
                <a:moveTo>
                  <a:pt x="215468" y="40640"/>
                </a:moveTo>
                <a:lnTo>
                  <a:pt x="173856" y="40640"/>
                </a:lnTo>
                <a:lnTo>
                  <a:pt x="159837" y="62230"/>
                </a:lnTo>
                <a:lnTo>
                  <a:pt x="147603" y="88900"/>
                </a:lnTo>
                <a:lnTo>
                  <a:pt x="137383" y="118110"/>
                </a:lnTo>
                <a:lnTo>
                  <a:pt x="129406" y="149860"/>
                </a:lnTo>
                <a:lnTo>
                  <a:pt x="160103" y="149860"/>
                </a:lnTo>
                <a:lnTo>
                  <a:pt x="164685" y="132080"/>
                </a:lnTo>
                <a:lnTo>
                  <a:pt x="170042" y="114300"/>
                </a:lnTo>
                <a:lnTo>
                  <a:pt x="176105" y="97790"/>
                </a:lnTo>
                <a:lnTo>
                  <a:pt x="182805" y="83820"/>
                </a:lnTo>
                <a:lnTo>
                  <a:pt x="198243" y="58420"/>
                </a:lnTo>
                <a:lnTo>
                  <a:pt x="213648" y="41910"/>
                </a:lnTo>
                <a:lnTo>
                  <a:pt x="215468" y="40640"/>
                </a:lnTo>
                <a:close/>
              </a:path>
              <a:path w="482600" h="474980">
                <a:moveTo>
                  <a:pt x="357078" y="29210"/>
                </a:moveTo>
                <a:lnTo>
                  <a:pt x="241101" y="29210"/>
                </a:lnTo>
                <a:lnTo>
                  <a:pt x="253998" y="31750"/>
                </a:lnTo>
                <a:lnTo>
                  <a:pt x="268555" y="41910"/>
                </a:lnTo>
                <a:lnTo>
                  <a:pt x="299397" y="83820"/>
                </a:lnTo>
                <a:lnTo>
                  <a:pt x="317516" y="132080"/>
                </a:lnTo>
                <a:lnTo>
                  <a:pt x="322098" y="149860"/>
                </a:lnTo>
                <a:lnTo>
                  <a:pt x="352985" y="149860"/>
                </a:lnTo>
                <a:lnTo>
                  <a:pt x="345008" y="118110"/>
                </a:lnTo>
                <a:lnTo>
                  <a:pt x="334788" y="88900"/>
                </a:lnTo>
                <a:lnTo>
                  <a:pt x="322554" y="62230"/>
                </a:lnTo>
                <a:lnTo>
                  <a:pt x="308535" y="40640"/>
                </a:lnTo>
                <a:lnTo>
                  <a:pt x="375987" y="40640"/>
                </a:lnTo>
                <a:lnTo>
                  <a:pt x="368484" y="35560"/>
                </a:lnTo>
                <a:lnTo>
                  <a:pt x="361721" y="31750"/>
                </a:lnTo>
                <a:lnTo>
                  <a:pt x="357078" y="29210"/>
                </a:lnTo>
                <a:close/>
              </a:path>
              <a:path w="482600" h="474980">
                <a:moveTo>
                  <a:pt x="375987" y="40640"/>
                </a:moveTo>
                <a:lnTo>
                  <a:pt x="308535" y="40640"/>
                </a:lnTo>
                <a:lnTo>
                  <a:pt x="347333" y="58420"/>
                </a:lnTo>
                <a:lnTo>
                  <a:pt x="381441" y="82550"/>
                </a:lnTo>
                <a:lnTo>
                  <a:pt x="409917" y="114300"/>
                </a:lnTo>
                <a:lnTo>
                  <a:pt x="431815" y="149860"/>
                </a:lnTo>
                <a:lnTo>
                  <a:pt x="464674" y="149860"/>
                </a:lnTo>
                <a:lnTo>
                  <a:pt x="445957" y="113030"/>
                </a:lnTo>
                <a:lnTo>
                  <a:pt x="422468" y="81280"/>
                </a:lnTo>
                <a:lnTo>
                  <a:pt x="417169" y="76200"/>
                </a:lnTo>
                <a:lnTo>
                  <a:pt x="406003" y="64770"/>
                </a:lnTo>
                <a:lnTo>
                  <a:pt x="400159" y="59690"/>
                </a:lnTo>
                <a:lnTo>
                  <a:pt x="387950" y="49530"/>
                </a:lnTo>
                <a:lnTo>
                  <a:pt x="381614" y="44450"/>
                </a:lnTo>
                <a:lnTo>
                  <a:pt x="375987" y="40640"/>
                </a:lnTo>
                <a:close/>
              </a:path>
            </a:pathLst>
          </a:custGeom>
          <a:solidFill>
            <a:srgbClr val="A85B9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662385" y="2544762"/>
            <a:ext cx="4540885" cy="6692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00">
                <a:solidFill>
                  <a:srgbClr val="DAD8E9"/>
                </a:solidFill>
                <a:latin typeface="Trebuchet MS"/>
                <a:cs typeface="Trebuchet MS"/>
              </a:rPr>
              <a:t>Alcance</a:t>
            </a:r>
            <a:endParaRPr sz="16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dirty="0" sz="1500" spc="-90">
                <a:solidFill>
                  <a:srgbClr val="DAD8E9"/>
                </a:solidFill>
                <a:latin typeface="Trebuchet MS"/>
                <a:cs typeface="Trebuchet MS"/>
              </a:rPr>
              <a:t>BGP </a:t>
            </a:r>
            <a:r>
              <a:rPr dirty="0" sz="1500" spc="-70">
                <a:solidFill>
                  <a:srgbClr val="DAD8E9"/>
                </a:solidFill>
                <a:latin typeface="Trebuchet MS"/>
                <a:cs typeface="Trebuchet MS"/>
              </a:rPr>
              <a:t>para</a:t>
            </a:r>
            <a:r>
              <a:rPr dirty="0" sz="1500" spc="-90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dirty="0" sz="1500" spc="-60">
                <a:solidFill>
                  <a:srgbClr val="DAD8E9"/>
                </a:solidFill>
                <a:latin typeface="Trebuchet MS"/>
                <a:cs typeface="Trebuchet MS"/>
              </a:rPr>
              <a:t>Internet</a:t>
            </a:r>
            <a:r>
              <a:rPr dirty="0" sz="1500" spc="-85">
                <a:solidFill>
                  <a:srgbClr val="DAD8E9"/>
                </a:solidFill>
                <a:latin typeface="Trebuchet MS"/>
                <a:cs typeface="Trebuchet MS"/>
              </a:rPr>
              <a:t> global,</a:t>
            </a:r>
            <a:r>
              <a:rPr dirty="0" sz="1500" spc="-90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dirty="0" sz="1500" spc="-80">
                <a:solidFill>
                  <a:srgbClr val="DAD8E9"/>
                </a:solidFill>
                <a:latin typeface="Trebuchet MS"/>
                <a:cs typeface="Trebuchet MS"/>
              </a:rPr>
              <a:t>RIP</a:t>
            </a:r>
            <a:r>
              <a:rPr dirty="0" sz="1500" spc="-85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dirty="0" sz="1500" spc="-70">
                <a:solidFill>
                  <a:srgbClr val="DAD8E9"/>
                </a:solidFill>
                <a:latin typeface="Trebuchet MS"/>
                <a:cs typeface="Trebuchet MS"/>
              </a:rPr>
              <a:t>para</a:t>
            </a:r>
            <a:r>
              <a:rPr dirty="0" sz="1500" spc="-90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dirty="0" sz="1500" spc="-65">
                <a:solidFill>
                  <a:srgbClr val="DAD8E9"/>
                </a:solidFill>
                <a:latin typeface="Trebuchet MS"/>
                <a:cs typeface="Trebuchet MS"/>
              </a:rPr>
              <a:t>redes</a:t>
            </a:r>
            <a:r>
              <a:rPr dirty="0" sz="1500" spc="-90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dirty="0" sz="1500" spc="-75">
                <a:solidFill>
                  <a:srgbClr val="DAD8E9"/>
                </a:solidFill>
                <a:latin typeface="Trebuchet MS"/>
                <a:cs typeface="Trebuchet MS"/>
              </a:rPr>
              <a:t>locales</a:t>
            </a:r>
            <a:r>
              <a:rPr dirty="0" sz="1500" spc="-85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dirty="0" sz="1500" spc="-50">
                <a:solidFill>
                  <a:srgbClr val="DAD8E9"/>
                </a:solidFill>
                <a:latin typeface="Trebuchet MS"/>
                <a:cs typeface="Trebuchet MS"/>
              </a:rPr>
              <a:t>pequeñas.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676275" y="3885285"/>
            <a:ext cx="482600" cy="387350"/>
          </a:xfrm>
          <a:custGeom>
            <a:avLst/>
            <a:gdLst/>
            <a:ahLst/>
            <a:cxnLst/>
            <a:rect l="l" t="t" r="r" b="b"/>
            <a:pathLst>
              <a:path w="482600" h="387350">
                <a:moveTo>
                  <a:pt x="93425" y="0"/>
                </a:moveTo>
                <a:lnTo>
                  <a:pt x="86648" y="3467"/>
                </a:lnTo>
                <a:lnTo>
                  <a:pt x="82425" y="16052"/>
                </a:lnTo>
                <a:lnTo>
                  <a:pt x="85818" y="22834"/>
                </a:lnTo>
                <a:lnTo>
                  <a:pt x="193258" y="58699"/>
                </a:lnTo>
                <a:lnTo>
                  <a:pt x="197720" y="71692"/>
                </a:lnTo>
                <a:lnTo>
                  <a:pt x="205501" y="82710"/>
                </a:lnTo>
                <a:lnTo>
                  <a:pt x="215995" y="91158"/>
                </a:lnTo>
                <a:lnTo>
                  <a:pt x="228594" y="96443"/>
                </a:lnTo>
                <a:lnTo>
                  <a:pt x="228594" y="363169"/>
                </a:lnTo>
                <a:lnTo>
                  <a:pt x="77301" y="363169"/>
                </a:lnTo>
                <a:lnTo>
                  <a:pt x="71879" y="368592"/>
                </a:lnTo>
                <a:lnTo>
                  <a:pt x="71879" y="381850"/>
                </a:lnTo>
                <a:lnTo>
                  <a:pt x="77301" y="387273"/>
                </a:lnTo>
                <a:lnTo>
                  <a:pt x="247277" y="387273"/>
                </a:lnTo>
                <a:lnTo>
                  <a:pt x="252704" y="381850"/>
                </a:lnTo>
                <a:lnTo>
                  <a:pt x="252704" y="96443"/>
                </a:lnTo>
                <a:lnTo>
                  <a:pt x="260464" y="94488"/>
                </a:lnTo>
                <a:lnTo>
                  <a:pt x="267473" y="90563"/>
                </a:lnTo>
                <a:lnTo>
                  <a:pt x="273198" y="85369"/>
                </a:lnTo>
                <a:lnTo>
                  <a:pt x="349371" y="85369"/>
                </a:lnTo>
                <a:lnTo>
                  <a:pt x="314770" y="73837"/>
                </a:lnTo>
                <a:lnTo>
                  <a:pt x="237375" y="73837"/>
                </a:lnTo>
                <a:lnTo>
                  <a:pt x="234299" y="73228"/>
                </a:lnTo>
                <a:lnTo>
                  <a:pt x="216465" y="52920"/>
                </a:lnTo>
                <a:lnTo>
                  <a:pt x="216465" y="46532"/>
                </a:lnTo>
                <a:lnTo>
                  <a:pt x="217076" y="43459"/>
                </a:lnTo>
                <a:lnTo>
                  <a:pt x="219522" y="37553"/>
                </a:lnTo>
                <a:lnTo>
                  <a:pt x="221263" y="34937"/>
                </a:lnTo>
                <a:lnTo>
                  <a:pt x="222292" y="33909"/>
                </a:lnTo>
                <a:lnTo>
                  <a:pt x="194989" y="33909"/>
                </a:lnTo>
                <a:lnTo>
                  <a:pt x="93425" y="0"/>
                </a:lnTo>
                <a:close/>
              </a:path>
              <a:path w="482600" h="387350">
                <a:moveTo>
                  <a:pt x="393223" y="158153"/>
                </a:moveTo>
                <a:lnTo>
                  <a:pt x="378301" y="158153"/>
                </a:lnTo>
                <a:lnTo>
                  <a:pt x="371295" y="162064"/>
                </a:lnTo>
                <a:lnTo>
                  <a:pt x="367451" y="168478"/>
                </a:lnTo>
                <a:lnTo>
                  <a:pt x="298137" y="282397"/>
                </a:lnTo>
                <a:lnTo>
                  <a:pt x="294311" y="289748"/>
                </a:lnTo>
                <a:lnTo>
                  <a:pt x="291553" y="297497"/>
                </a:lnTo>
                <a:lnTo>
                  <a:pt x="289883" y="305532"/>
                </a:lnTo>
                <a:lnTo>
                  <a:pt x="289322" y="313740"/>
                </a:lnTo>
                <a:lnTo>
                  <a:pt x="289322" y="314947"/>
                </a:lnTo>
                <a:lnTo>
                  <a:pt x="296900" y="343093"/>
                </a:lnTo>
                <a:lnTo>
                  <a:pt x="317566" y="366083"/>
                </a:lnTo>
                <a:lnTo>
                  <a:pt x="348220" y="381587"/>
                </a:lnTo>
                <a:lnTo>
                  <a:pt x="385762" y="387273"/>
                </a:lnTo>
                <a:lnTo>
                  <a:pt x="423304" y="381587"/>
                </a:lnTo>
                <a:lnTo>
                  <a:pt x="453959" y="366083"/>
                </a:lnTo>
                <a:lnTo>
                  <a:pt x="456579" y="363169"/>
                </a:lnTo>
                <a:lnTo>
                  <a:pt x="385762" y="363169"/>
                </a:lnTo>
                <a:lnTo>
                  <a:pt x="369929" y="361968"/>
                </a:lnTo>
                <a:lnTo>
                  <a:pt x="332040" y="346811"/>
                </a:lnTo>
                <a:lnTo>
                  <a:pt x="313432" y="314947"/>
                </a:lnTo>
                <a:lnTo>
                  <a:pt x="458092" y="314947"/>
                </a:lnTo>
                <a:lnTo>
                  <a:pt x="458092" y="313740"/>
                </a:lnTo>
                <a:lnTo>
                  <a:pt x="482203" y="313740"/>
                </a:lnTo>
                <a:lnTo>
                  <a:pt x="481641" y="305494"/>
                </a:lnTo>
                <a:lnTo>
                  <a:pt x="479970" y="297445"/>
                </a:lnTo>
                <a:lnTo>
                  <a:pt x="477612" y="290830"/>
                </a:lnTo>
                <a:lnTo>
                  <a:pt x="321190" y="290830"/>
                </a:lnTo>
                <a:lnTo>
                  <a:pt x="385762" y="184823"/>
                </a:lnTo>
                <a:lnTo>
                  <a:pt x="414018" y="184823"/>
                </a:lnTo>
                <a:lnTo>
                  <a:pt x="400154" y="162064"/>
                </a:lnTo>
                <a:lnTo>
                  <a:pt x="393223" y="158153"/>
                </a:lnTo>
                <a:close/>
              </a:path>
              <a:path w="482600" h="387350">
                <a:moveTo>
                  <a:pt x="482203" y="313740"/>
                </a:moveTo>
                <a:lnTo>
                  <a:pt x="458092" y="313740"/>
                </a:lnTo>
                <a:lnTo>
                  <a:pt x="458092" y="314947"/>
                </a:lnTo>
                <a:lnTo>
                  <a:pt x="456996" y="323081"/>
                </a:lnTo>
                <a:lnTo>
                  <a:pt x="428738" y="353434"/>
                </a:lnTo>
                <a:lnTo>
                  <a:pt x="385762" y="363169"/>
                </a:lnTo>
                <a:lnTo>
                  <a:pt x="456579" y="363169"/>
                </a:lnTo>
                <a:lnTo>
                  <a:pt x="474625" y="343093"/>
                </a:lnTo>
                <a:lnTo>
                  <a:pt x="482203" y="314947"/>
                </a:lnTo>
                <a:lnTo>
                  <a:pt x="482203" y="313740"/>
                </a:lnTo>
                <a:close/>
              </a:path>
              <a:path w="482600" h="387350">
                <a:moveTo>
                  <a:pt x="103902" y="61785"/>
                </a:moveTo>
                <a:lnTo>
                  <a:pt x="88980" y="61785"/>
                </a:lnTo>
                <a:lnTo>
                  <a:pt x="81974" y="65697"/>
                </a:lnTo>
                <a:lnTo>
                  <a:pt x="78130" y="72110"/>
                </a:lnTo>
                <a:lnTo>
                  <a:pt x="8815" y="186029"/>
                </a:lnTo>
                <a:lnTo>
                  <a:pt x="4989" y="193338"/>
                </a:lnTo>
                <a:lnTo>
                  <a:pt x="2231" y="201067"/>
                </a:lnTo>
                <a:lnTo>
                  <a:pt x="561" y="209094"/>
                </a:lnTo>
                <a:lnTo>
                  <a:pt x="0" y="217297"/>
                </a:lnTo>
                <a:lnTo>
                  <a:pt x="0" y="218503"/>
                </a:lnTo>
                <a:lnTo>
                  <a:pt x="7577" y="246649"/>
                </a:lnTo>
                <a:lnTo>
                  <a:pt x="28243" y="269640"/>
                </a:lnTo>
                <a:lnTo>
                  <a:pt x="58898" y="285143"/>
                </a:lnTo>
                <a:lnTo>
                  <a:pt x="96441" y="290830"/>
                </a:lnTo>
                <a:lnTo>
                  <a:pt x="133983" y="285143"/>
                </a:lnTo>
                <a:lnTo>
                  <a:pt x="164637" y="269640"/>
                </a:lnTo>
                <a:lnTo>
                  <a:pt x="167257" y="266725"/>
                </a:lnTo>
                <a:lnTo>
                  <a:pt x="96441" y="266725"/>
                </a:lnTo>
                <a:lnTo>
                  <a:pt x="80602" y="265525"/>
                </a:lnTo>
                <a:lnTo>
                  <a:pt x="42718" y="250367"/>
                </a:lnTo>
                <a:lnTo>
                  <a:pt x="24109" y="218503"/>
                </a:lnTo>
                <a:lnTo>
                  <a:pt x="168771" y="218503"/>
                </a:lnTo>
                <a:lnTo>
                  <a:pt x="168771" y="217297"/>
                </a:lnTo>
                <a:lnTo>
                  <a:pt x="192881" y="217297"/>
                </a:lnTo>
                <a:lnTo>
                  <a:pt x="192319" y="209050"/>
                </a:lnTo>
                <a:lnTo>
                  <a:pt x="190648" y="201001"/>
                </a:lnTo>
                <a:lnTo>
                  <a:pt x="188294" y="194398"/>
                </a:lnTo>
                <a:lnTo>
                  <a:pt x="31869" y="194398"/>
                </a:lnTo>
                <a:lnTo>
                  <a:pt x="96441" y="88379"/>
                </a:lnTo>
                <a:lnTo>
                  <a:pt x="124705" y="88379"/>
                </a:lnTo>
                <a:lnTo>
                  <a:pt x="110906" y="65697"/>
                </a:lnTo>
                <a:lnTo>
                  <a:pt x="103902" y="61785"/>
                </a:lnTo>
                <a:close/>
              </a:path>
              <a:path w="482600" h="387350">
                <a:moveTo>
                  <a:pt x="414018" y="184823"/>
                </a:moveTo>
                <a:lnTo>
                  <a:pt x="385762" y="184823"/>
                </a:lnTo>
                <a:lnTo>
                  <a:pt x="450334" y="290830"/>
                </a:lnTo>
                <a:lnTo>
                  <a:pt x="477612" y="290830"/>
                </a:lnTo>
                <a:lnTo>
                  <a:pt x="477211" y="289707"/>
                </a:lnTo>
                <a:lnTo>
                  <a:pt x="473387" y="282397"/>
                </a:lnTo>
                <a:lnTo>
                  <a:pt x="414018" y="184823"/>
                </a:lnTo>
                <a:close/>
              </a:path>
              <a:path w="482600" h="387350">
                <a:moveTo>
                  <a:pt x="192881" y="217297"/>
                </a:moveTo>
                <a:lnTo>
                  <a:pt x="168771" y="217297"/>
                </a:lnTo>
                <a:lnTo>
                  <a:pt x="168771" y="218503"/>
                </a:lnTo>
                <a:lnTo>
                  <a:pt x="167675" y="226638"/>
                </a:lnTo>
                <a:lnTo>
                  <a:pt x="164298" y="234830"/>
                </a:lnTo>
                <a:lnTo>
                  <a:pt x="158505" y="242826"/>
                </a:lnTo>
                <a:lnTo>
                  <a:pt x="150162" y="250367"/>
                </a:lnTo>
                <a:lnTo>
                  <a:pt x="139416" y="256963"/>
                </a:lnTo>
                <a:lnTo>
                  <a:pt x="126652" y="262166"/>
                </a:lnTo>
                <a:lnTo>
                  <a:pt x="112258" y="265526"/>
                </a:lnTo>
                <a:lnTo>
                  <a:pt x="96441" y="266725"/>
                </a:lnTo>
                <a:lnTo>
                  <a:pt x="167257" y="266725"/>
                </a:lnTo>
                <a:lnTo>
                  <a:pt x="185303" y="246649"/>
                </a:lnTo>
                <a:lnTo>
                  <a:pt x="192881" y="218503"/>
                </a:lnTo>
                <a:lnTo>
                  <a:pt x="192881" y="217297"/>
                </a:lnTo>
                <a:close/>
              </a:path>
              <a:path w="482600" h="387350">
                <a:moveTo>
                  <a:pt x="150162" y="250291"/>
                </a:moveTo>
                <a:close/>
              </a:path>
              <a:path w="482600" h="387350">
                <a:moveTo>
                  <a:pt x="124705" y="88379"/>
                </a:moveTo>
                <a:lnTo>
                  <a:pt x="96441" y="88379"/>
                </a:lnTo>
                <a:lnTo>
                  <a:pt x="161011" y="194398"/>
                </a:lnTo>
                <a:lnTo>
                  <a:pt x="188294" y="194398"/>
                </a:lnTo>
                <a:lnTo>
                  <a:pt x="187889" y="193263"/>
                </a:lnTo>
                <a:lnTo>
                  <a:pt x="184066" y="185953"/>
                </a:lnTo>
                <a:lnTo>
                  <a:pt x="124705" y="88379"/>
                </a:lnTo>
                <a:close/>
              </a:path>
              <a:path w="482600" h="387350">
                <a:moveTo>
                  <a:pt x="349371" y="85369"/>
                </a:moveTo>
                <a:lnTo>
                  <a:pt x="273198" y="85369"/>
                </a:lnTo>
                <a:lnTo>
                  <a:pt x="387870" y="123571"/>
                </a:lnTo>
                <a:lnTo>
                  <a:pt x="394652" y="120180"/>
                </a:lnTo>
                <a:lnTo>
                  <a:pt x="398873" y="107518"/>
                </a:lnTo>
                <a:lnTo>
                  <a:pt x="395480" y="100736"/>
                </a:lnTo>
                <a:lnTo>
                  <a:pt x="349371" y="85369"/>
                </a:lnTo>
                <a:close/>
              </a:path>
              <a:path w="482600" h="387350">
                <a:moveTo>
                  <a:pt x="281386" y="25615"/>
                </a:moveTo>
                <a:lnTo>
                  <a:pt x="243770" y="25615"/>
                </a:lnTo>
                <a:lnTo>
                  <a:pt x="246846" y="26238"/>
                </a:lnTo>
                <a:lnTo>
                  <a:pt x="252755" y="28676"/>
                </a:lnTo>
                <a:lnTo>
                  <a:pt x="264685" y="46532"/>
                </a:lnTo>
                <a:lnTo>
                  <a:pt x="264685" y="52920"/>
                </a:lnTo>
                <a:lnTo>
                  <a:pt x="243770" y="73837"/>
                </a:lnTo>
                <a:lnTo>
                  <a:pt x="314770" y="73837"/>
                </a:lnTo>
                <a:lnTo>
                  <a:pt x="286533" y="64427"/>
                </a:lnTo>
                <a:lnTo>
                  <a:pt x="288042" y="59829"/>
                </a:lnTo>
                <a:lnTo>
                  <a:pt x="288795" y="54851"/>
                </a:lnTo>
                <a:lnTo>
                  <a:pt x="288795" y="49733"/>
                </a:lnTo>
                <a:lnTo>
                  <a:pt x="285001" y="30973"/>
                </a:lnTo>
                <a:lnTo>
                  <a:pt x="281386" y="25615"/>
                </a:lnTo>
                <a:close/>
              </a:path>
              <a:path w="482600" h="387350">
                <a:moveTo>
                  <a:pt x="240576" y="1511"/>
                </a:moveTo>
                <a:lnTo>
                  <a:pt x="225473" y="3924"/>
                </a:lnTo>
                <a:lnTo>
                  <a:pt x="212329" y="10647"/>
                </a:lnTo>
                <a:lnTo>
                  <a:pt x="201911" y="20901"/>
                </a:lnTo>
                <a:lnTo>
                  <a:pt x="194989" y="33909"/>
                </a:lnTo>
                <a:lnTo>
                  <a:pt x="222292" y="33909"/>
                </a:lnTo>
                <a:lnTo>
                  <a:pt x="225786" y="30416"/>
                </a:lnTo>
                <a:lnTo>
                  <a:pt x="228391" y="28676"/>
                </a:lnTo>
                <a:lnTo>
                  <a:pt x="234299" y="26238"/>
                </a:lnTo>
                <a:lnTo>
                  <a:pt x="237375" y="25615"/>
                </a:lnTo>
                <a:lnTo>
                  <a:pt x="281386" y="25615"/>
                </a:lnTo>
                <a:lnTo>
                  <a:pt x="274658" y="15644"/>
                </a:lnTo>
                <a:lnTo>
                  <a:pt x="259330" y="5304"/>
                </a:lnTo>
                <a:lnTo>
                  <a:pt x="240576" y="1511"/>
                </a:lnTo>
                <a:close/>
              </a:path>
            </a:pathLst>
          </a:custGeom>
          <a:solidFill>
            <a:srgbClr val="A85B9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662385" y="4497387"/>
            <a:ext cx="4413250" cy="65976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60">
                <a:solidFill>
                  <a:srgbClr val="DAD8E9"/>
                </a:solidFill>
                <a:latin typeface="Trebuchet MS"/>
                <a:cs typeface="Trebuchet MS"/>
              </a:rPr>
              <a:t>E</a:t>
            </a:r>
            <a:r>
              <a:rPr dirty="0" cap="small" sz="1650" spc="60">
                <a:solidFill>
                  <a:srgbClr val="DAD8E9"/>
                </a:solidFill>
                <a:latin typeface="Trebuchet MS"/>
                <a:cs typeface="Trebuchet MS"/>
              </a:rPr>
              <a:t>s</a:t>
            </a:r>
            <a:r>
              <a:rPr dirty="0" sz="1650" spc="60">
                <a:solidFill>
                  <a:srgbClr val="DAD8E9"/>
                </a:solidFill>
                <a:latin typeface="Trebuchet MS"/>
                <a:cs typeface="Trebuchet MS"/>
              </a:rPr>
              <a:t>calabilidad</a:t>
            </a:r>
            <a:endParaRPr sz="16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dirty="0" sz="1500" spc="-90">
                <a:solidFill>
                  <a:srgbClr val="DAD8E9"/>
                </a:solidFill>
                <a:latin typeface="Trebuchet MS"/>
                <a:cs typeface="Trebuchet MS"/>
              </a:rPr>
              <a:t>BGP</a:t>
            </a:r>
            <a:r>
              <a:rPr dirty="0" sz="1500" spc="-80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dirty="0" sz="1500" spc="-70">
                <a:solidFill>
                  <a:srgbClr val="DAD8E9"/>
                </a:solidFill>
                <a:latin typeface="Trebuchet MS"/>
                <a:cs typeface="Trebuchet MS"/>
              </a:rPr>
              <a:t>altamente</a:t>
            </a:r>
            <a:r>
              <a:rPr dirty="0" sz="1500" spc="-80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dirty="0" sz="1500" spc="-100">
                <a:solidFill>
                  <a:srgbClr val="DAD8E9"/>
                </a:solidFill>
                <a:latin typeface="Trebuchet MS"/>
                <a:cs typeface="Trebuchet MS"/>
              </a:rPr>
              <a:t>escalable,</a:t>
            </a:r>
            <a:r>
              <a:rPr dirty="0" sz="1500" spc="-80">
                <a:solidFill>
                  <a:srgbClr val="DAD8E9"/>
                </a:solidFill>
                <a:latin typeface="Trebuchet MS"/>
                <a:cs typeface="Trebuchet MS"/>
              </a:rPr>
              <a:t> RIP </a:t>
            </a:r>
            <a:r>
              <a:rPr dirty="0" sz="1500" spc="-65">
                <a:solidFill>
                  <a:srgbClr val="DAD8E9"/>
                </a:solidFill>
                <a:latin typeface="Trebuchet MS"/>
                <a:cs typeface="Trebuchet MS"/>
              </a:rPr>
              <a:t>limitado</a:t>
            </a:r>
            <a:r>
              <a:rPr dirty="0" sz="1500" spc="-75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dirty="0" sz="1500" spc="-80">
                <a:solidFill>
                  <a:srgbClr val="DAD8E9"/>
                </a:solidFill>
                <a:latin typeface="Trebuchet MS"/>
                <a:cs typeface="Trebuchet MS"/>
              </a:rPr>
              <a:t>a </a:t>
            </a:r>
            <a:r>
              <a:rPr dirty="0" sz="1500" spc="-65">
                <a:solidFill>
                  <a:srgbClr val="DAD8E9"/>
                </a:solidFill>
                <a:latin typeface="Trebuchet MS"/>
                <a:cs typeface="Trebuchet MS"/>
              </a:rPr>
              <a:t>redes</a:t>
            </a:r>
            <a:r>
              <a:rPr dirty="0" sz="1500" spc="-80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dirty="0" sz="1500" spc="-50">
                <a:solidFill>
                  <a:srgbClr val="DAD8E9"/>
                </a:solidFill>
                <a:latin typeface="Trebuchet MS"/>
                <a:cs typeface="Trebuchet MS"/>
              </a:rPr>
              <a:t>pequeñas.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676275" y="5782550"/>
            <a:ext cx="482600" cy="481330"/>
          </a:xfrm>
          <a:custGeom>
            <a:avLst/>
            <a:gdLst/>
            <a:ahLst/>
            <a:cxnLst/>
            <a:rect l="l" t="t" r="r" b="b"/>
            <a:pathLst>
              <a:path w="482600" h="481329">
                <a:moveTo>
                  <a:pt x="256877" y="0"/>
                </a:moveTo>
                <a:lnTo>
                  <a:pt x="225325" y="0"/>
                </a:lnTo>
                <a:lnTo>
                  <a:pt x="209609" y="1270"/>
                </a:lnTo>
                <a:lnTo>
                  <a:pt x="201810" y="2540"/>
                </a:lnTo>
                <a:lnTo>
                  <a:pt x="186317" y="6350"/>
                </a:lnTo>
                <a:lnTo>
                  <a:pt x="178668" y="7620"/>
                </a:lnTo>
                <a:lnTo>
                  <a:pt x="156131" y="15240"/>
                </a:lnTo>
                <a:lnTo>
                  <a:pt x="141540" y="21590"/>
                </a:lnTo>
                <a:lnTo>
                  <a:pt x="134411" y="24130"/>
                </a:lnTo>
                <a:lnTo>
                  <a:pt x="100587" y="44450"/>
                </a:lnTo>
                <a:lnTo>
                  <a:pt x="65032" y="76200"/>
                </a:lnTo>
                <a:lnTo>
                  <a:pt x="59734" y="81280"/>
                </a:lnTo>
                <a:lnTo>
                  <a:pt x="36244" y="113030"/>
                </a:lnTo>
                <a:lnTo>
                  <a:pt x="15328" y="156210"/>
                </a:lnTo>
                <a:lnTo>
                  <a:pt x="3091" y="201930"/>
                </a:lnTo>
                <a:lnTo>
                  <a:pt x="0" y="232410"/>
                </a:lnTo>
                <a:lnTo>
                  <a:pt x="0" y="248920"/>
                </a:lnTo>
                <a:lnTo>
                  <a:pt x="6170" y="295910"/>
                </a:lnTo>
                <a:lnTo>
                  <a:pt x="21376" y="340360"/>
                </a:lnTo>
                <a:lnTo>
                  <a:pt x="45020" y="381000"/>
                </a:lnTo>
                <a:lnTo>
                  <a:pt x="65032" y="405130"/>
                </a:lnTo>
                <a:lnTo>
                  <a:pt x="76200" y="416560"/>
                </a:lnTo>
                <a:lnTo>
                  <a:pt x="113719" y="445770"/>
                </a:lnTo>
                <a:lnTo>
                  <a:pt x="156131" y="466090"/>
                </a:lnTo>
                <a:lnTo>
                  <a:pt x="163556" y="469900"/>
                </a:lnTo>
                <a:lnTo>
                  <a:pt x="178668" y="473710"/>
                </a:lnTo>
                <a:lnTo>
                  <a:pt x="186317" y="476250"/>
                </a:lnTo>
                <a:lnTo>
                  <a:pt x="209609" y="480060"/>
                </a:lnTo>
                <a:lnTo>
                  <a:pt x="225325" y="481330"/>
                </a:lnTo>
                <a:lnTo>
                  <a:pt x="256877" y="481330"/>
                </a:lnTo>
                <a:lnTo>
                  <a:pt x="272594" y="480060"/>
                </a:lnTo>
                <a:lnTo>
                  <a:pt x="295884" y="476250"/>
                </a:lnTo>
                <a:lnTo>
                  <a:pt x="303535" y="473710"/>
                </a:lnTo>
                <a:lnTo>
                  <a:pt x="318645" y="469900"/>
                </a:lnTo>
                <a:lnTo>
                  <a:pt x="326072" y="466090"/>
                </a:lnTo>
                <a:lnTo>
                  <a:pt x="340662" y="461010"/>
                </a:lnTo>
                <a:lnTo>
                  <a:pt x="347792" y="457200"/>
                </a:lnTo>
                <a:lnTo>
                  <a:pt x="357078" y="452120"/>
                </a:lnTo>
                <a:lnTo>
                  <a:pt x="234190" y="452120"/>
                </a:lnTo>
                <a:lnTo>
                  <a:pt x="227300" y="450850"/>
                </a:lnTo>
                <a:lnTo>
                  <a:pt x="213547" y="449580"/>
                </a:lnTo>
                <a:lnTo>
                  <a:pt x="206721" y="449580"/>
                </a:lnTo>
                <a:lnTo>
                  <a:pt x="193169" y="447040"/>
                </a:lnTo>
                <a:lnTo>
                  <a:pt x="186471" y="444500"/>
                </a:lnTo>
                <a:lnTo>
                  <a:pt x="173250" y="440690"/>
                </a:lnTo>
                <a:lnTo>
                  <a:pt x="153987" y="433070"/>
                </a:lnTo>
                <a:lnTo>
                  <a:pt x="118149" y="412750"/>
                </a:lnTo>
                <a:lnTo>
                  <a:pt x="87039" y="384810"/>
                </a:lnTo>
                <a:lnTo>
                  <a:pt x="69532" y="363220"/>
                </a:lnTo>
                <a:lnTo>
                  <a:pt x="61852" y="351790"/>
                </a:lnTo>
                <a:lnTo>
                  <a:pt x="43552" y="314960"/>
                </a:lnTo>
                <a:lnTo>
                  <a:pt x="32840" y="275590"/>
                </a:lnTo>
                <a:lnTo>
                  <a:pt x="30193" y="248920"/>
                </a:lnTo>
                <a:lnTo>
                  <a:pt x="30204" y="232410"/>
                </a:lnTo>
                <a:lnTo>
                  <a:pt x="35539" y="193040"/>
                </a:lnTo>
                <a:lnTo>
                  <a:pt x="48840" y="153670"/>
                </a:lnTo>
                <a:lnTo>
                  <a:pt x="58305" y="135890"/>
                </a:lnTo>
                <a:lnTo>
                  <a:pt x="61852" y="129540"/>
                </a:lnTo>
                <a:lnTo>
                  <a:pt x="69532" y="118110"/>
                </a:lnTo>
                <a:lnTo>
                  <a:pt x="73639" y="111760"/>
                </a:lnTo>
                <a:lnTo>
                  <a:pt x="82406" y="101600"/>
                </a:lnTo>
                <a:lnTo>
                  <a:pt x="87039" y="96520"/>
                </a:lnTo>
                <a:lnTo>
                  <a:pt x="96812" y="86360"/>
                </a:lnTo>
                <a:lnTo>
                  <a:pt x="101927" y="82550"/>
                </a:lnTo>
                <a:lnTo>
                  <a:pt x="112608" y="73660"/>
                </a:lnTo>
                <a:lnTo>
                  <a:pt x="118149" y="69850"/>
                </a:lnTo>
                <a:lnTo>
                  <a:pt x="129639" y="62230"/>
                </a:lnTo>
                <a:lnTo>
                  <a:pt x="135562" y="58420"/>
                </a:lnTo>
                <a:lnTo>
                  <a:pt x="147746" y="52070"/>
                </a:lnTo>
                <a:lnTo>
                  <a:pt x="153987" y="48260"/>
                </a:lnTo>
                <a:lnTo>
                  <a:pt x="173250" y="40640"/>
                </a:lnTo>
                <a:lnTo>
                  <a:pt x="186471" y="36830"/>
                </a:lnTo>
                <a:lnTo>
                  <a:pt x="213547" y="31750"/>
                </a:lnTo>
                <a:lnTo>
                  <a:pt x="227300" y="30480"/>
                </a:lnTo>
                <a:lnTo>
                  <a:pt x="359399" y="30480"/>
                </a:lnTo>
                <a:lnTo>
                  <a:pt x="347792" y="24130"/>
                </a:lnTo>
                <a:lnTo>
                  <a:pt x="340662" y="21590"/>
                </a:lnTo>
                <a:lnTo>
                  <a:pt x="326072" y="15240"/>
                </a:lnTo>
                <a:lnTo>
                  <a:pt x="303535" y="7620"/>
                </a:lnTo>
                <a:lnTo>
                  <a:pt x="295884" y="6350"/>
                </a:lnTo>
                <a:lnTo>
                  <a:pt x="280391" y="2540"/>
                </a:lnTo>
                <a:lnTo>
                  <a:pt x="272594" y="1270"/>
                </a:lnTo>
                <a:lnTo>
                  <a:pt x="256877" y="0"/>
                </a:lnTo>
                <a:close/>
              </a:path>
              <a:path w="482600" h="481329">
                <a:moveTo>
                  <a:pt x="359399" y="30480"/>
                </a:moveTo>
                <a:lnTo>
                  <a:pt x="254902" y="30480"/>
                </a:lnTo>
                <a:lnTo>
                  <a:pt x="268654" y="31750"/>
                </a:lnTo>
                <a:lnTo>
                  <a:pt x="295730" y="36830"/>
                </a:lnTo>
                <a:lnTo>
                  <a:pt x="308952" y="40640"/>
                </a:lnTo>
                <a:lnTo>
                  <a:pt x="328216" y="48260"/>
                </a:lnTo>
                <a:lnTo>
                  <a:pt x="334457" y="52070"/>
                </a:lnTo>
                <a:lnTo>
                  <a:pt x="346640" y="58420"/>
                </a:lnTo>
                <a:lnTo>
                  <a:pt x="352563" y="62230"/>
                </a:lnTo>
                <a:lnTo>
                  <a:pt x="364053" y="69850"/>
                </a:lnTo>
                <a:lnTo>
                  <a:pt x="369595" y="73660"/>
                </a:lnTo>
                <a:lnTo>
                  <a:pt x="380276" y="82550"/>
                </a:lnTo>
                <a:lnTo>
                  <a:pt x="385390" y="86360"/>
                </a:lnTo>
                <a:lnTo>
                  <a:pt x="395163" y="96520"/>
                </a:lnTo>
                <a:lnTo>
                  <a:pt x="399797" y="101600"/>
                </a:lnTo>
                <a:lnTo>
                  <a:pt x="408562" y="111760"/>
                </a:lnTo>
                <a:lnTo>
                  <a:pt x="412671" y="118110"/>
                </a:lnTo>
                <a:lnTo>
                  <a:pt x="420349" y="129540"/>
                </a:lnTo>
                <a:lnTo>
                  <a:pt x="423896" y="135890"/>
                </a:lnTo>
                <a:lnTo>
                  <a:pt x="430410" y="147320"/>
                </a:lnTo>
                <a:lnTo>
                  <a:pt x="433362" y="153670"/>
                </a:lnTo>
                <a:lnTo>
                  <a:pt x="446662" y="193040"/>
                </a:lnTo>
                <a:lnTo>
                  <a:pt x="451997" y="232410"/>
                </a:lnTo>
                <a:lnTo>
                  <a:pt x="452009" y="248920"/>
                </a:lnTo>
                <a:lnTo>
                  <a:pt x="451727" y="255270"/>
                </a:lnTo>
                <a:lnTo>
                  <a:pt x="444986" y="295910"/>
                </a:lnTo>
                <a:lnTo>
                  <a:pt x="430410" y="334010"/>
                </a:lnTo>
                <a:lnTo>
                  <a:pt x="420349" y="351790"/>
                </a:lnTo>
                <a:lnTo>
                  <a:pt x="412671" y="363220"/>
                </a:lnTo>
                <a:lnTo>
                  <a:pt x="385390" y="394970"/>
                </a:lnTo>
                <a:lnTo>
                  <a:pt x="352563" y="420370"/>
                </a:lnTo>
                <a:lnTo>
                  <a:pt x="308952" y="440690"/>
                </a:lnTo>
                <a:lnTo>
                  <a:pt x="295730" y="444500"/>
                </a:lnTo>
                <a:lnTo>
                  <a:pt x="289034" y="447040"/>
                </a:lnTo>
                <a:lnTo>
                  <a:pt x="275480" y="449580"/>
                </a:lnTo>
                <a:lnTo>
                  <a:pt x="268654" y="449580"/>
                </a:lnTo>
                <a:lnTo>
                  <a:pt x="254902" y="450850"/>
                </a:lnTo>
                <a:lnTo>
                  <a:pt x="248011" y="452120"/>
                </a:lnTo>
                <a:lnTo>
                  <a:pt x="357078" y="452120"/>
                </a:lnTo>
                <a:lnTo>
                  <a:pt x="400159" y="421640"/>
                </a:lnTo>
                <a:lnTo>
                  <a:pt x="417169" y="405130"/>
                </a:lnTo>
                <a:lnTo>
                  <a:pt x="422468" y="400050"/>
                </a:lnTo>
                <a:lnTo>
                  <a:pt x="445957" y="368300"/>
                </a:lnTo>
                <a:lnTo>
                  <a:pt x="466873" y="326390"/>
                </a:lnTo>
                <a:lnTo>
                  <a:pt x="479112" y="280670"/>
                </a:lnTo>
                <a:lnTo>
                  <a:pt x="482203" y="248920"/>
                </a:lnTo>
                <a:lnTo>
                  <a:pt x="482203" y="232410"/>
                </a:lnTo>
                <a:lnTo>
                  <a:pt x="476031" y="186690"/>
                </a:lnTo>
                <a:lnTo>
                  <a:pt x="460825" y="140970"/>
                </a:lnTo>
                <a:lnTo>
                  <a:pt x="437182" y="100330"/>
                </a:lnTo>
                <a:lnTo>
                  <a:pt x="417169" y="76200"/>
                </a:lnTo>
                <a:lnTo>
                  <a:pt x="406003" y="64770"/>
                </a:lnTo>
                <a:lnTo>
                  <a:pt x="368484" y="35560"/>
                </a:lnTo>
                <a:lnTo>
                  <a:pt x="361721" y="31750"/>
                </a:lnTo>
                <a:lnTo>
                  <a:pt x="359399" y="30480"/>
                </a:lnTo>
                <a:close/>
              </a:path>
              <a:path w="482600" h="481329">
                <a:moveTo>
                  <a:pt x="249391" y="74930"/>
                </a:moveTo>
                <a:lnTo>
                  <a:pt x="232811" y="74930"/>
                </a:lnTo>
                <a:lnTo>
                  <a:pt x="226030" y="81280"/>
                </a:lnTo>
                <a:lnTo>
                  <a:pt x="226030" y="273050"/>
                </a:lnTo>
                <a:lnTo>
                  <a:pt x="208002" y="280670"/>
                </a:lnTo>
                <a:lnTo>
                  <a:pt x="193682" y="294640"/>
                </a:lnTo>
                <a:lnTo>
                  <a:pt x="184234" y="311150"/>
                </a:lnTo>
                <a:lnTo>
                  <a:pt x="180826" y="331470"/>
                </a:lnTo>
                <a:lnTo>
                  <a:pt x="185569" y="354330"/>
                </a:lnTo>
                <a:lnTo>
                  <a:pt x="198497" y="373380"/>
                </a:lnTo>
                <a:lnTo>
                  <a:pt x="217659" y="387350"/>
                </a:lnTo>
                <a:lnTo>
                  <a:pt x="241101" y="391160"/>
                </a:lnTo>
                <a:lnTo>
                  <a:pt x="264544" y="387350"/>
                </a:lnTo>
                <a:lnTo>
                  <a:pt x="283705" y="373380"/>
                </a:lnTo>
                <a:lnTo>
                  <a:pt x="291462" y="361950"/>
                </a:lnTo>
                <a:lnTo>
                  <a:pt x="237102" y="361950"/>
                </a:lnTo>
                <a:lnTo>
                  <a:pt x="233258" y="360680"/>
                </a:lnTo>
                <a:lnTo>
                  <a:pt x="210963" y="335280"/>
                </a:lnTo>
                <a:lnTo>
                  <a:pt x="210963" y="327660"/>
                </a:lnTo>
                <a:lnTo>
                  <a:pt x="237102" y="300990"/>
                </a:lnTo>
                <a:lnTo>
                  <a:pt x="292154" y="300990"/>
                </a:lnTo>
                <a:lnTo>
                  <a:pt x="288520" y="294640"/>
                </a:lnTo>
                <a:lnTo>
                  <a:pt x="274198" y="280670"/>
                </a:lnTo>
                <a:lnTo>
                  <a:pt x="256167" y="273050"/>
                </a:lnTo>
                <a:lnTo>
                  <a:pt x="256167" y="81280"/>
                </a:lnTo>
                <a:lnTo>
                  <a:pt x="249391" y="74930"/>
                </a:lnTo>
                <a:close/>
              </a:path>
              <a:path w="482600" h="481329">
                <a:moveTo>
                  <a:pt x="292154" y="300990"/>
                </a:moveTo>
                <a:lnTo>
                  <a:pt x="245099" y="300990"/>
                </a:lnTo>
                <a:lnTo>
                  <a:pt x="248945" y="302260"/>
                </a:lnTo>
                <a:lnTo>
                  <a:pt x="256326" y="304800"/>
                </a:lnTo>
                <a:lnTo>
                  <a:pt x="271238" y="327660"/>
                </a:lnTo>
                <a:lnTo>
                  <a:pt x="271238" y="335280"/>
                </a:lnTo>
                <a:lnTo>
                  <a:pt x="245099" y="361950"/>
                </a:lnTo>
                <a:lnTo>
                  <a:pt x="291462" y="361950"/>
                </a:lnTo>
                <a:lnTo>
                  <a:pt x="296634" y="354330"/>
                </a:lnTo>
                <a:lnTo>
                  <a:pt x="301377" y="331470"/>
                </a:lnTo>
                <a:lnTo>
                  <a:pt x="297969" y="311150"/>
                </a:lnTo>
                <a:lnTo>
                  <a:pt x="292154" y="300990"/>
                </a:lnTo>
                <a:close/>
              </a:path>
              <a:path w="482600" h="481329">
                <a:moveTo>
                  <a:pt x="96291" y="218440"/>
                </a:moveTo>
                <a:lnTo>
                  <a:pt x="84535" y="218440"/>
                </a:lnTo>
                <a:lnTo>
                  <a:pt x="78992" y="220980"/>
                </a:lnTo>
                <a:lnTo>
                  <a:pt x="67811" y="237490"/>
                </a:lnTo>
                <a:lnTo>
                  <a:pt x="67811" y="243840"/>
                </a:lnTo>
                <a:lnTo>
                  <a:pt x="84535" y="262890"/>
                </a:lnTo>
                <a:lnTo>
                  <a:pt x="96291" y="262890"/>
                </a:lnTo>
                <a:lnTo>
                  <a:pt x="113014" y="243840"/>
                </a:lnTo>
                <a:lnTo>
                  <a:pt x="113014" y="237490"/>
                </a:lnTo>
                <a:lnTo>
                  <a:pt x="96291" y="218440"/>
                </a:lnTo>
                <a:close/>
              </a:path>
              <a:path w="482600" h="481329">
                <a:moveTo>
                  <a:pt x="397668" y="218440"/>
                </a:moveTo>
                <a:lnTo>
                  <a:pt x="385911" y="218440"/>
                </a:lnTo>
                <a:lnTo>
                  <a:pt x="380370" y="220980"/>
                </a:lnTo>
                <a:lnTo>
                  <a:pt x="369187" y="237490"/>
                </a:lnTo>
                <a:lnTo>
                  <a:pt x="369187" y="243840"/>
                </a:lnTo>
                <a:lnTo>
                  <a:pt x="385911" y="262890"/>
                </a:lnTo>
                <a:lnTo>
                  <a:pt x="397668" y="262890"/>
                </a:lnTo>
                <a:lnTo>
                  <a:pt x="414392" y="243840"/>
                </a:lnTo>
                <a:lnTo>
                  <a:pt x="414392" y="237490"/>
                </a:lnTo>
                <a:lnTo>
                  <a:pt x="397668" y="218440"/>
                </a:lnTo>
                <a:close/>
              </a:path>
              <a:path w="482600" h="481329">
                <a:moveTo>
                  <a:pt x="141500" y="113030"/>
                </a:moveTo>
                <a:lnTo>
                  <a:pt x="129738" y="113030"/>
                </a:lnTo>
                <a:lnTo>
                  <a:pt x="124202" y="115570"/>
                </a:lnTo>
                <a:lnTo>
                  <a:pt x="113014" y="132080"/>
                </a:lnTo>
                <a:lnTo>
                  <a:pt x="113014" y="138430"/>
                </a:lnTo>
                <a:lnTo>
                  <a:pt x="129738" y="157480"/>
                </a:lnTo>
                <a:lnTo>
                  <a:pt x="141500" y="157480"/>
                </a:lnTo>
                <a:lnTo>
                  <a:pt x="158224" y="138430"/>
                </a:lnTo>
                <a:lnTo>
                  <a:pt x="158224" y="132080"/>
                </a:lnTo>
                <a:lnTo>
                  <a:pt x="141500" y="113030"/>
                </a:lnTo>
                <a:close/>
              </a:path>
              <a:path w="482600" h="481329">
                <a:moveTo>
                  <a:pt x="352464" y="113030"/>
                </a:moveTo>
                <a:lnTo>
                  <a:pt x="340702" y="113030"/>
                </a:lnTo>
                <a:lnTo>
                  <a:pt x="335165" y="115570"/>
                </a:lnTo>
                <a:lnTo>
                  <a:pt x="323979" y="132080"/>
                </a:lnTo>
                <a:lnTo>
                  <a:pt x="323979" y="138430"/>
                </a:lnTo>
                <a:lnTo>
                  <a:pt x="340702" y="157480"/>
                </a:lnTo>
                <a:lnTo>
                  <a:pt x="352464" y="157480"/>
                </a:lnTo>
                <a:lnTo>
                  <a:pt x="369187" y="138430"/>
                </a:lnTo>
                <a:lnTo>
                  <a:pt x="369187" y="132080"/>
                </a:lnTo>
                <a:lnTo>
                  <a:pt x="352464" y="113030"/>
                </a:lnTo>
                <a:close/>
              </a:path>
            </a:pathLst>
          </a:custGeom>
          <a:solidFill>
            <a:srgbClr val="A85B9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662385" y="6440489"/>
            <a:ext cx="4657090" cy="65976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00">
                <a:solidFill>
                  <a:srgbClr val="DAD8E9"/>
                </a:solidFill>
                <a:latin typeface="Trebuchet MS"/>
                <a:cs typeface="Trebuchet MS"/>
              </a:rPr>
              <a:t>Convergencia</a:t>
            </a:r>
            <a:endParaRPr sz="16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dirty="0" sz="1500" spc="-90">
                <a:solidFill>
                  <a:srgbClr val="DAD8E9"/>
                </a:solidFill>
                <a:latin typeface="Trebuchet MS"/>
                <a:cs typeface="Trebuchet MS"/>
              </a:rPr>
              <a:t>BGP</a:t>
            </a:r>
            <a:r>
              <a:rPr dirty="0" sz="1500" spc="-95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dirty="0" sz="1500" spc="-35">
                <a:solidFill>
                  <a:srgbClr val="DAD8E9"/>
                </a:solidFill>
                <a:latin typeface="Trebuchet MS"/>
                <a:cs typeface="Trebuchet MS"/>
              </a:rPr>
              <a:t>más</a:t>
            </a:r>
            <a:r>
              <a:rPr dirty="0" sz="1500" spc="-90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dirty="0" sz="1500" spc="-65">
                <a:solidFill>
                  <a:srgbClr val="DAD8E9"/>
                </a:solidFill>
                <a:latin typeface="Trebuchet MS"/>
                <a:cs typeface="Trebuchet MS"/>
              </a:rPr>
              <a:t>lento</a:t>
            </a:r>
            <a:r>
              <a:rPr dirty="0" sz="1500" spc="-90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dirty="0" sz="1500" spc="-60">
                <a:solidFill>
                  <a:srgbClr val="DAD8E9"/>
                </a:solidFill>
                <a:latin typeface="Trebuchet MS"/>
                <a:cs typeface="Trebuchet MS"/>
              </a:rPr>
              <a:t>pero</a:t>
            </a:r>
            <a:r>
              <a:rPr dirty="0" sz="1500" spc="-90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dirty="0" sz="1500" spc="-95">
                <a:solidFill>
                  <a:srgbClr val="DAD8E9"/>
                </a:solidFill>
                <a:latin typeface="Trebuchet MS"/>
                <a:cs typeface="Trebuchet MS"/>
              </a:rPr>
              <a:t>estable,</a:t>
            </a:r>
            <a:r>
              <a:rPr dirty="0" sz="1500" spc="-90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dirty="0" sz="1500" spc="-80">
                <a:solidFill>
                  <a:srgbClr val="DAD8E9"/>
                </a:solidFill>
                <a:latin typeface="Trebuchet MS"/>
                <a:cs typeface="Trebuchet MS"/>
              </a:rPr>
              <a:t>RIP</a:t>
            </a:r>
            <a:r>
              <a:rPr dirty="0" sz="1500" spc="-90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dirty="0" sz="1500" spc="-60">
                <a:solidFill>
                  <a:srgbClr val="DAD8E9"/>
                </a:solidFill>
                <a:latin typeface="Trebuchet MS"/>
                <a:cs typeface="Trebuchet MS"/>
              </a:rPr>
              <a:t>rápido</a:t>
            </a:r>
            <a:r>
              <a:rPr dirty="0" sz="1500" spc="-90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dirty="0" sz="1500" spc="-60">
                <a:solidFill>
                  <a:srgbClr val="DAD8E9"/>
                </a:solidFill>
                <a:latin typeface="Trebuchet MS"/>
                <a:cs typeface="Trebuchet MS"/>
              </a:rPr>
              <a:t>pero</a:t>
            </a:r>
            <a:r>
              <a:rPr dirty="0" sz="1500" spc="-90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dirty="0" sz="1500" spc="-35">
                <a:solidFill>
                  <a:srgbClr val="DAD8E9"/>
                </a:solidFill>
                <a:latin typeface="Trebuchet MS"/>
                <a:cs typeface="Trebuchet MS"/>
              </a:rPr>
              <a:t>menos</a:t>
            </a:r>
            <a:r>
              <a:rPr dirty="0" sz="1500" spc="-90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dirty="0" sz="1500" spc="-60">
                <a:solidFill>
                  <a:srgbClr val="DAD8E9"/>
                </a:solidFill>
                <a:latin typeface="Trebuchet MS"/>
                <a:cs typeface="Trebuchet MS"/>
              </a:rPr>
              <a:t>preciso.</a:t>
            </a:r>
            <a:endParaRPr sz="15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1430000" cy="9677400"/>
          </a:xfrm>
          <a:custGeom>
            <a:avLst/>
            <a:gdLst/>
            <a:ahLst/>
            <a:cxnLst/>
            <a:rect l="l" t="t" r="r" b="b"/>
            <a:pathLst>
              <a:path w="11430000" h="9677400">
                <a:moveTo>
                  <a:pt x="11430000" y="0"/>
                </a:moveTo>
                <a:lnTo>
                  <a:pt x="0" y="0"/>
                </a:lnTo>
                <a:lnTo>
                  <a:pt x="0" y="9677400"/>
                </a:lnTo>
                <a:lnTo>
                  <a:pt x="11430000" y="96774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0A0C22">
              <a:alpha val="94898"/>
            </a:srgbClr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7143750" y="0"/>
            <a:ext cx="4286250" cy="9677400"/>
            <a:chOff x="7143750" y="0"/>
            <a:chExt cx="4286250" cy="967740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750" y="0"/>
              <a:ext cx="4286249" cy="9677399"/>
            </a:xfrm>
            <a:prstGeom prst="rect">
              <a:avLst/>
            </a:prstGeom>
          </p:spPr>
        </p:pic>
        <p:pic>
          <p:nvPicPr>
            <p:cNvPr id="5" name="object 5" descr="">
              <a:hlinkClick r:id="rId3"/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80244" y="9163050"/>
              <a:ext cx="1754504" cy="41910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62385" y="473075"/>
            <a:ext cx="5210175" cy="2178050"/>
          </a:xfrm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12700" marR="5080">
              <a:lnSpc>
                <a:spcPct val="105100"/>
              </a:lnSpc>
              <a:spcBef>
                <a:spcPts val="145"/>
              </a:spcBef>
            </a:pPr>
            <a:r>
              <a:rPr dirty="0" spc="100">
                <a:latin typeface="Trebuchet MS"/>
                <a:cs typeface="Trebuchet MS"/>
              </a:rPr>
              <a:t>Evaluación</a:t>
            </a:r>
            <a:r>
              <a:rPr dirty="0" spc="245">
                <a:latin typeface="Trebuchet MS"/>
                <a:cs typeface="Trebuchet MS"/>
              </a:rPr>
              <a:t> </a:t>
            </a:r>
            <a:r>
              <a:rPr dirty="0" spc="270">
                <a:latin typeface="Trebuchet MS"/>
                <a:cs typeface="Trebuchet MS"/>
              </a:rPr>
              <a:t>de </a:t>
            </a:r>
            <a:r>
              <a:rPr dirty="0" spc="125">
                <a:latin typeface="Trebuchet MS"/>
                <a:cs typeface="Trebuchet MS"/>
              </a:rPr>
              <a:t>Conocimiento</a:t>
            </a:r>
            <a:r>
              <a:rPr dirty="0" cap="small" spc="125">
                <a:latin typeface="Trebuchet MS"/>
                <a:cs typeface="Trebuchet MS"/>
              </a:rPr>
              <a:t>s</a:t>
            </a:r>
            <a:r>
              <a:rPr dirty="0" spc="125">
                <a:latin typeface="Trebuchet MS"/>
                <a:cs typeface="Trebuchet MS"/>
              </a:rPr>
              <a:t>: </a:t>
            </a:r>
            <a:r>
              <a:rPr dirty="0" spc="160">
                <a:latin typeface="Trebuchet MS"/>
                <a:cs typeface="Trebuchet MS"/>
              </a:rPr>
              <a:t>Cue</a:t>
            </a:r>
            <a:r>
              <a:rPr dirty="0" cap="small" spc="160">
                <a:latin typeface="Trebuchet MS"/>
                <a:cs typeface="Trebuchet MS"/>
              </a:rPr>
              <a:t>s</a:t>
            </a:r>
            <a:r>
              <a:rPr dirty="0" spc="160">
                <a:latin typeface="Trebuchet MS"/>
                <a:cs typeface="Trebuchet MS"/>
              </a:rPr>
              <a:t>tionario</a:t>
            </a:r>
            <a:r>
              <a:rPr dirty="0" spc="210">
                <a:latin typeface="Trebuchet MS"/>
                <a:cs typeface="Trebuchet MS"/>
              </a:rPr>
              <a:t> </a:t>
            </a:r>
            <a:r>
              <a:rPr dirty="0" cap="small" spc="235">
                <a:latin typeface="Trebuchet MS"/>
                <a:cs typeface="Trebuchet MS"/>
              </a:rPr>
              <a:t>s</a:t>
            </a:r>
            <a:r>
              <a:rPr dirty="0" spc="235">
                <a:latin typeface="Trebuchet MS"/>
                <a:cs typeface="Trebuchet MS"/>
              </a:rPr>
              <a:t>obre</a:t>
            </a:r>
            <a:r>
              <a:rPr dirty="0" spc="225">
                <a:latin typeface="Trebuchet MS"/>
                <a:cs typeface="Trebuchet MS"/>
              </a:rPr>
              <a:t> </a:t>
            </a:r>
            <a:r>
              <a:rPr dirty="0" spc="95">
                <a:latin typeface="Trebuchet MS"/>
                <a:cs typeface="Trebuchet MS"/>
              </a:rPr>
              <a:t>RIP</a:t>
            </a:r>
            <a:r>
              <a:rPr dirty="0" spc="229">
                <a:latin typeface="Trebuchet MS"/>
                <a:cs typeface="Trebuchet MS"/>
              </a:rPr>
              <a:t> </a:t>
            </a:r>
            <a:r>
              <a:rPr dirty="0" spc="35">
                <a:latin typeface="Trebuchet MS"/>
                <a:cs typeface="Trebuchet MS"/>
              </a:rPr>
              <a:t>y </a:t>
            </a:r>
            <a:r>
              <a:rPr dirty="0" spc="165">
                <a:latin typeface="Trebuchet MS"/>
                <a:cs typeface="Trebuchet MS"/>
              </a:rPr>
              <a:t>BGP</a:t>
            </a:r>
          </a:p>
        </p:txBody>
      </p:sp>
      <p:grpSp>
        <p:nvGrpSpPr>
          <p:cNvPr id="7" name="object 7" descr=""/>
          <p:cNvGrpSpPr/>
          <p:nvPr/>
        </p:nvGrpSpPr>
        <p:grpSpPr>
          <a:xfrm>
            <a:off x="670242" y="2965767"/>
            <a:ext cx="976630" cy="1555115"/>
            <a:chOff x="670242" y="2965767"/>
            <a:chExt cx="976630" cy="1555115"/>
          </a:xfrm>
        </p:grpSpPr>
        <p:sp>
          <p:nvSpPr>
            <p:cNvPr id="8" name="object 8" descr=""/>
            <p:cNvSpPr/>
            <p:nvPr/>
          </p:nvSpPr>
          <p:spPr>
            <a:xfrm>
              <a:off x="676275" y="2971799"/>
              <a:ext cx="964565" cy="1543050"/>
            </a:xfrm>
            <a:custGeom>
              <a:avLst/>
              <a:gdLst/>
              <a:ahLst/>
              <a:cxnLst/>
              <a:rect l="l" t="t" r="r" b="b"/>
              <a:pathLst>
                <a:path w="964564" h="1543050">
                  <a:moveTo>
                    <a:pt x="964412" y="0"/>
                  </a:moveTo>
                  <a:lnTo>
                    <a:pt x="482203" y="192874"/>
                  </a:lnTo>
                  <a:lnTo>
                    <a:pt x="0" y="0"/>
                  </a:lnTo>
                  <a:lnTo>
                    <a:pt x="0" y="1350162"/>
                  </a:lnTo>
                  <a:lnTo>
                    <a:pt x="482203" y="1543050"/>
                  </a:lnTo>
                  <a:lnTo>
                    <a:pt x="964412" y="1350162"/>
                  </a:lnTo>
                  <a:lnTo>
                    <a:pt x="964412" y="0"/>
                  </a:lnTo>
                  <a:close/>
                </a:path>
              </a:pathLst>
            </a:custGeom>
            <a:solidFill>
              <a:srgbClr val="532C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676275" y="2971799"/>
              <a:ext cx="964565" cy="1543050"/>
            </a:xfrm>
            <a:custGeom>
              <a:avLst/>
              <a:gdLst/>
              <a:ahLst/>
              <a:cxnLst/>
              <a:rect l="l" t="t" r="r" b="b"/>
              <a:pathLst>
                <a:path w="964564" h="1543050">
                  <a:moveTo>
                    <a:pt x="0" y="1350162"/>
                  </a:moveTo>
                  <a:lnTo>
                    <a:pt x="482203" y="1543050"/>
                  </a:lnTo>
                  <a:lnTo>
                    <a:pt x="964412" y="1350162"/>
                  </a:lnTo>
                  <a:lnTo>
                    <a:pt x="964412" y="0"/>
                  </a:lnTo>
                  <a:lnTo>
                    <a:pt x="482203" y="192874"/>
                  </a:lnTo>
                  <a:lnTo>
                    <a:pt x="0" y="0"/>
                  </a:lnTo>
                  <a:lnTo>
                    <a:pt x="0" y="1350162"/>
                  </a:lnTo>
                  <a:close/>
                </a:path>
              </a:pathLst>
            </a:custGeom>
            <a:ln w="12055">
              <a:solidFill>
                <a:srgbClr val="6D446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1090414" y="3536600"/>
            <a:ext cx="133985" cy="3727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250" spc="-390">
                <a:solidFill>
                  <a:srgbClr val="DAD8E9"/>
                </a:solidFill>
                <a:latin typeface="Trebuchet MS"/>
                <a:cs typeface="Trebuchet MS"/>
              </a:rPr>
              <a:t>1</a:t>
            </a:r>
            <a:endParaRPr sz="2250">
              <a:latin typeface="Trebuchet MS"/>
              <a:cs typeface="Trebuchet MS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916112" y="3144837"/>
            <a:ext cx="1133475" cy="2825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05">
                <a:solidFill>
                  <a:srgbClr val="DAD8E9"/>
                </a:solidFill>
                <a:latin typeface="Trebuchet MS"/>
                <a:cs typeface="Trebuchet MS"/>
              </a:rPr>
              <a:t>Pregunta</a:t>
            </a:r>
            <a:r>
              <a:rPr dirty="0" sz="1650" spc="110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dirty="0" sz="1650" spc="-150">
                <a:solidFill>
                  <a:srgbClr val="DAD8E9"/>
                </a:solidFill>
                <a:latin typeface="Trebuchet MS"/>
                <a:cs typeface="Trebuchet MS"/>
              </a:rPr>
              <a:t>1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916112" y="3547268"/>
            <a:ext cx="3911600" cy="2571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500" spc="-35">
                <a:solidFill>
                  <a:srgbClr val="DAD8E9"/>
                </a:solidFill>
                <a:latin typeface="Trebuchet MS"/>
                <a:cs typeface="Trebuchet MS"/>
              </a:rPr>
              <a:t>¿Cuál</a:t>
            </a:r>
            <a:r>
              <a:rPr dirty="0" sz="1500" spc="-95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dirty="0" sz="1500" spc="-50">
                <a:solidFill>
                  <a:srgbClr val="DAD8E9"/>
                </a:solidFill>
                <a:latin typeface="Trebuchet MS"/>
                <a:cs typeface="Trebuchet MS"/>
              </a:rPr>
              <a:t>es</a:t>
            </a:r>
            <a:r>
              <a:rPr dirty="0" sz="1500" spc="-95">
                <a:solidFill>
                  <a:srgbClr val="DAD8E9"/>
                </a:solidFill>
                <a:latin typeface="Trebuchet MS"/>
                <a:cs typeface="Trebuchet MS"/>
              </a:rPr>
              <a:t> la</a:t>
            </a:r>
            <a:r>
              <a:rPr dirty="0" sz="1500" spc="-90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dirty="0" sz="1500" spc="-75">
                <a:solidFill>
                  <a:srgbClr val="DAD8E9"/>
                </a:solidFill>
                <a:latin typeface="Trebuchet MS"/>
                <a:cs typeface="Trebuchet MS"/>
              </a:rPr>
              <a:t>diferencia</a:t>
            </a:r>
            <a:r>
              <a:rPr dirty="0" sz="1500" spc="-95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dirty="0" sz="1500" spc="-75">
                <a:solidFill>
                  <a:srgbClr val="DAD8E9"/>
                </a:solidFill>
                <a:latin typeface="Trebuchet MS"/>
                <a:cs typeface="Trebuchet MS"/>
              </a:rPr>
              <a:t>principal</a:t>
            </a:r>
            <a:r>
              <a:rPr dirty="0" sz="1500" spc="-90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dirty="0" sz="1500" spc="-70">
                <a:solidFill>
                  <a:srgbClr val="DAD8E9"/>
                </a:solidFill>
                <a:latin typeface="Trebuchet MS"/>
                <a:cs typeface="Trebuchet MS"/>
              </a:rPr>
              <a:t>entre</a:t>
            </a:r>
            <a:r>
              <a:rPr dirty="0" sz="1500" spc="-95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dirty="0" sz="1500" spc="-85">
                <a:solidFill>
                  <a:srgbClr val="DAD8E9"/>
                </a:solidFill>
                <a:latin typeface="Trebuchet MS"/>
                <a:cs typeface="Trebuchet MS"/>
              </a:rPr>
              <a:t>iBGP</a:t>
            </a:r>
            <a:r>
              <a:rPr dirty="0" sz="1500" spc="-95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dirty="0" sz="1500" spc="-75">
                <a:solidFill>
                  <a:srgbClr val="DAD8E9"/>
                </a:solidFill>
                <a:latin typeface="Trebuchet MS"/>
                <a:cs typeface="Trebuchet MS"/>
              </a:rPr>
              <a:t>y</a:t>
            </a:r>
            <a:r>
              <a:rPr dirty="0" sz="1500" spc="-90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dirty="0" sz="1500" spc="-10">
                <a:solidFill>
                  <a:srgbClr val="DAD8E9"/>
                </a:solidFill>
                <a:latin typeface="Trebuchet MS"/>
                <a:cs typeface="Trebuchet MS"/>
              </a:rPr>
              <a:t>eBGP?</a:t>
            </a:r>
            <a:endParaRPr sz="1500">
              <a:latin typeface="Trebuchet MS"/>
              <a:cs typeface="Trebuchet MS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670242" y="4508817"/>
            <a:ext cx="976630" cy="1555115"/>
            <a:chOff x="670242" y="4508817"/>
            <a:chExt cx="976630" cy="1555115"/>
          </a:xfrm>
        </p:grpSpPr>
        <p:sp>
          <p:nvSpPr>
            <p:cNvPr id="14" name="object 14" descr=""/>
            <p:cNvSpPr/>
            <p:nvPr/>
          </p:nvSpPr>
          <p:spPr>
            <a:xfrm>
              <a:off x="676275" y="4514849"/>
              <a:ext cx="964565" cy="1543050"/>
            </a:xfrm>
            <a:custGeom>
              <a:avLst/>
              <a:gdLst/>
              <a:ahLst/>
              <a:cxnLst/>
              <a:rect l="l" t="t" r="r" b="b"/>
              <a:pathLst>
                <a:path w="964564" h="1543050">
                  <a:moveTo>
                    <a:pt x="964412" y="0"/>
                  </a:moveTo>
                  <a:lnTo>
                    <a:pt x="482203" y="192874"/>
                  </a:lnTo>
                  <a:lnTo>
                    <a:pt x="0" y="0"/>
                  </a:lnTo>
                  <a:lnTo>
                    <a:pt x="0" y="1350162"/>
                  </a:lnTo>
                  <a:lnTo>
                    <a:pt x="482203" y="1543050"/>
                  </a:lnTo>
                  <a:lnTo>
                    <a:pt x="964412" y="1350162"/>
                  </a:lnTo>
                  <a:lnTo>
                    <a:pt x="964412" y="0"/>
                  </a:lnTo>
                  <a:close/>
                </a:path>
              </a:pathLst>
            </a:custGeom>
            <a:solidFill>
              <a:srgbClr val="532C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676275" y="4514849"/>
              <a:ext cx="964565" cy="1543050"/>
            </a:xfrm>
            <a:custGeom>
              <a:avLst/>
              <a:gdLst/>
              <a:ahLst/>
              <a:cxnLst/>
              <a:rect l="l" t="t" r="r" b="b"/>
              <a:pathLst>
                <a:path w="964564" h="1543050">
                  <a:moveTo>
                    <a:pt x="0" y="1350162"/>
                  </a:moveTo>
                  <a:lnTo>
                    <a:pt x="482203" y="1543050"/>
                  </a:lnTo>
                  <a:lnTo>
                    <a:pt x="964412" y="1350162"/>
                  </a:lnTo>
                  <a:lnTo>
                    <a:pt x="964412" y="0"/>
                  </a:lnTo>
                  <a:lnTo>
                    <a:pt x="482203" y="192874"/>
                  </a:lnTo>
                  <a:lnTo>
                    <a:pt x="0" y="0"/>
                  </a:lnTo>
                  <a:lnTo>
                    <a:pt x="0" y="1350162"/>
                  </a:lnTo>
                  <a:close/>
                </a:path>
              </a:pathLst>
            </a:custGeom>
            <a:ln w="12055">
              <a:solidFill>
                <a:srgbClr val="6D446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1059903" y="5079650"/>
            <a:ext cx="194945" cy="3727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250" spc="100">
                <a:solidFill>
                  <a:srgbClr val="DAD8E9"/>
                </a:solidFill>
                <a:latin typeface="Trebuchet MS"/>
                <a:cs typeface="Trebuchet MS"/>
              </a:rPr>
              <a:t>2</a:t>
            </a:r>
            <a:endParaRPr sz="2250">
              <a:latin typeface="Trebuchet MS"/>
              <a:cs typeface="Trebuchet MS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916112" y="4687887"/>
            <a:ext cx="1178560" cy="2825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05">
                <a:solidFill>
                  <a:srgbClr val="DAD8E9"/>
                </a:solidFill>
                <a:latin typeface="Trebuchet MS"/>
                <a:cs typeface="Trebuchet MS"/>
              </a:rPr>
              <a:t>Pregunta</a:t>
            </a:r>
            <a:r>
              <a:rPr dirty="0" sz="1650" spc="110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dirty="0" sz="1650" spc="70">
                <a:solidFill>
                  <a:srgbClr val="DAD8E9"/>
                </a:solidFill>
                <a:latin typeface="Trebuchet MS"/>
                <a:cs typeface="Trebuchet MS"/>
              </a:rPr>
              <a:t>2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1916112" y="5007451"/>
            <a:ext cx="4379595" cy="6540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37500"/>
              </a:lnSpc>
              <a:spcBef>
                <a:spcPts val="95"/>
              </a:spcBef>
            </a:pPr>
            <a:r>
              <a:rPr dirty="0" sz="1500">
                <a:solidFill>
                  <a:srgbClr val="DAD8E9"/>
                </a:solidFill>
                <a:latin typeface="Trebuchet MS"/>
                <a:cs typeface="Trebuchet MS"/>
              </a:rPr>
              <a:t>¿Qué</a:t>
            </a:r>
            <a:r>
              <a:rPr dirty="0" sz="1500" spc="-95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dirty="0" sz="1500" spc="-55">
                <a:solidFill>
                  <a:srgbClr val="DAD8E9"/>
                </a:solidFill>
                <a:latin typeface="Trebuchet MS"/>
                <a:cs typeface="Trebuchet MS"/>
              </a:rPr>
              <a:t>atributo</a:t>
            </a:r>
            <a:r>
              <a:rPr dirty="0" sz="1500" spc="-90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dirty="0" sz="1500" spc="-75">
                <a:solidFill>
                  <a:srgbClr val="DAD8E9"/>
                </a:solidFill>
                <a:latin typeface="Trebuchet MS"/>
                <a:cs typeface="Trebuchet MS"/>
              </a:rPr>
              <a:t>de</a:t>
            </a:r>
            <a:r>
              <a:rPr dirty="0" sz="1500" spc="-95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dirty="0" sz="1500" spc="-90">
                <a:solidFill>
                  <a:srgbClr val="DAD8E9"/>
                </a:solidFill>
                <a:latin typeface="Trebuchet MS"/>
                <a:cs typeface="Trebuchet MS"/>
              </a:rPr>
              <a:t>BGP </a:t>
            </a:r>
            <a:r>
              <a:rPr dirty="0" sz="1500" spc="-50">
                <a:solidFill>
                  <a:srgbClr val="DAD8E9"/>
                </a:solidFill>
                <a:latin typeface="Trebuchet MS"/>
                <a:cs typeface="Trebuchet MS"/>
              </a:rPr>
              <a:t>se</a:t>
            </a:r>
            <a:r>
              <a:rPr dirty="0" sz="1500" spc="-95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dirty="0" sz="1500" spc="-45">
                <a:solidFill>
                  <a:srgbClr val="DAD8E9"/>
                </a:solidFill>
                <a:latin typeface="Trebuchet MS"/>
                <a:cs typeface="Trebuchet MS"/>
              </a:rPr>
              <a:t>usa</a:t>
            </a:r>
            <a:r>
              <a:rPr dirty="0" sz="1500" spc="-90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dirty="0" sz="1500" spc="-70">
                <a:solidFill>
                  <a:srgbClr val="DAD8E9"/>
                </a:solidFill>
                <a:latin typeface="Trebuchet MS"/>
                <a:cs typeface="Trebuchet MS"/>
              </a:rPr>
              <a:t>para</a:t>
            </a:r>
            <a:r>
              <a:rPr dirty="0" sz="1500" spc="-90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dirty="0" sz="1500" spc="-70">
                <a:solidFill>
                  <a:srgbClr val="DAD8E9"/>
                </a:solidFill>
                <a:latin typeface="Trebuchet MS"/>
                <a:cs typeface="Trebuchet MS"/>
              </a:rPr>
              <a:t>seleccionar</a:t>
            </a:r>
            <a:r>
              <a:rPr dirty="0" sz="1500" spc="-95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dirty="0" sz="1500" spc="-45">
                <a:solidFill>
                  <a:srgbClr val="DAD8E9"/>
                </a:solidFill>
                <a:latin typeface="Trebuchet MS"/>
                <a:cs typeface="Trebuchet MS"/>
              </a:rPr>
              <a:t>rutas</a:t>
            </a:r>
            <a:r>
              <a:rPr dirty="0" sz="1500" spc="-90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dirty="0" sz="1500" spc="-25">
                <a:solidFill>
                  <a:srgbClr val="DAD8E9"/>
                </a:solidFill>
                <a:latin typeface="Trebuchet MS"/>
                <a:cs typeface="Trebuchet MS"/>
              </a:rPr>
              <a:t>más </a:t>
            </a:r>
            <a:r>
              <a:rPr dirty="0" sz="1500" spc="-10">
                <a:solidFill>
                  <a:srgbClr val="DAD8E9"/>
                </a:solidFill>
                <a:latin typeface="Trebuchet MS"/>
                <a:cs typeface="Trebuchet MS"/>
              </a:rPr>
              <a:t>cortas?</a:t>
            </a:r>
            <a:endParaRPr sz="1500">
              <a:latin typeface="Trebuchet MS"/>
              <a:cs typeface="Trebuchet MS"/>
            </a:endParaRPr>
          </a:p>
        </p:txBody>
      </p:sp>
      <p:grpSp>
        <p:nvGrpSpPr>
          <p:cNvPr id="19" name="object 19" descr=""/>
          <p:cNvGrpSpPr/>
          <p:nvPr/>
        </p:nvGrpSpPr>
        <p:grpSpPr>
          <a:xfrm>
            <a:off x="670242" y="6051867"/>
            <a:ext cx="976630" cy="1555115"/>
            <a:chOff x="670242" y="6051867"/>
            <a:chExt cx="976630" cy="1555115"/>
          </a:xfrm>
        </p:grpSpPr>
        <p:sp>
          <p:nvSpPr>
            <p:cNvPr id="20" name="object 20" descr=""/>
            <p:cNvSpPr/>
            <p:nvPr/>
          </p:nvSpPr>
          <p:spPr>
            <a:xfrm>
              <a:off x="676275" y="6057899"/>
              <a:ext cx="964565" cy="1543050"/>
            </a:xfrm>
            <a:custGeom>
              <a:avLst/>
              <a:gdLst/>
              <a:ahLst/>
              <a:cxnLst/>
              <a:rect l="l" t="t" r="r" b="b"/>
              <a:pathLst>
                <a:path w="964564" h="1543050">
                  <a:moveTo>
                    <a:pt x="964412" y="0"/>
                  </a:moveTo>
                  <a:lnTo>
                    <a:pt x="482203" y="192874"/>
                  </a:lnTo>
                  <a:lnTo>
                    <a:pt x="0" y="0"/>
                  </a:lnTo>
                  <a:lnTo>
                    <a:pt x="0" y="1350162"/>
                  </a:lnTo>
                  <a:lnTo>
                    <a:pt x="482203" y="1543050"/>
                  </a:lnTo>
                  <a:lnTo>
                    <a:pt x="964412" y="1350162"/>
                  </a:lnTo>
                  <a:lnTo>
                    <a:pt x="964412" y="0"/>
                  </a:lnTo>
                  <a:close/>
                </a:path>
              </a:pathLst>
            </a:custGeom>
            <a:solidFill>
              <a:srgbClr val="532C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676275" y="6057899"/>
              <a:ext cx="964565" cy="1543050"/>
            </a:xfrm>
            <a:custGeom>
              <a:avLst/>
              <a:gdLst/>
              <a:ahLst/>
              <a:cxnLst/>
              <a:rect l="l" t="t" r="r" b="b"/>
              <a:pathLst>
                <a:path w="964564" h="1543050">
                  <a:moveTo>
                    <a:pt x="0" y="1350162"/>
                  </a:moveTo>
                  <a:lnTo>
                    <a:pt x="482203" y="1543050"/>
                  </a:lnTo>
                  <a:lnTo>
                    <a:pt x="964412" y="1350162"/>
                  </a:lnTo>
                  <a:lnTo>
                    <a:pt x="964412" y="0"/>
                  </a:lnTo>
                  <a:lnTo>
                    <a:pt x="482203" y="192874"/>
                  </a:lnTo>
                  <a:lnTo>
                    <a:pt x="0" y="0"/>
                  </a:lnTo>
                  <a:lnTo>
                    <a:pt x="0" y="1350162"/>
                  </a:lnTo>
                  <a:close/>
                </a:path>
              </a:pathLst>
            </a:custGeom>
            <a:ln w="12055">
              <a:solidFill>
                <a:srgbClr val="6D446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 descr=""/>
          <p:cNvSpPr txBox="1"/>
          <p:nvPr/>
        </p:nvSpPr>
        <p:spPr>
          <a:xfrm>
            <a:off x="1060648" y="6622700"/>
            <a:ext cx="193675" cy="3727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250" spc="90">
                <a:solidFill>
                  <a:srgbClr val="DAD8E9"/>
                </a:solidFill>
                <a:latin typeface="Trebuchet MS"/>
                <a:cs typeface="Trebuchet MS"/>
              </a:rPr>
              <a:t>3</a:t>
            </a:r>
            <a:endParaRPr sz="2250">
              <a:latin typeface="Trebuchet MS"/>
              <a:cs typeface="Trebuchet MS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1916112" y="6230937"/>
            <a:ext cx="1177925" cy="2825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05">
                <a:solidFill>
                  <a:srgbClr val="DAD8E9"/>
                </a:solidFill>
                <a:latin typeface="Trebuchet MS"/>
                <a:cs typeface="Trebuchet MS"/>
              </a:rPr>
              <a:t>Pregunta</a:t>
            </a:r>
            <a:r>
              <a:rPr dirty="0" sz="1650" spc="110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dirty="0" sz="1650" spc="60">
                <a:solidFill>
                  <a:srgbClr val="DAD8E9"/>
                </a:solidFill>
                <a:latin typeface="Trebuchet MS"/>
                <a:cs typeface="Trebuchet MS"/>
              </a:rPr>
              <a:t>3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1916112" y="6633368"/>
            <a:ext cx="4311650" cy="2571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500" spc="-30">
                <a:solidFill>
                  <a:srgbClr val="DAD8E9"/>
                </a:solidFill>
                <a:latin typeface="Trebuchet MS"/>
                <a:cs typeface="Trebuchet MS"/>
              </a:rPr>
              <a:t>¿Cuántos</a:t>
            </a:r>
            <a:r>
              <a:rPr dirty="0" sz="1500" spc="-90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dirty="0" sz="1500" spc="-50">
                <a:solidFill>
                  <a:srgbClr val="DAD8E9"/>
                </a:solidFill>
                <a:latin typeface="Trebuchet MS"/>
                <a:cs typeface="Trebuchet MS"/>
              </a:rPr>
              <a:t>saltos</a:t>
            </a:r>
            <a:r>
              <a:rPr dirty="0" sz="1500" spc="-90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dirty="0" sz="1500" spc="-40">
                <a:solidFill>
                  <a:srgbClr val="DAD8E9"/>
                </a:solidFill>
                <a:latin typeface="Trebuchet MS"/>
                <a:cs typeface="Trebuchet MS"/>
              </a:rPr>
              <a:t>soporta</a:t>
            </a:r>
            <a:r>
              <a:rPr dirty="0" sz="1500" spc="-90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dirty="0" sz="1500" spc="-80">
                <a:solidFill>
                  <a:srgbClr val="DAD8E9"/>
                </a:solidFill>
                <a:latin typeface="Trebuchet MS"/>
                <a:cs typeface="Trebuchet MS"/>
              </a:rPr>
              <a:t>RIP</a:t>
            </a:r>
            <a:r>
              <a:rPr dirty="0" sz="1500" spc="-85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dirty="0" sz="1500" spc="-50">
                <a:solidFill>
                  <a:srgbClr val="DAD8E9"/>
                </a:solidFill>
                <a:latin typeface="Trebuchet MS"/>
                <a:cs typeface="Trebuchet MS"/>
              </a:rPr>
              <a:t>como</a:t>
            </a:r>
            <a:r>
              <a:rPr dirty="0" sz="1500" spc="-90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dirty="0" sz="1500" spc="-60">
                <a:solidFill>
                  <a:srgbClr val="DAD8E9"/>
                </a:solidFill>
                <a:latin typeface="Trebuchet MS"/>
                <a:cs typeface="Trebuchet MS"/>
              </a:rPr>
              <a:t>máximo</a:t>
            </a:r>
            <a:r>
              <a:rPr dirty="0" sz="1500" spc="-90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dirty="0" sz="1500" spc="-65">
                <a:solidFill>
                  <a:srgbClr val="DAD8E9"/>
                </a:solidFill>
                <a:latin typeface="Trebuchet MS"/>
                <a:cs typeface="Trebuchet MS"/>
              </a:rPr>
              <a:t>en</a:t>
            </a:r>
            <a:r>
              <a:rPr dirty="0" sz="1500" spc="-85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dirty="0" sz="1500" spc="-55">
                <a:solidFill>
                  <a:srgbClr val="DAD8E9"/>
                </a:solidFill>
                <a:latin typeface="Trebuchet MS"/>
                <a:cs typeface="Trebuchet MS"/>
              </a:rPr>
              <a:t>una</a:t>
            </a:r>
            <a:r>
              <a:rPr dirty="0" sz="1500" spc="-90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dirty="0" sz="1500" spc="-20">
                <a:solidFill>
                  <a:srgbClr val="DAD8E9"/>
                </a:solidFill>
                <a:latin typeface="Trebuchet MS"/>
                <a:cs typeface="Trebuchet MS"/>
              </a:rPr>
              <a:t>red?</a:t>
            </a:r>
            <a:endParaRPr sz="1500">
              <a:latin typeface="Trebuchet MS"/>
              <a:cs typeface="Trebuchet MS"/>
            </a:endParaRPr>
          </a:p>
        </p:txBody>
      </p:sp>
      <p:grpSp>
        <p:nvGrpSpPr>
          <p:cNvPr id="25" name="object 25" descr=""/>
          <p:cNvGrpSpPr/>
          <p:nvPr/>
        </p:nvGrpSpPr>
        <p:grpSpPr>
          <a:xfrm>
            <a:off x="670247" y="7594922"/>
            <a:ext cx="976630" cy="1555115"/>
            <a:chOff x="670247" y="7594922"/>
            <a:chExt cx="976630" cy="1555115"/>
          </a:xfrm>
        </p:grpSpPr>
        <p:sp>
          <p:nvSpPr>
            <p:cNvPr id="26" name="object 26" descr=""/>
            <p:cNvSpPr/>
            <p:nvPr/>
          </p:nvSpPr>
          <p:spPr>
            <a:xfrm>
              <a:off x="676275" y="7600950"/>
              <a:ext cx="964565" cy="1543050"/>
            </a:xfrm>
            <a:custGeom>
              <a:avLst/>
              <a:gdLst/>
              <a:ahLst/>
              <a:cxnLst/>
              <a:rect l="l" t="t" r="r" b="b"/>
              <a:pathLst>
                <a:path w="964564" h="1543050">
                  <a:moveTo>
                    <a:pt x="964412" y="0"/>
                  </a:moveTo>
                  <a:lnTo>
                    <a:pt x="482203" y="192874"/>
                  </a:lnTo>
                  <a:lnTo>
                    <a:pt x="0" y="0"/>
                  </a:lnTo>
                  <a:lnTo>
                    <a:pt x="0" y="1350168"/>
                  </a:lnTo>
                  <a:lnTo>
                    <a:pt x="482203" y="1543050"/>
                  </a:lnTo>
                  <a:lnTo>
                    <a:pt x="964412" y="1350168"/>
                  </a:lnTo>
                  <a:lnTo>
                    <a:pt x="964412" y="0"/>
                  </a:lnTo>
                  <a:close/>
                </a:path>
              </a:pathLst>
            </a:custGeom>
            <a:solidFill>
              <a:srgbClr val="532C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676275" y="7600950"/>
              <a:ext cx="964565" cy="1543050"/>
            </a:xfrm>
            <a:custGeom>
              <a:avLst/>
              <a:gdLst/>
              <a:ahLst/>
              <a:cxnLst/>
              <a:rect l="l" t="t" r="r" b="b"/>
              <a:pathLst>
                <a:path w="964564" h="1543050">
                  <a:moveTo>
                    <a:pt x="0" y="1350168"/>
                  </a:moveTo>
                  <a:lnTo>
                    <a:pt x="482203" y="1543050"/>
                  </a:lnTo>
                  <a:lnTo>
                    <a:pt x="964412" y="1350168"/>
                  </a:lnTo>
                  <a:lnTo>
                    <a:pt x="964412" y="0"/>
                  </a:lnTo>
                  <a:lnTo>
                    <a:pt x="482203" y="192874"/>
                  </a:lnTo>
                  <a:lnTo>
                    <a:pt x="0" y="0"/>
                  </a:lnTo>
                  <a:lnTo>
                    <a:pt x="0" y="1350168"/>
                  </a:lnTo>
                  <a:close/>
                </a:path>
              </a:pathLst>
            </a:custGeom>
            <a:ln w="12055">
              <a:solidFill>
                <a:srgbClr val="6D446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 descr=""/>
          <p:cNvSpPr txBox="1"/>
          <p:nvPr/>
        </p:nvSpPr>
        <p:spPr>
          <a:xfrm>
            <a:off x="1056481" y="8165750"/>
            <a:ext cx="201930" cy="3727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250" spc="160">
                <a:solidFill>
                  <a:srgbClr val="DAD8E9"/>
                </a:solidFill>
                <a:latin typeface="Trebuchet MS"/>
                <a:cs typeface="Trebuchet MS"/>
              </a:rPr>
              <a:t>4</a:t>
            </a:r>
            <a:endParaRPr sz="2250">
              <a:latin typeface="Trebuchet MS"/>
              <a:cs typeface="Trebuchet MS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1916112" y="7773987"/>
            <a:ext cx="1183640" cy="2825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05">
                <a:solidFill>
                  <a:srgbClr val="DAD8E9"/>
                </a:solidFill>
                <a:latin typeface="Trebuchet MS"/>
                <a:cs typeface="Trebuchet MS"/>
              </a:rPr>
              <a:t>Pregunta</a:t>
            </a:r>
            <a:r>
              <a:rPr dirty="0" sz="1650" spc="110">
                <a:solidFill>
                  <a:srgbClr val="DAD8E9"/>
                </a:solidFill>
                <a:latin typeface="Trebuchet MS"/>
                <a:cs typeface="Trebuchet MS"/>
              </a:rPr>
              <a:t> 4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1916112" y="8093550"/>
            <a:ext cx="4213860" cy="6540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37500"/>
              </a:lnSpc>
              <a:spcBef>
                <a:spcPts val="95"/>
              </a:spcBef>
            </a:pPr>
            <a:r>
              <a:rPr dirty="0" sz="1500">
                <a:solidFill>
                  <a:srgbClr val="DAD8E9"/>
                </a:solidFill>
                <a:latin typeface="Trebuchet MS"/>
                <a:cs typeface="Trebuchet MS"/>
              </a:rPr>
              <a:t>¿En</a:t>
            </a:r>
            <a:r>
              <a:rPr dirty="0" sz="1500" spc="-95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dirty="0" sz="1500" spc="-50">
                <a:solidFill>
                  <a:srgbClr val="DAD8E9"/>
                </a:solidFill>
                <a:latin typeface="Trebuchet MS"/>
                <a:cs typeface="Trebuchet MS"/>
              </a:rPr>
              <a:t>qué</a:t>
            </a:r>
            <a:r>
              <a:rPr dirty="0" sz="1500" spc="-90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dirty="0" sz="1500" spc="-55">
                <a:solidFill>
                  <a:srgbClr val="DAD8E9"/>
                </a:solidFill>
                <a:latin typeface="Trebuchet MS"/>
                <a:cs typeface="Trebuchet MS"/>
              </a:rPr>
              <a:t>tipo</a:t>
            </a:r>
            <a:r>
              <a:rPr dirty="0" sz="1500" spc="-90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dirty="0" sz="1500" spc="-75">
                <a:solidFill>
                  <a:srgbClr val="DAD8E9"/>
                </a:solidFill>
                <a:latin typeface="Trebuchet MS"/>
                <a:cs typeface="Trebuchet MS"/>
              </a:rPr>
              <a:t>de</a:t>
            </a:r>
            <a:r>
              <a:rPr dirty="0" sz="1500" spc="-90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dirty="0" sz="1500" spc="-65">
                <a:solidFill>
                  <a:srgbClr val="DAD8E9"/>
                </a:solidFill>
                <a:latin typeface="Trebuchet MS"/>
                <a:cs typeface="Trebuchet MS"/>
              </a:rPr>
              <a:t>redes</a:t>
            </a:r>
            <a:r>
              <a:rPr dirty="0" sz="1500" spc="-95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dirty="0" sz="1500" spc="-50">
                <a:solidFill>
                  <a:srgbClr val="DAD8E9"/>
                </a:solidFill>
                <a:latin typeface="Trebuchet MS"/>
                <a:cs typeface="Trebuchet MS"/>
              </a:rPr>
              <a:t>es</a:t>
            </a:r>
            <a:r>
              <a:rPr dirty="0" sz="1500" spc="-90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dirty="0" sz="1500" spc="-35">
                <a:solidFill>
                  <a:srgbClr val="DAD8E9"/>
                </a:solidFill>
                <a:latin typeface="Trebuchet MS"/>
                <a:cs typeface="Trebuchet MS"/>
              </a:rPr>
              <a:t>más</a:t>
            </a:r>
            <a:r>
              <a:rPr dirty="0" sz="1500" spc="-90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dirty="0" sz="1500" spc="-65">
                <a:solidFill>
                  <a:srgbClr val="DAD8E9"/>
                </a:solidFill>
                <a:latin typeface="Trebuchet MS"/>
                <a:cs typeface="Trebuchet MS"/>
              </a:rPr>
              <a:t>adecuado</a:t>
            </a:r>
            <a:r>
              <a:rPr dirty="0" sz="1500" spc="-90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dirty="0" sz="1500" spc="-75">
                <a:solidFill>
                  <a:srgbClr val="DAD8E9"/>
                </a:solidFill>
                <a:latin typeface="Trebuchet MS"/>
                <a:cs typeface="Trebuchet MS"/>
              </a:rPr>
              <a:t>utilizar</a:t>
            </a:r>
            <a:r>
              <a:rPr dirty="0" sz="1500" spc="-90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dirty="0" sz="1500" spc="-80">
                <a:solidFill>
                  <a:srgbClr val="DAD8E9"/>
                </a:solidFill>
                <a:latin typeface="Trebuchet MS"/>
                <a:cs typeface="Trebuchet MS"/>
              </a:rPr>
              <a:t>RIP</a:t>
            </a:r>
            <a:r>
              <a:rPr dirty="0" sz="1500" spc="-95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dirty="0" sz="1500" spc="-25">
                <a:solidFill>
                  <a:srgbClr val="DAD8E9"/>
                </a:solidFill>
                <a:latin typeface="Trebuchet MS"/>
                <a:cs typeface="Trebuchet MS"/>
              </a:rPr>
              <a:t>en </a:t>
            </a:r>
            <a:r>
              <a:rPr dirty="0" sz="1500" spc="-50">
                <a:solidFill>
                  <a:srgbClr val="DAD8E9"/>
                </a:solidFill>
                <a:latin typeface="Trebuchet MS"/>
                <a:cs typeface="Trebuchet MS"/>
              </a:rPr>
              <a:t>lugar</a:t>
            </a:r>
            <a:r>
              <a:rPr dirty="0" sz="1500" spc="-100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dirty="0" sz="1500" spc="-75">
                <a:solidFill>
                  <a:srgbClr val="DAD8E9"/>
                </a:solidFill>
                <a:latin typeface="Trebuchet MS"/>
                <a:cs typeface="Trebuchet MS"/>
              </a:rPr>
              <a:t>de</a:t>
            </a:r>
            <a:r>
              <a:rPr dirty="0" sz="1500" spc="-100">
                <a:solidFill>
                  <a:srgbClr val="DAD8E9"/>
                </a:solidFill>
                <a:latin typeface="Trebuchet MS"/>
                <a:cs typeface="Trebuchet MS"/>
              </a:rPr>
              <a:t> </a:t>
            </a:r>
            <a:r>
              <a:rPr dirty="0" sz="1500" spc="-20">
                <a:solidFill>
                  <a:srgbClr val="DAD8E9"/>
                </a:solidFill>
                <a:latin typeface="Trebuchet MS"/>
                <a:cs typeface="Trebuchet MS"/>
              </a:rPr>
              <a:t>BGP?</a:t>
            </a:r>
            <a:endParaRPr sz="15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2024-11-05T07:31:21Z</dcterms:created>
  <dcterms:modified xsi:type="dcterms:W3CDTF">2024-11-05T07:31:21Z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2024-11-03T00:00:00Z</vt:filetime>
  </property>
  <property fmtid="{D5CDD505-2E9C-101B-9397-08002B2CF9AE}" pid="3" name="Creator">
    <vt:lpwstr>pdf-lib (https://github.com/Hopding/pdf-lib)</vt:lpwstr>
  </property>
  <property fmtid="{D5CDD505-2E9C-101B-9397-08002B2CF9AE}" pid="4" name="LastSaved">
    <vt:filetime>2024-11-05T00:00:00Z</vt:filetime>
  </property>
  <property fmtid="{D5CDD505-2E9C-101B-9397-08002B2CF9AE}" pid="5" name="Producer">
    <vt:lpwstr>GPL Ghostscript 10.02.0</vt:lpwstr>
  </property>
</Properties>
</file>