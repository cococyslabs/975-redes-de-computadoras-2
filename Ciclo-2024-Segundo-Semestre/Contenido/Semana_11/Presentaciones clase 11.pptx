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1430000" cy="8534400"/>
  <p:notesSz cx="11430000" cy="8534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0" i="0">
                <a:solidFill>
                  <a:srgbClr val="F5F0F0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rgbClr val="F5F0F0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905625"/>
          </a:xfrm>
          <a:custGeom>
            <a:avLst/>
            <a:gdLst/>
            <a:ahLst/>
            <a:cxnLst/>
            <a:rect l="l" t="t" r="r" b="b"/>
            <a:pathLst>
              <a:path w="11430000" h="6905625">
                <a:moveTo>
                  <a:pt x="11430000" y="0"/>
                </a:moveTo>
                <a:lnTo>
                  <a:pt x="0" y="0"/>
                </a:lnTo>
                <a:lnTo>
                  <a:pt x="0" y="6905625"/>
                </a:lnTo>
                <a:lnTo>
                  <a:pt x="11430000" y="6905625"/>
                </a:lnTo>
                <a:lnTo>
                  <a:pt x="11430000" y="0"/>
                </a:lnTo>
                <a:close/>
              </a:path>
            </a:pathLst>
          </a:custGeom>
          <a:solidFill>
            <a:srgbClr val="09151A">
              <a:alpha val="94898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1430000" cy="235267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rgbClr val="F5F0F0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rgbClr val="F5F0F0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09151A">
              <a:alpha val="948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19572" y="2849562"/>
            <a:ext cx="6925309" cy="5911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0" i="0">
                <a:solidFill>
                  <a:srgbClr val="F5F0F0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8650" y="2285999"/>
            <a:ext cx="5886450" cy="2733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3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hyperlink" Target="http://www.ejemplo.com/" TargetMode="External"/><Relationship Id="rId4" Type="http://schemas.openxmlformats.org/officeDocument/2006/relationships/hyperlink" Target="https://gamma.app/?utm_source=made-with-gamma" TargetMode="External"/><Relationship Id="rId5" Type="http://schemas.openxmlformats.org/officeDocument/2006/relationships/image" Target="../media/image3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3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3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3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143750" y="253"/>
            <a:ext cx="4286250" cy="6438900"/>
            <a:chOff x="7143750" y="253"/>
            <a:chExt cx="4286250" cy="64389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253"/>
              <a:ext cx="4286249" cy="6438645"/>
            </a:xfrm>
            <a:prstGeom prst="rect">
              <a:avLst/>
            </a:prstGeom>
          </p:spPr>
        </p:pic>
        <p:pic>
          <p:nvPicPr>
            <p:cNvPr id="4" name="object 4" descr="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80244" y="5926073"/>
              <a:ext cx="1754504" cy="4191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47353" y="1146397"/>
            <a:ext cx="4935220" cy="2435225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 marR="1064260">
              <a:lnSpc>
                <a:spcPts val="6380"/>
              </a:lnSpc>
              <a:spcBef>
                <a:spcPts val="120"/>
              </a:spcBef>
            </a:pPr>
            <a:r>
              <a:rPr dirty="0" sz="5100" spc="315">
                <a:latin typeface="Georgia"/>
                <a:cs typeface="Georgia"/>
              </a:rPr>
              <a:t>Sistema</a:t>
            </a:r>
            <a:r>
              <a:rPr dirty="0" sz="5100" spc="-15">
                <a:latin typeface="Georgia"/>
                <a:cs typeface="Georgia"/>
              </a:rPr>
              <a:t> </a:t>
            </a:r>
            <a:r>
              <a:rPr dirty="0" sz="5100" spc="245">
                <a:latin typeface="Georgia"/>
                <a:cs typeface="Georgia"/>
              </a:rPr>
              <a:t>de </a:t>
            </a:r>
            <a:r>
              <a:rPr dirty="0" sz="5100" spc="320">
                <a:latin typeface="Georgia"/>
                <a:cs typeface="Georgia"/>
              </a:rPr>
              <a:t>Nombres</a:t>
            </a:r>
            <a:r>
              <a:rPr dirty="0" sz="5100" spc="-20">
                <a:latin typeface="Georgia"/>
                <a:cs typeface="Georgia"/>
              </a:rPr>
              <a:t> </a:t>
            </a:r>
            <a:r>
              <a:rPr dirty="0" sz="5100" spc="245">
                <a:latin typeface="Georgia"/>
                <a:cs typeface="Georgia"/>
              </a:rPr>
              <a:t>de</a:t>
            </a:r>
            <a:endParaRPr sz="5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5100" spc="290">
                <a:latin typeface="Georgia"/>
                <a:cs typeface="Georgia"/>
              </a:rPr>
              <a:t>Dominio</a:t>
            </a:r>
            <a:r>
              <a:rPr dirty="0" sz="5100" spc="5">
                <a:latin typeface="Georgia"/>
                <a:cs typeface="Georgia"/>
              </a:rPr>
              <a:t> </a:t>
            </a:r>
            <a:r>
              <a:rPr dirty="0" sz="5100" spc="170">
                <a:latin typeface="Georgia"/>
                <a:cs typeface="Georgia"/>
              </a:rPr>
              <a:t>(DNS)</a:t>
            </a:r>
            <a:endParaRPr sz="5100">
              <a:latin typeface="Georgia"/>
              <a:cs typeface="Georgi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47353" y="3913600"/>
            <a:ext cx="4561205" cy="7664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100">
                <a:solidFill>
                  <a:srgbClr val="E2E6E9"/>
                </a:solidFill>
                <a:latin typeface="Georgia"/>
                <a:cs typeface="Georgia"/>
              </a:rPr>
              <a:t>Fundamento</a:t>
            </a:r>
            <a:r>
              <a:rPr dirty="0" sz="1450" spc="10">
                <a:solidFill>
                  <a:srgbClr val="E2E6E9"/>
                </a:solidFill>
                <a:latin typeface="Georgia"/>
                <a:cs typeface="Georgia"/>
              </a:rPr>
              <a:t> </a:t>
            </a:r>
            <a:r>
              <a:rPr dirty="0" sz="1450" spc="90">
                <a:solidFill>
                  <a:srgbClr val="E2E6E9"/>
                </a:solidFill>
                <a:latin typeface="Georgia"/>
                <a:cs typeface="Georgia"/>
              </a:rPr>
              <a:t>de</a:t>
            </a:r>
            <a:r>
              <a:rPr dirty="0" sz="1450" spc="10">
                <a:solidFill>
                  <a:srgbClr val="E2E6E9"/>
                </a:solidFill>
                <a:latin typeface="Georgia"/>
                <a:cs typeface="Georgia"/>
              </a:rPr>
              <a:t> </a:t>
            </a:r>
            <a:r>
              <a:rPr dirty="0" sz="1450" spc="85">
                <a:solidFill>
                  <a:srgbClr val="E2E6E9"/>
                </a:solidFill>
                <a:latin typeface="Georgia"/>
                <a:cs typeface="Georgia"/>
              </a:rPr>
              <a:t>la</a:t>
            </a:r>
            <a:r>
              <a:rPr dirty="0" sz="1450" spc="15">
                <a:solidFill>
                  <a:srgbClr val="E2E6E9"/>
                </a:solidFill>
                <a:latin typeface="Georgia"/>
                <a:cs typeface="Georgia"/>
              </a:rPr>
              <a:t> </a:t>
            </a:r>
            <a:r>
              <a:rPr dirty="0" sz="1450" spc="105">
                <a:solidFill>
                  <a:srgbClr val="E2E6E9"/>
                </a:solidFill>
                <a:latin typeface="Georgia"/>
                <a:cs typeface="Georgia"/>
              </a:rPr>
              <a:t>navegación</a:t>
            </a:r>
            <a:r>
              <a:rPr dirty="0" sz="1450" spc="10">
                <a:solidFill>
                  <a:srgbClr val="E2E6E9"/>
                </a:solidFill>
                <a:latin typeface="Georgia"/>
                <a:cs typeface="Georgia"/>
              </a:rPr>
              <a:t> </a:t>
            </a:r>
            <a:r>
              <a:rPr dirty="0" sz="1450" spc="110">
                <a:solidFill>
                  <a:srgbClr val="E2E6E9"/>
                </a:solidFill>
                <a:latin typeface="Georgia"/>
                <a:cs typeface="Georgia"/>
              </a:rPr>
              <a:t>web</a:t>
            </a:r>
            <a:r>
              <a:rPr dirty="0" sz="1450" spc="15">
                <a:solidFill>
                  <a:srgbClr val="E2E6E9"/>
                </a:solidFill>
                <a:latin typeface="Georgia"/>
                <a:cs typeface="Georgia"/>
              </a:rPr>
              <a:t> </a:t>
            </a:r>
            <a:r>
              <a:rPr dirty="0" sz="1450" spc="80">
                <a:solidFill>
                  <a:srgbClr val="E2E6E9"/>
                </a:solidFill>
                <a:latin typeface="Georgia"/>
                <a:cs typeface="Georgia"/>
              </a:rPr>
              <a:t>moderna.</a:t>
            </a:r>
            <a:endParaRPr sz="145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660"/>
              </a:spcBef>
            </a:pPr>
            <a:endParaRPr sz="14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dirty="0" sz="1450" spc="85">
                <a:solidFill>
                  <a:srgbClr val="E2E6E9"/>
                </a:solidFill>
                <a:latin typeface="Georgia"/>
                <a:cs typeface="Georgia"/>
              </a:rPr>
              <a:t>Convierte</a:t>
            </a:r>
            <a:r>
              <a:rPr dirty="0" sz="1450" spc="10">
                <a:solidFill>
                  <a:srgbClr val="E2E6E9"/>
                </a:solidFill>
                <a:latin typeface="Georgia"/>
                <a:cs typeface="Georgia"/>
              </a:rPr>
              <a:t> </a:t>
            </a:r>
            <a:r>
              <a:rPr dirty="0" sz="1450" spc="110">
                <a:solidFill>
                  <a:srgbClr val="E2E6E9"/>
                </a:solidFill>
                <a:latin typeface="Georgia"/>
                <a:cs typeface="Georgia"/>
              </a:rPr>
              <a:t>nombres</a:t>
            </a:r>
            <a:r>
              <a:rPr dirty="0" sz="1450" spc="10">
                <a:solidFill>
                  <a:srgbClr val="E2E6E9"/>
                </a:solidFill>
                <a:latin typeface="Georgia"/>
                <a:cs typeface="Georgia"/>
              </a:rPr>
              <a:t> </a:t>
            </a:r>
            <a:r>
              <a:rPr dirty="0" sz="1450" spc="90">
                <a:solidFill>
                  <a:srgbClr val="E2E6E9"/>
                </a:solidFill>
                <a:latin typeface="Georgia"/>
                <a:cs typeface="Georgia"/>
              </a:rPr>
              <a:t>de</a:t>
            </a:r>
            <a:r>
              <a:rPr dirty="0" sz="1450" spc="15">
                <a:solidFill>
                  <a:srgbClr val="E2E6E9"/>
                </a:solidFill>
                <a:latin typeface="Georgia"/>
                <a:cs typeface="Georgia"/>
              </a:rPr>
              <a:t> </a:t>
            </a:r>
            <a:r>
              <a:rPr dirty="0" sz="1450" spc="100">
                <a:solidFill>
                  <a:srgbClr val="E2E6E9"/>
                </a:solidFill>
                <a:latin typeface="Georgia"/>
                <a:cs typeface="Georgia"/>
              </a:rPr>
              <a:t>dominio</a:t>
            </a:r>
            <a:r>
              <a:rPr dirty="0" sz="1450" spc="10">
                <a:solidFill>
                  <a:srgbClr val="E2E6E9"/>
                </a:solidFill>
                <a:latin typeface="Georgia"/>
                <a:cs typeface="Georgia"/>
              </a:rPr>
              <a:t> </a:t>
            </a:r>
            <a:r>
              <a:rPr dirty="0" sz="1450" spc="110">
                <a:solidFill>
                  <a:srgbClr val="E2E6E9"/>
                </a:solidFill>
                <a:latin typeface="Georgia"/>
                <a:cs typeface="Georgia"/>
              </a:rPr>
              <a:t>en</a:t>
            </a:r>
            <a:r>
              <a:rPr dirty="0" sz="1450" spc="10">
                <a:solidFill>
                  <a:srgbClr val="E2E6E9"/>
                </a:solidFill>
                <a:latin typeface="Georgia"/>
                <a:cs typeface="Georgia"/>
              </a:rPr>
              <a:t> </a:t>
            </a:r>
            <a:r>
              <a:rPr dirty="0" sz="1450" spc="90">
                <a:solidFill>
                  <a:srgbClr val="E2E6E9"/>
                </a:solidFill>
                <a:latin typeface="Georgia"/>
                <a:cs typeface="Georgia"/>
              </a:rPr>
              <a:t>direcciones</a:t>
            </a:r>
            <a:r>
              <a:rPr dirty="0" sz="1450" spc="15">
                <a:solidFill>
                  <a:srgbClr val="E2E6E9"/>
                </a:solidFill>
                <a:latin typeface="Georgia"/>
                <a:cs typeface="Georgia"/>
              </a:rPr>
              <a:t> </a:t>
            </a:r>
            <a:r>
              <a:rPr dirty="0" sz="1450" spc="-25">
                <a:solidFill>
                  <a:srgbClr val="E2E6E9"/>
                </a:solidFill>
                <a:latin typeface="Georgia"/>
                <a:cs typeface="Georgia"/>
              </a:rPr>
              <a:t>IP.</a:t>
            </a:r>
            <a:endParaRPr sz="1450">
              <a:latin typeface="Georgia"/>
              <a:cs typeface="Georgi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043236" y="4923631"/>
            <a:ext cx="2068830" cy="3086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850" spc="70" b="1">
                <a:solidFill>
                  <a:srgbClr val="E2E6E9"/>
                </a:solidFill>
                <a:latin typeface="Cambria"/>
                <a:cs typeface="Cambria"/>
              </a:rPr>
              <a:t>por</a:t>
            </a:r>
            <a:r>
              <a:rPr dirty="0" sz="1850" spc="35" b="1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850" spc="70" b="1">
                <a:solidFill>
                  <a:srgbClr val="E2E6E9"/>
                </a:solidFill>
                <a:latin typeface="Cambria"/>
                <a:cs typeface="Cambria"/>
              </a:rPr>
              <a:t>Eduardo</a:t>
            </a:r>
            <a:r>
              <a:rPr dirty="0" sz="1850" spc="40" b="1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850" spc="80" b="1">
                <a:solidFill>
                  <a:srgbClr val="E2E6E9"/>
                </a:solidFill>
                <a:latin typeface="Cambria"/>
                <a:cs typeface="Cambria"/>
              </a:rPr>
              <a:t>Ixén</a:t>
            </a:r>
            <a:endParaRPr sz="1850">
              <a:latin typeface="Cambria"/>
              <a:cs typeface="Cambria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657225" y="4943475"/>
            <a:ext cx="304800" cy="304800"/>
            <a:chOff x="657225" y="4943475"/>
            <a:chExt cx="304800" cy="304800"/>
          </a:xfrm>
        </p:grpSpPr>
        <p:sp>
          <p:nvSpPr>
            <p:cNvPr id="9" name="object 9" descr=""/>
            <p:cNvSpPr/>
            <p:nvPr/>
          </p:nvSpPr>
          <p:spPr>
            <a:xfrm>
              <a:off x="661987" y="4948237"/>
              <a:ext cx="295275" cy="295275"/>
            </a:xfrm>
            <a:custGeom>
              <a:avLst/>
              <a:gdLst/>
              <a:ahLst/>
              <a:cxnLst/>
              <a:rect l="l" t="t" r="r" b="b"/>
              <a:pathLst>
                <a:path w="295275" h="295275">
                  <a:moveTo>
                    <a:pt x="147637" y="0"/>
                  </a:moveTo>
                  <a:lnTo>
                    <a:pt x="104781" y="6356"/>
                  </a:lnTo>
                  <a:lnTo>
                    <a:pt x="65613" y="24879"/>
                  </a:lnTo>
                  <a:lnTo>
                    <a:pt x="33510" y="53978"/>
                  </a:lnTo>
                  <a:lnTo>
                    <a:pt x="11236" y="91135"/>
                  </a:lnTo>
                  <a:lnTo>
                    <a:pt x="709" y="133169"/>
                  </a:lnTo>
                  <a:lnTo>
                    <a:pt x="0" y="147637"/>
                  </a:lnTo>
                  <a:lnTo>
                    <a:pt x="177" y="154888"/>
                  </a:lnTo>
                  <a:lnTo>
                    <a:pt x="8627" y="197365"/>
                  </a:lnTo>
                  <a:lnTo>
                    <a:pt x="29057" y="235590"/>
                  </a:lnTo>
                  <a:lnTo>
                    <a:pt x="59680" y="266214"/>
                  </a:lnTo>
                  <a:lnTo>
                    <a:pt x="97908" y="286646"/>
                  </a:lnTo>
                  <a:lnTo>
                    <a:pt x="140384" y="295098"/>
                  </a:lnTo>
                  <a:lnTo>
                    <a:pt x="147637" y="295276"/>
                  </a:lnTo>
                  <a:lnTo>
                    <a:pt x="154890" y="295098"/>
                  </a:lnTo>
                  <a:lnTo>
                    <a:pt x="197366" y="286646"/>
                  </a:lnTo>
                  <a:lnTo>
                    <a:pt x="235594" y="266214"/>
                  </a:lnTo>
                  <a:lnTo>
                    <a:pt x="266217" y="235590"/>
                  </a:lnTo>
                  <a:lnTo>
                    <a:pt x="286647" y="197365"/>
                  </a:lnTo>
                  <a:lnTo>
                    <a:pt x="295097" y="154888"/>
                  </a:lnTo>
                  <a:lnTo>
                    <a:pt x="295275" y="147637"/>
                  </a:lnTo>
                  <a:lnTo>
                    <a:pt x="295097" y="140386"/>
                  </a:lnTo>
                  <a:lnTo>
                    <a:pt x="286647" y="97902"/>
                  </a:lnTo>
                  <a:lnTo>
                    <a:pt x="266217" y="59681"/>
                  </a:lnTo>
                  <a:lnTo>
                    <a:pt x="235594" y="29056"/>
                  </a:lnTo>
                  <a:lnTo>
                    <a:pt x="197366" y="8627"/>
                  </a:lnTo>
                  <a:lnTo>
                    <a:pt x="154890" y="176"/>
                  </a:lnTo>
                  <a:lnTo>
                    <a:pt x="147637" y="0"/>
                  </a:lnTo>
                  <a:close/>
                </a:path>
              </a:pathLst>
            </a:custGeom>
            <a:solidFill>
              <a:srgbClr val="8133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661987" y="4948237"/>
              <a:ext cx="295275" cy="295275"/>
            </a:xfrm>
            <a:custGeom>
              <a:avLst/>
              <a:gdLst/>
              <a:ahLst/>
              <a:cxnLst/>
              <a:rect l="l" t="t" r="r" b="b"/>
              <a:pathLst>
                <a:path w="295275" h="295275">
                  <a:moveTo>
                    <a:pt x="295275" y="147637"/>
                  </a:moveTo>
                  <a:lnTo>
                    <a:pt x="288918" y="190490"/>
                  </a:lnTo>
                  <a:lnTo>
                    <a:pt x="270395" y="229657"/>
                  </a:lnTo>
                  <a:lnTo>
                    <a:pt x="241300" y="261762"/>
                  </a:lnTo>
                  <a:lnTo>
                    <a:pt x="204137" y="284034"/>
                  </a:lnTo>
                  <a:lnTo>
                    <a:pt x="162107" y="294566"/>
                  </a:lnTo>
                  <a:lnTo>
                    <a:pt x="147637" y="295276"/>
                  </a:lnTo>
                  <a:lnTo>
                    <a:pt x="140384" y="295098"/>
                  </a:lnTo>
                  <a:lnTo>
                    <a:pt x="97908" y="286646"/>
                  </a:lnTo>
                  <a:lnTo>
                    <a:pt x="59680" y="266214"/>
                  </a:lnTo>
                  <a:lnTo>
                    <a:pt x="29057" y="235590"/>
                  </a:lnTo>
                  <a:lnTo>
                    <a:pt x="8627" y="197365"/>
                  </a:lnTo>
                  <a:lnTo>
                    <a:pt x="177" y="154888"/>
                  </a:lnTo>
                  <a:lnTo>
                    <a:pt x="0" y="147637"/>
                  </a:lnTo>
                  <a:lnTo>
                    <a:pt x="177" y="140386"/>
                  </a:lnTo>
                  <a:lnTo>
                    <a:pt x="8627" y="97902"/>
                  </a:lnTo>
                  <a:lnTo>
                    <a:pt x="29057" y="59681"/>
                  </a:lnTo>
                  <a:lnTo>
                    <a:pt x="59680" y="29056"/>
                  </a:lnTo>
                  <a:lnTo>
                    <a:pt x="97908" y="8627"/>
                  </a:lnTo>
                  <a:lnTo>
                    <a:pt x="140384" y="176"/>
                  </a:lnTo>
                  <a:lnTo>
                    <a:pt x="147637" y="0"/>
                  </a:lnTo>
                  <a:lnTo>
                    <a:pt x="154890" y="176"/>
                  </a:lnTo>
                  <a:lnTo>
                    <a:pt x="197366" y="8627"/>
                  </a:lnTo>
                  <a:lnTo>
                    <a:pt x="235594" y="29056"/>
                  </a:lnTo>
                  <a:lnTo>
                    <a:pt x="266217" y="59681"/>
                  </a:lnTo>
                  <a:lnTo>
                    <a:pt x="286647" y="97902"/>
                  </a:lnTo>
                  <a:lnTo>
                    <a:pt x="295097" y="140386"/>
                  </a:lnTo>
                  <a:lnTo>
                    <a:pt x="295275" y="147637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733822" y="4999354"/>
            <a:ext cx="154305" cy="1720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50" spc="-25">
                <a:solidFill>
                  <a:srgbClr val="FFFFFF"/>
                </a:solidFill>
                <a:latin typeface="Georgia"/>
                <a:cs typeface="Georgia"/>
              </a:rPr>
              <a:t>EI</a:t>
            </a:r>
            <a:endParaRPr sz="95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64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33606" y="611187"/>
            <a:ext cx="5419090" cy="1181735"/>
          </a:xfrm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 marR="5080">
              <a:lnSpc>
                <a:spcPts val="4650"/>
              </a:lnSpc>
              <a:spcBef>
                <a:spcPts val="5"/>
              </a:spcBef>
            </a:pPr>
            <a:r>
              <a:rPr dirty="0" spc="210">
                <a:latin typeface="Georgia"/>
                <a:cs typeface="Georgia"/>
              </a:rPr>
              <a:t>Concepto</a:t>
            </a:r>
            <a:r>
              <a:rPr dirty="0" spc="-10">
                <a:latin typeface="Georgia"/>
                <a:cs typeface="Georgia"/>
              </a:rPr>
              <a:t> </a:t>
            </a:r>
            <a:r>
              <a:rPr dirty="0" spc="290">
                <a:latin typeface="Georgia"/>
                <a:cs typeface="Georgia"/>
              </a:rPr>
              <a:t>y</a:t>
            </a:r>
            <a:r>
              <a:rPr dirty="0" spc="-5">
                <a:latin typeface="Georgia"/>
                <a:cs typeface="Georgia"/>
              </a:rPr>
              <a:t> </a:t>
            </a:r>
            <a:r>
              <a:rPr dirty="0" spc="210">
                <a:latin typeface="Georgia"/>
                <a:cs typeface="Georgia"/>
              </a:rPr>
              <a:t>Función</a:t>
            </a:r>
            <a:r>
              <a:rPr dirty="0" spc="-5">
                <a:latin typeface="Georgia"/>
                <a:cs typeface="Georgia"/>
              </a:rPr>
              <a:t> </a:t>
            </a:r>
            <a:r>
              <a:rPr dirty="0" spc="155">
                <a:latin typeface="Georgia"/>
                <a:cs typeface="Georgia"/>
              </a:rPr>
              <a:t>del </a:t>
            </a:r>
            <a:r>
              <a:rPr dirty="0" spc="50">
                <a:latin typeface="Georgia"/>
                <a:cs typeface="Georgia"/>
              </a:rPr>
              <a:t>DNS</a:t>
            </a:r>
          </a:p>
        </p:txBody>
      </p:sp>
      <p:grpSp>
        <p:nvGrpSpPr>
          <p:cNvPr id="4" name="object 4" descr=""/>
          <p:cNvGrpSpPr/>
          <p:nvPr/>
        </p:nvGrpSpPr>
        <p:grpSpPr>
          <a:xfrm>
            <a:off x="4943475" y="2105024"/>
            <a:ext cx="5829300" cy="1104900"/>
            <a:chOff x="4943475" y="2105024"/>
            <a:chExt cx="5829300" cy="1104900"/>
          </a:xfrm>
        </p:grpSpPr>
        <p:sp>
          <p:nvSpPr>
            <p:cNvPr id="5" name="object 5" descr=""/>
            <p:cNvSpPr/>
            <p:nvPr/>
          </p:nvSpPr>
          <p:spPr>
            <a:xfrm>
              <a:off x="4948237" y="2109787"/>
              <a:ext cx="5819775" cy="1095375"/>
            </a:xfrm>
            <a:custGeom>
              <a:avLst/>
              <a:gdLst/>
              <a:ahLst/>
              <a:cxnLst/>
              <a:rect l="l" t="t" r="r" b="b"/>
              <a:pathLst>
                <a:path w="5819775" h="1095375">
                  <a:moveTo>
                    <a:pt x="5762548" y="0"/>
                  </a:moveTo>
                  <a:lnTo>
                    <a:pt x="57226" y="0"/>
                  </a:lnTo>
                  <a:lnTo>
                    <a:pt x="53238" y="393"/>
                  </a:lnTo>
                  <a:lnTo>
                    <a:pt x="17945" y="17945"/>
                  </a:lnTo>
                  <a:lnTo>
                    <a:pt x="15100" y="20777"/>
                  </a:lnTo>
                  <a:lnTo>
                    <a:pt x="0" y="57226"/>
                  </a:lnTo>
                  <a:lnTo>
                    <a:pt x="0" y="1034122"/>
                  </a:lnTo>
                  <a:lnTo>
                    <a:pt x="0" y="1038148"/>
                  </a:lnTo>
                  <a:lnTo>
                    <a:pt x="15100" y="1074585"/>
                  </a:lnTo>
                  <a:lnTo>
                    <a:pt x="53238" y="1094981"/>
                  </a:lnTo>
                  <a:lnTo>
                    <a:pt x="57226" y="1095375"/>
                  </a:lnTo>
                  <a:lnTo>
                    <a:pt x="5762548" y="1095375"/>
                  </a:lnTo>
                  <a:lnTo>
                    <a:pt x="5798997" y="1080274"/>
                  </a:lnTo>
                  <a:lnTo>
                    <a:pt x="5819381" y="1042136"/>
                  </a:lnTo>
                  <a:lnTo>
                    <a:pt x="5819775" y="1038148"/>
                  </a:lnTo>
                  <a:lnTo>
                    <a:pt x="5819775" y="57226"/>
                  </a:lnTo>
                  <a:lnTo>
                    <a:pt x="5804674" y="20777"/>
                  </a:lnTo>
                  <a:lnTo>
                    <a:pt x="5766523" y="393"/>
                  </a:lnTo>
                  <a:lnTo>
                    <a:pt x="5762548" y="0"/>
                  </a:lnTo>
                  <a:close/>
                </a:path>
              </a:pathLst>
            </a:custGeom>
            <a:solidFill>
              <a:srgbClr val="00307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948237" y="2109787"/>
              <a:ext cx="5819775" cy="1095375"/>
            </a:xfrm>
            <a:custGeom>
              <a:avLst/>
              <a:gdLst/>
              <a:ahLst/>
              <a:cxnLst/>
              <a:rect l="l" t="t" r="r" b="b"/>
              <a:pathLst>
                <a:path w="5819775" h="1095375">
                  <a:moveTo>
                    <a:pt x="0" y="1034122"/>
                  </a:moveTo>
                  <a:lnTo>
                    <a:pt x="0" y="61239"/>
                  </a:lnTo>
                  <a:lnTo>
                    <a:pt x="0" y="57226"/>
                  </a:lnTo>
                  <a:lnTo>
                    <a:pt x="393" y="53238"/>
                  </a:lnTo>
                  <a:lnTo>
                    <a:pt x="1181" y="49301"/>
                  </a:lnTo>
                  <a:lnTo>
                    <a:pt x="1955" y="45351"/>
                  </a:lnTo>
                  <a:lnTo>
                    <a:pt x="3124" y="41529"/>
                  </a:lnTo>
                  <a:lnTo>
                    <a:pt x="4660" y="37807"/>
                  </a:lnTo>
                  <a:lnTo>
                    <a:pt x="6197" y="34086"/>
                  </a:lnTo>
                  <a:lnTo>
                    <a:pt x="8089" y="30556"/>
                  </a:lnTo>
                  <a:lnTo>
                    <a:pt x="10325" y="27216"/>
                  </a:lnTo>
                  <a:lnTo>
                    <a:pt x="12560" y="23876"/>
                  </a:lnTo>
                  <a:lnTo>
                    <a:pt x="15100" y="20777"/>
                  </a:lnTo>
                  <a:lnTo>
                    <a:pt x="17945" y="17945"/>
                  </a:lnTo>
                  <a:lnTo>
                    <a:pt x="20777" y="15087"/>
                  </a:lnTo>
                  <a:lnTo>
                    <a:pt x="49301" y="1181"/>
                  </a:lnTo>
                  <a:lnTo>
                    <a:pt x="53238" y="393"/>
                  </a:lnTo>
                  <a:lnTo>
                    <a:pt x="57226" y="0"/>
                  </a:lnTo>
                  <a:lnTo>
                    <a:pt x="61252" y="0"/>
                  </a:lnTo>
                  <a:lnTo>
                    <a:pt x="5758522" y="0"/>
                  </a:lnTo>
                  <a:lnTo>
                    <a:pt x="5762548" y="0"/>
                  </a:lnTo>
                  <a:lnTo>
                    <a:pt x="5766523" y="393"/>
                  </a:lnTo>
                  <a:lnTo>
                    <a:pt x="5770473" y="1181"/>
                  </a:lnTo>
                  <a:lnTo>
                    <a:pt x="5774423" y="1955"/>
                  </a:lnTo>
                  <a:lnTo>
                    <a:pt x="5801842" y="17945"/>
                  </a:lnTo>
                  <a:lnTo>
                    <a:pt x="5804674" y="20777"/>
                  </a:lnTo>
                  <a:lnTo>
                    <a:pt x="5815114" y="37807"/>
                  </a:lnTo>
                  <a:lnTo>
                    <a:pt x="5816650" y="41529"/>
                  </a:lnTo>
                  <a:lnTo>
                    <a:pt x="5817806" y="45351"/>
                  </a:lnTo>
                  <a:lnTo>
                    <a:pt x="5818593" y="49301"/>
                  </a:lnTo>
                  <a:lnTo>
                    <a:pt x="5819381" y="53238"/>
                  </a:lnTo>
                  <a:lnTo>
                    <a:pt x="5819775" y="57226"/>
                  </a:lnTo>
                  <a:lnTo>
                    <a:pt x="5819775" y="61239"/>
                  </a:lnTo>
                  <a:lnTo>
                    <a:pt x="5819775" y="1034122"/>
                  </a:lnTo>
                  <a:lnTo>
                    <a:pt x="5819775" y="1038148"/>
                  </a:lnTo>
                  <a:lnTo>
                    <a:pt x="5819381" y="1042136"/>
                  </a:lnTo>
                  <a:lnTo>
                    <a:pt x="5818593" y="1046073"/>
                  </a:lnTo>
                  <a:lnTo>
                    <a:pt x="5817806" y="1050023"/>
                  </a:lnTo>
                  <a:lnTo>
                    <a:pt x="5816650" y="1053858"/>
                  </a:lnTo>
                  <a:lnTo>
                    <a:pt x="5815114" y="1057567"/>
                  </a:lnTo>
                  <a:lnTo>
                    <a:pt x="5813577" y="1061275"/>
                  </a:lnTo>
                  <a:lnTo>
                    <a:pt x="5785688" y="1089177"/>
                  </a:lnTo>
                  <a:lnTo>
                    <a:pt x="5781967" y="1090714"/>
                  </a:lnTo>
                  <a:lnTo>
                    <a:pt x="5778246" y="1092250"/>
                  </a:lnTo>
                  <a:lnTo>
                    <a:pt x="5774423" y="1093406"/>
                  </a:lnTo>
                  <a:lnTo>
                    <a:pt x="5770473" y="1094193"/>
                  </a:lnTo>
                  <a:lnTo>
                    <a:pt x="5766523" y="1094981"/>
                  </a:lnTo>
                  <a:lnTo>
                    <a:pt x="5762548" y="1095375"/>
                  </a:lnTo>
                  <a:lnTo>
                    <a:pt x="5758522" y="1095375"/>
                  </a:lnTo>
                  <a:lnTo>
                    <a:pt x="61252" y="1095375"/>
                  </a:lnTo>
                  <a:lnTo>
                    <a:pt x="57226" y="1095375"/>
                  </a:lnTo>
                  <a:lnTo>
                    <a:pt x="53238" y="1094981"/>
                  </a:lnTo>
                  <a:lnTo>
                    <a:pt x="49301" y="1094193"/>
                  </a:lnTo>
                  <a:lnTo>
                    <a:pt x="45351" y="1093406"/>
                  </a:lnTo>
                  <a:lnTo>
                    <a:pt x="41529" y="1092250"/>
                  </a:lnTo>
                  <a:lnTo>
                    <a:pt x="37807" y="1090714"/>
                  </a:lnTo>
                  <a:lnTo>
                    <a:pt x="34086" y="1089177"/>
                  </a:lnTo>
                  <a:lnTo>
                    <a:pt x="6197" y="1061275"/>
                  </a:lnTo>
                  <a:lnTo>
                    <a:pt x="4660" y="1057567"/>
                  </a:lnTo>
                  <a:lnTo>
                    <a:pt x="3124" y="1053858"/>
                  </a:lnTo>
                  <a:lnTo>
                    <a:pt x="1955" y="1050023"/>
                  </a:lnTo>
                  <a:lnTo>
                    <a:pt x="1181" y="1046073"/>
                  </a:lnTo>
                  <a:lnTo>
                    <a:pt x="393" y="1042136"/>
                  </a:lnTo>
                  <a:lnTo>
                    <a:pt x="0" y="1038148"/>
                  </a:lnTo>
                  <a:lnTo>
                    <a:pt x="0" y="1034122"/>
                  </a:lnTo>
                  <a:close/>
                </a:path>
              </a:pathLst>
            </a:custGeom>
            <a:ln w="9525">
              <a:solidFill>
                <a:srgbClr val="184A9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5131689" y="2275681"/>
            <a:ext cx="4420235" cy="6896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850" spc="90">
                <a:solidFill>
                  <a:srgbClr val="E2E6E9"/>
                </a:solidFill>
                <a:latin typeface="Georgia"/>
                <a:cs typeface="Georgia"/>
              </a:rPr>
              <a:t>Definición</a:t>
            </a:r>
            <a:endParaRPr sz="18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255"/>
              </a:spcBef>
            </a:pPr>
            <a:r>
              <a:rPr dirty="0" sz="1450" spc="100">
                <a:solidFill>
                  <a:srgbClr val="E2E6E9"/>
                </a:solidFill>
                <a:latin typeface="Georgia"/>
                <a:cs typeface="Georgia"/>
              </a:rPr>
              <a:t>Sistema</a:t>
            </a:r>
            <a:r>
              <a:rPr dirty="0" sz="1450" spc="15">
                <a:solidFill>
                  <a:srgbClr val="E2E6E9"/>
                </a:solidFill>
                <a:latin typeface="Georgia"/>
                <a:cs typeface="Georgia"/>
              </a:rPr>
              <a:t> </a:t>
            </a:r>
            <a:r>
              <a:rPr dirty="0" sz="1450" spc="90">
                <a:solidFill>
                  <a:srgbClr val="E2E6E9"/>
                </a:solidFill>
                <a:latin typeface="Georgia"/>
                <a:cs typeface="Georgia"/>
              </a:rPr>
              <a:t>de</a:t>
            </a:r>
            <a:r>
              <a:rPr dirty="0" sz="1450" spc="15">
                <a:solidFill>
                  <a:srgbClr val="E2E6E9"/>
                </a:solidFill>
                <a:latin typeface="Georgia"/>
                <a:cs typeface="Georgia"/>
              </a:rPr>
              <a:t> </a:t>
            </a:r>
            <a:r>
              <a:rPr dirty="0" sz="1450" spc="90">
                <a:solidFill>
                  <a:srgbClr val="E2E6E9"/>
                </a:solidFill>
                <a:latin typeface="Georgia"/>
                <a:cs typeface="Georgia"/>
              </a:rPr>
              <a:t>traducción</a:t>
            </a:r>
            <a:r>
              <a:rPr dirty="0" sz="1450" spc="20">
                <a:solidFill>
                  <a:srgbClr val="E2E6E9"/>
                </a:solidFill>
                <a:latin typeface="Georgia"/>
                <a:cs typeface="Georgia"/>
              </a:rPr>
              <a:t> </a:t>
            </a:r>
            <a:r>
              <a:rPr dirty="0" sz="1450" spc="140">
                <a:solidFill>
                  <a:srgbClr val="E2E6E9"/>
                </a:solidFill>
                <a:latin typeface="Georgia"/>
                <a:cs typeface="Georgia"/>
              </a:rPr>
              <a:t>nombres-</a:t>
            </a:r>
            <a:r>
              <a:rPr dirty="0" sz="1450" spc="90">
                <a:solidFill>
                  <a:srgbClr val="E2E6E9"/>
                </a:solidFill>
                <a:latin typeface="Georgia"/>
                <a:cs typeface="Georgia"/>
              </a:rPr>
              <a:t>direcciones</a:t>
            </a:r>
            <a:r>
              <a:rPr dirty="0" sz="1450" spc="15">
                <a:solidFill>
                  <a:srgbClr val="E2E6E9"/>
                </a:solidFill>
                <a:latin typeface="Georgia"/>
                <a:cs typeface="Georgia"/>
              </a:rPr>
              <a:t> </a:t>
            </a:r>
            <a:r>
              <a:rPr dirty="0" sz="1450" spc="-25">
                <a:solidFill>
                  <a:srgbClr val="E2E6E9"/>
                </a:solidFill>
                <a:latin typeface="Georgia"/>
                <a:cs typeface="Georgia"/>
              </a:rPr>
              <a:t>IP.</a:t>
            </a:r>
            <a:endParaRPr sz="1450">
              <a:latin typeface="Georgia"/>
              <a:cs typeface="Georgia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4943475" y="3400425"/>
            <a:ext cx="5829300" cy="1104900"/>
            <a:chOff x="4943475" y="3400425"/>
            <a:chExt cx="5829300" cy="1104900"/>
          </a:xfrm>
        </p:grpSpPr>
        <p:sp>
          <p:nvSpPr>
            <p:cNvPr id="9" name="object 9" descr=""/>
            <p:cNvSpPr/>
            <p:nvPr/>
          </p:nvSpPr>
          <p:spPr>
            <a:xfrm>
              <a:off x="4948237" y="3405187"/>
              <a:ext cx="5819775" cy="1095375"/>
            </a:xfrm>
            <a:custGeom>
              <a:avLst/>
              <a:gdLst/>
              <a:ahLst/>
              <a:cxnLst/>
              <a:rect l="l" t="t" r="r" b="b"/>
              <a:pathLst>
                <a:path w="5819775" h="1095375">
                  <a:moveTo>
                    <a:pt x="5762548" y="0"/>
                  </a:moveTo>
                  <a:lnTo>
                    <a:pt x="57226" y="0"/>
                  </a:lnTo>
                  <a:lnTo>
                    <a:pt x="53238" y="393"/>
                  </a:lnTo>
                  <a:lnTo>
                    <a:pt x="17945" y="17945"/>
                  </a:lnTo>
                  <a:lnTo>
                    <a:pt x="15100" y="20777"/>
                  </a:lnTo>
                  <a:lnTo>
                    <a:pt x="0" y="57226"/>
                  </a:lnTo>
                  <a:lnTo>
                    <a:pt x="0" y="1034122"/>
                  </a:lnTo>
                  <a:lnTo>
                    <a:pt x="0" y="1038148"/>
                  </a:lnTo>
                  <a:lnTo>
                    <a:pt x="15100" y="1074585"/>
                  </a:lnTo>
                  <a:lnTo>
                    <a:pt x="53238" y="1094981"/>
                  </a:lnTo>
                  <a:lnTo>
                    <a:pt x="57226" y="1095375"/>
                  </a:lnTo>
                  <a:lnTo>
                    <a:pt x="5762548" y="1095375"/>
                  </a:lnTo>
                  <a:lnTo>
                    <a:pt x="5798997" y="1080274"/>
                  </a:lnTo>
                  <a:lnTo>
                    <a:pt x="5819381" y="1042123"/>
                  </a:lnTo>
                  <a:lnTo>
                    <a:pt x="5819775" y="1038148"/>
                  </a:lnTo>
                  <a:lnTo>
                    <a:pt x="5819775" y="57226"/>
                  </a:lnTo>
                  <a:lnTo>
                    <a:pt x="5804674" y="20777"/>
                  </a:lnTo>
                  <a:lnTo>
                    <a:pt x="5766523" y="393"/>
                  </a:lnTo>
                  <a:lnTo>
                    <a:pt x="5762548" y="0"/>
                  </a:lnTo>
                  <a:close/>
                </a:path>
              </a:pathLst>
            </a:custGeom>
            <a:solidFill>
              <a:srgbClr val="00307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948237" y="3405187"/>
              <a:ext cx="5819775" cy="1095375"/>
            </a:xfrm>
            <a:custGeom>
              <a:avLst/>
              <a:gdLst/>
              <a:ahLst/>
              <a:cxnLst/>
              <a:rect l="l" t="t" r="r" b="b"/>
              <a:pathLst>
                <a:path w="5819775" h="1095375">
                  <a:moveTo>
                    <a:pt x="0" y="1034122"/>
                  </a:moveTo>
                  <a:lnTo>
                    <a:pt x="0" y="61239"/>
                  </a:lnTo>
                  <a:lnTo>
                    <a:pt x="0" y="57226"/>
                  </a:lnTo>
                  <a:lnTo>
                    <a:pt x="393" y="53238"/>
                  </a:lnTo>
                  <a:lnTo>
                    <a:pt x="1181" y="49301"/>
                  </a:lnTo>
                  <a:lnTo>
                    <a:pt x="1955" y="45351"/>
                  </a:lnTo>
                  <a:lnTo>
                    <a:pt x="3124" y="41529"/>
                  </a:lnTo>
                  <a:lnTo>
                    <a:pt x="4660" y="37807"/>
                  </a:lnTo>
                  <a:lnTo>
                    <a:pt x="6197" y="34086"/>
                  </a:lnTo>
                  <a:lnTo>
                    <a:pt x="8089" y="30556"/>
                  </a:lnTo>
                  <a:lnTo>
                    <a:pt x="10325" y="27216"/>
                  </a:lnTo>
                  <a:lnTo>
                    <a:pt x="12560" y="23876"/>
                  </a:lnTo>
                  <a:lnTo>
                    <a:pt x="15100" y="20777"/>
                  </a:lnTo>
                  <a:lnTo>
                    <a:pt x="17945" y="17945"/>
                  </a:lnTo>
                  <a:lnTo>
                    <a:pt x="20777" y="15087"/>
                  </a:lnTo>
                  <a:lnTo>
                    <a:pt x="49301" y="1181"/>
                  </a:lnTo>
                  <a:lnTo>
                    <a:pt x="53238" y="393"/>
                  </a:lnTo>
                  <a:lnTo>
                    <a:pt x="57226" y="0"/>
                  </a:lnTo>
                  <a:lnTo>
                    <a:pt x="61252" y="0"/>
                  </a:lnTo>
                  <a:lnTo>
                    <a:pt x="5758522" y="0"/>
                  </a:lnTo>
                  <a:lnTo>
                    <a:pt x="5762548" y="0"/>
                  </a:lnTo>
                  <a:lnTo>
                    <a:pt x="5766523" y="393"/>
                  </a:lnTo>
                  <a:lnTo>
                    <a:pt x="5770473" y="1181"/>
                  </a:lnTo>
                  <a:lnTo>
                    <a:pt x="5774423" y="1955"/>
                  </a:lnTo>
                  <a:lnTo>
                    <a:pt x="5807214" y="23876"/>
                  </a:lnTo>
                  <a:lnTo>
                    <a:pt x="5815114" y="37807"/>
                  </a:lnTo>
                  <a:lnTo>
                    <a:pt x="5816650" y="41529"/>
                  </a:lnTo>
                  <a:lnTo>
                    <a:pt x="5817806" y="45351"/>
                  </a:lnTo>
                  <a:lnTo>
                    <a:pt x="5818593" y="49301"/>
                  </a:lnTo>
                  <a:lnTo>
                    <a:pt x="5819381" y="53238"/>
                  </a:lnTo>
                  <a:lnTo>
                    <a:pt x="5819775" y="57226"/>
                  </a:lnTo>
                  <a:lnTo>
                    <a:pt x="5819775" y="61239"/>
                  </a:lnTo>
                  <a:lnTo>
                    <a:pt x="5819775" y="1034122"/>
                  </a:lnTo>
                  <a:lnTo>
                    <a:pt x="5819775" y="1038148"/>
                  </a:lnTo>
                  <a:lnTo>
                    <a:pt x="5819381" y="1042123"/>
                  </a:lnTo>
                  <a:lnTo>
                    <a:pt x="5818593" y="1046073"/>
                  </a:lnTo>
                  <a:lnTo>
                    <a:pt x="5817806" y="1050023"/>
                  </a:lnTo>
                  <a:lnTo>
                    <a:pt x="5795899" y="1082814"/>
                  </a:lnTo>
                  <a:lnTo>
                    <a:pt x="5770473" y="1094193"/>
                  </a:lnTo>
                  <a:lnTo>
                    <a:pt x="5766523" y="1094981"/>
                  </a:lnTo>
                  <a:lnTo>
                    <a:pt x="5762548" y="1095375"/>
                  </a:lnTo>
                  <a:lnTo>
                    <a:pt x="5758522" y="1095375"/>
                  </a:lnTo>
                  <a:lnTo>
                    <a:pt x="61252" y="1095375"/>
                  </a:lnTo>
                  <a:lnTo>
                    <a:pt x="57226" y="1095375"/>
                  </a:lnTo>
                  <a:lnTo>
                    <a:pt x="53238" y="1094981"/>
                  </a:lnTo>
                  <a:lnTo>
                    <a:pt x="49301" y="1094193"/>
                  </a:lnTo>
                  <a:lnTo>
                    <a:pt x="45351" y="1093406"/>
                  </a:lnTo>
                  <a:lnTo>
                    <a:pt x="12560" y="1071499"/>
                  </a:lnTo>
                  <a:lnTo>
                    <a:pt x="1181" y="1046073"/>
                  </a:lnTo>
                  <a:lnTo>
                    <a:pt x="393" y="1042123"/>
                  </a:lnTo>
                  <a:lnTo>
                    <a:pt x="0" y="1038148"/>
                  </a:lnTo>
                  <a:lnTo>
                    <a:pt x="0" y="1034122"/>
                  </a:lnTo>
                  <a:close/>
                </a:path>
              </a:pathLst>
            </a:custGeom>
            <a:ln w="9525">
              <a:solidFill>
                <a:srgbClr val="184A9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5131689" y="3561556"/>
            <a:ext cx="4415790" cy="6991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850" spc="100">
                <a:solidFill>
                  <a:srgbClr val="E2E6E9"/>
                </a:solidFill>
                <a:latin typeface="Georgia"/>
                <a:cs typeface="Georgia"/>
              </a:rPr>
              <a:t>Importancia</a:t>
            </a:r>
            <a:endParaRPr sz="18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330"/>
              </a:spcBef>
            </a:pPr>
            <a:r>
              <a:rPr dirty="0" sz="1450" spc="75">
                <a:solidFill>
                  <a:srgbClr val="E2E6E9"/>
                </a:solidFill>
                <a:latin typeface="Georgia"/>
                <a:cs typeface="Georgia"/>
              </a:rPr>
              <a:t>Facilita</a:t>
            </a:r>
            <a:r>
              <a:rPr dirty="0" sz="1450" spc="5">
                <a:solidFill>
                  <a:srgbClr val="E2E6E9"/>
                </a:solidFill>
                <a:latin typeface="Georgia"/>
                <a:cs typeface="Georgia"/>
              </a:rPr>
              <a:t> </a:t>
            </a:r>
            <a:r>
              <a:rPr dirty="0" sz="1450" spc="105">
                <a:solidFill>
                  <a:srgbClr val="E2E6E9"/>
                </a:solidFill>
                <a:latin typeface="Georgia"/>
                <a:cs typeface="Georgia"/>
              </a:rPr>
              <a:t>navegación</a:t>
            </a:r>
            <a:r>
              <a:rPr dirty="0" sz="1450" spc="10">
                <a:solidFill>
                  <a:srgbClr val="E2E6E9"/>
                </a:solidFill>
                <a:latin typeface="Georgia"/>
                <a:cs typeface="Georgia"/>
              </a:rPr>
              <a:t> </a:t>
            </a:r>
            <a:r>
              <a:rPr dirty="0" sz="1450" spc="110">
                <a:solidFill>
                  <a:srgbClr val="E2E6E9"/>
                </a:solidFill>
                <a:latin typeface="Georgia"/>
                <a:cs typeface="Georgia"/>
              </a:rPr>
              <a:t>web</a:t>
            </a:r>
            <a:r>
              <a:rPr dirty="0" sz="1450" spc="10">
                <a:solidFill>
                  <a:srgbClr val="E2E6E9"/>
                </a:solidFill>
                <a:latin typeface="Georgia"/>
                <a:cs typeface="Georgia"/>
              </a:rPr>
              <a:t> </a:t>
            </a:r>
            <a:r>
              <a:rPr dirty="0" sz="1450" spc="135">
                <a:solidFill>
                  <a:srgbClr val="E2E6E9"/>
                </a:solidFill>
                <a:latin typeface="Georgia"/>
                <a:cs typeface="Georgia"/>
              </a:rPr>
              <a:t>y</a:t>
            </a:r>
            <a:r>
              <a:rPr dirty="0" sz="1450" spc="10">
                <a:solidFill>
                  <a:srgbClr val="E2E6E9"/>
                </a:solidFill>
                <a:latin typeface="Georgia"/>
                <a:cs typeface="Georgia"/>
              </a:rPr>
              <a:t> </a:t>
            </a:r>
            <a:r>
              <a:rPr dirty="0" sz="1450" spc="100">
                <a:solidFill>
                  <a:srgbClr val="E2E6E9"/>
                </a:solidFill>
                <a:latin typeface="Georgia"/>
                <a:cs typeface="Georgia"/>
              </a:rPr>
              <a:t>comunicación</a:t>
            </a:r>
            <a:r>
              <a:rPr dirty="0" sz="1450" spc="5">
                <a:solidFill>
                  <a:srgbClr val="E2E6E9"/>
                </a:solidFill>
                <a:latin typeface="Georgia"/>
                <a:cs typeface="Georgia"/>
              </a:rPr>
              <a:t> </a:t>
            </a:r>
            <a:r>
              <a:rPr dirty="0" sz="1450" spc="110">
                <a:solidFill>
                  <a:srgbClr val="E2E6E9"/>
                </a:solidFill>
                <a:latin typeface="Georgia"/>
                <a:cs typeface="Georgia"/>
              </a:rPr>
              <a:t>en</a:t>
            </a:r>
            <a:r>
              <a:rPr dirty="0" sz="1450" spc="10">
                <a:solidFill>
                  <a:srgbClr val="E2E6E9"/>
                </a:solidFill>
                <a:latin typeface="Georgia"/>
                <a:cs typeface="Georgia"/>
              </a:rPr>
              <a:t> </a:t>
            </a:r>
            <a:r>
              <a:rPr dirty="0" sz="1450" spc="40">
                <a:solidFill>
                  <a:srgbClr val="E2E6E9"/>
                </a:solidFill>
                <a:latin typeface="Georgia"/>
                <a:cs typeface="Georgia"/>
              </a:rPr>
              <a:t>red.</a:t>
            </a:r>
            <a:endParaRPr sz="1450">
              <a:latin typeface="Georgia"/>
              <a:cs typeface="Georgia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4943475" y="4695825"/>
            <a:ext cx="5829300" cy="1104900"/>
            <a:chOff x="4943475" y="4695825"/>
            <a:chExt cx="5829300" cy="1104900"/>
          </a:xfrm>
        </p:grpSpPr>
        <p:sp>
          <p:nvSpPr>
            <p:cNvPr id="13" name="object 13" descr=""/>
            <p:cNvSpPr/>
            <p:nvPr/>
          </p:nvSpPr>
          <p:spPr>
            <a:xfrm>
              <a:off x="4948237" y="4700587"/>
              <a:ext cx="5819775" cy="1095375"/>
            </a:xfrm>
            <a:custGeom>
              <a:avLst/>
              <a:gdLst/>
              <a:ahLst/>
              <a:cxnLst/>
              <a:rect l="l" t="t" r="r" b="b"/>
              <a:pathLst>
                <a:path w="5819775" h="1095375">
                  <a:moveTo>
                    <a:pt x="5762548" y="0"/>
                  </a:moveTo>
                  <a:lnTo>
                    <a:pt x="57226" y="0"/>
                  </a:lnTo>
                  <a:lnTo>
                    <a:pt x="53238" y="393"/>
                  </a:lnTo>
                  <a:lnTo>
                    <a:pt x="17945" y="17945"/>
                  </a:lnTo>
                  <a:lnTo>
                    <a:pt x="15100" y="20777"/>
                  </a:lnTo>
                  <a:lnTo>
                    <a:pt x="0" y="57226"/>
                  </a:lnTo>
                  <a:lnTo>
                    <a:pt x="0" y="1034127"/>
                  </a:lnTo>
                  <a:lnTo>
                    <a:pt x="0" y="1038151"/>
                  </a:lnTo>
                  <a:lnTo>
                    <a:pt x="15100" y="1074590"/>
                  </a:lnTo>
                  <a:lnTo>
                    <a:pt x="53238" y="1094983"/>
                  </a:lnTo>
                  <a:lnTo>
                    <a:pt x="57226" y="1095376"/>
                  </a:lnTo>
                  <a:lnTo>
                    <a:pt x="5762548" y="1095376"/>
                  </a:lnTo>
                  <a:lnTo>
                    <a:pt x="5798997" y="1080279"/>
                  </a:lnTo>
                  <a:lnTo>
                    <a:pt x="5819381" y="1042130"/>
                  </a:lnTo>
                  <a:lnTo>
                    <a:pt x="5819775" y="1038151"/>
                  </a:lnTo>
                  <a:lnTo>
                    <a:pt x="5819775" y="57226"/>
                  </a:lnTo>
                  <a:lnTo>
                    <a:pt x="5804674" y="20777"/>
                  </a:lnTo>
                  <a:lnTo>
                    <a:pt x="5766523" y="393"/>
                  </a:lnTo>
                  <a:lnTo>
                    <a:pt x="5762548" y="0"/>
                  </a:lnTo>
                  <a:close/>
                </a:path>
              </a:pathLst>
            </a:custGeom>
            <a:solidFill>
              <a:srgbClr val="00307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4948237" y="4700587"/>
              <a:ext cx="5819775" cy="1095375"/>
            </a:xfrm>
            <a:custGeom>
              <a:avLst/>
              <a:gdLst/>
              <a:ahLst/>
              <a:cxnLst/>
              <a:rect l="l" t="t" r="r" b="b"/>
              <a:pathLst>
                <a:path w="5819775" h="1095375">
                  <a:moveTo>
                    <a:pt x="0" y="1034127"/>
                  </a:moveTo>
                  <a:lnTo>
                    <a:pt x="0" y="61239"/>
                  </a:lnTo>
                  <a:lnTo>
                    <a:pt x="0" y="57226"/>
                  </a:lnTo>
                  <a:lnTo>
                    <a:pt x="393" y="53238"/>
                  </a:lnTo>
                  <a:lnTo>
                    <a:pt x="1181" y="49301"/>
                  </a:lnTo>
                  <a:lnTo>
                    <a:pt x="1955" y="45351"/>
                  </a:lnTo>
                  <a:lnTo>
                    <a:pt x="3124" y="41529"/>
                  </a:lnTo>
                  <a:lnTo>
                    <a:pt x="4660" y="37807"/>
                  </a:lnTo>
                  <a:lnTo>
                    <a:pt x="6197" y="34086"/>
                  </a:lnTo>
                  <a:lnTo>
                    <a:pt x="8089" y="30556"/>
                  </a:lnTo>
                  <a:lnTo>
                    <a:pt x="10325" y="27216"/>
                  </a:lnTo>
                  <a:lnTo>
                    <a:pt x="12560" y="23876"/>
                  </a:lnTo>
                  <a:lnTo>
                    <a:pt x="15100" y="20777"/>
                  </a:lnTo>
                  <a:lnTo>
                    <a:pt x="17945" y="17945"/>
                  </a:lnTo>
                  <a:lnTo>
                    <a:pt x="20777" y="15087"/>
                  </a:lnTo>
                  <a:lnTo>
                    <a:pt x="37807" y="4660"/>
                  </a:lnTo>
                  <a:lnTo>
                    <a:pt x="41529" y="3124"/>
                  </a:lnTo>
                  <a:lnTo>
                    <a:pt x="45351" y="1955"/>
                  </a:lnTo>
                  <a:lnTo>
                    <a:pt x="49301" y="1181"/>
                  </a:lnTo>
                  <a:lnTo>
                    <a:pt x="53238" y="393"/>
                  </a:lnTo>
                  <a:lnTo>
                    <a:pt x="57226" y="0"/>
                  </a:lnTo>
                  <a:lnTo>
                    <a:pt x="61252" y="0"/>
                  </a:lnTo>
                  <a:lnTo>
                    <a:pt x="5758522" y="0"/>
                  </a:lnTo>
                  <a:lnTo>
                    <a:pt x="5762548" y="0"/>
                  </a:lnTo>
                  <a:lnTo>
                    <a:pt x="5766523" y="393"/>
                  </a:lnTo>
                  <a:lnTo>
                    <a:pt x="5770473" y="1181"/>
                  </a:lnTo>
                  <a:lnTo>
                    <a:pt x="5774423" y="1955"/>
                  </a:lnTo>
                  <a:lnTo>
                    <a:pt x="5778246" y="3124"/>
                  </a:lnTo>
                  <a:lnTo>
                    <a:pt x="5781967" y="4660"/>
                  </a:lnTo>
                  <a:lnTo>
                    <a:pt x="5785688" y="6197"/>
                  </a:lnTo>
                  <a:lnTo>
                    <a:pt x="5789206" y="8089"/>
                  </a:lnTo>
                  <a:lnTo>
                    <a:pt x="5792558" y="10325"/>
                  </a:lnTo>
                  <a:lnTo>
                    <a:pt x="5795899" y="12547"/>
                  </a:lnTo>
                  <a:lnTo>
                    <a:pt x="5815114" y="37807"/>
                  </a:lnTo>
                  <a:lnTo>
                    <a:pt x="5816650" y="41529"/>
                  </a:lnTo>
                  <a:lnTo>
                    <a:pt x="5817806" y="45351"/>
                  </a:lnTo>
                  <a:lnTo>
                    <a:pt x="5818593" y="49301"/>
                  </a:lnTo>
                  <a:lnTo>
                    <a:pt x="5819381" y="53238"/>
                  </a:lnTo>
                  <a:lnTo>
                    <a:pt x="5819775" y="57226"/>
                  </a:lnTo>
                  <a:lnTo>
                    <a:pt x="5819775" y="61239"/>
                  </a:lnTo>
                  <a:lnTo>
                    <a:pt x="5819775" y="1034127"/>
                  </a:lnTo>
                  <a:lnTo>
                    <a:pt x="5819775" y="1038151"/>
                  </a:lnTo>
                  <a:lnTo>
                    <a:pt x="5819381" y="1042130"/>
                  </a:lnTo>
                  <a:lnTo>
                    <a:pt x="5818593" y="1046073"/>
                  </a:lnTo>
                  <a:lnTo>
                    <a:pt x="5817806" y="1050018"/>
                  </a:lnTo>
                  <a:lnTo>
                    <a:pt x="5816650" y="1053848"/>
                  </a:lnTo>
                  <a:lnTo>
                    <a:pt x="5815114" y="1057563"/>
                  </a:lnTo>
                  <a:lnTo>
                    <a:pt x="5813577" y="1061279"/>
                  </a:lnTo>
                  <a:lnTo>
                    <a:pt x="5785688" y="1089174"/>
                  </a:lnTo>
                  <a:lnTo>
                    <a:pt x="5781967" y="1090712"/>
                  </a:lnTo>
                  <a:lnTo>
                    <a:pt x="5778246" y="1092250"/>
                  </a:lnTo>
                  <a:lnTo>
                    <a:pt x="5774423" y="1093411"/>
                  </a:lnTo>
                  <a:lnTo>
                    <a:pt x="5770473" y="1094195"/>
                  </a:lnTo>
                  <a:lnTo>
                    <a:pt x="5766523" y="1094983"/>
                  </a:lnTo>
                  <a:lnTo>
                    <a:pt x="5762548" y="1095376"/>
                  </a:lnTo>
                  <a:lnTo>
                    <a:pt x="5758522" y="1095376"/>
                  </a:lnTo>
                  <a:lnTo>
                    <a:pt x="61252" y="1095376"/>
                  </a:lnTo>
                  <a:lnTo>
                    <a:pt x="57226" y="1095376"/>
                  </a:lnTo>
                  <a:lnTo>
                    <a:pt x="53238" y="1094983"/>
                  </a:lnTo>
                  <a:lnTo>
                    <a:pt x="49301" y="1094195"/>
                  </a:lnTo>
                  <a:lnTo>
                    <a:pt x="45351" y="1093411"/>
                  </a:lnTo>
                  <a:lnTo>
                    <a:pt x="41529" y="1092250"/>
                  </a:lnTo>
                  <a:lnTo>
                    <a:pt x="37807" y="1090712"/>
                  </a:lnTo>
                  <a:lnTo>
                    <a:pt x="34086" y="1089174"/>
                  </a:lnTo>
                  <a:lnTo>
                    <a:pt x="17945" y="1077437"/>
                  </a:lnTo>
                  <a:lnTo>
                    <a:pt x="15100" y="1074590"/>
                  </a:lnTo>
                  <a:lnTo>
                    <a:pt x="4660" y="1057563"/>
                  </a:lnTo>
                  <a:lnTo>
                    <a:pt x="3124" y="1053848"/>
                  </a:lnTo>
                  <a:lnTo>
                    <a:pt x="1955" y="1050018"/>
                  </a:lnTo>
                  <a:lnTo>
                    <a:pt x="1181" y="1046073"/>
                  </a:lnTo>
                  <a:lnTo>
                    <a:pt x="393" y="1042130"/>
                  </a:lnTo>
                  <a:lnTo>
                    <a:pt x="0" y="1038151"/>
                  </a:lnTo>
                  <a:lnTo>
                    <a:pt x="0" y="1034127"/>
                  </a:lnTo>
                  <a:close/>
                </a:path>
              </a:pathLst>
            </a:custGeom>
            <a:ln w="9525">
              <a:solidFill>
                <a:srgbClr val="184A9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5131689" y="4856956"/>
            <a:ext cx="4237355" cy="6991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850" spc="85">
                <a:solidFill>
                  <a:srgbClr val="E2E6E9"/>
                </a:solidFill>
                <a:latin typeface="Georgia"/>
                <a:cs typeface="Georgia"/>
              </a:rPr>
              <a:t>Ejemplo</a:t>
            </a:r>
            <a:endParaRPr sz="18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330"/>
              </a:spcBef>
            </a:pPr>
            <a:r>
              <a:rPr dirty="0" sz="1450" spc="100">
                <a:solidFill>
                  <a:srgbClr val="E2E6E9"/>
                </a:solidFill>
                <a:latin typeface="Georgia"/>
                <a:cs typeface="Georgia"/>
                <a:hlinkClick r:id="rId3"/>
              </a:rPr>
              <a:t>www.ejemplo.com</a:t>
            </a:r>
            <a:r>
              <a:rPr dirty="0" sz="1450" spc="10">
                <a:solidFill>
                  <a:srgbClr val="E2E6E9"/>
                </a:solidFill>
                <a:latin typeface="Georgia"/>
                <a:cs typeface="Georgia"/>
              </a:rPr>
              <a:t> </a:t>
            </a:r>
            <a:r>
              <a:rPr dirty="0" sz="1450" spc="105">
                <a:solidFill>
                  <a:srgbClr val="E2E6E9"/>
                </a:solidFill>
                <a:latin typeface="Georgia"/>
                <a:cs typeface="Georgia"/>
              </a:rPr>
              <a:t>se</a:t>
            </a:r>
            <a:r>
              <a:rPr dirty="0" sz="1450" spc="15">
                <a:solidFill>
                  <a:srgbClr val="E2E6E9"/>
                </a:solidFill>
                <a:latin typeface="Georgia"/>
                <a:cs typeface="Georgia"/>
              </a:rPr>
              <a:t> </a:t>
            </a:r>
            <a:r>
              <a:rPr dirty="0" sz="1450" spc="95">
                <a:solidFill>
                  <a:srgbClr val="E2E6E9"/>
                </a:solidFill>
                <a:latin typeface="Georgia"/>
                <a:cs typeface="Georgia"/>
              </a:rPr>
              <a:t>convierte</a:t>
            </a:r>
            <a:r>
              <a:rPr dirty="0" sz="1450" spc="15">
                <a:solidFill>
                  <a:srgbClr val="E2E6E9"/>
                </a:solidFill>
                <a:latin typeface="Georgia"/>
                <a:cs typeface="Georgia"/>
              </a:rPr>
              <a:t> </a:t>
            </a:r>
            <a:r>
              <a:rPr dirty="0" sz="1450" spc="110">
                <a:solidFill>
                  <a:srgbClr val="E2E6E9"/>
                </a:solidFill>
                <a:latin typeface="Georgia"/>
                <a:cs typeface="Georgia"/>
              </a:rPr>
              <a:t>en</a:t>
            </a:r>
            <a:r>
              <a:rPr dirty="0" sz="1450" spc="15">
                <a:solidFill>
                  <a:srgbClr val="E2E6E9"/>
                </a:solidFill>
                <a:latin typeface="Georgia"/>
                <a:cs typeface="Georgia"/>
              </a:rPr>
              <a:t> </a:t>
            </a:r>
            <a:r>
              <a:rPr dirty="0" sz="1450" spc="-10">
                <a:solidFill>
                  <a:srgbClr val="E2E6E9"/>
                </a:solidFill>
                <a:latin typeface="Georgia"/>
                <a:cs typeface="Georgia"/>
              </a:rPr>
              <a:t>192.168.1.1.</a:t>
            </a:r>
            <a:endParaRPr sz="1450">
              <a:latin typeface="Georgia"/>
              <a:cs typeface="Georgia"/>
            </a:endParaRPr>
          </a:p>
        </p:txBody>
      </p:sp>
      <p:pic>
        <p:nvPicPr>
          <p:cNvPr id="16" name="object 16" descr="">
            <a:hlinkClick r:id="rId4"/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1430000" cy="7562850"/>
          </a:xfrm>
          <a:custGeom>
            <a:avLst/>
            <a:gdLst/>
            <a:ahLst/>
            <a:cxnLst/>
            <a:rect l="l" t="t" r="r" b="b"/>
            <a:pathLst>
              <a:path w="11430000" h="7562850">
                <a:moveTo>
                  <a:pt x="11430000" y="0"/>
                </a:moveTo>
                <a:lnTo>
                  <a:pt x="0" y="0"/>
                </a:lnTo>
                <a:lnTo>
                  <a:pt x="0" y="7562850"/>
                </a:lnTo>
                <a:lnTo>
                  <a:pt x="11430000" y="7562850"/>
                </a:lnTo>
                <a:lnTo>
                  <a:pt x="11430000" y="0"/>
                </a:lnTo>
                <a:close/>
              </a:path>
            </a:pathLst>
          </a:custGeom>
          <a:solidFill>
            <a:srgbClr val="09151A">
              <a:alpha val="94898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11430000" cy="235331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pc="250"/>
              <a:t>Estructura</a:t>
            </a:r>
            <a:r>
              <a:rPr dirty="0" spc="80"/>
              <a:t> </a:t>
            </a:r>
            <a:r>
              <a:rPr dirty="0" spc="225"/>
              <a:t>Jerárquica</a:t>
            </a:r>
            <a:r>
              <a:rPr dirty="0" spc="85"/>
              <a:t> </a:t>
            </a:r>
            <a:r>
              <a:rPr dirty="0" spc="225"/>
              <a:t>del</a:t>
            </a:r>
            <a:r>
              <a:rPr dirty="0" spc="85"/>
              <a:t> </a:t>
            </a:r>
            <a:r>
              <a:rPr dirty="0" spc="360"/>
              <a:t>DNS</a:t>
            </a:r>
          </a:p>
        </p:txBody>
      </p:sp>
      <p:grpSp>
        <p:nvGrpSpPr>
          <p:cNvPr id="5" name="object 5" descr=""/>
          <p:cNvGrpSpPr/>
          <p:nvPr/>
        </p:nvGrpSpPr>
        <p:grpSpPr>
          <a:xfrm>
            <a:off x="4860353" y="3743324"/>
            <a:ext cx="1066800" cy="3305175"/>
            <a:chOff x="4860353" y="3743324"/>
            <a:chExt cx="1066800" cy="3305175"/>
          </a:xfrm>
        </p:grpSpPr>
        <p:sp>
          <p:nvSpPr>
            <p:cNvPr id="6" name="object 6" descr=""/>
            <p:cNvSpPr/>
            <p:nvPr/>
          </p:nvSpPr>
          <p:spPr>
            <a:xfrm>
              <a:off x="4860353" y="3743324"/>
              <a:ext cx="864235" cy="3305810"/>
            </a:xfrm>
            <a:custGeom>
              <a:avLst/>
              <a:gdLst/>
              <a:ahLst/>
              <a:cxnLst/>
              <a:rect l="l" t="t" r="r" b="b"/>
              <a:pathLst>
                <a:path w="864235" h="3305809">
                  <a:moveTo>
                    <a:pt x="657225" y="425996"/>
                  </a:moveTo>
                  <a:lnTo>
                    <a:pt x="656297" y="423748"/>
                  </a:lnTo>
                  <a:lnTo>
                    <a:pt x="652576" y="420027"/>
                  </a:lnTo>
                  <a:lnTo>
                    <a:pt x="650328" y="419100"/>
                  </a:lnTo>
                  <a:lnTo>
                    <a:pt x="6896" y="419100"/>
                  </a:lnTo>
                  <a:lnTo>
                    <a:pt x="4648" y="420027"/>
                  </a:lnTo>
                  <a:lnTo>
                    <a:pt x="927" y="423748"/>
                  </a:lnTo>
                  <a:lnTo>
                    <a:pt x="0" y="425996"/>
                  </a:lnTo>
                  <a:lnTo>
                    <a:pt x="0" y="428625"/>
                  </a:lnTo>
                  <a:lnTo>
                    <a:pt x="0" y="431253"/>
                  </a:lnTo>
                  <a:lnTo>
                    <a:pt x="927" y="433501"/>
                  </a:lnTo>
                  <a:lnTo>
                    <a:pt x="4648" y="437222"/>
                  </a:lnTo>
                  <a:lnTo>
                    <a:pt x="6896" y="438150"/>
                  </a:lnTo>
                  <a:lnTo>
                    <a:pt x="650328" y="438150"/>
                  </a:lnTo>
                  <a:lnTo>
                    <a:pt x="652576" y="437222"/>
                  </a:lnTo>
                  <a:lnTo>
                    <a:pt x="656297" y="433501"/>
                  </a:lnTo>
                  <a:lnTo>
                    <a:pt x="657225" y="431253"/>
                  </a:lnTo>
                  <a:lnTo>
                    <a:pt x="657225" y="425996"/>
                  </a:lnTo>
                  <a:close/>
                </a:path>
                <a:path w="864235" h="3305809">
                  <a:moveTo>
                    <a:pt x="864171" y="6896"/>
                  </a:moveTo>
                  <a:lnTo>
                    <a:pt x="863244" y="4648"/>
                  </a:lnTo>
                  <a:lnTo>
                    <a:pt x="859523" y="927"/>
                  </a:lnTo>
                  <a:lnTo>
                    <a:pt x="857275" y="0"/>
                  </a:lnTo>
                  <a:lnTo>
                    <a:pt x="852017" y="0"/>
                  </a:lnTo>
                  <a:lnTo>
                    <a:pt x="849769" y="927"/>
                  </a:lnTo>
                  <a:lnTo>
                    <a:pt x="846035" y="4648"/>
                  </a:lnTo>
                  <a:lnTo>
                    <a:pt x="845121" y="6896"/>
                  </a:lnTo>
                  <a:lnTo>
                    <a:pt x="845121" y="3295662"/>
                  </a:lnTo>
                  <a:lnTo>
                    <a:pt x="845121" y="3298291"/>
                  </a:lnTo>
                  <a:lnTo>
                    <a:pt x="846035" y="3300526"/>
                  </a:lnTo>
                  <a:lnTo>
                    <a:pt x="849769" y="3304248"/>
                  </a:lnTo>
                  <a:lnTo>
                    <a:pt x="852017" y="3305187"/>
                  </a:lnTo>
                  <a:lnTo>
                    <a:pt x="857275" y="3305187"/>
                  </a:lnTo>
                  <a:lnTo>
                    <a:pt x="859523" y="3304248"/>
                  </a:lnTo>
                  <a:lnTo>
                    <a:pt x="863244" y="3300526"/>
                  </a:lnTo>
                  <a:lnTo>
                    <a:pt x="864171" y="3298291"/>
                  </a:lnTo>
                  <a:lnTo>
                    <a:pt x="864171" y="6896"/>
                  </a:lnTo>
                  <a:close/>
                </a:path>
              </a:pathLst>
            </a:custGeom>
            <a:solidFill>
              <a:srgbClr val="184A9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5503291" y="3967162"/>
              <a:ext cx="419100" cy="409575"/>
            </a:xfrm>
            <a:custGeom>
              <a:avLst/>
              <a:gdLst/>
              <a:ahLst/>
              <a:cxnLst/>
              <a:rect l="l" t="t" r="r" b="b"/>
              <a:pathLst>
                <a:path w="419100" h="409575">
                  <a:moveTo>
                    <a:pt x="361873" y="0"/>
                  </a:moveTo>
                  <a:lnTo>
                    <a:pt x="57226" y="0"/>
                  </a:lnTo>
                  <a:lnTo>
                    <a:pt x="53238" y="393"/>
                  </a:lnTo>
                  <a:lnTo>
                    <a:pt x="15100" y="20777"/>
                  </a:lnTo>
                  <a:lnTo>
                    <a:pt x="0" y="57226"/>
                  </a:lnTo>
                  <a:lnTo>
                    <a:pt x="0" y="348322"/>
                  </a:lnTo>
                  <a:lnTo>
                    <a:pt x="0" y="352348"/>
                  </a:lnTo>
                  <a:lnTo>
                    <a:pt x="15100" y="388797"/>
                  </a:lnTo>
                  <a:lnTo>
                    <a:pt x="53238" y="409181"/>
                  </a:lnTo>
                  <a:lnTo>
                    <a:pt x="57226" y="409575"/>
                  </a:lnTo>
                  <a:lnTo>
                    <a:pt x="361873" y="409575"/>
                  </a:lnTo>
                  <a:lnTo>
                    <a:pt x="398322" y="394474"/>
                  </a:lnTo>
                  <a:lnTo>
                    <a:pt x="418706" y="356336"/>
                  </a:lnTo>
                  <a:lnTo>
                    <a:pt x="419100" y="352348"/>
                  </a:lnTo>
                  <a:lnTo>
                    <a:pt x="419100" y="57226"/>
                  </a:lnTo>
                  <a:lnTo>
                    <a:pt x="403999" y="20777"/>
                  </a:lnTo>
                  <a:lnTo>
                    <a:pt x="365861" y="393"/>
                  </a:lnTo>
                  <a:lnTo>
                    <a:pt x="361873" y="0"/>
                  </a:lnTo>
                  <a:close/>
                </a:path>
              </a:pathLst>
            </a:custGeom>
            <a:solidFill>
              <a:srgbClr val="00307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5503291" y="3967162"/>
              <a:ext cx="419100" cy="409575"/>
            </a:xfrm>
            <a:custGeom>
              <a:avLst/>
              <a:gdLst/>
              <a:ahLst/>
              <a:cxnLst/>
              <a:rect l="l" t="t" r="r" b="b"/>
              <a:pathLst>
                <a:path w="419100" h="409575">
                  <a:moveTo>
                    <a:pt x="0" y="348322"/>
                  </a:moveTo>
                  <a:lnTo>
                    <a:pt x="0" y="61239"/>
                  </a:lnTo>
                  <a:lnTo>
                    <a:pt x="0" y="57226"/>
                  </a:lnTo>
                  <a:lnTo>
                    <a:pt x="393" y="53238"/>
                  </a:lnTo>
                  <a:lnTo>
                    <a:pt x="1181" y="49301"/>
                  </a:lnTo>
                  <a:lnTo>
                    <a:pt x="1955" y="45351"/>
                  </a:lnTo>
                  <a:lnTo>
                    <a:pt x="3124" y="41529"/>
                  </a:lnTo>
                  <a:lnTo>
                    <a:pt x="4660" y="37807"/>
                  </a:lnTo>
                  <a:lnTo>
                    <a:pt x="6197" y="34086"/>
                  </a:lnTo>
                  <a:lnTo>
                    <a:pt x="8089" y="30568"/>
                  </a:lnTo>
                  <a:lnTo>
                    <a:pt x="10325" y="27216"/>
                  </a:lnTo>
                  <a:lnTo>
                    <a:pt x="12560" y="23876"/>
                  </a:lnTo>
                  <a:lnTo>
                    <a:pt x="15100" y="20777"/>
                  </a:lnTo>
                  <a:lnTo>
                    <a:pt x="17945" y="17945"/>
                  </a:lnTo>
                  <a:lnTo>
                    <a:pt x="20777" y="15100"/>
                  </a:lnTo>
                  <a:lnTo>
                    <a:pt x="49301" y="1181"/>
                  </a:lnTo>
                  <a:lnTo>
                    <a:pt x="53238" y="393"/>
                  </a:lnTo>
                  <a:lnTo>
                    <a:pt x="57226" y="0"/>
                  </a:lnTo>
                  <a:lnTo>
                    <a:pt x="61252" y="0"/>
                  </a:lnTo>
                  <a:lnTo>
                    <a:pt x="357847" y="0"/>
                  </a:lnTo>
                  <a:lnTo>
                    <a:pt x="361873" y="0"/>
                  </a:lnTo>
                  <a:lnTo>
                    <a:pt x="365861" y="393"/>
                  </a:lnTo>
                  <a:lnTo>
                    <a:pt x="369798" y="1181"/>
                  </a:lnTo>
                  <a:lnTo>
                    <a:pt x="373748" y="1955"/>
                  </a:lnTo>
                  <a:lnTo>
                    <a:pt x="377583" y="3124"/>
                  </a:lnTo>
                  <a:lnTo>
                    <a:pt x="381292" y="4660"/>
                  </a:lnTo>
                  <a:lnTo>
                    <a:pt x="385013" y="6197"/>
                  </a:lnTo>
                  <a:lnTo>
                    <a:pt x="412902" y="34086"/>
                  </a:lnTo>
                  <a:lnTo>
                    <a:pt x="414439" y="37807"/>
                  </a:lnTo>
                  <a:lnTo>
                    <a:pt x="415975" y="41529"/>
                  </a:lnTo>
                  <a:lnTo>
                    <a:pt x="417144" y="45351"/>
                  </a:lnTo>
                  <a:lnTo>
                    <a:pt x="417931" y="49301"/>
                  </a:lnTo>
                  <a:lnTo>
                    <a:pt x="418706" y="53238"/>
                  </a:lnTo>
                  <a:lnTo>
                    <a:pt x="419100" y="57226"/>
                  </a:lnTo>
                  <a:lnTo>
                    <a:pt x="419100" y="61239"/>
                  </a:lnTo>
                  <a:lnTo>
                    <a:pt x="419100" y="348322"/>
                  </a:lnTo>
                  <a:lnTo>
                    <a:pt x="419100" y="352348"/>
                  </a:lnTo>
                  <a:lnTo>
                    <a:pt x="418706" y="356336"/>
                  </a:lnTo>
                  <a:lnTo>
                    <a:pt x="417931" y="360273"/>
                  </a:lnTo>
                  <a:lnTo>
                    <a:pt x="417144" y="364223"/>
                  </a:lnTo>
                  <a:lnTo>
                    <a:pt x="415975" y="368058"/>
                  </a:lnTo>
                  <a:lnTo>
                    <a:pt x="414439" y="371767"/>
                  </a:lnTo>
                  <a:lnTo>
                    <a:pt x="412902" y="375488"/>
                  </a:lnTo>
                  <a:lnTo>
                    <a:pt x="385013" y="403377"/>
                  </a:lnTo>
                  <a:lnTo>
                    <a:pt x="381292" y="404914"/>
                  </a:lnTo>
                  <a:lnTo>
                    <a:pt x="377583" y="406450"/>
                  </a:lnTo>
                  <a:lnTo>
                    <a:pt x="373748" y="407606"/>
                  </a:lnTo>
                  <a:lnTo>
                    <a:pt x="369798" y="408393"/>
                  </a:lnTo>
                  <a:lnTo>
                    <a:pt x="365861" y="409181"/>
                  </a:lnTo>
                  <a:lnTo>
                    <a:pt x="361873" y="409575"/>
                  </a:lnTo>
                  <a:lnTo>
                    <a:pt x="357847" y="409575"/>
                  </a:lnTo>
                  <a:lnTo>
                    <a:pt x="61252" y="409575"/>
                  </a:lnTo>
                  <a:lnTo>
                    <a:pt x="57226" y="409575"/>
                  </a:lnTo>
                  <a:lnTo>
                    <a:pt x="53238" y="409181"/>
                  </a:lnTo>
                  <a:lnTo>
                    <a:pt x="49301" y="408393"/>
                  </a:lnTo>
                  <a:lnTo>
                    <a:pt x="45351" y="407606"/>
                  </a:lnTo>
                  <a:lnTo>
                    <a:pt x="17945" y="391642"/>
                  </a:lnTo>
                  <a:lnTo>
                    <a:pt x="15100" y="388797"/>
                  </a:lnTo>
                  <a:lnTo>
                    <a:pt x="4660" y="371767"/>
                  </a:lnTo>
                  <a:lnTo>
                    <a:pt x="3124" y="368058"/>
                  </a:lnTo>
                  <a:lnTo>
                    <a:pt x="1955" y="364223"/>
                  </a:lnTo>
                  <a:lnTo>
                    <a:pt x="1181" y="360273"/>
                  </a:lnTo>
                  <a:lnTo>
                    <a:pt x="393" y="356336"/>
                  </a:lnTo>
                  <a:lnTo>
                    <a:pt x="0" y="352348"/>
                  </a:lnTo>
                  <a:lnTo>
                    <a:pt x="0" y="348322"/>
                  </a:lnTo>
                  <a:close/>
                </a:path>
              </a:pathLst>
            </a:custGeom>
            <a:ln w="9525">
              <a:solidFill>
                <a:srgbClr val="184A9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5639866" y="3971607"/>
            <a:ext cx="150495" cy="3651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200" spc="-185">
                <a:solidFill>
                  <a:srgbClr val="E2E6E9"/>
                </a:solidFill>
                <a:latin typeface="Cambria"/>
                <a:cs typeface="Cambria"/>
              </a:rPr>
              <a:t>1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598510" y="3904455"/>
            <a:ext cx="3092450" cy="6991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850" spc="165">
                <a:solidFill>
                  <a:srgbClr val="E2E6E9"/>
                </a:solidFill>
                <a:latin typeface="Cambria"/>
                <a:cs typeface="Cambria"/>
              </a:rPr>
              <a:t>Dominio</a:t>
            </a:r>
            <a:r>
              <a:rPr dirty="0" sz="1850" spc="3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850" spc="114">
                <a:solidFill>
                  <a:srgbClr val="E2E6E9"/>
                </a:solidFill>
                <a:latin typeface="Cambria"/>
                <a:cs typeface="Cambria"/>
              </a:rPr>
              <a:t>de</a:t>
            </a:r>
            <a:r>
              <a:rPr dirty="0" sz="1850" spc="3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850" spc="130">
                <a:solidFill>
                  <a:srgbClr val="E2E6E9"/>
                </a:solidFill>
                <a:latin typeface="Cambria"/>
                <a:cs typeface="Cambria"/>
              </a:rPr>
              <a:t>Nivel</a:t>
            </a:r>
            <a:r>
              <a:rPr dirty="0" sz="1850" spc="3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850" spc="110">
                <a:solidFill>
                  <a:srgbClr val="E2E6E9"/>
                </a:solidFill>
                <a:latin typeface="Cambria"/>
                <a:cs typeface="Cambria"/>
              </a:rPr>
              <a:t>Superior</a:t>
            </a:r>
            <a:endParaRPr sz="1850">
              <a:latin typeface="Cambria"/>
              <a:cs typeface="Cambria"/>
            </a:endParaRPr>
          </a:p>
          <a:p>
            <a:pPr marL="1802130">
              <a:lnSpc>
                <a:spcPct val="100000"/>
              </a:lnSpc>
              <a:spcBef>
                <a:spcPts val="1330"/>
              </a:spcBef>
            </a:pPr>
            <a:r>
              <a:rPr dirty="0" sz="1450" spc="150">
                <a:solidFill>
                  <a:srgbClr val="E2E6E9"/>
                </a:solidFill>
                <a:latin typeface="Cambria"/>
                <a:cs typeface="Cambria"/>
              </a:rPr>
              <a:t>.com,</a:t>
            </a:r>
            <a:r>
              <a:rPr dirty="0" sz="1450" spc="4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130">
                <a:solidFill>
                  <a:srgbClr val="E2E6E9"/>
                </a:solidFill>
                <a:latin typeface="Cambria"/>
                <a:cs typeface="Cambria"/>
              </a:rPr>
              <a:t>.org,</a:t>
            </a:r>
            <a:r>
              <a:rPr dirty="0" sz="1450" spc="4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70">
                <a:solidFill>
                  <a:srgbClr val="E2E6E9"/>
                </a:solidFill>
                <a:latin typeface="Cambria"/>
                <a:cs typeface="Cambria"/>
              </a:rPr>
              <a:t>.es</a:t>
            </a:r>
            <a:endParaRPr sz="1450">
              <a:latin typeface="Cambria"/>
              <a:cs typeface="Cambria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5502846" y="4905374"/>
            <a:ext cx="1066800" cy="419100"/>
            <a:chOff x="5502846" y="4905374"/>
            <a:chExt cx="1066800" cy="419100"/>
          </a:xfrm>
        </p:grpSpPr>
        <p:sp>
          <p:nvSpPr>
            <p:cNvPr id="12" name="object 12" descr=""/>
            <p:cNvSpPr/>
            <p:nvPr/>
          </p:nvSpPr>
          <p:spPr>
            <a:xfrm>
              <a:off x="5912421" y="5105399"/>
              <a:ext cx="657225" cy="19050"/>
            </a:xfrm>
            <a:custGeom>
              <a:avLst/>
              <a:gdLst/>
              <a:ahLst/>
              <a:cxnLst/>
              <a:rect l="l" t="t" r="r" b="b"/>
              <a:pathLst>
                <a:path w="657225" h="19050">
                  <a:moveTo>
                    <a:pt x="650328" y="0"/>
                  </a:moveTo>
                  <a:lnTo>
                    <a:pt x="6896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9525"/>
                  </a:lnTo>
                  <a:lnTo>
                    <a:pt x="0" y="12153"/>
                  </a:lnTo>
                  <a:lnTo>
                    <a:pt x="927" y="14401"/>
                  </a:lnTo>
                  <a:lnTo>
                    <a:pt x="4648" y="18122"/>
                  </a:lnTo>
                  <a:lnTo>
                    <a:pt x="6896" y="19050"/>
                  </a:lnTo>
                  <a:lnTo>
                    <a:pt x="650328" y="19050"/>
                  </a:lnTo>
                  <a:lnTo>
                    <a:pt x="652576" y="18122"/>
                  </a:lnTo>
                  <a:lnTo>
                    <a:pt x="656285" y="14401"/>
                  </a:lnTo>
                  <a:lnTo>
                    <a:pt x="657225" y="12153"/>
                  </a:lnTo>
                  <a:lnTo>
                    <a:pt x="657225" y="6896"/>
                  </a:lnTo>
                  <a:lnTo>
                    <a:pt x="656285" y="4648"/>
                  </a:lnTo>
                  <a:lnTo>
                    <a:pt x="652576" y="927"/>
                  </a:lnTo>
                  <a:lnTo>
                    <a:pt x="650328" y="0"/>
                  </a:lnTo>
                  <a:close/>
                </a:path>
              </a:pathLst>
            </a:custGeom>
            <a:solidFill>
              <a:srgbClr val="184A9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5507609" y="4910137"/>
              <a:ext cx="419100" cy="409575"/>
            </a:xfrm>
            <a:custGeom>
              <a:avLst/>
              <a:gdLst/>
              <a:ahLst/>
              <a:cxnLst/>
              <a:rect l="l" t="t" r="r" b="b"/>
              <a:pathLst>
                <a:path w="419100" h="409575">
                  <a:moveTo>
                    <a:pt x="361873" y="0"/>
                  </a:moveTo>
                  <a:lnTo>
                    <a:pt x="57226" y="0"/>
                  </a:lnTo>
                  <a:lnTo>
                    <a:pt x="53238" y="393"/>
                  </a:lnTo>
                  <a:lnTo>
                    <a:pt x="15100" y="20777"/>
                  </a:lnTo>
                  <a:lnTo>
                    <a:pt x="0" y="57226"/>
                  </a:lnTo>
                  <a:lnTo>
                    <a:pt x="0" y="348322"/>
                  </a:lnTo>
                  <a:lnTo>
                    <a:pt x="0" y="352348"/>
                  </a:lnTo>
                  <a:lnTo>
                    <a:pt x="15100" y="388797"/>
                  </a:lnTo>
                  <a:lnTo>
                    <a:pt x="53238" y="409181"/>
                  </a:lnTo>
                  <a:lnTo>
                    <a:pt x="57226" y="409575"/>
                  </a:lnTo>
                  <a:lnTo>
                    <a:pt x="361873" y="409575"/>
                  </a:lnTo>
                  <a:lnTo>
                    <a:pt x="398322" y="394474"/>
                  </a:lnTo>
                  <a:lnTo>
                    <a:pt x="418706" y="356336"/>
                  </a:lnTo>
                  <a:lnTo>
                    <a:pt x="419100" y="352348"/>
                  </a:lnTo>
                  <a:lnTo>
                    <a:pt x="419100" y="57226"/>
                  </a:lnTo>
                  <a:lnTo>
                    <a:pt x="403999" y="20777"/>
                  </a:lnTo>
                  <a:lnTo>
                    <a:pt x="365861" y="393"/>
                  </a:lnTo>
                  <a:lnTo>
                    <a:pt x="361873" y="0"/>
                  </a:lnTo>
                  <a:close/>
                </a:path>
              </a:pathLst>
            </a:custGeom>
            <a:solidFill>
              <a:srgbClr val="00307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5507609" y="4910137"/>
              <a:ext cx="419100" cy="409575"/>
            </a:xfrm>
            <a:custGeom>
              <a:avLst/>
              <a:gdLst/>
              <a:ahLst/>
              <a:cxnLst/>
              <a:rect l="l" t="t" r="r" b="b"/>
              <a:pathLst>
                <a:path w="419100" h="409575">
                  <a:moveTo>
                    <a:pt x="0" y="348322"/>
                  </a:moveTo>
                  <a:lnTo>
                    <a:pt x="0" y="61239"/>
                  </a:lnTo>
                  <a:lnTo>
                    <a:pt x="0" y="57226"/>
                  </a:lnTo>
                  <a:lnTo>
                    <a:pt x="393" y="53238"/>
                  </a:lnTo>
                  <a:lnTo>
                    <a:pt x="1181" y="49301"/>
                  </a:lnTo>
                  <a:lnTo>
                    <a:pt x="1955" y="45351"/>
                  </a:lnTo>
                  <a:lnTo>
                    <a:pt x="3124" y="41529"/>
                  </a:lnTo>
                  <a:lnTo>
                    <a:pt x="4660" y="37807"/>
                  </a:lnTo>
                  <a:lnTo>
                    <a:pt x="6197" y="34086"/>
                  </a:lnTo>
                  <a:lnTo>
                    <a:pt x="8089" y="30568"/>
                  </a:lnTo>
                  <a:lnTo>
                    <a:pt x="37807" y="4660"/>
                  </a:lnTo>
                  <a:lnTo>
                    <a:pt x="41516" y="3124"/>
                  </a:lnTo>
                  <a:lnTo>
                    <a:pt x="45351" y="1955"/>
                  </a:lnTo>
                  <a:lnTo>
                    <a:pt x="49301" y="1181"/>
                  </a:lnTo>
                  <a:lnTo>
                    <a:pt x="53238" y="393"/>
                  </a:lnTo>
                  <a:lnTo>
                    <a:pt x="57226" y="0"/>
                  </a:lnTo>
                  <a:lnTo>
                    <a:pt x="61252" y="0"/>
                  </a:lnTo>
                  <a:lnTo>
                    <a:pt x="357847" y="0"/>
                  </a:lnTo>
                  <a:lnTo>
                    <a:pt x="361873" y="0"/>
                  </a:lnTo>
                  <a:lnTo>
                    <a:pt x="365861" y="393"/>
                  </a:lnTo>
                  <a:lnTo>
                    <a:pt x="369798" y="1181"/>
                  </a:lnTo>
                  <a:lnTo>
                    <a:pt x="373748" y="1955"/>
                  </a:lnTo>
                  <a:lnTo>
                    <a:pt x="401154" y="17945"/>
                  </a:lnTo>
                  <a:lnTo>
                    <a:pt x="403999" y="20777"/>
                  </a:lnTo>
                  <a:lnTo>
                    <a:pt x="414439" y="37807"/>
                  </a:lnTo>
                  <a:lnTo>
                    <a:pt x="415975" y="41529"/>
                  </a:lnTo>
                  <a:lnTo>
                    <a:pt x="417144" y="45351"/>
                  </a:lnTo>
                  <a:lnTo>
                    <a:pt x="417918" y="49301"/>
                  </a:lnTo>
                  <a:lnTo>
                    <a:pt x="418706" y="53238"/>
                  </a:lnTo>
                  <a:lnTo>
                    <a:pt x="419100" y="57226"/>
                  </a:lnTo>
                  <a:lnTo>
                    <a:pt x="419100" y="61239"/>
                  </a:lnTo>
                  <a:lnTo>
                    <a:pt x="419100" y="348322"/>
                  </a:lnTo>
                  <a:lnTo>
                    <a:pt x="419100" y="352348"/>
                  </a:lnTo>
                  <a:lnTo>
                    <a:pt x="418706" y="356336"/>
                  </a:lnTo>
                  <a:lnTo>
                    <a:pt x="417918" y="360273"/>
                  </a:lnTo>
                  <a:lnTo>
                    <a:pt x="417144" y="364223"/>
                  </a:lnTo>
                  <a:lnTo>
                    <a:pt x="415975" y="368058"/>
                  </a:lnTo>
                  <a:lnTo>
                    <a:pt x="414439" y="371767"/>
                  </a:lnTo>
                  <a:lnTo>
                    <a:pt x="412902" y="375488"/>
                  </a:lnTo>
                  <a:lnTo>
                    <a:pt x="401154" y="391642"/>
                  </a:lnTo>
                  <a:lnTo>
                    <a:pt x="398322" y="394474"/>
                  </a:lnTo>
                  <a:lnTo>
                    <a:pt x="369798" y="408393"/>
                  </a:lnTo>
                  <a:lnTo>
                    <a:pt x="365861" y="409181"/>
                  </a:lnTo>
                  <a:lnTo>
                    <a:pt x="361873" y="409575"/>
                  </a:lnTo>
                  <a:lnTo>
                    <a:pt x="357847" y="409575"/>
                  </a:lnTo>
                  <a:lnTo>
                    <a:pt x="61252" y="409575"/>
                  </a:lnTo>
                  <a:lnTo>
                    <a:pt x="57226" y="409575"/>
                  </a:lnTo>
                  <a:lnTo>
                    <a:pt x="53238" y="409181"/>
                  </a:lnTo>
                  <a:lnTo>
                    <a:pt x="49301" y="408393"/>
                  </a:lnTo>
                  <a:lnTo>
                    <a:pt x="45351" y="407606"/>
                  </a:lnTo>
                  <a:lnTo>
                    <a:pt x="41516" y="406450"/>
                  </a:lnTo>
                  <a:lnTo>
                    <a:pt x="37807" y="404914"/>
                  </a:lnTo>
                  <a:lnTo>
                    <a:pt x="34086" y="403377"/>
                  </a:lnTo>
                  <a:lnTo>
                    <a:pt x="6197" y="375488"/>
                  </a:lnTo>
                  <a:lnTo>
                    <a:pt x="4660" y="371767"/>
                  </a:lnTo>
                  <a:lnTo>
                    <a:pt x="3124" y="368058"/>
                  </a:lnTo>
                  <a:lnTo>
                    <a:pt x="1955" y="364223"/>
                  </a:lnTo>
                  <a:lnTo>
                    <a:pt x="1181" y="360273"/>
                  </a:lnTo>
                  <a:lnTo>
                    <a:pt x="393" y="356336"/>
                  </a:lnTo>
                  <a:lnTo>
                    <a:pt x="0" y="352348"/>
                  </a:lnTo>
                  <a:lnTo>
                    <a:pt x="0" y="348322"/>
                  </a:lnTo>
                  <a:close/>
                </a:path>
              </a:pathLst>
            </a:custGeom>
            <a:ln w="9525">
              <a:solidFill>
                <a:srgbClr val="184A9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5617540" y="4914582"/>
            <a:ext cx="194945" cy="3651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200" spc="55">
                <a:solidFill>
                  <a:srgbClr val="E2E6E9"/>
                </a:solidFill>
                <a:latin typeface="Cambria"/>
                <a:cs typeface="Cambria"/>
              </a:rPr>
              <a:t>2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6739332" y="4847431"/>
            <a:ext cx="3095625" cy="6991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850" spc="165">
                <a:solidFill>
                  <a:srgbClr val="E2E6E9"/>
                </a:solidFill>
                <a:latin typeface="Cambria"/>
                <a:cs typeface="Cambria"/>
              </a:rPr>
              <a:t>Dominio</a:t>
            </a:r>
            <a:r>
              <a:rPr dirty="0" sz="1850" spc="3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850" spc="114">
                <a:solidFill>
                  <a:srgbClr val="E2E6E9"/>
                </a:solidFill>
                <a:latin typeface="Cambria"/>
                <a:cs typeface="Cambria"/>
              </a:rPr>
              <a:t>de</a:t>
            </a:r>
            <a:r>
              <a:rPr dirty="0" sz="1850" spc="3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850" spc="155">
                <a:solidFill>
                  <a:srgbClr val="E2E6E9"/>
                </a:solidFill>
                <a:latin typeface="Cambria"/>
                <a:cs typeface="Cambria"/>
              </a:rPr>
              <a:t>Segundo</a:t>
            </a:r>
            <a:r>
              <a:rPr dirty="0" sz="1850" spc="3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850" spc="120">
                <a:solidFill>
                  <a:srgbClr val="E2E6E9"/>
                </a:solidFill>
                <a:latin typeface="Cambria"/>
                <a:cs typeface="Cambria"/>
              </a:rPr>
              <a:t>Nivel</a:t>
            </a:r>
            <a:endParaRPr sz="18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330"/>
              </a:spcBef>
            </a:pPr>
            <a:r>
              <a:rPr dirty="0" sz="1450" spc="114">
                <a:solidFill>
                  <a:srgbClr val="E2E6E9"/>
                </a:solidFill>
                <a:latin typeface="Cambria"/>
                <a:cs typeface="Cambria"/>
              </a:rPr>
              <a:t>ejemplo.com</a:t>
            </a:r>
            <a:endParaRPr sz="1450">
              <a:latin typeface="Cambria"/>
              <a:cs typeface="Cambria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4860353" y="5753099"/>
            <a:ext cx="1066800" cy="419100"/>
            <a:chOff x="4860353" y="5753099"/>
            <a:chExt cx="1066800" cy="419100"/>
          </a:xfrm>
        </p:grpSpPr>
        <p:sp>
          <p:nvSpPr>
            <p:cNvPr id="18" name="object 18" descr=""/>
            <p:cNvSpPr/>
            <p:nvPr/>
          </p:nvSpPr>
          <p:spPr>
            <a:xfrm>
              <a:off x="4860353" y="5953124"/>
              <a:ext cx="657225" cy="19050"/>
            </a:xfrm>
            <a:custGeom>
              <a:avLst/>
              <a:gdLst/>
              <a:ahLst/>
              <a:cxnLst/>
              <a:rect l="l" t="t" r="r" b="b"/>
              <a:pathLst>
                <a:path w="657225" h="19050">
                  <a:moveTo>
                    <a:pt x="650328" y="0"/>
                  </a:moveTo>
                  <a:lnTo>
                    <a:pt x="6896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9525"/>
                  </a:lnTo>
                  <a:lnTo>
                    <a:pt x="0" y="12153"/>
                  </a:lnTo>
                  <a:lnTo>
                    <a:pt x="927" y="14401"/>
                  </a:lnTo>
                  <a:lnTo>
                    <a:pt x="4648" y="18122"/>
                  </a:lnTo>
                  <a:lnTo>
                    <a:pt x="6896" y="19050"/>
                  </a:lnTo>
                  <a:lnTo>
                    <a:pt x="650328" y="19050"/>
                  </a:lnTo>
                  <a:lnTo>
                    <a:pt x="652576" y="18122"/>
                  </a:lnTo>
                  <a:lnTo>
                    <a:pt x="656297" y="14401"/>
                  </a:lnTo>
                  <a:lnTo>
                    <a:pt x="657225" y="12153"/>
                  </a:lnTo>
                  <a:lnTo>
                    <a:pt x="657225" y="6896"/>
                  </a:lnTo>
                  <a:lnTo>
                    <a:pt x="656297" y="4648"/>
                  </a:lnTo>
                  <a:lnTo>
                    <a:pt x="652576" y="927"/>
                  </a:lnTo>
                  <a:lnTo>
                    <a:pt x="650328" y="0"/>
                  </a:lnTo>
                  <a:close/>
                </a:path>
              </a:pathLst>
            </a:custGeom>
            <a:solidFill>
              <a:srgbClr val="184A9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5503291" y="5757862"/>
              <a:ext cx="419100" cy="409575"/>
            </a:xfrm>
            <a:custGeom>
              <a:avLst/>
              <a:gdLst/>
              <a:ahLst/>
              <a:cxnLst/>
              <a:rect l="l" t="t" r="r" b="b"/>
              <a:pathLst>
                <a:path w="419100" h="409575">
                  <a:moveTo>
                    <a:pt x="361873" y="0"/>
                  </a:moveTo>
                  <a:lnTo>
                    <a:pt x="57226" y="0"/>
                  </a:lnTo>
                  <a:lnTo>
                    <a:pt x="53238" y="393"/>
                  </a:lnTo>
                  <a:lnTo>
                    <a:pt x="15100" y="20777"/>
                  </a:lnTo>
                  <a:lnTo>
                    <a:pt x="0" y="57226"/>
                  </a:lnTo>
                  <a:lnTo>
                    <a:pt x="0" y="348322"/>
                  </a:lnTo>
                  <a:lnTo>
                    <a:pt x="0" y="352348"/>
                  </a:lnTo>
                  <a:lnTo>
                    <a:pt x="15100" y="388797"/>
                  </a:lnTo>
                  <a:lnTo>
                    <a:pt x="53238" y="409181"/>
                  </a:lnTo>
                  <a:lnTo>
                    <a:pt x="57226" y="409575"/>
                  </a:lnTo>
                  <a:lnTo>
                    <a:pt x="361873" y="409575"/>
                  </a:lnTo>
                  <a:lnTo>
                    <a:pt x="398322" y="394474"/>
                  </a:lnTo>
                  <a:lnTo>
                    <a:pt x="418706" y="356336"/>
                  </a:lnTo>
                  <a:lnTo>
                    <a:pt x="419100" y="352348"/>
                  </a:lnTo>
                  <a:lnTo>
                    <a:pt x="419100" y="57226"/>
                  </a:lnTo>
                  <a:lnTo>
                    <a:pt x="403999" y="20777"/>
                  </a:lnTo>
                  <a:lnTo>
                    <a:pt x="365861" y="393"/>
                  </a:lnTo>
                  <a:lnTo>
                    <a:pt x="361873" y="0"/>
                  </a:lnTo>
                  <a:close/>
                </a:path>
              </a:pathLst>
            </a:custGeom>
            <a:solidFill>
              <a:srgbClr val="00307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5503291" y="5757862"/>
              <a:ext cx="419100" cy="409575"/>
            </a:xfrm>
            <a:custGeom>
              <a:avLst/>
              <a:gdLst/>
              <a:ahLst/>
              <a:cxnLst/>
              <a:rect l="l" t="t" r="r" b="b"/>
              <a:pathLst>
                <a:path w="419100" h="409575">
                  <a:moveTo>
                    <a:pt x="0" y="348322"/>
                  </a:moveTo>
                  <a:lnTo>
                    <a:pt x="0" y="61239"/>
                  </a:lnTo>
                  <a:lnTo>
                    <a:pt x="0" y="57226"/>
                  </a:lnTo>
                  <a:lnTo>
                    <a:pt x="393" y="53238"/>
                  </a:lnTo>
                  <a:lnTo>
                    <a:pt x="1181" y="49301"/>
                  </a:lnTo>
                  <a:lnTo>
                    <a:pt x="1955" y="45351"/>
                  </a:lnTo>
                  <a:lnTo>
                    <a:pt x="3124" y="41529"/>
                  </a:lnTo>
                  <a:lnTo>
                    <a:pt x="4660" y="37807"/>
                  </a:lnTo>
                  <a:lnTo>
                    <a:pt x="6197" y="34086"/>
                  </a:lnTo>
                  <a:lnTo>
                    <a:pt x="8089" y="30568"/>
                  </a:lnTo>
                  <a:lnTo>
                    <a:pt x="10325" y="27216"/>
                  </a:lnTo>
                  <a:lnTo>
                    <a:pt x="12560" y="23876"/>
                  </a:lnTo>
                  <a:lnTo>
                    <a:pt x="15100" y="20777"/>
                  </a:lnTo>
                  <a:lnTo>
                    <a:pt x="17945" y="17945"/>
                  </a:lnTo>
                  <a:lnTo>
                    <a:pt x="20777" y="15100"/>
                  </a:lnTo>
                  <a:lnTo>
                    <a:pt x="49301" y="1181"/>
                  </a:lnTo>
                  <a:lnTo>
                    <a:pt x="53238" y="393"/>
                  </a:lnTo>
                  <a:lnTo>
                    <a:pt x="57226" y="0"/>
                  </a:lnTo>
                  <a:lnTo>
                    <a:pt x="61252" y="0"/>
                  </a:lnTo>
                  <a:lnTo>
                    <a:pt x="357847" y="0"/>
                  </a:lnTo>
                  <a:lnTo>
                    <a:pt x="361873" y="0"/>
                  </a:lnTo>
                  <a:lnTo>
                    <a:pt x="365861" y="393"/>
                  </a:lnTo>
                  <a:lnTo>
                    <a:pt x="369798" y="1181"/>
                  </a:lnTo>
                  <a:lnTo>
                    <a:pt x="373748" y="1955"/>
                  </a:lnTo>
                  <a:lnTo>
                    <a:pt x="377583" y="3124"/>
                  </a:lnTo>
                  <a:lnTo>
                    <a:pt x="381292" y="4660"/>
                  </a:lnTo>
                  <a:lnTo>
                    <a:pt x="385013" y="6197"/>
                  </a:lnTo>
                  <a:lnTo>
                    <a:pt x="412902" y="34086"/>
                  </a:lnTo>
                  <a:lnTo>
                    <a:pt x="414439" y="37807"/>
                  </a:lnTo>
                  <a:lnTo>
                    <a:pt x="415975" y="41529"/>
                  </a:lnTo>
                  <a:lnTo>
                    <a:pt x="417144" y="45351"/>
                  </a:lnTo>
                  <a:lnTo>
                    <a:pt x="417931" y="49301"/>
                  </a:lnTo>
                  <a:lnTo>
                    <a:pt x="418706" y="53238"/>
                  </a:lnTo>
                  <a:lnTo>
                    <a:pt x="419100" y="57226"/>
                  </a:lnTo>
                  <a:lnTo>
                    <a:pt x="419100" y="61239"/>
                  </a:lnTo>
                  <a:lnTo>
                    <a:pt x="419100" y="348322"/>
                  </a:lnTo>
                  <a:lnTo>
                    <a:pt x="419100" y="352348"/>
                  </a:lnTo>
                  <a:lnTo>
                    <a:pt x="418706" y="356336"/>
                  </a:lnTo>
                  <a:lnTo>
                    <a:pt x="417931" y="360273"/>
                  </a:lnTo>
                  <a:lnTo>
                    <a:pt x="417144" y="364223"/>
                  </a:lnTo>
                  <a:lnTo>
                    <a:pt x="415975" y="368058"/>
                  </a:lnTo>
                  <a:lnTo>
                    <a:pt x="414439" y="371767"/>
                  </a:lnTo>
                  <a:lnTo>
                    <a:pt x="412902" y="375488"/>
                  </a:lnTo>
                  <a:lnTo>
                    <a:pt x="385013" y="403377"/>
                  </a:lnTo>
                  <a:lnTo>
                    <a:pt x="381292" y="404914"/>
                  </a:lnTo>
                  <a:lnTo>
                    <a:pt x="377583" y="406450"/>
                  </a:lnTo>
                  <a:lnTo>
                    <a:pt x="373748" y="407606"/>
                  </a:lnTo>
                  <a:lnTo>
                    <a:pt x="369798" y="408393"/>
                  </a:lnTo>
                  <a:lnTo>
                    <a:pt x="365861" y="409181"/>
                  </a:lnTo>
                  <a:lnTo>
                    <a:pt x="361873" y="409575"/>
                  </a:lnTo>
                  <a:lnTo>
                    <a:pt x="357847" y="409575"/>
                  </a:lnTo>
                  <a:lnTo>
                    <a:pt x="61252" y="409575"/>
                  </a:lnTo>
                  <a:lnTo>
                    <a:pt x="57226" y="409575"/>
                  </a:lnTo>
                  <a:lnTo>
                    <a:pt x="53238" y="409181"/>
                  </a:lnTo>
                  <a:lnTo>
                    <a:pt x="49301" y="408393"/>
                  </a:lnTo>
                  <a:lnTo>
                    <a:pt x="45351" y="407606"/>
                  </a:lnTo>
                  <a:lnTo>
                    <a:pt x="17945" y="391642"/>
                  </a:lnTo>
                  <a:lnTo>
                    <a:pt x="15100" y="388797"/>
                  </a:lnTo>
                  <a:lnTo>
                    <a:pt x="4660" y="371767"/>
                  </a:lnTo>
                  <a:lnTo>
                    <a:pt x="3124" y="368058"/>
                  </a:lnTo>
                  <a:lnTo>
                    <a:pt x="1955" y="364223"/>
                  </a:lnTo>
                  <a:lnTo>
                    <a:pt x="1181" y="360273"/>
                  </a:lnTo>
                  <a:lnTo>
                    <a:pt x="393" y="356336"/>
                  </a:lnTo>
                  <a:lnTo>
                    <a:pt x="0" y="352348"/>
                  </a:lnTo>
                  <a:lnTo>
                    <a:pt x="0" y="348322"/>
                  </a:lnTo>
                  <a:close/>
                </a:path>
              </a:pathLst>
            </a:custGeom>
            <a:ln w="9525">
              <a:solidFill>
                <a:srgbClr val="184A9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5622899" y="5762307"/>
            <a:ext cx="184150" cy="3651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200" spc="-50">
                <a:solidFill>
                  <a:srgbClr val="E2E6E9"/>
                </a:solidFill>
                <a:latin typeface="Cambria"/>
                <a:cs typeface="Cambria"/>
              </a:rPr>
              <a:t>3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3012525" y="5695156"/>
            <a:ext cx="1678305" cy="6991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51460">
              <a:lnSpc>
                <a:spcPct val="100000"/>
              </a:lnSpc>
              <a:spcBef>
                <a:spcPts val="105"/>
              </a:spcBef>
            </a:pPr>
            <a:r>
              <a:rPr dirty="0" sz="1850" spc="140">
                <a:solidFill>
                  <a:srgbClr val="E2E6E9"/>
                </a:solidFill>
                <a:latin typeface="Cambria"/>
                <a:cs typeface="Cambria"/>
              </a:rPr>
              <a:t>Subdominio</a:t>
            </a:r>
            <a:endParaRPr sz="18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330"/>
              </a:spcBef>
            </a:pPr>
            <a:r>
              <a:rPr dirty="0" sz="1450" spc="110">
                <a:solidFill>
                  <a:srgbClr val="E2E6E9"/>
                </a:solidFill>
                <a:latin typeface="Cambria"/>
                <a:cs typeface="Cambria"/>
              </a:rPr>
              <a:t>blog.ejemplo.com</a:t>
            </a:r>
            <a:endParaRPr sz="1450">
              <a:latin typeface="Cambria"/>
              <a:cs typeface="Cambria"/>
            </a:endParaRPr>
          </a:p>
        </p:txBody>
      </p:sp>
      <p:pic>
        <p:nvPicPr>
          <p:cNvPr id="23" name="object 23" descr="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705383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1430000" cy="8534400"/>
          </a:xfrm>
          <a:custGeom>
            <a:avLst/>
            <a:gdLst/>
            <a:ahLst/>
            <a:cxnLst/>
            <a:rect l="l" t="t" r="r" b="b"/>
            <a:pathLst>
              <a:path w="11430000" h="8534400">
                <a:moveTo>
                  <a:pt x="11430000" y="0"/>
                </a:moveTo>
                <a:lnTo>
                  <a:pt x="0" y="0"/>
                </a:lnTo>
                <a:lnTo>
                  <a:pt x="0" y="8534400"/>
                </a:lnTo>
                <a:lnTo>
                  <a:pt x="11430000" y="85344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09151A">
              <a:alpha val="94898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7143750" y="0"/>
            <a:ext cx="4286250" cy="8534400"/>
            <a:chOff x="7143750" y="0"/>
            <a:chExt cx="4286250" cy="853440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0"/>
              <a:ext cx="4286249" cy="8534399"/>
            </a:xfrm>
            <a:prstGeom prst="rect">
              <a:avLst/>
            </a:prstGeom>
          </p:spPr>
        </p:pic>
        <p:pic>
          <p:nvPicPr>
            <p:cNvPr id="5" name="object 5" descr="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80244" y="8020050"/>
              <a:ext cx="1754504" cy="41910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47353" y="496887"/>
            <a:ext cx="5488940" cy="1172210"/>
          </a:xfrm>
          <a:prstGeom prst="rect"/>
        </p:spPr>
        <p:txBody>
          <a:bodyPr wrap="square" lIns="0" tIns="8890" rIns="0" bIns="0" rtlCol="0" vert="horz">
            <a:spAutoFit/>
          </a:bodyPr>
          <a:lstStyle/>
          <a:p>
            <a:pPr marL="12700" marR="5080">
              <a:lnSpc>
                <a:spcPts val="4580"/>
              </a:lnSpc>
              <a:spcBef>
                <a:spcPts val="70"/>
              </a:spcBef>
            </a:pPr>
            <a:r>
              <a:rPr dirty="0" spc="310"/>
              <a:t>Funcionamiento</a:t>
            </a:r>
            <a:r>
              <a:rPr dirty="0" spc="100"/>
              <a:t> </a:t>
            </a:r>
            <a:r>
              <a:rPr dirty="0" spc="245"/>
              <a:t>Básico </a:t>
            </a:r>
            <a:r>
              <a:rPr dirty="0" spc="225"/>
              <a:t>del</a:t>
            </a:r>
            <a:r>
              <a:rPr dirty="0" spc="65"/>
              <a:t> </a:t>
            </a:r>
            <a:r>
              <a:rPr dirty="0" spc="360"/>
              <a:t>DNS</a:t>
            </a:r>
          </a:p>
        </p:txBody>
      </p:sp>
      <p:grpSp>
        <p:nvGrpSpPr>
          <p:cNvPr id="7" name="object 7" descr=""/>
          <p:cNvGrpSpPr/>
          <p:nvPr/>
        </p:nvGrpSpPr>
        <p:grpSpPr>
          <a:xfrm>
            <a:off x="651192" y="1975167"/>
            <a:ext cx="955040" cy="1520825"/>
            <a:chOff x="651192" y="1975167"/>
            <a:chExt cx="955040" cy="1520825"/>
          </a:xfrm>
        </p:grpSpPr>
        <p:sp>
          <p:nvSpPr>
            <p:cNvPr id="8" name="object 8" descr=""/>
            <p:cNvSpPr/>
            <p:nvPr/>
          </p:nvSpPr>
          <p:spPr>
            <a:xfrm>
              <a:off x="657225" y="1981199"/>
              <a:ext cx="942975" cy="1508760"/>
            </a:xfrm>
            <a:custGeom>
              <a:avLst/>
              <a:gdLst/>
              <a:ahLst/>
              <a:cxnLst/>
              <a:rect l="l" t="t" r="r" b="b"/>
              <a:pathLst>
                <a:path w="942975" h="1508760">
                  <a:moveTo>
                    <a:pt x="942975" y="0"/>
                  </a:moveTo>
                  <a:lnTo>
                    <a:pt x="471487" y="188595"/>
                  </a:lnTo>
                  <a:lnTo>
                    <a:pt x="0" y="0"/>
                  </a:lnTo>
                  <a:lnTo>
                    <a:pt x="0" y="1320076"/>
                  </a:lnTo>
                  <a:lnTo>
                    <a:pt x="471487" y="1508671"/>
                  </a:lnTo>
                  <a:lnTo>
                    <a:pt x="942975" y="1320076"/>
                  </a:lnTo>
                  <a:lnTo>
                    <a:pt x="942975" y="0"/>
                  </a:lnTo>
                  <a:close/>
                </a:path>
              </a:pathLst>
            </a:custGeom>
            <a:solidFill>
              <a:srgbClr val="00307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657225" y="1981199"/>
              <a:ext cx="942975" cy="1508760"/>
            </a:xfrm>
            <a:custGeom>
              <a:avLst/>
              <a:gdLst/>
              <a:ahLst/>
              <a:cxnLst/>
              <a:rect l="l" t="t" r="r" b="b"/>
              <a:pathLst>
                <a:path w="942975" h="1508760">
                  <a:moveTo>
                    <a:pt x="0" y="1320076"/>
                  </a:moveTo>
                  <a:lnTo>
                    <a:pt x="471487" y="1508671"/>
                  </a:lnTo>
                  <a:lnTo>
                    <a:pt x="942975" y="1320076"/>
                  </a:lnTo>
                  <a:lnTo>
                    <a:pt x="942975" y="0"/>
                  </a:lnTo>
                  <a:lnTo>
                    <a:pt x="471487" y="188595"/>
                  </a:lnTo>
                  <a:lnTo>
                    <a:pt x="0" y="0"/>
                  </a:lnTo>
                  <a:lnTo>
                    <a:pt x="0" y="1320076"/>
                  </a:lnTo>
                  <a:close/>
                </a:path>
              </a:pathLst>
            </a:custGeom>
            <a:ln w="11787">
              <a:solidFill>
                <a:srgbClr val="184A9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1056629" y="2533332"/>
            <a:ext cx="150495" cy="3651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200" spc="-185">
                <a:solidFill>
                  <a:srgbClr val="E2E6E9"/>
                </a:solidFill>
                <a:latin typeface="Cambria"/>
                <a:cs typeface="Cambria"/>
              </a:rPr>
              <a:t>1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873101" y="2142331"/>
            <a:ext cx="845819" cy="3086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850" spc="120">
                <a:solidFill>
                  <a:srgbClr val="E2E6E9"/>
                </a:solidFill>
                <a:latin typeface="Cambria"/>
                <a:cs typeface="Cambria"/>
              </a:rPr>
              <a:t>Cliente</a:t>
            </a:r>
            <a:endParaRPr sz="1850">
              <a:latin typeface="Cambria"/>
              <a:cs typeface="Cambri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873101" y="2589625"/>
            <a:ext cx="2832735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105">
                <a:solidFill>
                  <a:srgbClr val="E2E6E9"/>
                </a:solidFill>
                <a:latin typeface="Cambria"/>
                <a:cs typeface="Cambria"/>
              </a:rPr>
              <a:t>Solicita</a:t>
            </a:r>
            <a:r>
              <a:rPr dirty="0" sz="1450" spc="5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110">
                <a:solidFill>
                  <a:srgbClr val="E2E6E9"/>
                </a:solidFill>
                <a:latin typeface="Cambria"/>
                <a:cs typeface="Cambria"/>
              </a:rPr>
              <a:t>resolución</a:t>
            </a:r>
            <a:r>
              <a:rPr dirty="0" sz="1450" spc="5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100">
                <a:solidFill>
                  <a:srgbClr val="E2E6E9"/>
                </a:solidFill>
                <a:latin typeface="Cambria"/>
                <a:cs typeface="Cambria"/>
              </a:rPr>
              <a:t>de</a:t>
            </a:r>
            <a:r>
              <a:rPr dirty="0" sz="1450" spc="5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114">
                <a:solidFill>
                  <a:srgbClr val="E2E6E9"/>
                </a:solidFill>
                <a:latin typeface="Cambria"/>
                <a:cs typeface="Cambria"/>
              </a:rPr>
              <a:t>nombre.</a:t>
            </a:r>
            <a:endParaRPr sz="1450">
              <a:latin typeface="Cambria"/>
              <a:cs typeface="Cambria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651192" y="3480117"/>
            <a:ext cx="955040" cy="1520825"/>
            <a:chOff x="651192" y="3480117"/>
            <a:chExt cx="955040" cy="1520825"/>
          </a:xfrm>
        </p:grpSpPr>
        <p:sp>
          <p:nvSpPr>
            <p:cNvPr id="14" name="object 14" descr=""/>
            <p:cNvSpPr/>
            <p:nvPr/>
          </p:nvSpPr>
          <p:spPr>
            <a:xfrm>
              <a:off x="657225" y="3486149"/>
              <a:ext cx="942975" cy="1508760"/>
            </a:xfrm>
            <a:custGeom>
              <a:avLst/>
              <a:gdLst/>
              <a:ahLst/>
              <a:cxnLst/>
              <a:rect l="l" t="t" r="r" b="b"/>
              <a:pathLst>
                <a:path w="942975" h="1508760">
                  <a:moveTo>
                    <a:pt x="942975" y="0"/>
                  </a:moveTo>
                  <a:lnTo>
                    <a:pt x="471487" y="188595"/>
                  </a:lnTo>
                  <a:lnTo>
                    <a:pt x="0" y="0"/>
                  </a:lnTo>
                  <a:lnTo>
                    <a:pt x="0" y="1320076"/>
                  </a:lnTo>
                  <a:lnTo>
                    <a:pt x="471487" y="1508671"/>
                  </a:lnTo>
                  <a:lnTo>
                    <a:pt x="942975" y="1320076"/>
                  </a:lnTo>
                  <a:lnTo>
                    <a:pt x="942975" y="0"/>
                  </a:lnTo>
                  <a:close/>
                </a:path>
              </a:pathLst>
            </a:custGeom>
            <a:solidFill>
              <a:srgbClr val="00307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657225" y="3486149"/>
              <a:ext cx="942975" cy="1508760"/>
            </a:xfrm>
            <a:custGeom>
              <a:avLst/>
              <a:gdLst/>
              <a:ahLst/>
              <a:cxnLst/>
              <a:rect l="l" t="t" r="r" b="b"/>
              <a:pathLst>
                <a:path w="942975" h="1508760">
                  <a:moveTo>
                    <a:pt x="0" y="1320076"/>
                  </a:moveTo>
                  <a:lnTo>
                    <a:pt x="471487" y="1508671"/>
                  </a:lnTo>
                  <a:lnTo>
                    <a:pt x="942975" y="1320076"/>
                  </a:lnTo>
                  <a:lnTo>
                    <a:pt x="942975" y="0"/>
                  </a:lnTo>
                  <a:lnTo>
                    <a:pt x="471487" y="188595"/>
                  </a:lnTo>
                  <a:lnTo>
                    <a:pt x="0" y="0"/>
                  </a:lnTo>
                  <a:lnTo>
                    <a:pt x="0" y="1320076"/>
                  </a:lnTo>
                  <a:close/>
                </a:path>
              </a:pathLst>
            </a:custGeom>
            <a:ln w="11787">
              <a:solidFill>
                <a:srgbClr val="184A9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1034157" y="4047807"/>
            <a:ext cx="194945" cy="3651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200" spc="55">
                <a:solidFill>
                  <a:srgbClr val="E2E6E9"/>
                </a:solidFill>
                <a:latin typeface="Cambria"/>
                <a:cs typeface="Cambria"/>
              </a:rPr>
              <a:t>2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873101" y="3647281"/>
            <a:ext cx="2359660" cy="6991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850" spc="114">
                <a:solidFill>
                  <a:srgbClr val="E2E6E9"/>
                </a:solidFill>
                <a:latin typeface="Cambria"/>
                <a:cs typeface="Cambria"/>
              </a:rPr>
              <a:t>Servidor</a:t>
            </a:r>
            <a:r>
              <a:rPr dirty="0" sz="1850" spc="5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850" spc="190">
                <a:solidFill>
                  <a:srgbClr val="E2E6E9"/>
                </a:solidFill>
                <a:latin typeface="Cambria"/>
                <a:cs typeface="Cambria"/>
              </a:rPr>
              <a:t>DNS</a:t>
            </a:r>
            <a:r>
              <a:rPr dirty="0" sz="1850" spc="5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850" spc="130">
                <a:solidFill>
                  <a:srgbClr val="E2E6E9"/>
                </a:solidFill>
                <a:latin typeface="Cambria"/>
                <a:cs typeface="Cambria"/>
              </a:rPr>
              <a:t>Local</a:t>
            </a:r>
            <a:endParaRPr sz="18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330"/>
              </a:spcBef>
            </a:pPr>
            <a:r>
              <a:rPr dirty="0" sz="1450" spc="114">
                <a:solidFill>
                  <a:srgbClr val="E2E6E9"/>
                </a:solidFill>
                <a:latin typeface="Cambria"/>
                <a:cs typeface="Cambria"/>
              </a:rPr>
              <a:t>Busca</a:t>
            </a:r>
            <a:r>
              <a:rPr dirty="0" sz="1450" spc="3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125">
                <a:solidFill>
                  <a:srgbClr val="E2E6E9"/>
                </a:solidFill>
                <a:latin typeface="Cambria"/>
                <a:cs typeface="Cambria"/>
              </a:rPr>
              <a:t>en</a:t>
            </a:r>
            <a:r>
              <a:rPr dirty="0" sz="1450" spc="4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120">
                <a:solidFill>
                  <a:srgbClr val="E2E6E9"/>
                </a:solidFill>
                <a:latin typeface="Cambria"/>
                <a:cs typeface="Cambria"/>
              </a:rPr>
              <a:t>caché</a:t>
            </a:r>
            <a:r>
              <a:rPr dirty="0" sz="1450" spc="4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120">
                <a:solidFill>
                  <a:srgbClr val="E2E6E9"/>
                </a:solidFill>
                <a:latin typeface="Cambria"/>
                <a:cs typeface="Cambria"/>
              </a:rPr>
              <a:t>o</a:t>
            </a:r>
            <a:r>
              <a:rPr dirty="0" sz="1450" spc="4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90">
                <a:solidFill>
                  <a:srgbClr val="E2E6E9"/>
                </a:solidFill>
                <a:latin typeface="Cambria"/>
                <a:cs typeface="Cambria"/>
              </a:rPr>
              <a:t>reenvía.</a:t>
            </a:r>
            <a:endParaRPr sz="1450">
              <a:latin typeface="Cambria"/>
              <a:cs typeface="Cambria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651192" y="4994592"/>
            <a:ext cx="955040" cy="1520825"/>
            <a:chOff x="651192" y="4994592"/>
            <a:chExt cx="955040" cy="1520825"/>
          </a:xfrm>
        </p:grpSpPr>
        <p:sp>
          <p:nvSpPr>
            <p:cNvPr id="19" name="object 19" descr=""/>
            <p:cNvSpPr/>
            <p:nvPr/>
          </p:nvSpPr>
          <p:spPr>
            <a:xfrm>
              <a:off x="657225" y="5000624"/>
              <a:ext cx="942975" cy="1508760"/>
            </a:xfrm>
            <a:custGeom>
              <a:avLst/>
              <a:gdLst/>
              <a:ahLst/>
              <a:cxnLst/>
              <a:rect l="l" t="t" r="r" b="b"/>
              <a:pathLst>
                <a:path w="942975" h="1508759">
                  <a:moveTo>
                    <a:pt x="942975" y="0"/>
                  </a:moveTo>
                  <a:lnTo>
                    <a:pt x="471487" y="188595"/>
                  </a:lnTo>
                  <a:lnTo>
                    <a:pt x="0" y="0"/>
                  </a:lnTo>
                  <a:lnTo>
                    <a:pt x="0" y="1320076"/>
                  </a:lnTo>
                  <a:lnTo>
                    <a:pt x="471487" y="1508671"/>
                  </a:lnTo>
                  <a:lnTo>
                    <a:pt x="942975" y="1320076"/>
                  </a:lnTo>
                  <a:lnTo>
                    <a:pt x="942975" y="0"/>
                  </a:lnTo>
                  <a:close/>
                </a:path>
              </a:pathLst>
            </a:custGeom>
            <a:solidFill>
              <a:srgbClr val="00307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657225" y="5000624"/>
              <a:ext cx="942975" cy="1508760"/>
            </a:xfrm>
            <a:custGeom>
              <a:avLst/>
              <a:gdLst/>
              <a:ahLst/>
              <a:cxnLst/>
              <a:rect l="l" t="t" r="r" b="b"/>
              <a:pathLst>
                <a:path w="942975" h="1508759">
                  <a:moveTo>
                    <a:pt x="0" y="1320076"/>
                  </a:moveTo>
                  <a:lnTo>
                    <a:pt x="471487" y="1508671"/>
                  </a:lnTo>
                  <a:lnTo>
                    <a:pt x="942975" y="1320076"/>
                  </a:lnTo>
                  <a:lnTo>
                    <a:pt x="942975" y="0"/>
                  </a:lnTo>
                  <a:lnTo>
                    <a:pt x="471487" y="188595"/>
                  </a:lnTo>
                  <a:lnTo>
                    <a:pt x="0" y="0"/>
                  </a:lnTo>
                  <a:lnTo>
                    <a:pt x="0" y="1320076"/>
                  </a:lnTo>
                  <a:close/>
                </a:path>
              </a:pathLst>
            </a:custGeom>
            <a:ln w="11787">
              <a:solidFill>
                <a:srgbClr val="184A9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1039663" y="5552757"/>
            <a:ext cx="184150" cy="3651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200" spc="-50">
                <a:solidFill>
                  <a:srgbClr val="E2E6E9"/>
                </a:solidFill>
                <a:latin typeface="Cambria"/>
                <a:cs typeface="Cambria"/>
              </a:rPr>
              <a:t>3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873101" y="5161756"/>
            <a:ext cx="2373630" cy="6896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850" spc="114">
                <a:solidFill>
                  <a:srgbClr val="E2E6E9"/>
                </a:solidFill>
                <a:latin typeface="Cambria"/>
                <a:cs typeface="Cambria"/>
              </a:rPr>
              <a:t>Servidores</a:t>
            </a:r>
            <a:r>
              <a:rPr dirty="0" sz="1850" spc="7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850" spc="120">
                <a:solidFill>
                  <a:srgbClr val="E2E6E9"/>
                </a:solidFill>
                <a:latin typeface="Cambria"/>
                <a:cs typeface="Cambria"/>
              </a:rPr>
              <a:t>Raíz</a:t>
            </a:r>
            <a:endParaRPr sz="18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55"/>
              </a:spcBef>
            </a:pPr>
            <a:r>
              <a:rPr dirty="0" sz="1450" spc="114">
                <a:solidFill>
                  <a:srgbClr val="E2E6E9"/>
                </a:solidFill>
                <a:latin typeface="Cambria"/>
                <a:cs typeface="Cambria"/>
              </a:rPr>
              <a:t>Dirigen</a:t>
            </a:r>
            <a:r>
              <a:rPr dirty="0" sz="1450" spc="5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110">
                <a:solidFill>
                  <a:srgbClr val="E2E6E9"/>
                </a:solidFill>
                <a:latin typeface="Cambria"/>
                <a:cs typeface="Cambria"/>
              </a:rPr>
              <a:t>a</a:t>
            </a:r>
            <a:r>
              <a:rPr dirty="0" sz="1450" spc="5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95">
                <a:solidFill>
                  <a:srgbClr val="E2E6E9"/>
                </a:solidFill>
                <a:latin typeface="Cambria"/>
                <a:cs typeface="Cambria"/>
              </a:rPr>
              <a:t>servidores</a:t>
            </a:r>
            <a:r>
              <a:rPr dirty="0" sz="1450" spc="5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114">
                <a:solidFill>
                  <a:srgbClr val="E2E6E9"/>
                </a:solidFill>
                <a:latin typeface="Cambria"/>
                <a:cs typeface="Cambria"/>
              </a:rPr>
              <a:t>TLD.</a:t>
            </a:r>
            <a:endParaRPr sz="1450">
              <a:latin typeface="Cambria"/>
              <a:cs typeface="Cambria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651331" y="6499681"/>
            <a:ext cx="955040" cy="1520825"/>
            <a:chOff x="651331" y="6499681"/>
            <a:chExt cx="955040" cy="1520825"/>
          </a:xfrm>
        </p:grpSpPr>
        <p:sp>
          <p:nvSpPr>
            <p:cNvPr id="24" name="object 24" descr=""/>
            <p:cNvSpPr/>
            <p:nvPr/>
          </p:nvSpPr>
          <p:spPr>
            <a:xfrm>
              <a:off x="657225" y="6505575"/>
              <a:ext cx="942975" cy="1508760"/>
            </a:xfrm>
            <a:custGeom>
              <a:avLst/>
              <a:gdLst/>
              <a:ahLst/>
              <a:cxnLst/>
              <a:rect l="l" t="t" r="r" b="b"/>
              <a:pathLst>
                <a:path w="942975" h="1508759">
                  <a:moveTo>
                    <a:pt x="942975" y="0"/>
                  </a:moveTo>
                  <a:lnTo>
                    <a:pt x="471487" y="188595"/>
                  </a:lnTo>
                  <a:lnTo>
                    <a:pt x="0" y="0"/>
                  </a:lnTo>
                  <a:lnTo>
                    <a:pt x="0" y="1320076"/>
                  </a:lnTo>
                  <a:lnTo>
                    <a:pt x="471487" y="1508671"/>
                  </a:lnTo>
                  <a:lnTo>
                    <a:pt x="942975" y="1320076"/>
                  </a:lnTo>
                  <a:lnTo>
                    <a:pt x="942975" y="0"/>
                  </a:lnTo>
                  <a:close/>
                </a:path>
              </a:pathLst>
            </a:custGeom>
            <a:solidFill>
              <a:srgbClr val="00307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657225" y="6505575"/>
              <a:ext cx="942975" cy="1508760"/>
            </a:xfrm>
            <a:custGeom>
              <a:avLst/>
              <a:gdLst/>
              <a:ahLst/>
              <a:cxnLst/>
              <a:rect l="l" t="t" r="r" b="b"/>
              <a:pathLst>
                <a:path w="942975" h="1508759">
                  <a:moveTo>
                    <a:pt x="0" y="1320076"/>
                  </a:moveTo>
                  <a:lnTo>
                    <a:pt x="471487" y="1508671"/>
                  </a:lnTo>
                  <a:lnTo>
                    <a:pt x="942975" y="1320076"/>
                  </a:lnTo>
                  <a:lnTo>
                    <a:pt x="942975" y="0"/>
                  </a:lnTo>
                  <a:lnTo>
                    <a:pt x="471487" y="188595"/>
                  </a:lnTo>
                  <a:lnTo>
                    <a:pt x="0" y="0"/>
                  </a:lnTo>
                  <a:lnTo>
                    <a:pt x="0" y="1320076"/>
                  </a:lnTo>
                  <a:close/>
                </a:path>
              </a:pathLst>
            </a:custGeom>
            <a:ln w="11787">
              <a:solidFill>
                <a:srgbClr val="184A9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/>
          <p:nvPr/>
        </p:nvSpPr>
        <p:spPr>
          <a:xfrm>
            <a:off x="1027757" y="7057707"/>
            <a:ext cx="207645" cy="3651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200" spc="165">
                <a:solidFill>
                  <a:srgbClr val="E2E6E9"/>
                </a:solidFill>
                <a:latin typeface="Cambria"/>
                <a:cs typeface="Cambria"/>
              </a:rPr>
              <a:t>4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1873101" y="6666706"/>
            <a:ext cx="2485390" cy="6991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850" spc="114">
                <a:solidFill>
                  <a:srgbClr val="E2E6E9"/>
                </a:solidFill>
                <a:latin typeface="Cambria"/>
                <a:cs typeface="Cambria"/>
              </a:rPr>
              <a:t>Servidor</a:t>
            </a:r>
            <a:r>
              <a:rPr dirty="0" sz="1850" spc="6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850" spc="110">
                <a:solidFill>
                  <a:srgbClr val="E2E6E9"/>
                </a:solidFill>
                <a:latin typeface="Cambria"/>
                <a:cs typeface="Cambria"/>
              </a:rPr>
              <a:t>Autoritativo</a:t>
            </a:r>
            <a:endParaRPr sz="18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330"/>
              </a:spcBef>
            </a:pPr>
            <a:r>
              <a:rPr dirty="0" sz="1450" spc="110">
                <a:solidFill>
                  <a:srgbClr val="E2E6E9"/>
                </a:solidFill>
                <a:latin typeface="Cambria"/>
                <a:cs typeface="Cambria"/>
              </a:rPr>
              <a:t>Proporciona</a:t>
            </a:r>
            <a:r>
              <a:rPr dirty="0" sz="1450" spc="3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120">
                <a:solidFill>
                  <a:srgbClr val="E2E6E9"/>
                </a:solidFill>
                <a:latin typeface="Cambria"/>
                <a:cs typeface="Cambria"/>
              </a:rPr>
              <a:t>IP</a:t>
            </a:r>
            <a:r>
              <a:rPr dirty="0" sz="1450" spc="4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105">
                <a:solidFill>
                  <a:srgbClr val="E2E6E9"/>
                </a:solidFill>
                <a:latin typeface="Cambria"/>
                <a:cs typeface="Cambria"/>
              </a:rPr>
              <a:t>final.</a:t>
            </a:r>
            <a:endParaRPr sz="14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143750" y="253"/>
            <a:ext cx="4286250" cy="6438900"/>
            <a:chOff x="7143750" y="253"/>
            <a:chExt cx="4286250" cy="64389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253"/>
              <a:ext cx="4286249" cy="6438645"/>
            </a:xfrm>
            <a:prstGeom prst="rect">
              <a:avLst/>
            </a:prstGeom>
          </p:spPr>
        </p:pic>
        <p:pic>
          <p:nvPicPr>
            <p:cNvPr id="4" name="object 4" descr="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80244" y="5926073"/>
              <a:ext cx="1754504" cy="4191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47353" y="1382712"/>
            <a:ext cx="5431155" cy="59118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pc="280"/>
              <a:t>Tipos</a:t>
            </a:r>
            <a:r>
              <a:rPr dirty="0" spc="80"/>
              <a:t> </a:t>
            </a:r>
            <a:r>
              <a:rPr dirty="0" spc="229"/>
              <a:t>de</a:t>
            </a:r>
            <a:r>
              <a:rPr dirty="0" spc="80"/>
              <a:t> </a:t>
            </a:r>
            <a:r>
              <a:rPr dirty="0" spc="260"/>
              <a:t>Registros</a:t>
            </a:r>
            <a:r>
              <a:rPr dirty="0" spc="85"/>
              <a:t> </a:t>
            </a:r>
            <a:r>
              <a:rPr dirty="0" spc="360"/>
              <a:t>DNS</a:t>
            </a:r>
          </a:p>
        </p:txBody>
      </p:sp>
      <p:sp>
        <p:nvSpPr>
          <p:cNvPr id="6" name="object 6" descr=""/>
          <p:cNvSpPr/>
          <p:nvPr/>
        </p:nvSpPr>
        <p:spPr>
          <a:xfrm>
            <a:off x="661987" y="2281237"/>
            <a:ext cx="5819775" cy="2743200"/>
          </a:xfrm>
          <a:custGeom>
            <a:avLst/>
            <a:gdLst/>
            <a:ahLst/>
            <a:cxnLst/>
            <a:rect l="l" t="t" r="r" b="b"/>
            <a:pathLst>
              <a:path w="5819775" h="2743200">
                <a:moveTo>
                  <a:pt x="0" y="2681947"/>
                </a:moveTo>
                <a:lnTo>
                  <a:pt x="0" y="61239"/>
                </a:lnTo>
                <a:lnTo>
                  <a:pt x="0" y="57226"/>
                </a:lnTo>
                <a:lnTo>
                  <a:pt x="392" y="53238"/>
                </a:lnTo>
                <a:lnTo>
                  <a:pt x="1176" y="49301"/>
                </a:lnTo>
                <a:lnTo>
                  <a:pt x="1959" y="45351"/>
                </a:lnTo>
                <a:lnTo>
                  <a:pt x="3125" y="41529"/>
                </a:lnTo>
                <a:lnTo>
                  <a:pt x="4663" y="37807"/>
                </a:lnTo>
                <a:lnTo>
                  <a:pt x="6201" y="34086"/>
                </a:lnTo>
                <a:lnTo>
                  <a:pt x="8086" y="30556"/>
                </a:lnTo>
                <a:lnTo>
                  <a:pt x="10323" y="27216"/>
                </a:lnTo>
                <a:lnTo>
                  <a:pt x="12556" y="23876"/>
                </a:lnTo>
                <a:lnTo>
                  <a:pt x="15096" y="20777"/>
                </a:lnTo>
                <a:lnTo>
                  <a:pt x="17938" y="17945"/>
                </a:lnTo>
                <a:lnTo>
                  <a:pt x="20781" y="15087"/>
                </a:lnTo>
                <a:lnTo>
                  <a:pt x="23877" y="12560"/>
                </a:lnTo>
                <a:lnTo>
                  <a:pt x="27221" y="10325"/>
                </a:lnTo>
                <a:lnTo>
                  <a:pt x="30563" y="8089"/>
                </a:lnTo>
                <a:lnTo>
                  <a:pt x="34091" y="6197"/>
                </a:lnTo>
                <a:lnTo>
                  <a:pt x="37807" y="4660"/>
                </a:lnTo>
                <a:lnTo>
                  <a:pt x="41522" y="3124"/>
                </a:lnTo>
                <a:lnTo>
                  <a:pt x="45352" y="1955"/>
                </a:lnTo>
                <a:lnTo>
                  <a:pt x="49296" y="1181"/>
                </a:lnTo>
                <a:lnTo>
                  <a:pt x="53240" y="393"/>
                </a:lnTo>
                <a:lnTo>
                  <a:pt x="57224" y="0"/>
                </a:lnTo>
                <a:lnTo>
                  <a:pt x="61248" y="0"/>
                </a:lnTo>
                <a:lnTo>
                  <a:pt x="5758522" y="0"/>
                </a:lnTo>
                <a:lnTo>
                  <a:pt x="5762548" y="0"/>
                </a:lnTo>
                <a:lnTo>
                  <a:pt x="5766536" y="393"/>
                </a:lnTo>
                <a:lnTo>
                  <a:pt x="5770473" y="1181"/>
                </a:lnTo>
                <a:lnTo>
                  <a:pt x="5774423" y="1955"/>
                </a:lnTo>
                <a:lnTo>
                  <a:pt x="5801842" y="17945"/>
                </a:lnTo>
                <a:lnTo>
                  <a:pt x="5804674" y="20777"/>
                </a:lnTo>
                <a:lnTo>
                  <a:pt x="5815114" y="37807"/>
                </a:lnTo>
                <a:lnTo>
                  <a:pt x="5816650" y="41529"/>
                </a:lnTo>
                <a:lnTo>
                  <a:pt x="5817806" y="45351"/>
                </a:lnTo>
                <a:lnTo>
                  <a:pt x="5818593" y="49301"/>
                </a:lnTo>
                <a:lnTo>
                  <a:pt x="5819381" y="53238"/>
                </a:lnTo>
                <a:lnTo>
                  <a:pt x="5819775" y="57226"/>
                </a:lnTo>
                <a:lnTo>
                  <a:pt x="5819775" y="61239"/>
                </a:lnTo>
                <a:lnTo>
                  <a:pt x="5819775" y="2681947"/>
                </a:lnTo>
                <a:lnTo>
                  <a:pt x="5819775" y="2685973"/>
                </a:lnTo>
                <a:lnTo>
                  <a:pt x="5819381" y="2689961"/>
                </a:lnTo>
                <a:lnTo>
                  <a:pt x="5818593" y="2693898"/>
                </a:lnTo>
                <a:lnTo>
                  <a:pt x="5817806" y="2697848"/>
                </a:lnTo>
                <a:lnTo>
                  <a:pt x="5816650" y="2701683"/>
                </a:lnTo>
                <a:lnTo>
                  <a:pt x="5815114" y="2705392"/>
                </a:lnTo>
                <a:lnTo>
                  <a:pt x="5813577" y="2709100"/>
                </a:lnTo>
                <a:lnTo>
                  <a:pt x="5785688" y="2736989"/>
                </a:lnTo>
                <a:lnTo>
                  <a:pt x="5770473" y="2742018"/>
                </a:lnTo>
                <a:lnTo>
                  <a:pt x="5766536" y="2742806"/>
                </a:lnTo>
                <a:lnTo>
                  <a:pt x="5762548" y="2743200"/>
                </a:lnTo>
                <a:lnTo>
                  <a:pt x="5758522" y="2743200"/>
                </a:lnTo>
                <a:lnTo>
                  <a:pt x="61248" y="2743200"/>
                </a:lnTo>
                <a:lnTo>
                  <a:pt x="57224" y="2743200"/>
                </a:lnTo>
                <a:lnTo>
                  <a:pt x="53240" y="2742806"/>
                </a:lnTo>
                <a:lnTo>
                  <a:pt x="49296" y="2742018"/>
                </a:lnTo>
                <a:lnTo>
                  <a:pt x="45352" y="2741231"/>
                </a:lnTo>
                <a:lnTo>
                  <a:pt x="41522" y="2740075"/>
                </a:lnTo>
                <a:lnTo>
                  <a:pt x="37807" y="2738539"/>
                </a:lnTo>
                <a:lnTo>
                  <a:pt x="34091" y="2737002"/>
                </a:lnTo>
                <a:lnTo>
                  <a:pt x="30563" y="2735110"/>
                </a:lnTo>
                <a:lnTo>
                  <a:pt x="27221" y="2732874"/>
                </a:lnTo>
                <a:lnTo>
                  <a:pt x="23877" y="2730639"/>
                </a:lnTo>
                <a:lnTo>
                  <a:pt x="1959" y="2697848"/>
                </a:lnTo>
                <a:lnTo>
                  <a:pt x="1176" y="2693898"/>
                </a:lnTo>
                <a:lnTo>
                  <a:pt x="392" y="2689961"/>
                </a:lnTo>
                <a:lnTo>
                  <a:pt x="0" y="2685973"/>
                </a:lnTo>
                <a:lnTo>
                  <a:pt x="0" y="2681947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7" name="object 7" descr=""/>
          <p:cNvGraphicFramePr>
            <a:graphicFrameLocks noGrp="1"/>
          </p:cNvGraphicFramePr>
          <p:nvPr/>
        </p:nvGraphicFramePr>
        <p:xfrm>
          <a:off x="666750" y="2285999"/>
          <a:ext cx="5886450" cy="27336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09570"/>
                <a:gridCol w="2900045"/>
              </a:tblGrid>
              <a:tr h="552450">
                <a:tc>
                  <a:txBody>
                    <a:bodyPr/>
                    <a:lstStyle/>
                    <a:p>
                      <a:pPr marL="191135"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r>
                        <a:rPr dirty="0" sz="1450" spc="75">
                          <a:solidFill>
                            <a:srgbClr val="E2E6E9"/>
                          </a:solidFill>
                          <a:latin typeface="Cambria"/>
                          <a:cs typeface="Cambria"/>
                        </a:rPr>
                        <a:t>A</a:t>
                      </a:r>
                      <a:endParaRPr sz="1450">
                        <a:latin typeface="Cambria"/>
                        <a:cs typeface="Cambria"/>
                      </a:endParaRPr>
                    </a:p>
                  </a:txBody>
                  <a:tcPr marL="0" marR="0" marB="0" marT="149225">
                    <a:lnR w="9525">
                      <a:solidFill>
                        <a:srgbClr val="15202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87960"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r>
                        <a:rPr dirty="0" sz="1450" spc="105">
                          <a:solidFill>
                            <a:srgbClr val="E2E6E9"/>
                          </a:solidFill>
                          <a:latin typeface="Cambria"/>
                          <a:cs typeface="Cambria"/>
                        </a:rPr>
                        <a:t>IPv4</a:t>
                      </a:r>
                      <a:endParaRPr sz="1450">
                        <a:latin typeface="Cambria"/>
                        <a:cs typeface="Cambria"/>
                      </a:endParaRPr>
                    </a:p>
                  </a:txBody>
                  <a:tcPr marL="0" marR="0" marB="0" marT="149225">
                    <a:lnL w="9525">
                      <a:solidFill>
                        <a:srgbClr val="152025"/>
                      </a:solidFill>
                      <a:prstDash val="solid"/>
                    </a:lnL>
                    <a:solidFill>
                      <a:srgbClr val="FFFFFF">
                        <a:alpha val="3919"/>
                      </a:srgbClr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marL="191135"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r>
                        <a:rPr dirty="0" sz="1450" spc="100">
                          <a:solidFill>
                            <a:srgbClr val="E2E6E9"/>
                          </a:solidFill>
                          <a:latin typeface="Cambria"/>
                          <a:cs typeface="Cambria"/>
                        </a:rPr>
                        <a:t>AAAA</a:t>
                      </a:r>
                      <a:endParaRPr sz="1450">
                        <a:latin typeface="Cambria"/>
                        <a:cs typeface="Cambria"/>
                      </a:endParaRPr>
                    </a:p>
                  </a:txBody>
                  <a:tcPr marL="0" marR="0" marB="0" marT="149225">
                    <a:lnR w="9525">
                      <a:solidFill>
                        <a:srgbClr val="15202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87960"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r>
                        <a:rPr dirty="0" sz="1450" spc="110">
                          <a:solidFill>
                            <a:srgbClr val="E2E6E9"/>
                          </a:solidFill>
                          <a:latin typeface="Cambria"/>
                          <a:cs typeface="Cambria"/>
                        </a:rPr>
                        <a:t>IPv6</a:t>
                      </a:r>
                      <a:endParaRPr sz="1450">
                        <a:latin typeface="Cambria"/>
                        <a:cs typeface="Cambria"/>
                      </a:endParaRPr>
                    </a:p>
                  </a:txBody>
                  <a:tcPr marL="0" marR="0" marB="0" marT="149225">
                    <a:lnL w="9525">
                      <a:solidFill>
                        <a:srgbClr val="152025"/>
                      </a:solidFill>
                      <a:prstDash val="solid"/>
                    </a:lnL>
                    <a:solidFill>
                      <a:srgbClr val="000000">
                        <a:alpha val="3919"/>
                      </a:srgbClr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marL="191135"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r>
                        <a:rPr dirty="0" sz="1450" spc="220">
                          <a:solidFill>
                            <a:srgbClr val="E2E6E9"/>
                          </a:solidFill>
                          <a:latin typeface="Cambria"/>
                          <a:cs typeface="Cambria"/>
                        </a:rPr>
                        <a:t>MX</a:t>
                      </a:r>
                      <a:endParaRPr sz="1450">
                        <a:latin typeface="Cambria"/>
                        <a:cs typeface="Cambria"/>
                      </a:endParaRPr>
                    </a:p>
                  </a:txBody>
                  <a:tcPr marL="0" marR="0" marB="0" marT="149225">
                    <a:lnR w="9525">
                      <a:solidFill>
                        <a:srgbClr val="15202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87960"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r>
                        <a:rPr dirty="0" sz="1450" spc="100">
                          <a:solidFill>
                            <a:srgbClr val="E2E6E9"/>
                          </a:solidFill>
                          <a:latin typeface="Cambria"/>
                          <a:cs typeface="Cambria"/>
                        </a:rPr>
                        <a:t>Servidor</a:t>
                      </a:r>
                      <a:r>
                        <a:rPr dirty="0" sz="1450" spc="40">
                          <a:solidFill>
                            <a:srgbClr val="E2E6E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50" spc="100">
                          <a:solidFill>
                            <a:srgbClr val="E2E6E9"/>
                          </a:solidFill>
                          <a:latin typeface="Cambria"/>
                          <a:cs typeface="Cambria"/>
                        </a:rPr>
                        <a:t>de</a:t>
                      </a:r>
                      <a:r>
                        <a:rPr dirty="0" sz="1450" spc="45">
                          <a:solidFill>
                            <a:srgbClr val="E2E6E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50" spc="85">
                          <a:solidFill>
                            <a:srgbClr val="E2E6E9"/>
                          </a:solidFill>
                          <a:latin typeface="Cambria"/>
                          <a:cs typeface="Cambria"/>
                        </a:rPr>
                        <a:t>correo</a:t>
                      </a:r>
                      <a:endParaRPr sz="1450">
                        <a:latin typeface="Cambria"/>
                        <a:cs typeface="Cambria"/>
                      </a:endParaRPr>
                    </a:p>
                  </a:txBody>
                  <a:tcPr marL="0" marR="0" marB="0" marT="149225">
                    <a:lnL w="9525">
                      <a:solidFill>
                        <a:srgbClr val="152025"/>
                      </a:solidFill>
                      <a:prstDash val="solid"/>
                    </a:lnL>
                    <a:solidFill>
                      <a:srgbClr val="FFFFFF">
                        <a:alpha val="3919"/>
                      </a:srgbClr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marL="191135"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r>
                        <a:rPr dirty="0" sz="1450" spc="160">
                          <a:solidFill>
                            <a:srgbClr val="E2E6E9"/>
                          </a:solidFill>
                          <a:latin typeface="Cambria"/>
                          <a:cs typeface="Cambria"/>
                        </a:rPr>
                        <a:t>CNAME</a:t>
                      </a:r>
                      <a:endParaRPr sz="1450">
                        <a:latin typeface="Cambria"/>
                        <a:cs typeface="Cambria"/>
                      </a:endParaRPr>
                    </a:p>
                  </a:txBody>
                  <a:tcPr marL="0" marR="0" marB="0" marT="149225">
                    <a:lnR w="9525">
                      <a:solidFill>
                        <a:srgbClr val="15202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87960"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r>
                        <a:rPr dirty="0" sz="1450" spc="95">
                          <a:solidFill>
                            <a:srgbClr val="E2E6E9"/>
                          </a:solidFill>
                          <a:latin typeface="Cambria"/>
                          <a:cs typeface="Cambria"/>
                        </a:rPr>
                        <a:t>Alias</a:t>
                      </a:r>
                      <a:endParaRPr sz="1450">
                        <a:latin typeface="Cambria"/>
                        <a:cs typeface="Cambria"/>
                      </a:endParaRPr>
                    </a:p>
                  </a:txBody>
                  <a:tcPr marL="0" marR="0" marB="0" marT="149225">
                    <a:lnL w="9525">
                      <a:solidFill>
                        <a:srgbClr val="152025"/>
                      </a:solidFill>
                      <a:prstDash val="solid"/>
                    </a:lnL>
                    <a:solidFill>
                      <a:srgbClr val="000000">
                        <a:alpha val="3919"/>
                      </a:srgbClr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marL="191135"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r>
                        <a:rPr dirty="0" sz="1450" spc="145">
                          <a:solidFill>
                            <a:srgbClr val="E2E6E9"/>
                          </a:solidFill>
                          <a:latin typeface="Cambria"/>
                          <a:cs typeface="Cambria"/>
                        </a:rPr>
                        <a:t>NS</a:t>
                      </a:r>
                      <a:endParaRPr sz="1450">
                        <a:latin typeface="Cambria"/>
                        <a:cs typeface="Cambria"/>
                      </a:endParaRPr>
                    </a:p>
                  </a:txBody>
                  <a:tcPr marL="0" marR="0" marB="0" marT="149225">
                    <a:lnR w="9525">
                      <a:solidFill>
                        <a:srgbClr val="15202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87960"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r>
                        <a:rPr dirty="0" sz="1450" spc="100">
                          <a:solidFill>
                            <a:srgbClr val="E2E6E9"/>
                          </a:solidFill>
                          <a:latin typeface="Cambria"/>
                          <a:cs typeface="Cambria"/>
                        </a:rPr>
                        <a:t>Servidor</a:t>
                      </a:r>
                      <a:r>
                        <a:rPr dirty="0" sz="1450" spc="40">
                          <a:solidFill>
                            <a:srgbClr val="E2E6E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50" spc="100">
                          <a:solidFill>
                            <a:srgbClr val="E2E6E9"/>
                          </a:solidFill>
                          <a:latin typeface="Cambria"/>
                          <a:cs typeface="Cambria"/>
                        </a:rPr>
                        <a:t>de</a:t>
                      </a:r>
                      <a:r>
                        <a:rPr dirty="0" sz="1450" spc="45">
                          <a:solidFill>
                            <a:srgbClr val="E2E6E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50" spc="120">
                          <a:solidFill>
                            <a:srgbClr val="E2E6E9"/>
                          </a:solidFill>
                          <a:latin typeface="Cambria"/>
                          <a:cs typeface="Cambria"/>
                        </a:rPr>
                        <a:t>nombres</a:t>
                      </a:r>
                      <a:endParaRPr sz="1450">
                        <a:latin typeface="Cambria"/>
                        <a:cs typeface="Cambria"/>
                      </a:endParaRPr>
                    </a:p>
                  </a:txBody>
                  <a:tcPr marL="0" marR="0" marB="0" marT="149225">
                    <a:lnL w="9525">
                      <a:solidFill>
                        <a:srgbClr val="152025"/>
                      </a:solidFill>
                      <a:prstDash val="solid"/>
                    </a:lnL>
                    <a:solidFill>
                      <a:srgbClr val="FFFFFF">
                        <a:alpha val="3919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9572" y="2030412"/>
            <a:ext cx="7708265" cy="59118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pc="285"/>
              <a:t>Configuración</a:t>
            </a:r>
            <a:r>
              <a:rPr dirty="0" spc="90"/>
              <a:t> </a:t>
            </a:r>
            <a:r>
              <a:rPr dirty="0" spc="229"/>
              <a:t>de</a:t>
            </a:r>
            <a:r>
              <a:rPr dirty="0" spc="95"/>
              <a:t> </a:t>
            </a:r>
            <a:r>
              <a:rPr dirty="0" spc="235"/>
              <a:t>Servidores</a:t>
            </a:r>
            <a:r>
              <a:rPr dirty="0" spc="95"/>
              <a:t> </a:t>
            </a:r>
            <a:r>
              <a:rPr dirty="0" spc="360"/>
              <a:t>DNS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019572" y="3094831"/>
            <a:ext cx="2452370" cy="7658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850" spc="130">
                <a:solidFill>
                  <a:srgbClr val="F5F0F0"/>
                </a:solidFill>
                <a:latin typeface="Cambria"/>
                <a:cs typeface="Cambria"/>
              </a:rPr>
              <a:t>Instalación</a:t>
            </a:r>
            <a:endParaRPr sz="18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855"/>
              </a:spcBef>
            </a:pPr>
            <a:r>
              <a:rPr dirty="0" sz="1450" spc="120">
                <a:solidFill>
                  <a:srgbClr val="E2E6E9"/>
                </a:solidFill>
                <a:latin typeface="Cambria"/>
                <a:cs typeface="Cambria"/>
              </a:rPr>
              <a:t>sudo</a:t>
            </a:r>
            <a:r>
              <a:rPr dirty="0" sz="1450" spc="3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190">
                <a:solidFill>
                  <a:srgbClr val="E2E6E9"/>
                </a:solidFill>
                <a:latin typeface="Cambria"/>
                <a:cs typeface="Cambria"/>
              </a:rPr>
              <a:t>apt-</a:t>
            </a:r>
            <a:r>
              <a:rPr dirty="0" sz="1450" spc="125">
                <a:solidFill>
                  <a:srgbClr val="E2E6E9"/>
                </a:solidFill>
                <a:latin typeface="Cambria"/>
                <a:cs typeface="Cambria"/>
              </a:rPr>
              <a:t>get</a:t>
            </a:r>
            <a:r>
              <a:rPr dirty="0" sz="1450" spc="4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110">
                <a:solidFill>
                  <a:srgbClr val="E2E6E9"/>
                </a:solidFill>
                <a:latin typeface="Cambria"/>
                <a:cs typeface="Cambria"/>
              </a:rPr>
              <a:t>install</a:t>
            </a:r>
            <a:r>
              <a:rPr dirty="0" sz="1450" spc="4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105">
                <a:solidFill>
                  <a:srgbClr val="E2E6E9"/>
                </a:solidFill>
                <a:latin typeface="Cambria"/>
                <a:cs typeface="Cambria"/>
              </a:rPr>
              <a:t>bind9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303763" y="3094831"/>
            <a:ext cx="2679700" cy="7658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850" spc="135">
                <a:solidFill>
                  <a:srgbClr val="F5F0F0"/>
                </a:solidFill>
                <a:latin typeface="Cambria"/>
                <a:cs typeface="Cambria"/>
              </a:rPr>
              <a:t>Configuración</a:t>
            </a:r>
            <a:endParaRPr sz="18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855"/>
              </a:spcBef>
            </a:pPr>
            <a:r>
              <a:rPr dirty="0" sz="1450" spc="100">
                <a:solidFill>
                  <a:srgbClr val="E2E6E9"/>
                </a:solidFill>
                <a:latin typeface="Cambria"/>
                <a:cs typeface="Cambria"/>
              </a:rPr>
              <a:t>Editar</a:t>
            </a:r>
            <a:r>
              <a:rPr dirty="0" sz="1450" spc="4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85">
                <a:solidFill>
                  <a:srgbClr val="E2E6E9"/>
                </a:solidFill>
                <a:latin typeface="Cambria"/>
                <a:cs typeface="Cambria"/>
              </a:rPr>
              <a:t>/etc/bind/named.conf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587957" y="3094831"/>
            <a:ext cx="2442210" cy="10706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850" spc="145">
                <a:solidFill>
                  <a:srgbClr val="F5F0F0"/>
                </a:solidFill>
                <a:latin typeface="Cambria"/>
                <a:cs typeface="Cambria"/>
              </a:rPr>
              <a:t>Zona</a:t>
            </a:r>
            <a:endParaRPr sz="18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855"/>
              </a:spcBef>
            </a:pPr>
            <a:r>
              <a:rPr dirty="0" sz="1450" spc="95">
                <a:solidFill>
                  <a:srgbClr val="E2E6E9"/>
                </a:solidFill>
                <a:latin typeface="Cambria"/>
                <a:cs typeface="Cambria"/>
              </a:rPr>
              <a:t>Crear</a:t>
            </a:r>
            <a:r>
              <a:rPr dirty="0" sz="1450" spc="4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110">
                <a:solidFill>
                  <a:srgbClr val="E2E6E9"/>
                </a:solidFill>
                <a:latin typeface="Cambria"/>
                <a:cs typeface="Cambria"/>
              </a:rPr>
              <a:t>archivo</a:t>
            </a:r>
            <a:r>
              <a:rPr dirty="0" sz="1450" spc="4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100">
                <a:solidFill>
                  <a:srgbClr val="E2E6E9"/>
                </a:solidFill>
                <a:latin typeface="Cambria"/>
                <a:cs typeface="Cambria"/>
              </a:rPr>
              <a:t>de</a:t>
            </a:r>
            <a:r>
              <a:rPr dirty="0" sz="1450" spc="5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114">
                <a:solidFill>
                  <a:srgbClr val="E2E6E9"/>
                </a:solidFill>
                <a:latin typeface="Cambria"/>
                <a:cs typeface="Cambria"/>
              </a:rPr>
              <a:t>zona</a:t>
            </a:r>
            <a:endParaRPr sz="14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dirty="0" sz="1450" spc="80">
                <a:solidFill>
                  <a:srgbClr val="E2E6E9"/>
                </a:solidFill>
                <a:latin typeface="Cambria"/>
                <a:cs typeface="Cambria"/>
              </a:rPr>
              <a:t>/etc/bind/db.ejemplo.com</a:t>
            </a:r>
            <a:endParaRPr sz="1450">
              <a:latin typeface="Cambria"/>
              <a:cs typeface="Cambria"/>
            </a:endParaRPr>
          </a:p>
        </p:txBody>
      </p:sp>
      <p:pic>
        <p:nvPicPr>
          <p:cNvPr id="6" name="object 6" descr="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pc="275"/>
              <a:t>Evaluación</a:t>
            </a:r>
            <a:r>
              <a:rPr dirty="0" spc="75"/>
              <a:t> </a:t>
            </a:r>
            <a:r>
              <a:rPr dirty="0" spc="229"/>
              <a:t>de</a:t>
            </a:r>
            <a:r>
              <a:rPr dirty="0" spc="80"/>
              <a:t> </a:t>
            </a:r>
            <a:r>
              <a:rPr dirty="0" spc="295"/>
              <a:t>Conocimientos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1028700" y="3962400"/>
            <a:ext cx="428625" cy="428625"/>
            <a:chOff x="1028700" y="3962400"/>
            <a:chExt cx="428625" cy="428625"/>
          </a:xfrm>
        </p:grpSpPr>
        <p:sp>
          <p:nvSpPr>
            <p:cNvPr id="4" name="object 4" descr=""/>
            <p:cNvSpPr/>
            <p:nvPr/>
          </p:nvSpPr>
          <p:spPr>
            <a:xfrm>
              <a:off x="1033462" y="3967162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>
                  <a:moveTo>
                    <a:pt x="361873" y="0"/>
                  </a:moveTo>
                  <a:lnTo>
                    <a:pt x="57224" y="0"/>
                  </a:lnTo>
                  <a:lnTo>
                    <a:pt x="53240" y="393"/>
                  </a:lnTo>
                  <a:lnTo>
                    <a:pt x="15096" y="20777"/>
                  </a:lnTo>
                  <a:lnTo>
                    <a:pt x="0" y="57226"/>
                  </a:lnTo>
                  <a:lnTo>
                    <a:pt x="0" y="357847"/>
                  </a:lnTo>
                  <a:lnTo>
                    <a:pt x="0" y="361873"/>
                  </a:lnTo>
                  <a:lnTo>
                    <a:pt x="15096" y="398322"/>
                  </a:lnTo>
                  <a:lnTo>
                    <a:pt x="53240" y="418706"/>
                  </a:lnTo>
                  <a:lnTo>
                    <a:pt x="57224" y="419100"/>
                  </a:lnTo>
                  <a:lnTo>
                    <a:pt x="361873" y="419100"/>
                  </a:lnTo>
                  <a:lnTo>
                    <a:pt x="398322" y="403999"/>
                  </a:lnTo>
                  <a:lnTo>
                    <a:pt x="418706" y="365861"/>
                  </a:lnTo>
                  <a:lnTo>
                    <a:pt x="419100" y="361873"/>
                  </a:lnTo>
                  <a:lnTo>
                    <a:pt x="419100" y="57226"/>
                  </a:lnTo>
                  <a:lnTo>
                    <a:pt x="403999" y="20777"/>
                  </a:lnTo>
                  <a:lnTo>
                    <a:pt x="365861" y="393"/>
                  </a:lnTo>
                  <a:lnTo>
                    <a:pt x="361873" y="0"/>
                  </a:lnTo>
                  <a:close/>
                </a:path>
              </a:pathLst>
            </a:custGeom>
            <a:solidFill>
              <a:srgbClr val="00307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033462" y="3967162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>
                  <a:moveTo>
                    <a:pt x="0" y="357847"/>
                  </a:moveTo>
                  <a:lnTo>
                    <a:pt x="0" y="61252"/>
                  </a:lnTo>
                  <a:lnTo>
                    <a:pt x="0" y="57226"/>
                  </a:lnTo>
                  <a:lnTo>
                    <a:pt x="392" y="53238"/>
                  </a:lnTo>
                  <a:lnTo>
                    <a:pt x="1176" y="49301"/>
                  </a:lnTo>
                  <a:lnTo>
                    <a:pt x="1959" y="45351"/>
                  </a:lnTo>
                  <a:lnTo>
                    <a:pt x="3125" y="41516"/>
                  </a:lnTo>
                  <a:lnTo>
                    <a:pt x="4663" y="37807"/>
                  </a:lnTo>
                  <a:lnTo>
                    <a:pt x="6201" y="34086"/>
                  </a:lnTo>
                  <a:lnTo>
                    <a:pt x="8086" y="30568"/>
                  </a:lnTo>
                  <a:lnTo>
                    <a:pt x="27221" y="10325"/>
                  </a:lnTo>
                  <a:lnTo>
                    <a:pt x="30563" y="8089"/>
                  </a:lnTo>
                  <a:lnTo>
                    <a:pt x="34091" y="6197"/>
                  </a:lnTo>
                  <a:lnTo>
                    <a:pt x="37807" y="4660"/>
                  </a:lnTo>
                  <a:lnTo>
                    <a:pt x="41522" y="3124"/>
                  </a:lnTo>
                  <a:lnTo>
                    <a:pt x="45352" y="1955"/>
                  </a:lnTo>
                  <a:lnTo>
                    <a:pt x="49296" y="1168"/>
                  </a:lnTo>
                  <a:lnTo>
                    <a:pt x="53240" y="393"/>
                  </a:lnTo>
                  <a:lnTo>
                    <a:pt x="57224" y="0"/>
                  </a:lnTo>
                  <a:lnTo>
                    <a:pt x="61248" y="0"/>
                  </a:lnTo>
                  <a:lnTo>
                    <a:pt x="357847" y="0"/>
                  </a:lnTo>
                  <a:lnTo>
                    <a:pt x="361873" y="0"/>
                  </a:lnTo>
                  <a:lnTo>
                    <a:pt x="365861" y="393"/>
                  </a:lnTo>
                  <a:lnTo>
                    <a:pt x="401167" y="17932"/>
                  </a:lnTo>
                  <a:lnTo>
                    <a:pt x="414439" y="37807"/>
                  </a:lnTo>
                  <a:lnTo>
                    <a:pt x="415975" y="41516"/>
                  </a:lnTo>
                  <a:lnTo>
                    <a:pt x="417144" y="45351"/>
                  </a:lnTo>
                  <a:lnTo>
                    <a:pt x="417918" y="49301"/>
                  </a:lnTo>
                  <a:lnTo>
                    <a:pt x="418706" y="53238"/>
                  </a:lnTo>
                  <a:lnTo>
                    <a:pt x="419100" y="57226"/>
                  </a:lnTo>
                  <a:lnTo>
                    <a:pt x="419100" y="61252"/>
                  </a:lnTo>
                  <a:lnTo>
                    <a:pt x="419100" y="357847"/>
                  </a:lnTo>
                  <a:lnTo>
                    <a:pt x="419100" y="361873"/>
                  </a:lnTo>
                  <a:lnTo>
                    <a:pt x="418706" y="365861"/>
                  </a:lnTo>
                  <a:lnTo>
                    <a:pt x="417918" y="369798"/>
                  </a:lnTo>
                  <a:lnTo>
                    <a:pt x="417144" y="373748"/>
                  </a:lnTo>
                  <a:lnTo>
                    <a:pt x="415975" y="377571"/>
                  </a:lnTo>
                  <a:lnTo>
                    <a:pt x="414439" y="381292"/>
                  </a:lnTo>
                  <a:lnTo>
                    <a:pt x="412902" y="385013"/>
                  </a:lnTo>
                  <a:lnTo>
                    <a:pt x="385013" y="412902"/>
                  </a:lnTo>
                  <a:lnTo>
                    <a:pt x="381292" y="414439"/>
                  </a:lnTo>
                  <a:lnTo>
                    <a:pt x="377571" y="415975"/>
                  </a:lnTo>
                  <a:lnTo>
                    <a:pt x="373748" y="417144"/>
                  </a:lnTo>
                  <a:lnTo>
                    <a:pt x="369798" y="417918"/>
                  </a:lnTo>
                  <a:lnTo>
                    <a:pt x="365861" y="418706"/>
                  </a:lnTo>
                  <a:lnTo>
                    <a:pt x="361873" y="419100"/>
                  </a:lnTo>
                  <a:lnTo>
                    <a:pt x="357847" y="419100"/>
                  </a:lnTo>
                  <a:lnTo>
                    <a:pt x="61248" y="419100"/>
                  </a:lnTo>
                  <a:lnTo>
                    <a:pt x="57224" y="419100"/>
                  </a:lnTo>
                  <a:lnTo>
                    <a:pt x="53240" y="418706"/>
                  </a:lnTo>
                  <a:lnTo>
                    <a:pt x="49296" y="417918"/>
                  </a:lnTo>
                  <a:lnTo>
                    <a:pt x="45352" y="417144"/>
                  </a:lnTo>
                  <a:lnTo>
                    <a:pt x="41522" y="415975"/>
                  </a:lnTo>
                  <a:lnTo>
                    <a:pt x="37807" y="414439"/>
                  </a:lnTo>
                  <a:lnTo>
                    <a:pt x="34091" y="412902"/>
                  </a:lnTo>
                  <a:lnTo>
                    <a:pt x="30563" y="411010"/>
                  </a:lnTo>
                  <a:lnTo>
                    <a:pt x="27221" y="408774"/>
                  </a:lnTo>
                  <a:lnTo>
                    <a:pt x="23877" y="406539"/>
                  </a:lnTo>
                  <a:lnTo>
                    <a:pt x="20781" y="403999"/>
                  </a:lnTo>
                  <a:lnTo>
                    <a:pt x="17938" y="401154"/>
                  </a:lnTo>
                  <a:lnTo>
                    <a:pt x="15096" y="398322"/>
                  </a:lnTo>
                  <a:lnTo>
                    <a:pt x="4663" y="381292"/>
                  </a:lnTo>
                  <a:lnTo>
                    <a:pt x="3125" y="377571"/>
                  </a:lnTo>
                  <a:lnTo>
                    <a:pt x="1959" y="373748"/>
                  </a:lnTo>
                  <a:lnTo>
                    <a:pt x="1176" y="369798"/>
                  </a:lnTo>
                  <a:lnTo>
                    <a:pt x="392" y="365861"/>
                  </a:lnTo>
                  <a:lnTo>
                    <a:pt x="0" y="361873"/>
                  </a:lnTo>
                  <a:lnTo>
                    <a:pt x="0" y="357847"/>
                  </a:lnTo>
                  <a:close/>
                </a:path>
              </a:pathLst>
            </a:custGeom>
            <a:ln w="9525">
              <a:solidFill>
                <a:srgbClr val="184A9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1169441" y="3971607"/>
            <a:ext cx="150495" cy="3651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200" spc="-185">
                <a:solidFill>
                  <a:srgbClr val="E2E6E9"/>
                </a:solidFill>
                <a:latin typeface="Cambria"/>
                <a:cs typeface="Cambria"/>
              </a:rPr>
              <a:t>1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632445" y="3933031"/>
            <a:ext cx="3820795" cy="994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850" spc="145">
                <a:solidFill>
                  <a:srgbClr val="E2E6E9"/>
                </a:solidFill>
                <a:latin typeface="Cambria"/>
                <a:cs typeface="Cambria"/>
              </a:rPr>
              <a:t>Función</a:t>
            </a:r>
            <a:r>
              <a:rPr dirty="0" sz="1850" spc="4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850" spc="110">
                <a:solidFill>
                  <a:srgbClr val="E2E6E9"/>
                </a:solidFill>
                <a:latin typeface="Cambria"/>
                <a:cs typeface="Cambria"/>
              </a:rPr>
              <a:t>del</a:t>
            </a:r>
            <a:r>
              <a:rPr dirty="0" sz="1850" spc="4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850" spc="114">
                <a:solidFill>
                  <a:srgbClr val="E2E6E9"/>
                </a:solidFill>
                <a:latin typeface="Cambria"/>
                <a:cs typeface="Cambria"/>
              </a:rPr>
              <a:t>Servidor</a:t>
            </a:r>
            <a:r>
              <a:rPr dirty="0" sz="1850" spc="5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850" spc="135">
                <a:solidFill>
                  <a:srgbClr val="E2E6E9"/>
                </a:solidFill>
                <a:latin typeface="Cambria"/>
                <a:cs typeface="Cambria"/>
              </a:rPr>
              <a:t>Caché</a:t>
            </a:r>
            <a:endParaRPr sz="1850">
              <a:latin typeface="Cambria"/>
              <a:cs typeface="Cambria"/>
            </a:endParaRPr>
          </a:p>
          <a:p>
            <a:pPr marL="12700" marR="5080">
              <a:lnSpc>
                <a:spcPct val="133600"/>
              </a:lnSpc>
              <a:spcBef>
                <a:spcPts val="745"/>
              </a:spcBef>
            </a:pPr>
            <a:r>
              <a:rPr dirty="0" sz="1450" spc="130">
                <a:solidFill>
                  <a:srgbClr val="E2E6E9"/>
                </a:solidFill>
                <a:latin typeface="Cambria"/>
                <a:cs typeface="Cambria"/>
              </a:rPr>
              <a:t>Almacena</a:t>
            </a:r>
            <a:r>
              <a:rPr dirty="0" sz="1450" spc="4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125">
                <a:solidFill>
                  <a:srgbClr val="E2E6E9"/>
                </a:solidFill>
                <a:latin typeface="Cambria"/>
                <a:cs typeface="Cambria"/>
              </a:rPr>
              <a:t>temporalmente</a:t>
            </a:r>
            <a:r>
              <a:rPr dirty="0" sz="1450" spc="5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120">
                <a:solidFill>
                  <a:srgbClr val="E2E6E9"/>
                </a:solidFill>
                <a:latin typeface="Cambria"/>
                <a:cs typeface="Cambria"/>
              </a:rPr>
              <a:t>consultas</a:t>
            </a:r>
            <a:r>
              <a:rPr dirty="0" sz="1450" spc="4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135">
                <a:solidFill>
                  <a:srgbClr val="E2E6E9"/>
                </a:solidFill>
                <a:latin typeface="Cambria"/>
                <a:cs typeface="Cambria"/>
              </a:rPr>
              <a:t>DNS </a:t>
            </a:r>
            <a:r>
              <a:rPr dirty="0" sz="1450" spc="90">
                <a:solidFill>
                  <a:srgbClr val="E2E6E9"/>
                </a:solidFill>
                <a:latin typeface="Cambria"/>
                <a:cs typeface="Cambria"/>
              </a:rPr>
              <a:t>recientes.</a:t>
            </a:r>
            <a:endParaRPr sz="1450">
              <a:latin typeface="Cambria"/>
              <a:cs typeface="Cambria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5810250" y="3962400"/>
            <a:ext cx="419100" cy="428625"/>
            <a:chOff x="5810250" y="3962400"/>
            <a:chExt cx="419100" cy="428625"/>
          </a:xfrm>
        </p:grpSpPr>
        <p:sp>
          <p:nvSpPr>
            <p:cNvPr id="9" name="object 9" descr=""/>
            <p:cNvSpPr/>
            <p:nvPr/>
          </p:nvSpPr>
          <p:spPr>
            <a:xfrm>
              <a:off x="5815012" y="3967162"/>
              <a:ext cx="409575" cy="419100"/>
            </a:xfrm>
            <a:custGeom>
              <a:avLst/>
              <a:gdLst/>
              <a:ahLst/>
              <a:cxnLst/>
              <a:rect l="l" t="t" r="r" b="b"/>
              <a:pathLst>
                <a:path w="409575" h="419100">
                  <a:moveTo>
                    <a:pt x="352348" y="0"/>
                  </a:moveTo>
                  <a:lnTo>
                    <a:pt x="57226" y="0"/>
                  </a:lnTo>
                  <a:lnTo>
                    <a:pt x="53238" y="393"/>
                  </a:lnTo>
                  <a:lnTo>
                    <a:pt x="15100" y="20777"/>
                  </a:lnTo>
                  <a:lnTo>
                    <a:pt x="0" y="57226"/>
                  </a:lnTo>
                  <a:lnTo>
                    <a:pt x="0" y="357847"/>
                  </a:lnTo>
                  <a:lnTo>
                    <a:pt x="0" y="361873"/>
                  </a:lnTo>
                  <a:lnTo>
                    <a:pt x="15100" y="398322"/>
                  </a:lnTo>
                  <a:lnTo>
                    <a:pt x="53238" y="418706"/>
                  </a:lnTo>
                  <a:lnTo>
                    <a:pt x="57226" y="419100"/>
                  </a:lnTo>
                  <a:lnTo>
                    <a:pt x="352348" y="419100"/>
                  </a:lnTo>
                  <a:lnTo>
                    <a:pt x="388797" y="403999"/>
                  </a:lnTo>
                  <a:lnTo>
                    <a:pt x="409181" y="365861"/>
                  </a:lnTo>
                  <a:lnTo>
                    <a:pt x="409575" y="361873"/>
                  </a:lnTo>
                  <a:lnTo>
                    <a:pt x="409575" y="57226"/>
                  </a:lnTo>
                  <a:lnTo>
                    <a:pt x="394474" y="20777"/>
                  </a:lnTo>
                  <a:lnTo>
                    <a:pt x="356336" y="393"/>
                  </a:lnTo>
                  <a:lnTo>
                    <a:pt x="352348" y="0"/>
                  </a:lnTo>
                  <a:close/>
                </a:path>
              </a:pathLst>
            </a:custGeom>
            <a:solidFill>
              <a:srgbClr val="00307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5815012" y="3967162"/>
              <a:ext cx="409575" cy="419100"/>
            </a:xfrm>
            <a:custGeom>
              <a:avLst/>
              <a:gdLst/>
              <a:ahLst/>
              <a:cxnLst/>
              <a:rect l="l" t="t" r="r" b="b"/>
              <a:pathLst>
                <a:path w="409575" h="419100">
                  <a:moveTo>
                    <a:pt x="0" y="357847"/>
                  </a:moveTo>
                  <a:lnTo>
                    <a:pt x="0" y="61252"/>
                  </a:lnTo>
                  <a:lnTo>
                    <a:pt x="0" y="57226"/>
                  </a:lnTo>
                  <a:lnTo>
                    <a:pt x="393" y="53238"/>
                  </a:lnTo>
                  <a:lnTo>
                    <a:pt x="1181" y="49301"/>
                  </a:lnTo>
                  <a:lnTo>
                    <a:pt x="1955" y="45351"/>
                  </a:lnTo>
                  <a:lnTo>
                    <a:pt x="3124" y="41516"/>
                  </a:lnTo>
                  <a:lnTo>
                    <a:pt x="4660" y="37807"/>
                  </a:lnTo>
                  <a:lnTo>
                    <a:pt x="6197" y="34086"/>
                  </a:lnTo>
                  <a:lnTo>
                    <a:pt x="8089" y="30568"/>
                  </a:lnTo>
                  <a:lnTo>
                    <a:pt x="37807" y="4660"/>
                  </a:lnTo>
                  <a:lnTo>
                    <a:pt x="41529" y="3124"/>
                  </a:lnTo>
                  <a:lnTo>
                    <a:pt x="45351" y="1955"/>
                  </a:lnTo>
                  <a:lnTo>
                    <a:pt x="49301" y="1168"/>
                  </a:lnTo>
                  <a:lnTo>
                    <a:pt x="53238" y="393"/>
                  </a:lnTo>
                  <a:lnTo>
                    <a:pt x="57226" y="0"/>
                  </a:lnTo>
                  <a:lnTo>
                    <a:pt x="61252" y="0"/>
                  </a:lnTo>
                  <a:lnTo>
                    <a:pt x="348322" y="0"/>
                  </a:lnTo>
                  <a:lnTo>
                    <a:pt x="352348" y="0"/>
                  </a:lnTo>
                  <a:lnTo>
                    <a:pt x="356336" y="393"/>
                  </a:lnTo>
                  <a:lnTo>
                    <a:pt x="360273" y="1168"/>
                  </a:lnTo>
                  <a:lnTo>
                    <a:pt x="364223" y="1955"/>
                  </a:lnTo>
                  <a:lnTo>
                    <a:pt x="368046" y="3124"/>
                  </a:lnTo>
                  <a:lnTo>
                    <a:pt x="371767" y="4660"/>
                  </a:lnTo>
                  <a:lnTo>
                    <a:pt x="375488" y="6197"/>
                  </a:lnTo>
                  <a:lnTo>
                    <a:pt x="403377" y="34086"/>
                  </a:lnTo>
                  <a:lnTo>
                    <a:pt x="404914" y="37807"/>
                  </a:lnTo>
                  <a:lnTo>
                    <a:pt x="406450" y="41516"/>
                  </a:lnTo>
                  <a:lnTo>
                    <a:pt x="407606" y="45351"/>
                  </a:lnTo>
                  <a:lnTo>
                    <a:pt x="408393" y="49301"/>
                  </a:lnTo>
                  <a:lnTo>
                    <a:pt x="409181" y="53238"/>
                  </a:lnTo>
                  <a:lnTo>
                    <a:pt x="409575" y="57226"/>
                  </a:lnTo>
                  <a:lnTo>
                    <a:pt x="409575" y="61252"/>
                  </a:lnTo>
                  <a:lnTo>
                    <a:pt x="409575" y="357847"/>
                  </a:lnTo>
                  <a:lnTo>
                    <a:pt x="409575" y="361873"/>
                  </a:lnTo>
                  <a:lnTo>
                    <a:pt x="409181" y="365861"/>
                  </a:lnTo>
                  <a:lnTo>
                    <a:pt x="408393" y="369798"/>
                  </a:lnTo>
                  <a:lnTo>
                    <a:pt x="407606" y="373748"/>
                  </a:lnTo>
                  <a:lnTo>
                    <a:pt x="406450" y="377571"/>
                  </a:lnTo>
                  <a:lnTo>
                    <a:pt x="404914" y="381292"/>
                  </a:lnTo>
                  <a:lnTo>
                    <a:pt x="403377" y="385013"/>
                  </a:lnTo>
                  <a:lnTo>
                    <a:pt x="391642" y="401154"/>
                  </a:lnTo>
                  <a:lnTo>
                    <a:pt x="388797" y="403999"/>
                  </a:lnTo>
                  <a:lnTo>
                    <a:pt x="371767" y="414439"/>
                  </a:lnTo>
                  <a:lnTo>
                    <a:pt x="368046" y="415975"/>
                  </a:lnTo>
                  <a:lnTo>
                    <a:pt x="364223" y="417144"/>
                  </a:lnTo>
                  <a:lnTo>
                    <a:pt x="360273" y="417918"/>
                  </a:lnTo>
                  <a:lnTo>
                    <a:pt x="356336" y="418706"/>
                  </a:lnTo>
                  <a:lnTo>
                    <a:pt x="352348" y="419100"/>
                  </a:lnTo>
                  <a:lnTo>
                    <a:pt x="348322" y="419100"/>
                  </a:lnTo>
                  <a:lnTo>
                    <a:pt x="61252" y="419100"/>
                  </a:lnTo>
                  <a:lnTo>
                    <a:pt x="57226" y="419100"/>
                  </a:lnTo>
                  <a:lnTo>
                    <a:pt x="53238" y="418706"/>
                  </a:lnTo>
                  <a:lnTo>
                    <a:pt x="49301" y="417918"/>
                  </a:lnTo>
                  <a:lnTo>
                    <a:pt x="45351" y="417144"/>
                  </a:lnTo>
                  <a:lnTo>
                    <a:pt x="41529" y="415975"/>
                  </a:lnTo>
                  <a:lnTo>
                    <a:pt x="37807" y="414439"/>
                  </a:lnTo>
                  <a:lnTo>
                    <a:pt x="34086" y="412902"/>
                  </a:lnTo>
                  <a:lnTo>
                    <a:pt x="17945" y="401154"/>
                  </a:lnTo>
                  <a:lnTo>
                    <a:pt x="15100" y="398322"/>
                  </a:lnTo>
                  <a:lnTo>
                    <a:pt x="4660" y="381292"/>
                  </a:lnTo>
                  <a:lnTo>
                    <a:pt x="3124" y="377571"/>
                  </a:lnTo>
                  <a:lnTo>
                    <a:pt x="1955" y="373748"/>
                  </a:lnTo>
                  <a:lnTo>
                    <a:pt x="1181" y="369798"/>
                  </a:lnTo>
                  <a:lnTo>
                    <a:pt x="393" y="365861"/>
                  </a:lnTo>
                  <a:lnTo>
                    <a:pt x="0" y="361873"/>
                  </a:lnTo>
                  <a:lnTo>
                    <a:pt x="0" y="357847"/>
                  </a:lnTo>
                  <a:close/>
                </a:path>
              </a:pathLst>
            </a:custGeom>
            <a:ln w="9525">
              <a:solidFill>
                <a:srgbClr val="184A9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5924054" y="3971607"/>
            <a:ext cx="194945" cy="3651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200" spc="55">
                <a:solidFill>
                  <a:srgbClr val="E2E6E9"/>
                </a:solidFill>
                <a:latin typeface="Cambria"/>
                <a:cs typeface="Cambria"/>
              </a:rPr>
              <a:t>2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6409382" y="3933031"/>
            <a:ext cx="3917315" cy="6991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850" spc="130">
                <a:solidFill>
                  <a:srgbClr val="E2E6E9"/>
                </a:solidFill>
                <a:latin typeface="Cambria"/>
                <a:cs typeface="Cambria"/>
              </a:rPr>
              <a:t>Registro</a:t>
            </a:r>
            <a:r>
              <a:rPr dirty="0" sz="1850" spc="3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850" spc="125">
                <a:solidFill>
                  <a:srgbClr val="E2E6E9"/>
                </a:solidFill>
                <a:latin typeface="Cambria"/>
                <a:cs typeface="Cambria"/>
              </a:rPr>
              <a:t>A</a:t>
            </a:r>
            <a:r>
              <a:rPr dirty="0" sz="1850" spc="4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850" spc="120">
                <a:solidFill>
                  <a:srgbClr val="E2E6E9"/>
                </a:solidFill>
                <a:latin typeface="Cambria"/>
                <a:cs typeface="Cambria"/>
              </a:rPr>
              <a:t>vs</a:t>
            </a:r>
            <a:r>
              <a:rPr dirty="0" sz="1850" spc="4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850" spc="180">
                <a:solidFill>
                  <a:srgbClr val="E2E6E9"/>
                </a:solidFill>
                <a:latin typeface="Cambria"/>
                <a:cs typeface="Cambria"/>
              </a:rPr>
              <a:t>CNAME</a:t>
            </a:r>
            <a:endParaRPr sz="18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330"/>
              </a:spcBef>
            </a:pPr>
            <a:r>
              <a:rPr dirty="0" sz="1450" spc="120">
                <a:solidFill>
                  <a:srgbClr val="E2E6E9"/>
                </a:solidFill>
                <a:latin typeface="Cambria"/>
                <a:cs typeface="Cambria"/>
              </a:rPr>
              <a:t>A:</a:t>
            </a:r>
            <a:r>
              <a:rPr dirty="0" sz="1450" spc="4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120">
                <a:solidFill>
                  <a:srgbClr val="E2E6E9"/>
                </a:solidFill>
                <a:latin typeface="Cambria"/>
                <a:cs typeface="Cambria"/>
              </a:rPr>
              <a:t>IP</a:t>
            </a:r>
            <a:r>
              <a:rPr dirty="0" sz="1450" spc="4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95">
                <a:solidFill>
                  <a:srgbClr val="E2E6E9"/>
                </a:solidFill>
                <a:latin typeface="Cambria"/>
                <a:cs typeface="Cambria"/>
              </a:rPr>
              <a:t>directa.</a:t>
            </a:r>
            <a:r>
              <a:rPr dirty="0" sz="1450" spc="4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160">
                <a:solidFill>
                  <a:srgbClr val="E2E6E9"/>
                </a:solidFill>
                <a:latin typeface="Cambria"/>
                <a:cs typeface="Cambria"/>
              </a:rPr>
              <a:t>CNAME:</a:t>
            </a:r>
            <a:r>
              <a:rPr dirty="0" sz="1450" spc="4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100">
                <a:solidFill>
                  <a:srgbClr val="E2E6E9"/>
                </a:solidFill>
                <a:latin typeface="Cambria"/>
                <a:cs typeface="Cambria"/>
              </a:rPr>
              <a:t>alias</a:t>
            </a:r>
            <a:r>
              <a:rPr dirty="0" sz="1450" spc="4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110">
                <a:solidFill>
                  <a:srgbClr val="E2E6E9"/>
                </a:solidFill>
                <a:latin typeface="Cambria"/>
                <a:cs typeface="Cambria"/>
              </a:rPr>
              <a:t>a</a:t>
            </a:r>
            <a:r>
              <a:rPr dirty="0" sz="1450" spc="4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105">
                <a:solidFill>
                  <a:srgbClr val="E2E6E9"/>
                </a:solidFill>
                <a:latin typeface="Cambria"/>
                <a:cs typeface="Cambria"/>
              </a:rPr>
              <a:t>otro</a:t>
            </a:r>
            <a:r>
              <a:rPr dirty="0" sz="1450" spc="4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114">
                <a:solidFill>
                  <a:srgbClr val="E2E6E9"/>
                </a:solidFill>
                <a:latin typeface="Cambria"/>
                <a:cs typeface="Cambria"/>
              </a:rPr>
              <a:t>nombre.</a:t>
            </a:r>
            <a:endParaRPr sz="1450">
              <a:latin typeface="Cambria"/>
              <a:cs typeface="Cambria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1028700" y="5372100"/>
            <a:ext cx="428625" cy="428625"/>
            <a:chOff x="1028700" y="5372100"/>
            <a:chExt cx="428625" cy="428625"/>
          </a:xfrm>
        </p:grpSpPr>
        <p:sp>
          <p:nvSpPr>
            <p:cNvPr id="14" name="object 14" descr=""/>
            <p:cNvSpPr/>
            <p:nvPr/>
          </p:nvSpPr>
          <p:spPr>
            <a:xfrm>
              <a:off x="1033462" y="5376862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>
                  <a:moveTo>
                    <a:pt x="361873" y="0"/>
                  </a:moveTo>
                  <a:lnTo>
                    <a:pt x="57224" y="0"/>
                  </a:lnTo>
                  <a:lnTo>
                    <a:pt x="53240" y="393"/>
                  </a:lnTo>
                  <a:lnTo>
                    <a:pt x="15096" y="20777"/>
                  </a:lnTo>
                  <a:lnTo>
                    <a:pt x="0" y="57226"/>
                  </a:lnTo>
                  <a:lnTo>
                    <a:pt x="0" y="357851"/>
                  </a:lnTo>
                  <a:lnTo>
                    <a:pt x="0" y="361875"/>
                  </a:lnTo>
                  <a:lnTo>
                    <a:pt x="15096" y="398317"/>
                  </a:lnTo>
                  <a:lnTo>
                    <a:pt x="53240" y="418707"/>
                  </a:lnTo>
                  <a:lnTo>
                    <a:pt x="57224" y="419098"/>
                  </a:lnTo>
                  <a:lnTo>
                    <a:pt x="361873" y="419098"/>
                  </a:lnTo>
                  <a:lnTo>
                    <a:pt x="398322" y="404002"/>
                  </a:lnTo>
                  <a:lnTo>
                    <a:pt x="418706" y="365857"/>
                  </a:lnTo>
                  <a:lnTo>
                    <a:pt x="419100" y="361875"/>
                  </a:lnTo>
                  <a:lnTo>
                    <a:pt x="419100" y="57226"/>
                  </a:lnTo>
                  <a:lnTo>
                    <a:pt x="403999" y="20777"/>
                  </a:lnTo>
                  <a:lnTo>
                    <a:pt x="365861" y="393"/>
                  </a:lnTo>
                  <a:lnTo>
                    <a:pt x="361873" y="0"/>
                  </a:lnTo>
                  <a:close/>
                </a:path>
              </a:pathLst>
            </a:custGeom>
            <a:solidFill>
              <a:srgbClr val="00307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033462" y="5376862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>
                  <a:moveTo>
                    <a:pt x="0" y="357851"/>
                  </a:moveTo>
                  <a:lnTo>
                    <a:pt x="0" y="61252"/>
                  </a:lnTo>
                  <a:lnTo>
                    <a:pt x="0" y="57226"/>
                  </a:lnTo>
                  <a:lnTo>
                    <a:pt x="392" y="53238"/>
                  </a:lnTo>
                  <a:lnTo>
                    <a:pt x="1176" y="49301"/>
                  </a:lnTo>
                  <a:lnTo>
                    <a:pt x="1959" y="45351"/>
                  </a:lnTo>
                  <a:lnTo>
                    <a:pt x="3125" y="41516"/>
                  </a:lnTo>
                  <a:lnTo>
                    <a:pt x="4663" y="37807"/>
                  </a:lnTo>
                  <a:lnTo>
                    <a:pt x="6201" y="34086"/>
                  </a:lnTo>
                  <a:lnTo>
                    <a:pt x="8086" y="30568"/>
                  </a:lnTo>
                  <a:lnTo>
                    <a:pt x="27221" y="10325"/>
                  </a:lnTo>
                  <a:lnTo>
                    <a:pt x="30563" y="8089"/>
                  </a:lnTo>
                  <a:lnTo>
                    <a:pt x="34091" y="6197"/>
                  </a:lnTo>
                  <a:lnTo>
                    <a:pt x="37807" y="4660"/>
                  </a:lnTo>
                  <a:lnTo>
                    <a:pt x="41522" y="3124"/>
                  </a:lnTo>
                  <a:lnTo>
                    <a:pt x="45352" y="1955"/>
                  </a:lnTo>
                  <a:lnTo>
                    <a:pt x="49296" y="1168"/>
                  </a:lnTo>
                  <a:lnTo>
                    <a:pt x="53240" y="393"/>
                  </a:lnTo>
                  <a:lnTo>
                    <a:pt x="57224" y="0"/>
                  </a:lnTo>
                  <a:lnTo>
                    <a:pt x="61248" y="0"/>
                  </a:lnTo>
                  <a:lnTo>
                    <a:pt x="357847" y="0"/>
                  </a:lnTo>
                  <a:lnTo>
                    <a:pt x="361873" y="0"/>
                  </a:lnTo>
                  <a:lnTo>
                    <a:pt x="365861" y="393"/>
                  </a:lnTo>
                  <a:lnTo>
                    <a:pt x="401167" y="17932"/>
                  </a:lnTo>
                  <a:lnTo>
                    <a:pt x="414439" y="37807"/>
                  </a:lnTo>
                  <a:lnTo>
                    <a:pt x="415975" y="41516"/>
                  </a:lnTo>
                  <a:lnTo>
                    <a:pt x="417144" y="45351"/>
                  </a:lnTo>
                  <a:lnTo>
                    <a:pt x="417918" y="49301"/>
                  </a:lnTo>
                  <a:lnTo>
                    <a:pt x="418706" y="53238"/>
                  </a:lnTo>
                  <a:lnTo>
                    <a:pt x="419100" y="57226"/>
                  </a:lnTo>
                  <a:lnTo>
                    <a:pt x="419100" y="61252"/>
                  </a:lnTo>
                  <a:lnTo>
                    <a:pt x="419100" y="357851"/>
                  </a:lnTo>
                  <a:lnTo>
                    <a:pt x="419100" y="361875"/>
                  </a:lnTo>
                  <a:lnTo>
                    <a:pt x="418706" y="365857"/>
                  </a:lnTo>
                  <a:lnTo>
                    <a:pt x="417918" y="369802"/>
                  </a:lnTo>
                  <a:lnTo>
                    <a:pt x="417144" y="373745"/>
                  </a:lnTo>
                  <a:lnTo>
                    <a:pt x="395224" y="406542"/>
                  </a:lnTo>
                  <a:lnTo>
                    <a:pt x="361873" y="419098"/>
                  </a:lnTo>
                  <a:lnTo>
                    <a:pt x="357847" y="419098"/>
                  </a:lnTo>
                  <a:lnTo>
                    <a:pt x="61248" y="419098"/>
                  </a:lnTo>
                  <a:lnTo>
                    <a:pt x="57224" y="419098"/>
                  </a:lnTo>
                  <a:lnTo>
                    <a:pt x="53240" y="418707"/>
                  </a:lnTo>
                  <a:lnTo>
                    <a:pt x="49296" y="417922"/>
                  </a:lnTo>
                  <a:lnTo>
                    <a:pt x="45352" y="417134"/>
                  </a:lnTo>
                  <a:lnTo>
                    <a:pt x="41522" y="415973"/>
                  </a:lnTo>
                  <a:lnTo>
                    <a:pt x="37807" y="414435"/>
                  </a:lnTo>
                  <a:lnTo>
                    <a:pt x="34091" y="412897"/>
                  </a:lnTo>
                  <a:lnTo>
                    <a:pt x="30563" y="411012"/>
                  </a:lnTo>
                  <a:lnTo>
                    <a:pt x="27221" y="408774"/>
                  </a:lnTo>
                  <a:lnTo>
                    <a:pt x="23877" y="406542"/>
                  </a:lnTo>
                  <a:lnTo>
                    <a:pt x="20781" y="404002"/>
                  </a:lnTo>
                  <a:lnTo>
                    <a:pt x="17938" y="401159"/>
                  </a:lnTo>
                  <a:lnTo>
                    <a:pt x="15096" y="398317"/>
                  </a:lnTo>
                  <a:lnTo>
                    <a:pt x="12556" y="395221"/>
                  </a:lnTo>
                  <a:lnTo>
                    <a:pt x="10323" y="391878"/>
                  </a:lnTo>
                  <a:lnTo>
                    <a:pt x="8086" y="388534"/>
                  </a:lnTo>
                  <a:lnTo>
                    <a:pt x="0" y="361875"/>
                  </a:lnTo>
                  <a:lnTo>
                    <a:pt x="0" y="357851"/>
                  </a:lnTo>
                  <a:close/>
                </a:path>
              </a:pathLst>
            </a:custGeom>
            <a:ln w="9525">
              <a:solidFill>
                <a:srgbClr val="184A9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1152475" y="5390831"/>
            <a:ext cx="184150" cy="3651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200" spc="-50">
                <a:solidFill>
                  <a:srgbClr val="E2E6E9"/>
                </a:solidFill>
                <a:latin typeface="Cambria"/>
                <a:cs typeface="Cambria"/>
              </a:rPr>
              <a:t>3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632446" y="5342730"/>
            <a:ext cx="2951480" cy="10039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850" spc="125">
                <a:solidFill>
                  <a:srgbClr val="E2E6E9"/>
                </a:solidFill>
                <a:latin typeface="Cambria"/>
                <a:cs typeface="Cambria"/>
              </a:rPr>
              <a:t>Estructura</a:t>
            </a:r>
            <a:r>
              <a:rPr dirty="0" sz="1850" spc="4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850" spc="110">
                <a:solidFill>
                  <a:srgbClr val="E2E6E9"/>
                </a:solidFill>
                <a:latin typeface="Cambria"/>
                <a:cs typeface="Cambria"/>
              </a:rPr>
              <a:t>Jerárquica</a:t>
            </a:r>
            <a:endParaRPr sz="1850">
              <a:latin typeface="Cambria"/>
              <a:cs typeface="Cambria"/>
            </a:endParaRPr>
          </a:p>
          <a:p>
            <a:pPr marL="12700" marR="5080">
              <a:lnSpc>
                <a:spcPct val="137900"/>
              </a:lnSpc>
              <a:spcBef>
                <a:spcPts val="670"/>
              </a:spcBef>
            </a:pPr>
            <a:r>
              <a:rPr dirty="0" sz="1450" spc="155">
                <a:solidFill>
                  <a:srgbClr val="E2E6E9"/>
                </a:solidFill>
                <a:latin typeface="Cambria"/>
                <a:cs typeface="Cambria"/>
              </a:rPr>
              <a:t>TLD</a:t>
            </a:r>
            <a:r>
              <a:rPr dirty="0" sz="1450" spc="3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190">
                <a:solidFill>
                  <a:srgbClr val="E2E6E9"/>
                </a:solidFill>
                <a:latin typeface="Cambria"/>
                <a:cs typeface="Cambria"/>
              </a:rPr>
              <a:t>&gt;</a:t>
            </a:r>
            <a:r>
              <a:rPr dirty="0" sz="1450" spc="3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140">
                <a:solidFill>
                  <a:srgbClr val="E2E6E9"/>
                </a:solidFill>
                <a:latin typeface="Cambria"/>
                <a:cs typeface="Cambria"/>
              </a:rPr>
              <a:t>Dominio</a:t>
            </a:r>
            <a:r>
              <a:rPr dirty="0" sz="1450" spc="3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130">
                <a:solidFill>
                  <a:srgbClr val="E2E6E9"/>
                </a:solidFill>
                <a:latin typeface="Cambria"/>
                <a:cs typeface="Cambria"/>
              </a:rPr>
              <a:t>segundo</a:t>
            </a:r>
            <a:r>
              <a:rPr dirty="0" sz="1450" spc="3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110">
                <a:solidFill>
                  <a:srgbClr val="E2E6E9"/>
                </a:solidFill>
                <a:latin typeface="Cambria"/>
                <a:cs typeface="Cambria"/>
              </a:rPr>
              <a:t>nivel</a:t>
            </a:r>
            <a:r>
              <a:rPr dirty="0" sz="1450" spc="3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140">
                <a:solidFill>
                  <a:srgbClr val="E2E6E9"/>
                </a:solidFill>
                <a:latin typeface="Cambria"/>
                <a:cs typeface="Cambria"/>
              </a:rPr>
              <a:t>&gt; </a:t>
            </a:r>
            <a:r>
              <a:rPr dirty="0" sz="1450" spc="114">
                <a:solidFill>
                  <a:srgbClr val="E2E6E9"/>
                </a:solidFill>
                <a:latin typeface="Cambria"/>
                <a:cs typeface="Cambria"/>
              </a:rPr>
              <a:t>Subdominio.</a:t>
            </a:r>
            <a:endParaRPr sz="1450">
              <a:latin typeface="Cambria"/>
              <a:cs typeface="Cambria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5810250" y="5372100"/>
            <a:ext cx="419100" cy="428625"/>
            <a:chOff x="5810250" y="5372100"/>
            <a:chExt cx="419100" cy="428625"/>
          </a:xfrm>
        </p:grpSpPr>
        <p:sp>
          <p:nvSpPr>
            <p:cNvPr id="19" name="object 19" descr=""/>
            <p:cNvSpPr/>
            <p:nvPr/>
          </p:nvSpPr>
          <p:spPr>
            <a:xfrm>
              <a:off x="5815012" y="5376862"/>
              <a:ext cx="409575" cy="419100"/>
            </a:xfrm>
            <a:custGeom>
              <a:avLst/>
              <a:gdLst/>
              <a:ahLst/>
              <a:cxnLst/>
              <a:rect l="l" t="t" r="r" b="b"/>
              <a:pathLst>
                <a:path w="409575" h="419100">
                  <a:moveTo>
                    <a:pt x="352348" y="0"/>
                  </a:moveTo>
                  <a:lnTo>
                    <a:pt x="57226" y="0"/>
                  </a:lnTo>
                  <a:lnTo>
                    <a:pt x="53238" y="393"/>
                  </a:lnTo>
                  <a:lnTo>
                    <a:pt x="15100" y="20777"/>
                  </a:lnTo>
                  <a:lnTo>
                    <a:pt x="0" y="57226"/>
                  </a:lnTo>
                  <a:lnTo>
                    <a:pt x="0" y="357851"/>
                  </a:lnTo>
                  <a:lnTo>
                    <a:pt x="0" y="361875"/>
                  </a:lnTo>
                  <a:lnTo>
                    <a:pt x="15100" y="398317"/>
                  </a:lnTo>
                  <a:lnTo>
                    <a:pt x="53238" y="418707"/>
                  </a:lnTo>
                  <a:lnTo>
                    <a:pt x="57226" y="419098"/>
                  </a:lnTo>
                  <a:lnTo>
                    <a:pt x="352348" y="419098"/>
                  </a:lnTo>
                  <a:lnTo>
                    <a:pt x="388797" y="404002"/>
                  </a:lnTo>
                  <a:lnTo>
                    <a:pt x="409181" y="365857"/>
                  </a:lnTo>
                  <a:lnTo>
                    <a:pt x="409575" y="361875"/>
                  </a:lnTo>
                  <a:lnTo>
                    <a:pt x="409575" y="57226"/>
                  </a:lnTo>
                  <a:lnTo>
                    <a:pt x="394474" y="20777"/>
                  </a:lnTo>
                  <a:lnTo>
                    <a:pt x="356336" y="393"/>
                  </a:lnTo>
                  <a:lnTo>
                    <a:pt x="352348" y="0"/>
                  </a:lnTo>
                  <a:close/>
                </a:path>
              </a:pathLst>
            </a:custGeom>
            <a:solidFill>
              <a:srgbClr val="00307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5815012" y="5376862"/>
              <a:ext cx="409575" cy="419100"/>
            </a:xfrm>
            <a:custGeom>
              <a:avLst/>
              <a:gdLst/>
              <a:ahLst/>
              <a:cxnLst/>
              <a:rect l="l" t="t" r="r" b="b"/>
              <a:pathLst>
                <a:path w="409575" h="419100">
                  <a:moveTo>
                    <a:pt x="0" y="357851"/>
                  </a:moveTo>
                  <a:lnTo>
                    <a:pt x="0" y="61252"/>
                  </a:lnTo>
                  <a:lnTo>
                    <a:pt x="0" y="57226"/>
                  </a:lnTo>
                  <a:lnTo>
                    <a:pt x="393" y="53238"/>
                  </a:lnTo>
                  <a:lnTo>
                    <a:pt x="1181" y="49301"/>
                  </a:lnTo>
                  <a:lnTo>
                    <a:pt x="1955" y="45351"/>
                  </a:lnTo>
                  <a:lnTo>
                    <a:pt x="3124" y="41516"/>
                  </a:lnTo>
                  <a:lnTo>
                    <a:pt x="4660" y="37807"/>
                  </a:lnTo>
                  <a:lnTo>
                    <a:pt x="6197" y="34086"/>
                  </a:lnTo>
                  <a:lnTo>
                    <a:pt x="8089" y="30568"/>
                  </a:lnTo>
                  <a:lnTo>
                    <a:pt x="37807" y="4660"/>
                  </a:lnTo>
                  <a:lnTo>
                    <a:pt x="41529" y="3124"/>
                  </a:lnTo>
                  <a:lnTo>
                    <a:pt x="45351" y="1955"/>
                  </a:lnTo>
                  <a:lnTo>
                    <a:pt x="49301" y="1168"/>
                  </a:lnTo>
                  <a:lnTo>
                    <a:pt x="53238" y="393"/>
                  </a:lnTo>
                  <a:lnTo>
                    <a:pt x="57226" y="0"/>
                  </a:lnTo>
                  <a:lnTo>
                    <a:pt x="61252" y="0"/>
                  </a:lnTo>
                  <a:lnTo>
                    <a:pt x="348322" y="0"/>
                  </a:lnTo>
                  <a:lnTo>
                    <a:pt x="352348" y="0"/>
                  </a:lnTo>
                  <a:lnTo>
                    <a:pt x="356336" y="393"/>
                  </a:lnTo>
                  <a:lnTo>
                    <a:pt x="360273" y="1168"/>
                  </a:lnTo>
                  <a:lnTo>
                    <a:pt x="364223" y="1955"/>
                  </a:lnTo>
                  <a:lnTo>
                    <a:pt x="368046" y="3124"/>
                  </a:lnTo>
                  <a:lnTo>
                    <a:pt x="371767" y="4660"/>
                  </a:lnTo>
                  <a:lnTo>
                    <a:pt x="375488" y="6197"/>
                  </a:lnTo>
                  <a:lnTo>
                    <a:pt x="403377" y="34086"/>
                  </a:lnTo>
                  <a:lnTo>
                    <a:pt x="404914" y="37807"/>
                  </a:lnTo>
                  <a:lnTo>
                    <a:pt x="406450" y="41516"/>
                  </a:lnTo>
                  <a:lnTo>
                    <a:pt x="407606" y="45351"/>
                  </a:lnTo>
                  <a:lnTo>
                    <a:pt x="408393" y="49301"/>
                  </a:lnTo>
                  <a:lnTo>
                    <a:pt x="409181" y="53238"/>
                  </a:lnTo>
                  <a:lnTo>
                    <a:pt x="409575" y="57226"/>
                  </a:lnTo>
                  <a:lnTo>
                    <a:pt x="409575" y="61252"/>
                  </a:lnTo>
                  <a:lnTo>
                    <a:pt x="409575" y="357851"/>
                  </a:lnTo>
                  <a:lnTo>
                    <a:pt x="409575" y="361875"/>
                  </a:lnTo>
                  <a:lnTo>
                    <a:pt x="409181" y="365857"/>
                  </a:lnTo>
                  <a:lnTo>
                    <a:pt x="391642" y="401159"/>
                  </a:lnTo>
                  <a:lnTo>
                    <a:pt x="371767" y="414435"/>
                  </a:lnTo>
                  <a:lnTo>
                    <a:pt x="368046" y="415973"/>
                  </a:lnTo>
                  <a:lnTo>
                    <a:pt x="364223" y="417134"/>
                  </a:lnTo>
                  <a:lnTo>
                    <a:pt x="360273" y="417922"/>
                  </a:lnTo>
                  <a:lnTo>
                    <a:pt x="356336" y="418707"/>
                  </a:lnTo>
                  <a:lnTo>
                    <a:pt x="352348" y="419098"/>
                  </a:lnTo>
                  <a:lnTo>
                    <a:pt x="348322" y="419098"/>
                  </a:lnTo>
                  <a:lnTo>
                    <a:pt x="61252" y="419098"/>
                  </a:lnTo>
                  <a:lnTo>
                    <a:pt x="57226" y="419098"/>
                  </a:lnTo>
                  <a:lnTo>
                    <a:pt x="53238" y="418707"/>
                  </a:lnTo>
                  <a:lnTo>
                    <a:pt x="49301" y="417922"/>
                  </a:lnTo>
                  <a:lnTo>
                    <a:pt x="45351" y="417134"/>
                  </a:lnTo>
                  <a:lnTo>
                    <a:pt x="41529" y="415973"/>
                  </a:lnTo>
                  <a:lnTo>
                    <a:pt x="37807" y="414435"/>
                  </a:lnTo>
                  <a:lnTo>
                    <a:pt x="34086" y="412897"/>
                  </a:lnTo>
                  <a:lnTo>
                    <a:pt x="17945" y="401159"/>
                  </a:lnTo>
                  <a:lnTo>
                    <a:pt x="15100" y="398317"/>
                  </a:lnTo>
                  <a:lnTo>
                    <a:pt x="1181" y="369802"/>
                  </a:lnTo>
                  <a:lnTo>
                    <a:pt x="393" y="365857"/>
                  </a:lnTo>
                  <a:lnTo>
                    <a:pt x="0" y="361875"/>
                  </a:lnTo>
                  <a:lnTo>
                    <a:pt x="0" y="357851"/>
                  </a:lnTo>
                  <a:close/>
                </a:path>
              </a:pathLst>
            </a:custGeom>
            <a:ln w="9525">
              <a:solidFill>
                <a:srgbClr val="184A9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5917501" y="5390831"/>
            <a:ext cx="207645" cy="3651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200" spc="165">
                <a:solidFill>
                  <a:srgbClr val="E2E6E9"/>
                </a:solidFill>
                <a:latin typeface="Cambria"/>
                <a:cs typeface="Cambria"/>
              </a:rPr>
              <a:t>4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6409378" y="5342730"/>
            <a:ext cx="3432810" cy="6991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850" spc="114">
                <a:solidFill>
                  <a:srgbClr val="E2E6E9"/>
                </a:solidFill>
                <a:latin typeface="Cambria"/>
                <a:cs typeface="Cambria"/>
              </a:rPr>
              <a:t>Servidor</a:t>
            </a:r>
            <a:r>
              <a:rPr dirty="0" sz="1850" spc="5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850" spc="190">
                <a:solidFill>
                  <a:srgbClr val="E2E6E9"/>
                </a:solidFill>
                <a:latin typeface="Cambria"/>
                <a:cs typeface="Cambria"/>
              </a:rPr>
              <a:t>DNS</a:t>
            </a:r>
            <a:r>
              <a:rPr dirty="0" sz="1850" spc="5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850" spc="120">
                <a:solidFill>
                  <a:srgbClr val="E2E6E9"/>
                </a:solidFill>
                <a:latin typeface="Cambria"/>
                <a:cs typeface="Cambria"/>
              </a:rPr>
              <a:t>Secundario</a:t>
            </a:r>
            <a:endParaRPr sz="18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330"/>
              </a:spcBef>
            </a:pPr>
            <a:r>
              <a:rPr dirty="0" sz="1450" spc="120">
                <a:solidFill>
                  <a:srgbClr val="E2E6E9"/>
                </a:solidFill>
                <a:latin typeface="Cambria"/>
                <a:cs typeface="Cambria"/>
              </a:rPr>
              <a:t>Redundancia</a:t>
            </a:r>
            <a:r>
              <a:rPr dirty="0" sz="1450" spc="5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120">
                <a:solidFill>
                  <a:srgbClr val="E2E6E9"/>
                </a:solidFill>
                <a:latin typeface="Cambria"/>
                <a:cs typeface="Cambria"/>
              </a:rPr>
              <a:t>y</a:t>
            </a:r>
            <a:r>
              <a:rPr dirty="0" sz="1450" spc="5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105">
                <a:solidFill>
                  <a:srgbClr val="E2E6E9"/>
                </a:solidFill>
                <a:latin typeface="Cambria"/>
                <a:cs typeface="Cambria"/>
              </a:rPr>
              <a:t>distribución</a:t>
            </a:r>
            <a:r>
              <a:rPr dirty="0" sz="1450" spc="55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100">
                <a:solidFill>
                  <a:srgbClr val="E2E6E9"/>
                </a:solidFill>
                <a:latin typeface="Cambria"/>
                <a:cs typeface="Cambria"/>
              </a:rPr>
              <a:t>de</a:t>
            </a:r>
            <a:r>
              <a:rPr dirty="0" sz="1450" spc="50">
                <a:solidFill>
                  <a:srgbClr val="E2E6E9"/>
                </a:solidFill>
                <a:latin typeface="Cambria"/>
                <a:cs typeface="Cambria"/>
              </a:rPr>
              <a:t> </a:t>
            </a:r>
            <a:r>
              <a:rPr dirty="0" sz="1450" spc="100">
                <a:solidFill>
                  <a:srgbClr val="E2E6E9"/>
                </a:solidFill>
                <a:latin typeface="Cambria"/>
                <a:cs typeface="Cambria"/>
              </a:rPr>
              <a:t>carga.</a:t>
            </a:r>
            <a:endParaRPr sz="1450">
              <a:latin typeface="Cambria"/>
              <a:cs typeface="Cambria"/>
            </a:endParaRPr>
          </a:p>
        </p:txBody>
      </p:sp>
      <p:pic>
        <p:nvPicPr>
          <p:cNvPr id="23" name="object 23" descr="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6395466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E2E6E9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2024-11-05T08:20:55Z</dcterms:created>
  <dcterms:modified xsi:type="dcterms:W3CDTF">2024-11-05T08:20:55Z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2024-11-03T00:00:00Z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2024-11-05T00:00:00Z</vt:filetime>
  </property>
  <property fmtid="{D5CDD505-2E9C-101B-9397-08002B2CF9AE}" pid="5" name="Producer">
    <vt:lpwstr>GPL Ghostscript 10.02.0</vt:lpwstr>
  </property>
</Properties>
</file>