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10287000" cx="18288000"/>
  <p:notesSz cx="6858000" cy="9144000"/>
  <p:embeddedFontLst>
    <p:embeddedFont>
      <p:font typeface="Arimo"/>
      <p:regular r:id="rId34"/>
      <p:bold r:id="rId35"/>
      <p:italic r:id="rId36"/>
      <p:boldItalic r:id="rId37"/>
    </p:embeddedFont>
    <p:embeddedFont>
      <p:font typeface="Tomorrow"/>
      <p:regular r:id="rId38"/>
      <p:bold r:id="rId39"/>
      <p:italic r:id="rId40"/>
      <p:boldItalic r:id="rId41"/>
    </p:embeddedFont>
    <p:embeddedFont>
      <p:font typeface="Open Sans"/>
      <p:bold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4" roundtripDataSignature="AMtx7mhRCtBhEYilxHz24JPIIO1PbF+q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3AD8A3-E456-437A-9F4A-39C497D850FE}">
  <a:tblStyle styleId="{C13AD8A3-E456-437A-9F4A-39C497D850F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omorrow-italic.fntdata"/><Relationship Id="rId20" Type="http://schemas.openxmlformats.org/officeDocument/2006/relationships/slide" Target="slides/slide14.xml"/><Relationship Id="rId42" Type="http://schemas.openxmlformats.org/officeDocument/2006/relationships/font" Target="fonts/OpenSans-bold.fntdata"/><Relationship Id="rId41" Type="http://schemas.openxmlformats.org/officeDocument/2006/relationships/font" Target="fonts/Tomorrow-boldItalic.fntdata"/><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font" Target="fonts/OpenSans-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Arimo-bold.fntdata"/><Relationship Id="rId12" Type="http://schemas.openxmlformats.org/officeDocument/2006/relationships/slide" Target="slides/slide6.xml"/><Relationship Id="rId34" Type="http://schemas.openxmlformats.org/officeDocument/2006/relationships/font" Target="fonts/Arimo-regular.fntdata"/><Relationship Id="rId15" Type="http://schemas.openxmlformats.org/officeDocument/2006/relationships/slide" Target="slides/slide9.xml"/><Relationship Id="rId37" Type="http://schemas.openxmlformats.org/officeDocument/2006/relationships/font" Target="fonts/Arimo-boldItalic.fntdata"/><Relationship Id="rId14" Type="http://schemas.openxmlformats.org/officeDocument/2006/relationships/slide" Target="slides/slide8.xml"/><Relationship Id="rId36" Type="http://schemas.openxmlformats.org/officeDocument/2006/relationships/font" Target="fonts/Arimo-italic.fntdata"/><Relationship Id="rId17" Type="http://schemas.openxmlformats.org/officeDocument/2006/relationships/slide" Target="slides/slide11.xml"/><Relationship Id="rId39" Type="http://schemas.openxmlformats.org/officeDocument/2006/relationships/font" Target="fonts/Tomorrow-bold.fntdata"/><Relationship Id="rId16" Type="http://schemas.openxmlformats.org/officeDocument/2006/relationships/slide" Target="slides/slide10.xml"/><Relationship Id="rId38" Type="http://schemas.openxmlformats.org/officeDocument/2006/relationships/font" Target="fonts/Tomorrow-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1792288" y="612775"/>
            <a:ext cx="5486400" cy="4114800"/>
          </a:xfrm>
          <a:prstGeom prst="rect">
            <a:avLst/>
          </a:prstGeom>
          <a:noFill/>
          <a:ln>
            <a:noFill/>
          </a:ln>
        </p:spPr>
      </p:sp>
      <p:sp>
        <p:nvSpPr>
          <p:cNvPr id="64" name="Google Shape;64;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cnadesdecero.com/curso/protocolos-de-enrutamiento/" TargetMode="External"/><Relationship Id="rId4" Type="http://schemas.openxmlformats.org/officeDocument/2006/relationships/hyperlink" Target="https://ccnadesdecero.com/curso/subredes-ipv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6902" y="0"/>
            <a:ext cx="18254196" cy="10286998"/>
          </a:xfrm>
          <a:custGeom>
            <a:rect b="b" l="l" r="r" t="t"/>
            <a:pathLst>
              <a:path extrusionOk="0" h="10286998" w="18254196">
                <a:moveTo>
                  <a:pt x="0" y="0"/>
                </a:moveTo>
                <a:lnTo>
                  <a:pt x="18254196" y="0"/>
                </a:lnTo>
                <a:lnTo>
                  <a:pt x="18254196" y="10286998"/>
                </a:lnTo>
                <a:lnTo>
                  <a:pt x="0" y="10286998"/>
                </a:lnTo>
                <a:lnTo>
                  <a:pt x="0" y="0"/>
                </a:lnTo>
                <a:close/>
              </a:path>
            </a:pathLst>
          </a:custGeom>
          <a:blipFill rotWithShape="1">
            <a:blip r:embed="rId3">
              <a:alphaModFix/>
            </a:blip>
            <a:stretch>
              <a:fillRect b="0" l="0" r="0" t="0"/>
            </a:stretch>
          </a:blipFill>
          <a:ln>
            <a:noFill/>
          </a:ln>
        </p:spPr>
      </p:sp>
      <p:graphicFrame>
        <p:nvGraphicFramePr>
          <p:cNvPr id="85" name="Google Shape;85;p1"/>
          <p:cNvGraphicFramePr/>
          <p:nvPr/>
        </p:nvGraphicFramePr>
        <p:xfrm>
          <a:off x="10646874" y="1930524"/>
          <a:ext cx="3000000" cy="3000000"/>
        </p:xfrm>
        <a:graphic>
          <a:graphicData uri="http://schemas.openxmlformats.org/drawingml/2006/table">
            <a:tbl>
              <a:tblPr>
                <a:noFill/>
                <a:tableStyleId>{C13AD8A3-E456-437A-9F4A-39C497D850FE}</a:tableStyleId>
              </a:tblPr>
              <a:tblGrid>
                <a:gridCol w="3036975"/>
                <a:gridCol w="4329025"/>
              </a:tblGrid>
              <a:tr h="78740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Arial"/>
                          <a:ea typeface="Arial"/>
                          <a:cs typeface="Arial"/>
                          <a:sym typeface="Arial"/>
                        </a:rPr>
                        <a:t>Día, Fecha:</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7"/>
                        </a:lnSpc>
                        <a:spcBef>
                          <a:spcPts val="0"/>
                        </a:spcBef>
                        <a:spcAft>
                          <a:spcPts val="0"/>
                        </a:spcAft>
                        <a:buNone/>
                      </a:pPr>
                      <a:r>
                        <a:rPr lang="en-US" sz="2799" u="none" cap="none" strike="noStrike">
                          <a:solidFill>
                            <a:srgbClr val="000000"/>
                          </a:solidFill>
                          <a:latin typeface="Arimo"/>
                          <a:ea typeface="Arimo"/>
                          <a:cs typeface="Arimo"/>
                          <a:sym typeface="Arimo"/>
                        </a:rPr>
                        <a:t>Viernes, 23/02/2024</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8740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Arial"/>
                          <a:ea typeface="Arial"/>
                          <a:cs typeface="Arial"/>
                          <a:sym typeface="Arial"/>
                        </a:rPr>
                        <a:t>Hora de inicio:</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7"/>
                        </a:lnSpc>
                        <a:spcBef>
                          <a:spcPts val="0"/>
                        </a:spcBef>
                        <a:spcAft>
                          <a:spcPts val="0"/>
                        </a:spcAft>
                        <a:buNone/>
                      </a:pPr>
                      <a:r>
                        <a:rPr lang="en-US" sz="2799" u="none" cap="none" strike="noStrike">
                          <a:solidFill>
                            <a:srgbClr val="000000"/>
                          </a:solidFill>
                          <a:latin typeface="Arimo"/>
                          <a:ea typeface="Arimo"/>
                          <a:cs typeface="Arimo"/>
                          <a:sym typeface="Arimo"/>
                        </a:rPr>
                        <a:t>17:20</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6" name="Google Shape;86;p1"/>
          <p:cNvSpPr txBox="1"/>
          <p:nvPr/>
        </p:nvSpPr>
        <p:spPr>
          <a:xfrm>
            <a:off x="3026400" y="4630900"/>
            <a:ext cx="10626090" cy="81915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0" i="0" lang="en-US" sz="4999" u="none" cap="none" strike="noStrike">
                <a:solidFill>
                  <a:srgbClr val="000000"/>
                </a:solidFill>
                <a:latin typeface="Arimo"/>
                <a:ea typeface="Arimo"/>
                <a:cs typeface="Arimo"/>
                <a:sym typeface="Arimo"/>
              </a:rPr>
              <a:t>Redes de Computadoras 2 Sección N</a:t>
            </a:r>
            <a:endParaRPr/>
          </a:p>
        </p:txBody>
      </p:sp>
      <p:sp>
        <p:nvSpPr>
          <p:cNvPr id="87" name="Google Shape;87;p1"/>
          <p:cNvSpPr txBox="1"/>
          <p:nvPr/>
        </p:nvSpPr>
        <p:spPr>
          <a:xfrm>
            <a:off x="3703450" y="5920880"/>
            <a:ext cx="6531608" cy="666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4000" u="none" cap="none" strike="noStrike">
                <a:solidFill>
                  <a:srgbClr val="000000"/>
                </a:solidFill>
                <a:latin typeface="Arimo"/>
                <a:ea typeface="Arimo"/>
                <a:cs typeface="Arimo"/>
                <a:sym typeface="Arimo"/>
              </a:rPr>
              <a:t>Edurdo Tomás Ixén Rucuch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cxnSp>
        <p:nvCxnSpPr>
          <p:cNvPr id="92" name="Google Shape;92;p2"/>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93" name="Google Shape;93;p2"/>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94" name="Google Shape;94;p2"/>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95" name="Google Shape;95;p2"/>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96" name="Google Shape;96;p2"/>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97" name="Google Shape;97;p2"/>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98" name="Google Shape;98;p2"/>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99" name="Google Shape;99;p2"/>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100" name="Google Shape;100;p2"/>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101" name="Google Shape;101;p2"/>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102" name="Google Shape;102;p2"/>
          <p:cNvSpPr txBox="1"/>
          <p:nvPr/>
        </p:nvSpPr>
        <p:spPr>
          <a:xfrm>
            <a:off x="4023800" y="1704143"/>
            <a:ext cx="2736850" cy="9620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000" u="none" cap="none" strike="noStrike">
                <a:solidFill>
                  <a:srgbClr val="AE7A51"/>
                </a:solidFill>
                <a:latin typeface="Trebuchet MS"/>
                <a:ea typeface="Trebuchet MS"/>
                <a:cs typeface="Trebuchet MS"/>
                <a:sym typeface="Trebuchet MS"/>
              </a:rPr>
              <a:t>Agenda</a:t>
            </a:r>
            <a:endParaRPr/>
          </a:p>
        </p:txBody>
      </p:sp>
      <p:sp>
        <p:nvSpPr>
          <p:cNvPr id="103" name="Google Shape;103;p2"/>
          <p:cNvSpPr txBox="1"/>
          <p:nvPr/>
        </p:nvSpPr>
        <p:spPr>
          <a:xfrm>
            <a:off x="1615142" y="3952612"/>
            <a:ext cx="4869815" cy="1485900"/>
          </a:xfrm>
          <a:prstGeom prst="rect">
            <a:avLst/>
          </a:prstGeom>
          <a:noFill/>
          <a:ln>
            <a:noFill/>
          </a:ln>
        </p:spPr>
        <p:txBody>
          <a:bodyPr anchorCtr="0" anchor="t" bIns="0" lIns="0" spcFirstLastPara="1" rIns="0" wrap="square" tIns="0">
            <a:spAutoFit/>
          </a:bodyPr>
          <a:lstStyle/>
          <a:p>
            <a:pPr indent="-398145" lvl="1" marL="796290" marR="0" rtl="0" algn="l">
              <a:lnSpc>
                <a:spcPct val="120000"/>
              </a:lnSpc>
              <a:spcBef>
                <a:spcPts val="0"/>
              </a:spcBef>
              <a:spcAft>
                <a:spcPts val="0"/>
              </a:spcAft>
              <a:buClr>
                <a:srgbClr val="233944"/>
              </a:buClr>
              <a:buSzPts val="3200"/>
              <a:buFont typeface="Arial"/>
              <a:buChar char="•"/>
            </a:pPr>
            <a:r>
              <a:rPr b="0" i="0" lang="en-US" sz="3200" u="none" cap="none" strike="noStrike">
                <a:solidFill>
                  <a:srgbClr val="233944"/>
                </a:solidFill>
                <a:latin typeface="Arimo"/>
                <a:ea typeface="Arimo"/>
                <a:cs typeface="Arimo"/>
                <a:sym typeface="Arimo"/>
              </a:rPr>
              <a:t>Avisos</a:t>
            </a:r>
            <a:endParaRPr/>
          </a:p>
          <a:p>
            <a:pPr indent="-398145" lvl="1" marL="796290" marR="0" rtl="0" algn="l">
              <a:lnSpc>
                <a:spcPct val="120000"/>
              </a:lnSpc>
              <a:spcBef>
                <a:spcPts val="0"/>
              </a:spcBef>
              <a:spcAft>
                <a:spcPts val="0"/>
              </a:spcAft>
              <a:buClr>
                <a:srgbClr val="233944"/>
              </a:buClr>
              <a:buSzPts val="3200"/>
              <a:buFont typeface="Arial"/>
              <a:buChar char="•"/>
            </a:pPr>
            <a:r>
              <a:rPr b="0" i="0" lang="en-US" sz="3200" u="none" cap="none" strike="noStrike">
                <a:solidFill>
                  <a:srgbClr val="233944"/>
                </a:solidFill>
                <a:latin typeface="Arimo"/>
                <a:ea typeface="Arimo"/>
                <a:cs typeface="Arimo"/>
                <a:sym typeface="Arimo"/>
              </a:rPr>
              <a:t>Temas de clase 6</a:t>
            </a:r>
            <a:endParaRPr/>
          </a:p>
          <a:p>
            <a:pPr indent="-398145" lvl="1" marL="796290" marR="0" rtl="0" algn="l">
              <a:lnSpc>
                <a:spcPct val="120000"/>
              </a:lnSpc>
              <a:spcBef>
                <a:spcPts val="0"/>
              </a:spcBef>
              <a:spcAft>
                <a:spcPts val="0"/>
              </a:spcAft>
              <a:buClr>
                <a:srgbClr val="233944"/>
              </a:buClr>
              <a:buSzPts val="3200"/>
              <a:buFont typeface="Arial"/>
              <a:buChar char="•"/>
            </a:pPr>
            <a:r>
              <a:rPr b="0" i="0" lang="en-US" sz="3200" u="none" cap="none" strike="noStrike">
                <a:solidFill>
                  <a:srgbClr val="233944"/>
                </a:solidFill>
                <a:latin typeface="Arimo"/>
                <a:ea typeface="Arimo"/>
                <a:cs typeface="Arimo"/>
                <a:sym typeface="Arimo"/>
              </a:rPr>
              <a:t>Hoja de trabajo 1</a:t>
            </a:r>
            <a:endParaRPr/>
          </a:p>
        </p:txBody>
      </p:sp>
      <p:sp>
        <p:nvSpPr>
          <p:cNvPr id="104" name="Google Shape;104;p2"/>
          <p:cNvSpPr/>
          <p:nvPr/>
        </p:nvSpPr>
        <p:spPr>
          <a:xfrm>
            <a:off x="1257298" y="922850"/>
            <a:ext cx="2772848" cy="2772848"/>
          </a:xfrm>
          <a:custGeom>
            <a:rect b="b" l="l" r="r" t="t"/>
            <a:pathLst>
              <a:path extrusionOk="0" h="2772848" w="2772848">
                <a:moveTo>
                  <a:pt x="0" y="0"/>
                </a:moveTo>
                <a:lnTo>
                  <a:pt x="2772848" y="0"/>
                </a:lnTo>
                <a:lnTo>
                  <a:pt x="2772848" y="2772848"/>
                </a:lnTo>
                <a:lnTo>
                  <a:pt x="0" y="277284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cxnSp>
        <p:nvCxnSpPr>
          <p:cNvPr id="109" name="Google Shape;109;p3"/>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110" name="Google Shape;110;p3"/>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111" name="Google Shape;111;p3"/>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112" name="Google Shape;112;p3"/>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113" name="Google Shape;113;p3"/>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114" name="Google Shape;114;p3"/>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115" name="Google Shape;115;p3"/>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116" name="Google Shape;116;p3"/>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117" name="Google Shape;117;p3"/>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118" name="Google Shape;118;p3"/>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119" name="Google Shape;119;p3"/>
          <p:cNvCxnSpPr/>
          <p:nvPr/>
        </p:nvCxnSpPr>
        <p:spPr>
          <a:xfrm rot="4791364">
            <a:off x="9738485"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120" name="Google Shape;120;p3"/>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121" name="Google Shape;121;p3"/>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122" name="Google Shape;122;p3"/>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123" name="Google Shape;123;p3"/>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124" name="Google Shape;124;p3"/>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125" name="Google Shape;125;p3"/>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126" name="Google Shape;126;p3"/>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127" name="Google Shape;127;p3"/>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128" name="Google Shape;128;p3"/>
          <p:cNvSpPr/>
          <p:nvPr/>
        </p:nvSpPr>
        <p:spPr>
          <a:xfrm rot="10800000">
            <a:off x="22" y="-23"/>
            <a:ext cx="1263872" cy="8499254"/>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sp>
        <p:nvSpPr>
          <p:cNvPr id="129" name="Google Shape;129;p3"/>
          <p:cNvSpPr/>
          <p:nvPr/>
        </p:nvSpPr>
        <p:spPr>
          <a:xfrm rot="10800000">
            <a:off x="22" y="-22"/>
            <a:ext cx="1263872" cy="8499252"/>
          </a:xfrm>
          <a:custGeom>
            <a:rect b="b" l="l" r="r" t="t"/>
            <a:pathLst>
              <a:path extrusionOk="0" h="11332337" w="1685163">
                <a:moveTo>
                  <a:pt x="0" y="11332337"/>
                </a:moveTo>
                <a:lnTo>
                  <a:pt x="1685163" y="0"/>
                </a:lnTo>
                <a:lnTo>
                  <a:pt x="1685163" y="11332337"/>
                </a:lnTo>
                <a:close/>
              </a:path>
            </a:pathLst>
          </a:custGeom>
          <a:solidFill>
            <a:srgbClr val="90C226"/>
          </a:solidFill>
          <a:ln>
            <a:noFill/>
          </a:ln>
        </p:spPr>
      </p:sp>
      <p:sp>
        <p:nvSpPr>
          <p:cNvPr id="130" name="Google Shape;130;p3"/>
          <p:cNvSpPr/>
          <p:nvPr/>
        </p:nvSpPr>
        <p:spPr>
          <a:xfrm>
            <a:off x="11607800" y="5727700"/>
            <a:ext cx="6675406" cy="4559331"/>
          </a:xfrm>
          <a:custGeom>
            <a:rect b="b" l="l" r="r" t="t"/>
            <a:pathLst>
              <a:path extrusionOk="0" h="6079109" w="8900541">
                <a:moveTo>
                  <a:pt x="0" y="6079109"/>
                </a:moveTo>
                <a:lnTo>
                  <a:pt x="8900541" y="0"/>
                </a:lnTo>
                <a:lnTo>
                  <a:pt x="8900541" y="6079109"/>
                </a:lnTo>
                <a:close/>
              </a:path>
            </a:pathLst>
          </a:custGeom>
          <a:solidFill>
            <a:srgbClr val="90C226">
              <a:alpha val="87450"/>
            </a:srgbClr>
          </a:solidFill>
          <a:ln>
            <a:noFill/>
          </a:ln>
        </p:spPr>
      </p:sp>
      <p:sp>
        <p:nvSpPr>
          <p:cNvPr id="131" name="Google Shape;131;p3"/>
          <p:cNvSpPr/>
          <p:nvPr/>
        </p:nvSpPr>
        <p:spPr>
          <a:xfrm>
            <a:off x="15638460" y="0"/>
            <a:ext cx="2649569" cy="10287000"/>
          </a:xfrm>
          <a:custGeom>
            <a:rect b="b" l="l" r="r" t="t"/>
            <a:pathLst>
              <a:path extrusionOk="0" h="13716000" w="3532759">
                <a:moveTo>
                  <a:pt x="0" y="0"/>
                </a:moveTo>
                <a:lnTo>
                  <a:pt x="3532759" y="0"/>
                </a:lnTo>
                <a:lnTo>
                  <a:pt x="3532759" y="13716000"/>
                </a:lnTo>
                <a:lnTo>
                  <a:pt x="3058033" y="13716000"/>
                </a:lnTo>
                <a:lnTo>
                  <a:pt x="0" y="0"/>
                </a:lnTo>
                <a:close/>
              </a:path>
            </a:pathLst>
          </a:custGeom>
          <a:solidFill>
            <a:srgbClr val="54A021"/>
          </a:solidFill>
          <a:ln>
            <a:noFill/>
          </a:ln>
        </p:spPr>
      </p:sp>
      <p:cxnSp>
        <p:nvCxnSpPr>
          <p:cNvPr id="132" name="Google Shape;132;p3"/>
          <p:cNvCxnSpPr/>
          <p:nvPr/>
        </p:nvCxnSpPr>
        <p:spPr>
          <a:xfrm rot="4544398">
            <a:off x="11173900" y="5143500"/>
            <a:ext cx="10646801" cy="0"/>
          </a:xfrm>
          <a:prstGeom prst="straightConnector1">
            <a:avLst/>
          </a:prstGeom>
          <a:noFill/>
          <a:ln cap="rnd" cmpd="sng" w="9525">
            <a:solidFill>
              <a:srgbClr val="54A021"/>
            </a:solidFill>
            <a:prstDash val="solid"/>
            <a:round/>
            <a:headEnd len="sm" w="sm" type="none"/>
            <a:tailEnd len="sm" w="sm" type="none"/>
          </a:ln>
        </p:spPr>
      </p:cxnSp>
      <p:cxnSp>
        <p:nvCxnSpPr>
          <p:cNvPr id="133" name="Google Shape;133;p3"/>
          <p:cNvCxnSpPr/>
          <p:nvPr/>
        </p:nvCxnSpPr>
        <p:spPr>
          <a:xfrm rot="8774650">
            <a:off x="10394371" y="7904559"/>
            <a:ext cx="8632395" cy="0"/>
          </a:xfrm>
          <a:prstGeom prst="straightConnector1">
            <a:avLst/>
          </a:prstGeom>
          <a:noFill/>
          <a:ln cap="rnd" cmpd="sng" w="9525">
            <a:solidFill>
              <a:srgbClr val="90C226"/>
            </a:solidFill>
            <a:prstDash val="solid"/>
            <a:round/>
            <a:headEnd len="sm" w="sm" type="none"/>
            <a:tailEnd len="sm" w="sm" type="none"/>
          </a:ln>
        </p:spPr>
      </p:cxnSp>
      <p:sp>
        <p:nvSpPr>
          <p:cNvPr id="134" name="Google Shape;134;p3"/>
          <p:cNvSpPr txBox="1"/>
          <p:nvPr/>
        </p:nvSpPr>
        <p:spPr>
          <a:xfrm>
            <a:off x="2352040" y="4382709"/>
            <a:ext cx="11467524" cy="1647825"/>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0" i="0" lang="en-US" sz="10800" u="none" cap="none" strike="noStrike">
                <a:solidFill>
                  <a:srgbClr val="90C226"/>
                </a:solidFill>
                <a:latin typeface="Trebuchet MS"/>
                <a:ea typeface="Trebuchet MS"/>
                <a:cs typeface="Trebuchet MS"/>
                <a:sym typeface="Trebuchet MS"/>
              </a:rPr>
              <a:t>Sistema Autónomo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cxnSp>
        <p:nvCxnSpPr>
          <p:cNvPr id="139" name="Google Shape;139;p4"/>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140" name="Google Shape;140;p4"/>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141" name="Google Shape;141;p4"/>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142" name="Google Shape;142;p4"/>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143" name="Google Shape;143;p4"/>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144" name="Google Shape;144;p4"/>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145" name="Google Shape;145;p4"/>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146" name="Google Shape;146;p4"/>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147" name="Google Shape;147;p4"/>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148" name="Google Shape;148;p4"/>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149" name="Google Shape;149;p4"/>
          <p:cNvSpPr/>
          <p:nvPr/>
        </p:nvSpPr>
        <p:spPr>
          <a:xfrm>
            <a:off x="0" y="-4"/>
            <a:ext cx="6990207" cy="10287000"/>
          </a:xfrm>
          <a:custGeom>
            <a:rect b="b" l="l" r="r" t="t"/>
            <a:pathLst>
              <a:path extrusionOk="0" h="13716000" w="9320276">
                <a:moveTo>
                  <a:pt x="0" y="0"/>
                </a:moveTo>
                <a:lnTo>
                  <a:pt x="9320276" y="0"/>
                </a:lnTo>
                <a:lnTo>
                  <a:pt x="9320276" y="13716000"/>
                </a:lnTo>
                <a:lnTo>
                  <a:pt x="0" y="13716000"/>
                </a:lnTo>
                <a:close/>
              </a:path>
            </a:pathLst>
          </a:custGeom>
          <a:solidFill>
            <a:srgbClr val="2C3C43"/>
          </a:solidFill>
          <a:ln>
            <a:noFill/>
          </a:ln>
        </p:spPr>
      </p:sp>
      <p:sp>
        <p:nvSpPr>
          <p:cNvPr id="150" name="Google Shape;150;p4"/>
          <p:cNvSpPr/>
          <p:nvPr/>
        </p:nvSpPr>
        <p:spPr>
          <a:xfrm rot="10800000">
            <a:off x="6990158" y="-4"/>
            <a:ext cx="1585150" cy="10287000"/>
          </a:xfrm>
          <a:custGeom>
            <a:rect b="b" l="l" r="r" t="t"/>
            <a:pathLst>
              <a:path extrusionOk="0" h="13716000" w="2113534">
                <a:moveTo>
                  <a:pt x="0" y="13716000"/>
                </a:moveTo>
                <a:lnTo>
                  <a:pt x="2113534" y="0"/>
                </a:lnTo>
                <a:lnTo>
                  <a:pt x="2113534" y="13716000"/>
                </a:lnTo>
                <a:close/>
              </a:path>
            </a:pathLst>
          </a:custGeom>
          <a:solidFill>
            <a:srgbClr val="2C3C43"/>
          </a:solidFill>
          <a:ln>
            <a:noFill/>
          </a:ln>
        </p:spPr>
      </p:sp>
      <p:sp>
        <p:nvSpPr>
          <p:cNvPr id="151" name="Google Shape;151;p4"/>
          <p:cNvSpPr txBox="1"/>
          <p:nvPr/>
        </p:nvSpPr>
        <p:spPr>
          <a:xfrm>
            <a:off x="1102070" y="1168612"/>
            <a:ext cx="6121688" cy="1723263"/>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0" i="0" lang="en-US" sz="6199" u="none" cap="none" strike="noStrike">
                <a:solidFill>
                  <a:srgbClr val="FFFFFF"/>
                </a:solidFill>
                <a:latin typeface="Trebuchet MS"/>
                <a:ea typeface="Trebuchet MS"/>
                <a:cs typeface="Trebuchet MS"/>
                <a:sym typeface="Trebuchet MS"/>
              </a:rPr>
              <a:t>Sistema Autónomo (AS)</a:t>
            </a:r>
            <a:endParaRPr/>
          </a:p>
        </p:txBody>
      </p:sp>
      <p:sp>
        <p:nvSpPr>
          <p:cNvPr id="152" name="Google Shape;152;p4"/>
          <p:cNvSpPr txBox="1"/>
          <p:nvPr/>
        </p:nvSpPr>
        <p:spPr>
          <a:xfrm>
            <a:off x="1102070" y="3267554"/>
            <a:ext cx="5778034" cy="2733675"/>
          </a:xfrm>
          <a:prstGeom prst="rect">
            <a:avLst/>
          </a:prstGeom>
          <a:noFill/>
          <a:ln>
            <a:noFill/>
          </a:ln>
        </p:spPr>
        <p:txBody>
          <a:bodyPr anchorCtr="0" anchor="t" bIns="0" lIns="0" spcFirstLastPara="1" rIns="0" wrap="square" tIns="0">
            <a:spAutoFit/>
          </a:bodyPr>
          <a:lstStyle/>
          <a:p>
            <a:pPr indent="-434340" lvl="1" marL="868680" marR="0" rtl="0" algn="just">
              <a:lnSpc>
                <a:spcPct val="120000"/>
              </a:lnSpc>
              <a:spcBef>
                <a:spcPts val="0"/>
              </a:spcBef>
              <a:spcAft>
                <a:spcPts val="0"/>
              </a:spcAft>
              <a:buClr>
                <a:srgbClr val="FFFFFF"/>
              </a:buClr>
              <a:buSzPts val="3600"/>
              <a:buFont typeface="Arial"/>
              <a:buChar char="•"/>
            </a:pPr>
            <a:r>
              <a:rPr b="0" i="0" lang="en-US" sz="3600" u="none" cap="none" strike="noStrike">
                <a:solidFill>
                  <a:srgbClr val="FFFFFF"/>
                </a:solidFill>
                <a:latin typeface="Trebuchet MS"/>
                <a:ea typeface="Trebuchet MS"/>
                <a:cs typeface="Trebuchet MS"/>
                <a:sym typeface="Trebuchet MS"/>
              </a:rPr>
              <a:t>Un sistema autónomo es una red de sistemas grandes y estos sistemas tienen sistemas pequeños.</a:t>
            </a:r>
            <a:endParaRPr/>
          </a:p>
        </p:txBody>
      </p:sp>
      <p:sp>
        <p:nvSpPr>
          <p:cNvPr id="153" name="Google Shape;153;p4"/>
          <p:cNvSpPr/>
          <p:nvPr/>
        </p:nvSpPr>
        <p:spPr>
          <a:xfrm>
            <a:off x="9144000" y="2531256"/>
            <a:ext cx="7715250" cy="5205714"/>
          </a:xfrm>
          <a:custGeom>
            <a:rect b="b" l="l" r="r" t="t"/>
            <a:pathLst>
              <a:path extrusionOk="0" h="5205714" w="7715250">
                <a:moveTo>
                  <a:pt x="0" y="0"/>
                </a:moveTo>
                <a:lnTo>
                  <a:pt x="7715250" y="0"/>
                </a:lnTo>
                <a:lnTo>
                  <a:pt x="7715250" y="5205714"/>
                </a:lnTo>
                <a:lnTo>
                  <a:pt x="0" y="5205714"/>
                </a:lnTo>
                <a:lnTo>
                  <a:pt x="0" y="0"/>
                </a:lnTo>
                <a:close/>
              </a:path>
            </a:pathLst>
          </a:custGeom>
          <a:blipFill rotWithShape="1">
            <a:blip r:embed="rId3">
              <a:alphaModFix/>
            </a:blip>
            <a:stretch>
              <a:fillRect b="0" l="0" r="0" t="-16619"/>
            </a:stretch>
          </a:blipFill>
          <a:ln>
            <a:noFill/>
          </a:ln>
        </p:spPr>
      </p:sp>
      <p:sp>
        <p:nvSpPr>
          <p:cNvPr id="154" name="Google Shape;154;p4"/>
          <p:cNvSpPr/>
          <p:nvPr/>
        </p:nvSpPr>
        <p:spPr>
          <a:xfrm>
            <a:off x="17633544" y="6019800"/>
            <a:ext cx="673132" cy="4267200"/>
          </a:xfrm>
          <a:custGeom>
            <a:rect b="b" l="l" r="r" t="t"/>
            <a:pathLst>
              <a:path extrusionOk="0" h="5689600" w="897509">
                <a:moveTo>
                  <a:pt x="897509" y="5689600"/>
                </a:moveTo>
                <a:lnTo>
                  <a:pt x="897509" y="0"/>
                </a:lnTo>
                <a:lnTo>
                  <a:pt x="0" y="5689600"/>
                </a:lnTo>
                <a:close/>
              </a:path>
            </a:pathLst>
          </a:custGeom>
          <a:solidFill>
            <a:srgbClr val="90C226">
              <a:alpha val="84705"/>
            </a:srgbClr>
          </a:solid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cxnSp>
        <p:nvCxnSpPr>
          <p:cNvPr id="159" name="Google Shape;159;p5"/>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160" name="Google Shape;160;p5"/>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161" name="Google Shape;161;p5"/>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162" name="Google Shape;162;p5"/>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163" name="Google Shape;163;p5"/>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164" name="Google Shape;164;p5"/>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165" name="Google Shape;165;p5"/>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166" name="Google Shape;166;p5"/>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167" name="Google Shape;167;p5"/>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168" name="Google Shape;168;p5"/>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169" name="Google Shape;169;p5"/>
          <p:cNvCxnSpPr/>
          <p:nvPr/>
        </p:nvCxnSpPr>
        <p:spPr>
          <a:xfrm rot="4791364">
            <a:off x="9738485"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170" name="Google Shape;170;p5"/>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171" name="Google Shape;171;p5"/>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172" name="Google Shape;172;p5"/>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173" name="Google Shape;173;p5"/>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174" name="Google Shape;174;p5"/>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175" name="Google Shape;175;p5"/>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176" name="Google Shape;176;p5"/>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177" name="Google Shape;177;p5"/>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178" name="Google Shape;178;p5"/>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179" name="Google Shape;179;p5"/>
          <p:cNvSpPr/>
          <p:nvPr/>
        </p:nvSpPr>
        <p:spPr>
          <a:xfrm>
            <a:off x="0" y="0"/>
            <a:ext cx="18283428" cy="10287000"/>
          </a:xfrm>
          <a:custGeom>
            <a:rect b="b" l="l" r="r" t="t"/>
            <a:pathLst>
              <a:path extrusionOk="0" h="13716000" w="24377904">
                <a:moveTo>
                  <a:pt x="0" y="0"/>
                </a:moveTo>
                <a:lnTo>
                  <a:pt x="24377904" y="0"/>
                </a:lnTo>
                <a:lnTo>
                  <a:pt x="24377904" y="13716000"/>
                </a:lnTo>
                <a:lnTo>
                  <a:pt x="0" y="13716000"/>
                </a:lnTo>
                <a:close/>
              </a:path>
            </a:pathLst>
          </a:custGeom>
          <a:solidFill>
            <a:srgbClr val="54A021"/>
          </a:solidFill>
          <a:ln>
            <a:noFill/>
          </a:ln>
        </p:spPr>
      </p:sp>
      <p:cxnSp>
        <p:nvCxnSpPr>
          <p:cNvPr id="180" name="Google Shape;180;p5"/>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181" name="Google Shape;181;p5"/>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182" name="Google Shape;182;p5"/>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183" name="Google Shape;183;p5"/>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184" name="Google Shape;184;p5"/>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185" name="Google Shape;185;p5"/>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186" name="Google Shape;186;p5"/>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187" name="Google Shape;187;p5"/>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188" name="Google Shape;188;p5"/>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189" name="Google Shape;189;p5"/>
          <p:cNvSpPr/>
          <p:nvPr/>
        </p:nvSpPr>
        <p:spPr>
          <a:xfrm>
            <a:off x="715518" y="720090"/>
            <a:ext cx="16856964" cy="8846820"/>
          </a:xfrm>
          <a:custGeom>
            <a:rect b="b" l="l" r="r" t="t"/>
            <a:pathLst>
              <a:path extrusionOk="0" h="11795760" w="22475952">
                <a:moveTo>
                  <a:pt x="0" y="0"/>
                </a:moveTo>
                <a:lnTo>
                  <a:pt x="22475952" y="0"/>
                </a:lnTo>
                <a:lnTo>
                  <a:pt x="22475952" y="11795760"/>
                </a:lnTo>
                <a:lnTo>
                  <a:pt x="0" y="11795760"/>
                </a:lnTo>
                <a:close/>
              </a:path>
            </a:pathLst>
          </a:custGeom>
          <a:solidFill>
            <a:srgbClr val="FFFFFF"/>
          </a:solidFill>
          <a:ln>
            <a:noFill/>
          </a:ln>
        </p:spPr>
      </p:sp>
      <p:sp>
        <p:nvSpPr>
          <p:cNvPr id="190" name="Google Shape;190;p5"/>
          <p:cNvSpPr/>
          <p:nvPr/>
        </p:nvSpPr>
        <p:spPr>
          <a:xfrm>
            <a:off x="1689462" y="1843126"/>
            <a:ext cx="14911890" cy="6595306"/>
          </a:xfrm>
          <a:custGeom>
            <a:rect b="b" l="l" r="r" t="t"/>
            <a:pathLst>
              <a:path extrusionOk="0" h="6595306" w="14911890">
                <a:moveTo>
                  <a:pt x="0" y="0"/>
                </a:moveTo>
                <a:lnTo>
                  <a:pt x="14911890" y="0"/>
                </a:lnTo>
                <a:lnTo>
                  <a:pt x="14911890" y="6595306"/>
                </a:lnTo>
                <a:lnTo>
                  <a:pt x="0" y="6595306"/>
                </a:lnTo>
                <a:lnTo>
                  <a:pt x="0" y="0"/>
                </a:lnTo>
                <a:close/>
              </a:path>
            </a:pathLst>
          </a:custGeom>
          <a:blipFill rotWithShape="1">
            <a:blip r:embed="rId3">
              <a:alphaModFix/>
            </a:blip>
            <a:stretch>
              <a:fillRect b="-6028" l="0" r="0" t="-21146"/>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3C43"/>
        </a:solidFill>
      </p:bgPr>
    </p:bg>
    <p:spTree>
      <p:nvGrpSpPr>
        <p:cNvPr id="194" name="Shape 194"/>
        <p:cNvGrpSpPr/>
        <p:nvPr/>
      </p:nvGrpSpPr>
      <p:grpSpPr>
        <a:xfrm>
          <a:off x="0" y="0"/>
          <a:ext cx="0" cy="0"/>
          <a:chOff x="0" y="0"/>
          <a:chExt cx="0" cy="0"/>
        </a:xfrm>
      </p:grpSpPr>
      <p:cxnSp>
        <p:nvCxnSpPr>
          <p:cNvPr id="195" name="Google Shape;195;p6"/>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196" name="Google Shape;196;p6"/>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197" name="Google Shape;197;p6"/>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198" name="Google Shape;198;p6"/>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199" name="Google Shape;199;p6"/>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200" name="Google Shape;200;p6"/>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201" name="Google Shape;201;p6"/>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202" name="Google Shape;202;p6"/>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203" name="Google Shape;203;p6"/>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204" name="Google Shape;204;p6"/>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205" name="Google Shape;205;p6"/>
          <p:cNvCxnSpPr/>
          <p:nvPr/>
        </p:nvCxnSpPr>
        <p:spPr>
          <a:xfrm rot="4791364">
            <a:off x="9738485" y="5143500"/>
            <a:ext cx="10464869" cy="0"/>
          </a:xfrm>
          <a:prstGeom prst="straightConnector1">
            <a:avLst/>
          </a:prstGeom>
          <a:noFill/>
          <a:ln cap="rnd" cmpd="sng" w="9525">
            <a:solidFill>
              <a:srgbClr val="000000"/>
            </a:solidFill>
            <a:prstDash val="solid"/>
            <a:round/>
            <a:headEnd len="sm" w="sm" type="none"/>
            <a:tailEnd len="sm" w="sm" type="none"/>
          </a:ln>
        </p:spPr>
      </p:cxnSp>
      <p:cxnSp>
        <p:nvCxnSpPr>
          <p:cNvPr id="206" name="Google Shape;206;p6"/>
          <p:cNvCxnSpPr/>
          <p:nvPr/>
        </p:nvCxnSpPr>
        <p:spPr>
          <a:xfrm rot="8776574">
            <a:off x="10406483" y="7904560"/>
            <a:ext cx="8608175" cy="0"/>
          </a:xfrm>
          <a:prstGeom prst="straightConnector1">
            <a:avLst/>
          </a:prstGeom>
          <a:noFill/>
          <a:ln cap="rnd" cmpd="sng" w="9525">
            <a:solidFill>
              <a:srgbClr val="000000"/>
            </a:solidFill>
            <a:prstDash val="solid"/>
            <a:round/>
            <a:headEnd len="sm" w="sm" type="none"/>
            <a:tailEnd len="sm" w="sm" type="none"/>
          </a:ln>
        </p:spPr>
      </p:cxnSp>
      <p:sp>
        <p:nvSpPr>
          <p:cNvPr id="207" name="Google Shape;207;p6"/>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208" name="Google Shape;208;p6"/>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209" name="Google Shape;209;p6"/>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210" name="Google Shape;210;p6"/>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211" name="Google Shape;211;p6"/>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212" name="Google Shape;212;p6"/>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213" name="Google Shape;213;p6"/>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214" name="Google Shape;214;p6"/>
          <p:cNvSpPr/>
          <p:nvPr/>
        </p:nvSpPr>
        <p:spPr>
          <a:xfrm rot="10800000">
            <a:off x="22" y="-23"/>
            <a:ext cx="1263872" cy="8499254"/>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cxnSp>
        <p:nvCxnSpPr>
          <p:cNvPr id="215" name="Google Shape;215;p6"/>
          <p:cNvCxnSpPr/>
          <p:nvPr/>
        </p:nvCxnSpPr>
        <p:spPr>
          <a:xfrm rot="4790100">
            <a:off x="-2148349" y="5143500"/>
            <a:ext cx="10470397" cy="0"/>
          </a:xfrm>
          <a:prstGeom prst="straightConnector1">
            <a:avLst/>
          </a:prstGeom>
          <a:noFill/>
          <a:ln cap="rnd" cmpd="sng" w="9525">
            <a:solidFill>
              <a:srgbClr val="90C226"/>
            </a:solidFill>
            <a:prstDash val="solid"/>
            <a:round/>
            <a:headEnd len="sm" w="sm" type="none"/>
            <a:tailEnd len="sm" w="sm" type="none"/>
          </a:ln>
        </p:spPr>
      </p:cxnSp>
      <p:cxnSp>
        <p:nvCxnSpPr>
          <p:cNvPr id="216" name="Google Shape;216;p6"/>
          <p:cNvCxnSpPr/>
          <p:nvPr/>
        </p:nvCxnSpPr>
        <p:spPr>
          <a:xfrm rot="8776047">
            <a:off x="-633960" y="7904559"/>
            <a:ext cx="8614780" cy="0"/>
          </a:xfrm>
          <a:prstGeom prst="straightConnector1">
            <a:avLst/>
          </a:prstGeom>
          <a:noFill/>
          <a:ln cap="rnd" cmpd="sng" w="9525">
            <a:solidFill>
              <a:srgbClr val="FFFFFF"/>
            </a:solidFill>
            <a:prstDash val="solid"/>
            <a:round/>
            <a:headEnd len="sm" w="sm" type="none"/>
            <a:tailEnd len="sm" w="sm" type="none"/>
          </a:ln>
        </p:spPr>
      </p:cxnSp>
      <p:sp>
        <p:nvSpPr>
          <p:cNvPr id="217" name="Google Shape;217;p6"/>
          <p:cNvSpPr/>
          <p:nvPr/>
        </p:nvSpPr>
        <p:spPr>
          <a:xfrm>
            <a:off x="188814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218" name="Google Shape;218;p6"/>
          <p:cNvSpPr/>
          <p:nvPr/>
        </p:nvSpPr>
        <p:spPr>
          <a:xfrm>
            <a:off x="2521094" y="-12700"/>
            <a:ext cx="3882867"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219" name="Google Shape;219;p6"/>
          <p:cNvSpPr/>
          <p:nvPr/>
        </p:nvSpPr>
        <p:spPr>
          <a:xfrm>
            <a:off x="1514430"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220" name="Google Shape;220;p6"/>
          <p:cNvSpPr/>
          <p:nvPr/>
        </p:nvSpPr>
        <p:spPr>
          <a:xfrm>
            <a:off x="211768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221" name="Google Shape;221;p6"/>
          <p:cNvSpPr/>
          <p:nvPr/>
        </p:nvSpPr>
        <p:spPr>
          <a:xfrm>
            <a:off x="3673430" y="5384800"/>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222" name="Google Shape;222;p6"/>
          <p:cNvSpPr/>
          <p:nvPr/>
        </p:nvSpPr>
        <p:spPr>
          <a:xfrm>
            <a:off x="4524430" y="-12700"/>
            <a:ext cx="13763530" cy="10299668"/>
          </a:xfrm>
          <a:custGeom>
            <a:rect b="b" l="l" r="r" t="t"/>
            <a:pathLst>
              <a:path extrusionOk="0" h="13732890" w="18351373">
                <a:moveTo>
                  <a:pt x="0" y="0"/>
                </a:moveTo>
                <a:lnTo>
                  <a:pt x="2499614" y="0"/>
                </a:lnTo>
                <a:lnTo>
                  <a:pt x="2499614" y="16891"/>
                </a:lnTo>
                <a:lnTo>
                  <a:pt x="18351373" y="16891"/>
                </a:lnTo>
                <a:lnTo>
                  <a:pt x="18351373" y="13732890"/>
                </a:lnTo>
                <a:lnTo>
                  <a:pt x="2499614" y="13732890"/>
                </a:lnTo>
                <a:lnTo>
                  <a:pt x="2218817" y="13732890"/>
                </a:lnTo>
                <a:close/>
              </a:path>
            </a:pathLst>
          </a:custGeom>
          <a:solidFill>
            <a:srgbClr val="90C226"/>
          </a:solidFill>
          <a:ln>
            <a:noFill/>
          </a:ln>
        </p:spPr>
      </p:sp>
      <p:sp>
        <p:nvSpPr>
          <p:cNvPr id="223" name="Google Shape;223;p6"/>
          <p:cNvSpPr txBox="1"/>
          <p:nvPr/>
        </p:nvSpPr>
        <p:spPr>
          <a:xfrm>
            <a:off x="6720144" y="4369442"/>
            <a:ext cx="10258258" cy="13906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9000" u="none" cap="none" strike="noStrike">
                <a:solidFill>
                  <a:srgbClr val="FFFFFF"/>
                </a:solidFill>
                <a:latin typeface="Trebuchet MS"/>
                <a:ea typeface="Trebuchet MS"/>
                <a:cs typeface="Trebuchet MS"/>
                <a:sym typeface="Trebuchet MS"/>
              </a:rPr>
              <a:t>Protocolos de capa 3</a:t>
            </a:r>
            <a:endParaRPr/>
          </a:p>
        </p:txBody>
      </p:sp>
      <p:sp>
        <p:nvSpPr>
          <p:cNvPr id="224" name="Google Shape;224;p6"/>
          <p:cNvSpPr/>
          <p:nvPr/>
        </p:nvSpPr>
        <p:spPr>
          <a:xfrm rot="5400000">
            <a:off x="6093844" y="4907234"/>
            <a:ext cx="330994" cy="279654"/>
          </a:xfrm>
          <a:custGeom>
            <a:rect b="b" l="l" r="r" t="t"/>
            <a:pathLst>
              <a:path extrusionOk="0" h="372872" w="441325">
                <a:moveTo>
                  <a:pt x="0" y="372872"/>
                </a:moveTo>
                <a:lnTo>
                  <a:pt x="220599" y="0"/>
                </a:lnTo>
                <a:lnTo>
                  <a:pt x="441325" y="372872"/>
                </a:lnTo>
                <a:close/>
              </a:path>
            </a:pathLst>
          </a:custGeom>
          <a:solidFill>
            <a:srgbClr val="FFFFFF"/>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cxnSp>
        <p:nvCxnSpPr>
          <p:cNvPr id="229" name="Google Shape;229;p7"/>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230" name="Google Shape;230;p7"/>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231" name="Google Shape;231;p7"/>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232" name="Google Shape;232;p7"/>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233" name="Google Shape;233;p7"/>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234" name="Google Shape;234;p7"/>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235" name="Google Shape;235;p7"/>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236" name="Google Shape;236;p7"/>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237" name="Google Shape;237;p7"/>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238" name="Google Shape;238;p7"/>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239" name="Google Shape;239;p7"/>
          <p:cNvSpPr txBox="1"/>
          <p:nvPr/>
        </p:nvSpPr>
        <p:spPr>
          <a:xfrm>
            <a:off x="1524000" y="727075"/>
            <a:ext cx="12649200" cy="19526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400" u="none" cap="none" strike="noStrike">
                <a:solidFill>
                  <a:srgbClr val="233944"/>
                </a:solidFill>
                <a:latin typeface="Tomorrow"/>
                <a:ea typeface="Tomorrow"/>
                <a:cs typeface="Tomorrow"/>
                <a:sym typeface="Tomorrow"/>
              </a:rPr>
              <a:t>Funciones de los protocolos de capa 3</a:t>
            </a:r>
            <a:endParaRPr/>
          </a:p>
        </p:txBody>
      </p:sp>
      <p:sp>
        <p:nvSpPr>
          <p:cNvPr id="240" name="Google Shape;240;p7"/>
          <p:cNvSpPr txBox="1"/>
          <p:nvPr/>
        </p:nvSpPr>
        <p:spPr>
          <a:xfrm>
            <a:off x="2133600" y="3458845"/>
            <a:ext cx="10210800" cy="2861310"/>
          </a:xfrm>
          <a:prstGeom prst="rect">
            <a:avLst/>
          </a:prstGeom>
          <a:noFill/>
          <a:ln>
            <a:noFill/>
          </a:ln>
        </p:spPr>
        <p:txBody>
          <a:bodyPr anchorCtr="0" anchor="t" bIns="0" lIns="0" spcFirstLastPara="1" rIns="0" wrap="square" tIns="0">
            <a:spAutoFit/>
          </a:bodyPr>
          <a:lstStyle/>
          <a:p>
            <a:pPr indent="-398145" lvl="1" marL="796290" marR="0" rtl="0" algn="l">
              <a:lnSpc>
                <a:spcPct val="180000"/>
              </a:lnSpc>
              <a:spcBef>
                <a:spcPts val="0"/>
              </a:spcBef>
              <a:spcAft>
                <a:spcPts val="0"/>
              </a:spcAft>
              <a:buClr>
                <a:srgbClr val="233944"/>
              </a:buClr>
              <a:buSzPts val="3200"/>
              <a:buFont typeface="Arial"/>
              <a:buChar char="•"/>
            </a:pPr>
            <a:r>
              <a:rPr b="0" i="0" lang="en-US" sz="3200" u="none" cap="none" strike="noStrike">
                <a:solidFill>
                  <a:srgbClr val="233944"/>
                </a:solidFill>
                <a:latin typeface="Arimo"/>
                <a:ea typeface="Arimo"/>
                <a:cs typeface="Arimo"/>
                <a:sym typeface="Arimo"/>
              </a:rPr>
              <a:t>Direccionamiento de red</a:t>
            </a:r>
            <a:endParaRPr/>
          </a:p>
          <a:p>
            <a:pPr indent="-398145" lvl="1" marL="796290" marR="0" rtl="0" algn="l">
              <a:lnSpc>
                <a:spcPct val="180000"/>
              </a:lnSpc>
              <a:spcBef>
                <a:spcPts val="0"/>
              </a:spcBef>
              <a:spcAft>
                <a:spcPts val="0"/>
              </a:spcAft>
              <a:buClr>
                <a:srgbClr val="233944"/>
              </a:buClr>
              <a:buSzPts val="3200"/>
              <a:buFont typeface="Arial"/>
              <a:buChar char="•"/>
            </a:pPr>
            <a:r>
              <a:rPr b="0" i="0" lang="en-US" sz="3200" u="none" cap="none" strike="noStrike">
                <a:solidFill>
                  <a:srgbClr val="233944"/>
                </a:solidFill>
                <a:latin typeface="Arimo"/>
                <a:ea typeface="Arimo"/>
                <a:cs typeface="Arimo"/>
                <a:sym typeface="Arimo"/>
              </a:rPr>
              <a:t>Enrutamiento de paquetes</a:t>
            </a:r>
            <a:endParaRPr/>
          </a:p>
          <a:p>
            <a:pPr indent="-398145" lvl="1" marL="796290" marR="0" rtl="0" algn="l">
              <a:lnSpc>
                <a:spcPct val="180000"/>
              </a:lnSpc>
              <a:spcBef>
                <a:spcPts val="0"/>
              </a:spcBef>
              <a:spcAft>
                <a:spcPts val="0"/>
              </a:spcAft>
              <a:buClr>
                <a:srgbClr val="233944"/>
              </a:buClr>
              <a:buSzPts val="3200"/>
              <a:buFont typeface="Arial"/>
              <a:buChar char="•"/>
            </a:pPr>
            <a:r>
              <a:rPr b="0" i="0" lang="en-US" sz="3200" u="none" cap="none" strike="noStrike">
                <a:solidFill>
                  <a:srgbClr val="233944"/>
                </a:solidFill>
                <a:latin typeface="Arimo"/>
                <a:ea typeface="Arimo"/>
                <a:cs typeface="Arimo"/>
                <a:sym typeface="Arimo"/>
              </a:rPr>
              <a:t>Fragmentación y reensamblaje</a:t>
            </a:r>
            <a:endParaRPr/>
          </a:p>
          <a:p>
            <a:pPr indent="-398145" lvl="1" marL="796290" marR="0" rtl="0" algn="l">
              <a:lnSpc>
                <a:spcPct val="180000"/>
              </a:lnSpc>
              <a:spcBef>
                <a:spcPts val="0"/>
              </a:spcBef>
              <a:spcAft>
                <a:spcPts val="0"/>
              </a:spcAft>
              <a:buClr>
                <a:srgbClr val="233944"/>
              </a:buClr>
              <a:buSzPts val="3200"/>
              <a:buFont typeface="Arial"/>
              <a:buChar char="•"/>
            </a:pPr>
            <a:r>
              <a:rPr b="0" i="0" lang="en-US" sz="3200" u="none" cap="none" strike="noStrike">
                <a:solidFill>
                  <a:srgbClr val="233944"/>
                </a:solidFill>
                <a:latin typeface="Arimo"/>
                <a:ea typeface="Arimo"/>
                <a:cs typeface="Arimo"/>
                <a:sym typeface="Arimo"/>
              </a:rPr>
              <a:t>Evitar la congestión en la red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cxnSp>
        <p:nvCxnSpPr>
          <p:cNvPr id="245" name="Google Shape;245;p8"/>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246" name="Google Shape;246;p8"/>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247" name="Google Shape;247;p8"/>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248" name="Google Shape;248;p8"/>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249" name="Google Shape;249;p8"/>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250" name="Google Shape;250;p8"/>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251" name="Google Shape;251;p8"/>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252" name="Google Shape;252;p8"/>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253" name="Google Shape;253;p8"/>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254" name="Google Shape;254;p8"/>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255" name="Google Shape;255;p8"/>
          <p:cNvCxnSpPr/>
          <p:nvPr/>
        </p:nvCxnSpPr>
        <p:spPr>
          <a:xfrm rot="4791364">
            <a:off x="9738485"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256" name="Google Shape;256;p8"/>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257" name="Google Shape;257;p8"/>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258" name="Google Shape;258;p8"/>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259" name="Google Shape;259;p8"/>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260" name="Google Shape;260;p8"/>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261" name="Google Shape;261;p8"/>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262" name="Google Shape;262;p8"/>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263" name="Google Shape;263;p8"/>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264" name="Google Shape;264;p8"/>
          <p:cNvSpPr/>
          <p:nvPr/>
        </p:nvSpPr>
        <p:spPr>
          <a:xfrm rot="10800000">
            <a:off x="22" y="-23"/>
            <a:ext cx="1263872" cy="8499254"/>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cxnSp>
        <p:nvCxnSpPr>
          <p:cNvPr id="265" name="Google Shape;265;p8"/>
          <p:cNvCxnSpPr/>
          <p:nvPr/>
        </p:nvCxnSpPr>
        <p:spPr>
          <a:xfrm rot="4791364">
            <a:off x="4154497" y="5143498"/>
            <a:ext cx="10464869" cy="0"/>
          </a:xfrm>
          <a:prstGeom prst="straightConnector1">
            <a:avLst/>
          </a:prstGeom>
          <a:noFill/>
          <a:ln cap="rnd" cmpd="sng" w="9525">
            <a:solidFill>
              <a:srgbClr val="90C226"/>
            </a:solidFill>
            <a:prstDash val="solid"/>
            <a:round/>
            <a:headEnd len="sm" w="sm" type="none"/>
            <a:tailEnd len="sm" w="sm" type="none"/>
          </a:ln>
        </p:spPr>
      </p:cxnSp>
      <p:cxnSp>
        <p:nvCxnSpPr>
          <p:cNvPr id="266" name="Google Shape;266;p8"/>
          <p:cNvCxnSpPr/>
          <p:nvPr/>
        </p:nvCxnSpPr>
        <p:spPr>
          <a:xfrm rot="8776574">
            <a:off x="5669425" y="7904558"/>
            <a:ext cx="8608175" cy="0"/>
          </a:xfrm>
          <a:prstGeom prst="straightConnector1">
            <a:avLst/>
          </a:prstGeom>
          <a:noFill/>
          <a:ln cap="rnd" cmpd="sng" w="9525">
            <a:solidFill>
              <a:srgbClr val="000000"/>
            </a:solidFill>
            <a:prstDash val="solid"/>
            <a:round/>
            <a:headEnd len="sm" w="sm" type="none"/>
            <a:tailEnd len="sm" w="sm" type="none"/>
          </a:ln>
        </p:spPr>
      </p:cxnSp>
      <p:sp>
        <p:nvSpPr>
          <p:cNvPr id="267" name="Google Shape;267;p8"/>
          <p:cNvSpPr/>
          <p:nvPr/>
        </p:nvSpPr>
        <p:spPr>
          <a:xfrm>
            <a:off x="8188228" y="-12702"/>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268" name="Google Shape;268;p8"/>
          <p:cNvSpPr/>
          <p:nvPr/>
        </p:nvSpPr>
        <p:spPr>
          <a:xfrm>
            <a:off x="8821177" y="-12702"/>
            <a:ext cx="3882867"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269" name="Google Shape;269;p8"/>
          <p:cNvSpPr/>
          <p:nvPr/>
        </p:nvSpPr>
        <p:spPr>
          <a:xfrm>
            <a:off x="7814513" y="4571998"/>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270" name="Google Shape;270;p8"/>
          <p:cNvSpPr/>
          <p:nvPr/>
        </p:nvSpPr>
        <p:spPr>
          <a:xfrm>
            <a:off x="8417764" y="-12702"/>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271" name="Google Shape;271;p8"/>
          <p:cNvSpPr/>
          <p:nvPr/>
        </p:nvSpPr>
        <p:spPr>
          <a:xfrm>
            <a:off x="9973513" y="5384799"/>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272" name="Google Shape;272;p8"/>
          <p:cNvSpPr txBox="1"/>
          <p:nvPr/>
        </p:nvSpPr>
        <p:spPr>
          <a:xfrm>
            <a:off x="1235944" y="4308473"/>
            <a:ext cx="3600412" cy="1647825"/>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0" i="0" lang="en-US" sz="10800" u="none" cap="none" strike="noStrike">
                <a:solidFill>
                  <a:srgbClr val="90C226"/>
                </a:solidFill>
                <a:latin typeface="Trebuchet MS"/>
                <a:ea typeface="Trebuchet MS"/>
                <a:cs typeface="Trebuchet MS"/>
                <a:sym typeface="Trebuchet MS"/>
              </a:rPr>
              <a:t>RIP</a:t>
            </a:r>
            <a:endParaRPr/>
          </a:p>
        </p:txBody>
      </p:sp>
      <p:sp>
        <p:nvSpPr>
          <p:cNvPr id="273" name="Google Shape;273;p8"/>
          <p:cNvSpPr/>
          <p:nvPr/>
        </p:nvSpPr>
        <p:spPr>
          <a:xfrm>
            <a:off x="10704744" y="-12702"/>
            <a:ext cx="7612380" cy="10299668"/>
          </a:xfrm>
          <a:custGeom>
            <a:rect b="b" l="l" r="r" t="t"/>
            <a:pathLst>
              <a:path extrusionOk="0" h="13732890" w="10149840">
                <a:moveTo>
                  <a:pt x="0" y="0"/>
                </a:moveTo>
                <a:lnTo>
                  <a:pt x="2499614" y="0"/>
                </a:lnTo>
                <a:lnTo>
                  <a:pt x="2499614" y="16891"/>
                </a:lnTo>
                <a:lnTo>
                  <a:pt x="10149840" y="16891"/>
                </a:lnTo>
                <a:lnTo>
                  <a:pt x="10149840" y="13732890"/>
                </a:lnTo>
                <a:lnTo>
                  <a:pt x="2499614" y="13732890"/>
                </a:lnTo>
                <a:lnTo>
                  <a:pt x="2218817" y="13732890"/>
                </a:lnTo>
                <a:close/>
              </a:path>
            </a:pathLst>
          </a:custGeom>
          <a:solidFill>
            <a:srgbClr val="90C226"/>
          </a:solid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cxnSp>
        <p:nvCxnSpPr>
          <p:cNvPr id="278" name="Google Shape;278;p9"/>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279" name="Google Shape;279;p9"/>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280" name="Google Shape;280;p9"/>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281" name="Google Shape;281;p9"/>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282" name="Google Shape;282;p9"/>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283" name="Google Shape;283;p9"/>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284" name="Google Shape;284;p9"/>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285" name="Google Shape;285;p9"/>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286" name="Google Shape;286;p9"/>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287" name="Google Shape;287;p9"/>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288" name="Google Shape;288;p9"/>
          <p:cNvSpPr txBox="1"/>
          <p:nvPr/>
        </p:nvSpPr>
        <p:spPr>
          <a:xfrm>
            <a:off x="2091692" y="1017270"/>
            <a:ext cx="13971268" cy="1551889"/>
          </a:xfrm>
          <a:prstGeom prst="rect">
            <a:avLst/>
          </a:prstGeom>
          <a:noFill/>
          <a:ln>
            <a:noFill/>
          </a:ln>
        </p:spPr>
        <p:txBody>
          <a:bodyPr anchorCtr="0" anchor="t" bIns="0" lIns="0" spcFirstLastPara="1" rIns="0" wrap="square" tIns="0">
            <a:spAutoFit/>
          </a:bodyPr>
          <a:lstStyle/>
          <a:p>
            <a:pPr indent="0" lvl="0" marL="0" marR="0" rtl="0" algn="ctr">
              <a:lnSpc>
                <a:spcPct val="107992"/>
              </a:lnSpc>
              <a:spcBef>
                <a:spcPts val="0"/>
              </a:spcBef>
              <a:spcAft>
                <a:spcPts val="0"/>
              </a:spcAft>
              <a:buNone/>
            </a:pPr>
            <a:r>
              <a:rPr b="0" i="0" lang="en-US" sz="5580" u="none" cap="none" strike="noStrike">
                <a:solidFill>
                  <a:srgbClr val="90C226"/>
                </a:solidFill>
                <a:latin typeface="Trebuchet MS"/>
                <a:ea typeface="Trebuchet MS"/>
                <a:cs typeface="Trebuchet MS"/>
                <a:sym typeface="Trebuchet MS"/>
              </a:rPr>
              <a:t>RIP </a:t>
            </a:r>
            <a:endParaRPr/>
          </a:p>
          <a:p>
            <a:pPr indent="0" lvl="0" marL="0" marR="0" rtl="0" algn="ctr">
              <a:lnSpc>
                <a:spcPct val="107992"/>
              </a:lnSpc>
              <a:spcBef>
                <a:spcPts val="0"/>
              </a:spcBef>
              <a:spcAft>
                <a:spcPts val="0"/>
              </a:spcAft>
              <a:buNone/>
            </a:pPr>
            <a:r>
              <a:rPr b="0" i="0" lang="en-US" sz="5580" u="none" cap="none" strike="noStrike">
                <a:solidFill>
                  <a:srgbClr val="90C226"/>
                </a:solidFill>
                <a:latin typeface="Trebuchet MS"/>
                <a:ea typeface="Trebuchet MS"/>
                <a:cs typeface="Trebuchet MS"/>
                <a:sym typeface="Trebuchet MS"/>
              </a:rPr>
              <a:t>(Protocolo de Información de Encaminamiento)</a:t>
            </a:r>
            <a:endParaRPr/>
          </a:p>
        </p:txBody>
      </p:sp>
      <p:sp>
        <p:nvSpPr>
          <p:cNvPr id="289" name="Google Shape;289;p9"/>
          <p:cNvSpPr/>
          <p:nvPr/>
        </p:nvSpPr>
        <p:spPr>
          <a:xfrm rot="10800000">
            <a:off x="22" y="-22"/>
            <a:ext cx="1263872" cy="8499252"/>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sp>
        <p:nvSpPr>
          <p:cNvPr id="290" name="Google Shape;290;p9"/>
          <p:cNvSpPr txBox="1"/>
          <p:nvPr/>
        </p:nvSpPr>
        <p:spPr>
          <a:xfrm>
            <a:off x="2091692" y="3267552"/>
            <a:ext cx="12712122" cy="2733675"/>
          </a:xfrm>
          <a:prstGeom prst="rect">
            <a:avLst/>
          </a:prstGeom>
          <a:noFill/>
          <a:ln>
            <a:noFill/>
          </a:ln>
        </p:spPr>
        <p:txBody>
          <a:bodyPr anchorCtr="0" anchor="t" bIns="0" lIns="0" spcFirstLastPara="1" rIns="0" wrap="square" tIns="0">
            <a:spAutoFit/>
          </a:bodyPr>
          <a:lstStyle/>
          <a:p>
            <a:pPr indent="-447040" lvl="1" marL="894080" marR="0" rtl="0" algn="just">
              <a:lnSpc>
                <a:spcPct val="120000"/>
              </a:lnSpc>
              <a:spcBef>
                <a:spcPts val="0"/>
              </a:spcBef>
              <a:spcAft>
                <a:spcPts val="0"/>
              </a:spcAft>
              <a:buClr>
                <a:srgbClr val="404040"/>
              </a:buClr>
              <a:buSzPts val="3600"/>
              <a:buFont typeface="Arial"/>
              <a:buChar char="•"/>
            </a:pPr>
            <a:r>
              <a:rPr b="0" i="0" lang="en-US" sz="3600" u="none" cap="none" strike="noStrike">
                <a:solidFill>
                  <a:srgbClr val="404040"/>
                </a:solidFill>
                <a:latin typeface="Trebuchet MS"/>
                <a:ea typeface="Trebuchet MS"/>
                <a:cs typeface="Trebuchet MS"/>
                <a:sym typeface="Trebuchet MS"/>
              </a:rPr>
              <a:t>Es un protocolo de </a:t>
            </a:r>
            <a:r>
              <a:rPr b="1" i="0" lang="en-US" sz="3600" u="none" cap="none" strike="noStrike">
                <a:solidFill>
                  <a:srgbClr val="404040"/>
                </a:solidFill>
                <a:latin typeface="Arial"/>
                <a:ea typeface="Arial"/>
                <a:cs typeface="Arial"/>
                <a:sym typeface="Arial"/>
              </a:rPr>
              <a:t>vector distancia</a:t>
            </a:r>
            <a:r>
              <a:rPr b="0" i="0" lang="en-US" sz="3600" u="none" cap="none" strike="noStrike">
                <a:solidFill>
                  <a:srgbClr val="404040"/>
                </a:solidFill>
                <a:latin typeface="Trebuchet MS"/>
                <a:ea typeface="Trebuchet MS"/>
                <a:cs typeface="Trebuchet MS"/>
                <a:sym typeface="Trebuchet MS"/>
              </a:rPr>
              <a:t> que utiliza el conteo de saltos como su métrica principal. RIP  define cómo los routers deben compartir información cuando mueven el tráfico entre un grupo  interconectado de redes de área local (LAN).</a:t>
            </a:r>
            <a:endParaRPr/>
          </a:p>
        </p:txBody>
      </p:sp>
      <p:sp>
        <p:nvSpPr>
          <p:cNvPr id="291" name="Google Shape;291;p9"/>
          <p:cNvSpPr/>
          <p:nvPr/>
        </p:nvSpPr>
        <p:spPr>
          <a:xfrm>
            <a:off x="17614900" y="6019800"/>
            <a:ext cx="673131" cy="4267200"/>
          </a:xfrm>
          <a:custGeom>
            <a:rect b="b" l="l" r="r" t="t"/>
            <a:pathLst>
              <a:path extrusionOk="0" h="5689600" w="897509">
                <a:moveTo>
                  <a:pt x="897509" y="5689600"/>
                </a:moveTo>
                <a:lnTo>
                  <a:pt x="897509" y="0"/>
                </a:lnTo>
                <a:lnTo>
                  <a:pt x="0" y="5689600"/>
                </a:lnTo>
                <a:close/>
              </a:path>
            </a:pathLst>
          </a:custGeom>
          <a:solidFill>
            <a:srgbClr val="90C226">
              <a:alpha val="84705"/>
            </a:srgbClr>
          </a:solid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cxnSp>
        <p:nvCxnSpPr>
          <p:cNvPr id="296" name="Google Shape;296;p10"/>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297" name="Google Shape;297;p10"/>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298" name="Google Shape;298;p10"/>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299" name="Google Shape;299;p10"/>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300" name="Google Shape;300;p10"/>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301" name="Google Shape;301;p10"/>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302" name="Google Shape;302;p10"/>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303" name="Google Shape;303;p10"/>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304" name="Google Shape;304;p10"/>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305" name="Google Shape;305;p10"/>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306" name="Google Shape;306;p10"/>
          <p:cNvSpPr txBox="1"/>
          <p:nvPr/>
        </p:nvSpPr>
        <p:spPr>
          <a:xfrm>
            <a:off x="1070160" y="3862386"/>
            <a:ext cx="5138492" cy="25527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0" i="0" lang="en-US" sz="5599" u="none" cap="none" strike="noStrike">
                <a:solidFill>
                  <a:srgbClr val="90C226"/>
                </a:solidFill>
                <a:latin typeface="Trebuchet MS"/>
                <a:ea typeface="Trebuchet MS"/>
                <a:cs typeface="Trebuchet MS"/>
                <a:sym typeface="Trebuchet MS"/>
              </a:rPr>
              <a:t>Principales características de RIP</a:t>
            </a:r>
            <a:endParaRPr/>
          </a:p>
        </p:txBody>
      </p:sp>
      <p:cxnSp>
        <p:nvCxnSpPr>
          <p:cNvPr id="307" name="Google Shape;307;p10"/>
          <p:cNvCxnSpPr/>
          <p:nvPr/>
        </p:nvCxnSpPr>
        <p:spPr>
          <a:xfrm rot="4791364">
            <a:off x="594483" y="5143500"/>
            <a:ext cx="10464869" cy="0"/>
          </a:xfrm>
          <a:prstGeom prst="straightConnector1">
            <a:avLst/>
          </a:prstGeom>
          <a:noFill/>
          <a:ln cap="rnd" cmpd="sng" w="9525">
            <a:solidFill>
              <a:srgbClr val="BFBFBF">
                <a:alpha val="74901"/>
              </a:srgbClr>
            </a:solidFill>
            <a:prstDash val="solid"/>
            <a:round/>
            <a:headEnd len="sm" w="sm" type="none"/>
            <a:tailEnd len="sm" w="sm" type="none"/>
          </a:ln>
        </p:spPr>
      </p:cxnSp>
      <p:cxnSp>
        <p:nvCxnSpPr>
          <p:cNvPr id="308" name="Google Shape;308;p10"/>
          <p:cNvCxnSpPr/>
          <p:nvPr/>
        </p:nvCxnSpPr>
        <p:spPr>
          <a:xfrm rot="8776574">
            <a:off x="1262481" y="7904560"/>
            <a:ext cx="8608175" cy="0"/>
          </a:xfrm>
          <a:prstGeom prst="straightConnector1">
            <a:avLst/>
          </a:prstGeom>
          <a:noFill/>
          <a:ln cap="rnd" cmpd="sng" w="9525">
            <a:solidFill>
              <a:srgbClr val="BFBFBF">
                <a:alpha val="80000"/>
              </a:srgbClr>
            </a:solidFill>
            <a:prstDash val="solid"/>
            <a:round/>
            <a:headEnd len="sm" w="sm" type="none"/>
            <a:tailEnd len="sm" w="sm" type="none"/>
          </a:ln>
        </p:spPr>
      </p:cxnSp>
      <p:sp>
        <p:nvSpPr>
          <p:cNvPr id="309" name="Google Shape;309;p10"/>
          <p:cNvSpPr/>
          <p:nvPr/>
        </p:nvSpPr>
        <p:spPr>
          <a:xfrm>
            <a:off x="4628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310" name="Google Shape;310;p10"/>
          <p:cNvSpPr/>
          <p:nvPr/>
        </p:nvSpPr>
        <p:spPr>
          <a:xfrm>
            <a:off x="5261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311" name="Google Shape;311;p10"/>
          <p:cNvSpPr/>
          <p:nvPr/>
        </p:nvSpPr>
        <p:spPr>
          <a:xfrm>
            <a:off x="4254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312" name="Google Shape;312;p10"/>
          <p:cNvSpPr/>
          <p:nvPr/>
        </p:nvSpPr>
        <p:spPr>
          <a:xfrm>
            <a:off x="4857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313" name="Google Shape;313;p10"/>
          <p:cNvSpPr/>
          <p:nvPr/>
        </p:nvSpPr>
        <p:spPr>
          <a:xfrm>
            <a:off x="7204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314" name="Google Shape;314;p10"/>
          <p:cNvSpPr/>
          <p:nvPr/>
        </p:nvSpPr>
        <p:spPr>
          <a:xfrm>
            <a:off x="7264498"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315" name="Google Shape;315;p10"/>
          <p:cNvSpPr/>
          <p:nvPr/>
        </p:nvSpPr>
        <p:spPr>
          <a:xfrm>
            <a:off x="6413499"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316" name="Google Shape;316;p10"/>
          <p:cNvSpPr/>
          <p:nvPr/>
        </p:nvSpPr>
        <p:spPr>
          <a:xfrm>
            <a:off x="8966578" y="0"/>
            <a:ext cx="9321450" cy="10287000"/>
          </a:xfrm>
          <a:custGeom>
            <a:rect b="b" l="l" r="r" t="t"/>
            <a:pathLst>
              <a:path extrusionOk="0" h="13716000" w="12428601">
                <a:moveTo>
                  <a:pt x="0" y="0"/>
                </a:moveTo>
                <a:lnTo>
                  <a:pt x="12428601" y="0"/>
                </a:lnTo>
                <a:lnTo>
                  <a:pt x="12428601" y="13716000"/>
                </a:lnTo>
                <a:lnTo>
                  <a:pt x="0" y="13716000"/>
                </a:lnTo>
                <a:close/>
              </a:path>
            </a:pathLst>
          </a:custGeom>
          <a:solidFill>
            <a:srgbClr val="90C226"/>
          </a:solidFill>
          <a:ln>
            <a:noFill/>
          </a:ln>
        </p:spPr>
      </p:sp>
      <p:sp>
        <p:nvSpPr>
          <p:cNvPr id="317" name="Google Shape;317;p10"/>
          <p:cNvSpPr/>
          <p:nvPr/>
        </p:nvSpPr>
        <p:spPr>
          <a:xfrm>
            <a:off x="8835328" y="1417754"/>
            <a:ext cx="8482743" cy="2133600"/>
          </a:xfrm>
          <a:custGeom>
            <a:rect b="b" l="l" r="r" t="t"/>
            <a:pathLst>
              <a:path extrusionOk="0" h="2844800" w="11310324">
                <a:moveTo>
                  <a:pt x="0" y="284480"/>
                </a:moveTo>
                <a:cubicBezTo>
                  <a:pt x="0" y="127381"/>
                  <a:pt x="108671" y="0"/>
                  <a:pt x="242694" y="0"/>
                </a:cubicBezTo>
                <a:lnTo>
                  <a:pt x="11067622" y="0"/>
                </a:lnTo>
                <a:cubicBezTo>
                  <a:pt x="11201646" y="0"/>
                  <a:pt x="11310324" y="127381"/>
                  <a:pt x="11310324" y="284480"/>
                </a:cubicBezTo>
                <a:lnTo>
                  <a:pt x="11310324" y="2560320"/>
                </a:lnTo>
                <a:cubicBezTo>
                  <a:pt x="11310324" y="2717419"/>
                  <a:pt x="11201646" y="2844800"/>
                  <a:pt x="11067622" y="2844800"/>
                </a:cubicBezTo>
                <a:lnTo>
                  <a:pt x="242694" y="2844800"/>
                </a:lnTo>
                <a:cubicBezTo>
                  <a:pt x="108671" y="2844800"/>
                  <a:pt x="0" y="2717419"/>
                  <a:pt x="0" y="2560320"/>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0"/>
          <p:cNvSpPr txBox="1"/>
          <p:nvPr/>
        </p:nvSpPr>
        <p:spPr>
          <a:xfrm>
            <a:off x="9939320" y="1565581"/>
            <a:ext cx="7278510" cy="1885555"/>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0" i="0" lang="en-US" sz="4999" u="none" cap="none" strike="noStrike">
                <a:solidFill>
                  <a:srgbClr val="000000"/>
                </a:solidFill>
                <a:latin typeface="Trebuchet MS"/>
                <a:ea typeface="Trebuchet MS"/>
                <a:cs typeface="Trebuchet MS"/>
                <a:sym typeface="Trebuchet MS"/>
              </a:rPr>
              <a:t>Protocolo de vector distancia</a:t>
            </a:r>
            <a:endParaRPr/>
          </a:p>
        </p:txBody>
      </p:sp>
      <p:sp>
        <p:nvSpPr>
          <p:cNvPr id="319" name="Google Shape;319;p10"/>
          <p:cNvSpPr/>
          <p:nvPr/>
        </p:nvSpPr>
        <p:spPr>
          <a:xfrm>
            <a:off x="8835328" y="4084736"/>
            <a:ext cx="8482743" cy="2133600"/>
          </a:xfrm>
          <a:custGeom>
            <a:rect b="b" l="l" r="r" t="t"/>
            <a:pathLst>
              <a:path extrusionOk="0" h="2844800" w="11310324">
                <a:moveTo>
                  <a:pt x="0" y="284480"/>
                </a:moveTo>
                <a:cubicBezTo>
                  <a:pt x="0" y="127381"/>
                  <a:pt x="108671" y="0"/>
                  <a:pt x="242694" y="0"/>
                </a:cubicBezTo>
                <a:lnTo>
                  <a:pt x="11067622" y="0"/>
                </a:lnTo>
                <a:cubicBezTo>
                  <a:pt x="11201646" y="0"/>
                  <a:pt x="11310324" y="127381"/>
                  <a:pt x="11310324" y="284480"/>
                </a:cubicBezTo>
                <a:lnTo>
                  <a:pt x="11310324" y="2560320"/>
                </a:lnTo>
                <a:cubicBezTo>
                  <a:pt x="11310324" y="2717419"/>
                  <a:pt x="11201646" y="2844800"/>
                  <a:pt x="11067622" y="2844800"/>
                </a:cubicBezTo>
                <a:lnTo>
                  <a:pt x="242694" y="2844800"/>
                </a:lnTo>
                <a:cubicBezTo>
                  <a:pt x="108671" y="2844800"/>
                  <a:pt x="0" y="2717419"/>
                  <a:pt x="0" y="2560320"/>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0"/>
          <p:cNvSpPr txBox="1"/>
          <p:nvPr/>
        </p:nvSpPr>
        <p:spPr>
          <a:xfrm>
            <a:off x="9939320" y="4232563"/>
            <a:ext cx="7278510" cy="1885555"/>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0" i="0" lang="en-US" sz="4999" u="none" cap="none" strike="noStrike">
                <a:solidFill>
                  <a:srgbClr val="000000"/>
                </a:solidFill>
                <a:latin typeface="Trebuchet MS"/>
                <a:ea typeface="Trebuchet MS"/>
                <a:cs typeface="Trebuchet MS"/>
                <a:sym typeface="Trebuchet MS"/>
              </a:rPr>
              <a:t>Actualizaciones periódicas</a:t>
            </a:r>
            <a:endParaRPr/>
          </a:p>
        </p:txBody>
      </p:sp>
      <p:sp>
        <p:nvSpPr>
          <p:cNvPr id="321" name="Google Shape;321;p10"/>
          <p:cNvSpPr/>
          <p:nvPr/>
        </p:nvSpPr>
        <p:spPr>
          <a:xfrm>
            <a:off x="8835328" y="6751718"/>
            <a:ext cx="8482743" cy="2133600"/>
          </a:xfrm>
          <a:custGeom>
            <a:rect b="b" l="l" r="r" t="t"/>
            <a:pathLst>
              <a:path extrusionOk="0" h="2844800" w="11310324">
                <a:moveTo>
                  <a:pt x="0" y="284480"/>
                </a:moveTo>
                <a:cubicBezTo>
                  <a:pt x="0" y="127381"/>
                  <a:pt x="108671" y="0"/>
                  <a:pt x="242694" y="0"/>
                </a:cubicBezTo>
                <a:lnTo>
                  <a:pt x="11067622" y="0"/>
                </a:lnTo>
                <a:cubicBezTo>
                  <a:pt x="11201646" y="0"/>
                  <a:pt x="11310324" y="127381"/>
                  <a:pt x="11310324" y="284480"/>
                </a:cubicBezTo>
                <a:lnTo>
                  <a:pt x="11310324" y="2560320"/>
                </a:lnTo>
                <a:cubicBezTo>
                  <a:pt x="11310324" y="2717419"/>
                  <a:pt x="11201646" y="2844800"/>
                  <a:pt x="11067622" y="2844800"/>
                </a:cubicBezTo>
                <a:lnTo>
                  <a:pt x="242694" y="2844800"/>
                </a:lnTo>
                <a:cubicBezTo>
                  <a:pt x="108671" y="2844800"/>
                  <a:pt x="0" y="2717419"/>
                  <a:pt x="0" y="2560320"/>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txBox="1"/>
          <p:nvPr/>
        </p:nvSpPr>
        <p:spPr>
          <a:xfrm>
            <a:off x="9939320" y="6899545"/>
            <a:ext cx="7278510" cy="1885555"/>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0" i="0" lang="en-US" sz="4999" u="none" cap="none" strike="noStrike">
                <a:solidFill>
                  <a:srgbClr val="000000"/>
                </a:solidFill>
                <a:latin typeface="Trebuchet MS"/>
                <a:ea typeface="Trebuchet MS"/>
                <a:cs typeface="Trebuchet MS"/>
                <a:sym typeface="Trebuchet MS"/>
              </a:rPr>
              <a:t>Limitación del tamaño de la red (15 saltos)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cxnSp>
        <p:nvCxnSpPr>
          <p:cNvPr id="327" name="Google Shape;327;p11"/>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328" name="Google Shape;328;p11"/>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329" name="Google Shape;329;p11"/>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330" name="Google Shape;330;p11"/>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331" name="Google Shape;331;p11"/>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332" name="Google Shape;332;p11"/>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333" name="Google Shape;333;p11"/>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334" name="Google Shape;334;p11"/>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335" name="Google Shape;335;p11"/>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336" name="Google Shape;336;p11"/>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337" name="Google Shape;337;p11"/>
          <p:cNvCxnSpPr/>
          <p:nvPr/>
        </p:nvCxnSpPr>
        <p:spPr>
          <a:xfrm rot="4791364">
            <a:off x="9738485"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338" name="Google Shape;338;p11"/>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339" name="Google Shape;339;p11"/>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340" name="Google Shape;340;p11"/>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341" name="Google Shape;341;p11"/>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342" name="Google Shape;342;p11"/>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343" name="Google Shape;343;p11"/>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344" name="Google Shape;344;p11"/>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345" name="Google Shape;345;p11"/>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346" name="Google Shape;346;p11"/>
          <p:cNvSpPr/>
          <p:nvPr/>
        </p:nvSpPr>
        <p:spPr>
          <a:xfrm rot="10800000">
            <a:off x="22" y="-23"/>
            <a:ext cx="1263872" cy="8499254"/>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cxnSp>
        <p:nvCxnSpPr>
          <p:cNvPr id="347" name="Google Shape;347;p11"/>
          <p:cNvCxnSpPr/>
          <p:nvPr/>
        </p:nvCxnSpPr>
        <p:spPr>
          <a:xfrm rot="4791364">
            <a:off x="4154497" y="5143498"/>
            <a:ext cx="10464869" cy="0"/>
          </a:xfrm>
          <a:prstGeom prst="straightConnector1">
            <a:avLst/>
          </a:prstGeom>
          <a:noFill/>
          <a:ln cap="rnd" cmpd="sng" w="9525">
            <a:solidFill>
              <a:srgbClr val="90C226"/>
            </a:solidFill>
            <a:prstDash val="solid"/>
            <a:round/>
            <a:headEnd len="sm" w="sm" type="none"/>
            <a:tailEnd len="sm" w="sm" type="none"/>
          </a:ln>
        </p:spPr>
      </p:cxnSp>
      <p:cxnSp>
        <p:nvCxnSpPr>
          <p:cNvPr id="348" name="Google Shape;348;p11"/>
          <p:cNvCxnSpPr/>
          <p:nvPr/>
        </p:nvCxnSpPr>
        <p:spPr>
          <a:xfrm rot="8776574">
            <a:off x="5669425" y="7904558"/>
            <a:ext cx="8608175" cy="0"/>
          </a:xfrm>
          <a:prstGeom prst="straightConnector1">
            <a:avLst/>
          </a:prstGeom>
          <a:noFill/>
          <a:ln cap="rnd" cmpd="sng" w="9525">
            <a:solidFill>
              <a:srgbClr val="000000"/>
            </a:solidFill>
            <a:prstDash val="solid"/>
            <a:round/>
            <a:headEnd len="sm" w="sm" type="none"/>
            <a:tailEnd len="sm" w="sm" type="none"/>
          </a:ln>
        </p:spPr>
      </p:cxnSp>
      <p:sp>
        <p:nvSpPr>
          <p:cNvPr id="349" name="Google Shape;349;p11"/>
          <p:cNvSpPr/>
          <p:nvPr/>
        </p:nvSpPr>
        <p:spPr>
          <a:xfrm>
            <a:off x="8188228" y="-12702"/>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350" name="Google Shape;350;p11"/>
          <p:cNvSpPr/>
          <p:nvPr/>
        </p:nvSpPr>
        <p:spPr>
          <a:xfrm>
            <a:off x="8821177" y="-12702"/>
            <a:ext cx="3882867"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351" name="Google Shape;351;p11"/>
          <p:cNvSpPr/>
          <p:nvPr/>
        </p:nvSpPr>
        <p:spPr>
          <a:xfrm>
            <a:off x="7814513" y="4571998"/>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352" name="Google Shape;352;p11"/>
          <p:cNvSpPr/>
          <p:nvPr/>
        </p:nvSpPr>
        <p:spPr>
          <a:xfrm>
            <a:off x="8417764" y="-12702"/>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353" name="Google Shape;353;p11"/>
          <p:cNvSpPr/>
          <p:nvPr/>
        </p:nvSpPr>
        <p:spPr>
          <a:xfrm>
            <a:off x="9973513" y="5384799"/>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354" name="Google Shape;354;p11"/>
          <p:cNvSpPr txBox="1"/>
          <p:nvPr/>
        </p:nvSpPr>
        <p:spPr>
          <a:xfrm>
            <a:off x="1951314" y="4308473"/>
            <a:ext cx="3699958" cy="1647825"/>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0" i="0" lang="en-US" sz="10800" u="none" cap="none" strike="noStrike">
                <a:solidFill>
                  <a:srgbClr val="90C226"/>
                </a:solidFill>
                <a:latin typeface="Trebuchet MS"/>
                <a:ea typeface="Trebuchet MS"/>
                <a:cs typeface="Trebuchet MS"/>
                <a:sym typeface="Trebuchet MS"/>
              </a:rPr>
              <a:t>OSPF</a:t>
            </a:r>
            <a:endParaRPr/>
          </a:p>
        </p:txBody>
      </p:sp>
      <p:sp>
        <p:nvSpPr>
          <p:cNvPr id="355" name="Google Shape;355;p11"/>
          <p:cNvSpPr/>
          <p:nvPr/>
        </p:nvSpPr>
        <p:spPr>
          <a:xfrm>
            <a:off x="10704744" y="-12702"/>
            <a:ext cx="7612380" cy="10299668"/>
          </a:xfrm>
          <a:custGeom>
            <a:rect b="b" l="l" r="r" t="t"/>
            <a:pathLst>
              <a:path extrusionOk="0" h="13732890" w="10149840">
                <a:moveTo>
                  <a:pt x="0" y="0"/>
                </a:moveTo>
                <a:lnTo>
                  <a:pt x="2499614" y="0"/>
                </a:lnTo>
                <a:lnTo>
                  <a:pt x="2499614" y="16891"/>
                </a:lnTo>
                <a:lnTo>
                  <a:pt x="10149840" y="16891"/>
                </a:lnTo>
                <a:lnTo>
                  <a:pt x="10149840" y="13732890"/>
                </a:lnTo>
                <a:lnTo>
                  <a:pt x="2499614" y="13732890"/>
                </a:lnTo>
                <a:lnTo>
                  <a:pt x="2218817" y="13732890"/>
                </a:lnTo>
                <a:close/>
              </a:path>
            </a:pathLst>
          </a:custGeom>
          <a:solidFill>
            <a:srgbClr val="90C226"/>
          </a:solid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cxnSp>
        <p:nvCxnSpPr>
          <p:cNvPr id="360" name="Google Shape;360;p12"/>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361" name="Google Shape;361;p12"/>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362" name="Google Shape;362;p12"/>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363" name="Google Shape;363;p12"/>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364" name="Google Shape;364;p12"/>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365" name="Google Shape;365;p12"/>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366" name="Google Shape;366;p12"/>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367" name="Google Shape;367;p12"/>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368" name="Google Shape;368;p12"/>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369" name="Google Shape;369;p12"/>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370" name="Google Shape;370;p12"/>
          <p:cNvSpPr txBox="1"/>
          <p:nvPr/>
        </p:nvSpPr>
        <p:spPr>
          <a:xfrm>
            <a:off x="4365780" y="1026795"/>
            <a:ext cx="12459178" cy="875538"/>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0" i="0" lang="en-US" sz="6199" u="none" cap="none" strike="noStrike">
                <a:solidFill>
                  <a:srgbClr val="90C226"/>
                </a:solidFill>
                <a:latin typeface="Trebuchet MS"/>
                <a:ea typeface="Trebuchet MS"/>
                <a:cs typeface="Trebuchet MS"/>
                <a:sym typeface="Trebuchet MS"/>
              </a:rPr>
              <a:t>OSPF (El Camino Más Corto Primero)</a:t>
            </a:r>
            <a:endParaRPr/>
          </a:p>
        </p:txBody>
      </p:sp>
      <p:sp>
        <p:nvSpPr>
          <p:cNvPr id="371" name="Google Shape;371;p12"/>
          <p:cNvSpPr/>
          <p:nvPr/>
        </p:nvSpPr>
        <p:spPr>
          <a:xfrm>
            <a:off x="40" y="20"/>
            <a:ext cx="4101044" cy="10301572"/>
          </a:xfrm>
          <a:custGeom>
            <a:rect b="b" l="l" r="r" t="t"/>
            <a:pathLst>
              <a:path extrusionOk="0" h="10301572" w="4101044">
                <a:moveTo>
                  <a:pt x="0" y="0"/>
                </a:moveTo>
                <a:lnTo>
                  <a:pt x="4101044" y="0"/>
                </a:lnTo>
                <a:lnTo>
                  <a:pt x="4101044" y="10301572"/>
                </a:lnTo>
                <a:lnTo>
                  <a:pt x="0" y="10301572"/>
                </a:lnTo>
                <a:lnTo>
                  <a:pt x="0" y="0"/>
                </a:lnTo>
                <a:close/>
              </a:path>
            </a:pathLst>
          </a:custGeom>
          <a:blipFill rotWithShape="1">
            <a:blip r:embed="rId3">
              <a:alphaModFix/>
            </a:blip>
            <a:stretch>
              <a:fillRect b="0" l="-249856" r="-53906" t="0"/>
            </a:stretch>
          </a:blipFill>
          <a:ln>
            <a:noFill/>
          </a:ln>
        </p:spPr>
      </p:sp>
      <p:sp>
        <p:nvSpPr>
          <p:cNvPr id="372" name="Google Shape;372;p12"/>
          <p:cNvSpPr/>
          <p:nvPr/>
        </p:nvSpPr>
        <p:spPr>
          <a:xfrm>
            <a:off x="0" y="6019800"/>
            <a:ext cx="714947" cy="4267200"/>
          </a:xfrm>
          <a:custGeom>
            <a:rect b="b" l="l" r="r" t="t"/>
            <a:pathLst>
              <a:path extrusionOk="0" h="5689600" w="953262">
                <a:moveTo>
                  <a:pt x="0" y="5689600"/>
                </a:moveTo>
                <a:lnTo>
                  <a:pt x="0" y="0"/>
                </a:lnTo>
                <a:lnTo>
                  <a:pt x="953262" y="5689600"/>
                </a:lnTo>
                <a:close/>
              </a:path>
            </a:pathLst>
          </a:custGeom>
          <a:solidFill>
            <a:srgbClr val="90C226"/>
          </a:solidFill>
          <a:ln>
            <a:noFill/>
          </a:ln>
        </p:spPr>
      </p:sp>
      <p:sp>
        <p:nvSpPr>
          <p:cNvPr id="373" name="Google Shape;373;p12"/>
          <p:cNvSpPr txBox="1"/>
          <p:nvPr/>
        </p:nvSpPr>
        <p:spPr>
          <a:xfrm>
            <a:off x="4612112" y="3184148"/>
            <a:ext cx="11298448" cy="3819525"/>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3600" u="none" cap="none" strike="noStrike">
                <a:solidFill>
                  <a:srgbClr val="000000"/>
                </a:solidFill>
                <a:latin typeface="Trebuchet MS"/>
                <a:ea typeface="Trebuchet MS"/>
                <a:cs typeface="Trebuchet MS"/>
                <a:sym typeface="Trebuchet MS"/>
              </a:rPr>
              <a:t>Es un protocolo de enrutamiento de </a:t>
            </a:r>
            <a:r>
              <a:rPr b="1" i="0" lang="en-US" sz="3600" u="none" cap="none" strike="noStrike">
                <a:solidFill>
                  <a:srgbClr val="000000"/>
                </a:solidFill>
                <a:latin typeface="Arial"/>
                <a:ea typeface="Arial"/>
                <a:cs typeface="Arial"/>
                <a:sym typeface="Arial"/>
              </a:rPr>
              <a:t>estado de enlace </a:t>
            </a:r>
            <a:r>
              <a:rPr b="0" i="0" lang="en-US" sz="3600" u="none" cap="none" strike="noStrike">
                <a:solidFill>
                  <a:srgbClr val="000000"/>
                </a:solidFill>
                <a:latin typeface="Trebuchet MS"/>
                <a:ea typeface="Trebuchet MS"/>
                <a:cs typeface="Trebuchet MS"/>
                <a:sym typeface="Trebuchet MS"/>
              </a:rPr>
              <a:t>ampliamente utilizado en redes IP. OSPF es un protocolo de enrutamiento interno, lo que significa que se utiliza dentro de un solo sistema autónomo (AS) para determinar las mejores rutas entre los routers. Fue diseñado para ser un protocolo de enrutamiento eficiente y escalable para redes grandes y complejas.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cxnSp>
        <p:nvCxnSpPr>
          <p:cNvPr id="378" name="Google Shape;378;p13"/>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379" name="Google Shape;379;p13"/>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380" name="Google Shape;380;p13"/>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381" name="Google Shape;381;p13"/>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382" name="Google Shape;382;p13"/>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383" name="Google Shape;383;p13"/>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384" name="Google Shape;384;p13"/>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385" name="Google Shape;385;p13"/>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386" name="Google Shape;386;p13"/>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387" name="Google Shape;387;p13"/>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388" name="Google Shape;388;p13"/>
          <p:cNvCxnSpPr/>
          <p:nvPr/>
        </p:nvCxnSpPr>
        <p:spPr>
          <a:xfrm rot="4790100">
            <a:off x="3346169" y="5143500"/>
            <a:ext cx="10470397" cy="0"/>
          </a:xfrm>
          <a:prstGeom prst="straightConnector1">
            <a:avLst/>
          </a:prstGeom>
          <a:noFill/>
          <a:ln cap="rnd" cmpd="sng" w="9525">
            <a:solidFill>
              <a:srgbClr val="90C226"/>
            </a:solidFill>
            <a:prstDash val="solid"/>
            <a:round/>
            <a:headEnd len="sm" w="sm" type="none"/>
            <a:tailEnd len="sm" w="sm" type="none"/>
          </a:ln>
        </p:spPr>
      </p:cxnSp>
      <p:cxnSp>
        <p:nvCxnSpPr>
          <p:cNvPr id="389" name="Google Shape;389;p13"/>
          <p:cNvCxnSpPr/>
          <p:nvPr/>
        </p:nvCxnSpPr>
        <p:spPr>
          <a:xfrm rot="8776047">
            <a:off x="4201746" y="7904559"/>
            <a:ext cx="8614780" cy="0"/>
          </a:xfrm>
          <a:prstGeom prst="straightConnector1">
            <a:avLst/>
          </a:prstGeom>
          <a:noFill/>
          <a:ln cap="rnd" cmpd="sng" w="9525">
            <a:solidFill>
              <a:srgbClr val="000000"/>
            </a:solidFill>
            <a:prstDash val="solid"/>
            <a:round/>
            <a:headEnd len="sm" w="sm" type="none"/>
            <a:tailEnd len="sm" w="sm" type="none"/>
          </a:ln>
        </p:spPr>
      </p:cxnSp>
      <p:sp>
        <p:nvSpPr>
          <p:cNvPr id="390" name="Google Shape;390;p13"/>
          <p:cNvSpPr/>
          <p:nvPr/>
        </p:nvSpPr>
        <p:spPr>
          <a:xfrm>
            <a:off x="6723852"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391" name="Google Shape;391;p13"/>
          <p:cNvSpPr/>
          <p:nvPr/>
        </p:nvSpPr>
        <p:spPr>
          <a:xfrm>
            <a:off x="7356800" y="-12700"/>
            <a:ext cx="3882867"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392" name="Google Shape;392;p13"/>
          <p:cNvSpPr/>
          <p:nvPr/>
        </p:nvSpPr>
        <p:spPr>
          <a:xfrm>
            <a:off x="6350136"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393" name="Google Shape;393;p13"/>
          <p:cNvSpPr/>
          <p:nvPr/>
        </p:nvSpPr>
        <p:spPr>
          <a:xfrm>
            <a:off x="6953388"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394" name="Google Shape;394;p13"/>
          <p:cNvSpPr/>
          <p:nvPr/>
        </p:nvSpPr>
        <p:spPr>
          <a:xfrm>
            <a:off x="8509136" y="5384800"/>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395" name="Google Shape;395;p13"/>
          <p:cNvSpPr/>
          <p:nvPr/>
        </p:nvSpPr>
        <p:spPr>
          <a:xfrm>
            <a:off x="9296446" y="-12700"/>
            <a:ext cx="8991600" cy="10299668"/>
          </a:xfrm>
          <a:custGeom>
            <a:rect b="b" l="l" r="r" t="t"/>
            <a:pathLst>
              <a:path extrusionOk="0" h="13732890" w="11988800">
                <a:moveTo>
                  <a:pt x="0" y="0"/>
                </a:moveTo>
                <a:lnTo>
                  <a:pt x="2499614" y="0"/>
                </a:lnTo>
                <a:lnTo>
                  <a:pt x="2499614" y="16891"/>
                </a:lnTo>
                <a:lnTo>
                  <a:pt x="11988800" y="16891"/>
                </a:lnTo>
                <a:lnTo>
                  <a:pt x="11988800" y="13732890"/>
                </a:lnTo>
                <a:lnTo>
                  <a:pt x="2499614" y="13732890"/>
                </a:lnTo>
                <a:lnTo>
                  <a:pt x="2218817" y="13732890"/>
                </a:lnTo>
                <a:close/>
              </a:path>
            </a:pathLst>
          </a:custGeom>
          <a:solidFill>
            <a:srgbClr val="3F7819"/>
          </a:solidFill>
          <a:ln>
            <a:noFill/>
          </a:ln>
        </p:spPr>
      </p:sp>
      <p:sp>
        <p:nvSpPr>
          <p:cNvPr id="396" name="Google Shape;396;p13"/>
          <p:cNvSpPr txBox="1"/>
          <p:nvPr/>
        </p:nvSpPr>
        <p:spPr>
          <a:xfrm>
            <a:off x="10864024" y="1470772"/>
            <a:ext cx="6586604" cy="2209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7200" u="none" cap="none" strike="noStrike">
                <a:solidFill>
                  <a:srgbClr val="FFFFFF"/>
                </a:solidFill>
                <a:latin typeface="Trebuchet MS"/>
                <a:ea typeface="Trebuchet MS"/>
                <a:cs typeface="Trebuchet MS"/>
                <a:sym typeface="Trebuchet MS"/>
              </a:rPr>
              <a:t>Características de OSPF</a:t>
            </a:r>
            <a:endParaRPr/>
          </a:p>
        </p:txBody>
      </p:sp>
      <p:sp>
        <p:nvSpPr>
          <p:cNvPr descr="Jerarquía" id="397" name="Google Shape;397;p13"/>
          <p:cNvSpPr/>
          <p:nvPr/>
        </p:nvSpPr>
        <p:spPr>
          <a:xfrm>
            <a:off x="1135876" y="2317594"/>
            <a:ext cx="5785160" cy="5785160"/>
          </a:xfrm>
          <a:custGeom>
            <a:rect b="b" l="l" r="r" t="t"/>
            <a:pathLst>
              <a:path extrusionOk="0" h="5785160" w="5785160">
                <a:moveTo>
                  <a:pt x="0" y="0"/>
                </a:moveTo>
                <a:lnTo>
                  <a:pt x="5785160" y="0"/>
                </a:lnTo>
                <a:lnTo>
                  <a:pt x="5785160" y="5785160"/>
                </a:lnTo>
                <a:lnTo>
                  <a:pt x="0" y="5785160"/>
                </a:lnTo>
                <a:lnTo>
                  <a:pt x="0" y="0"/>
                </a:lnTo>
                <a:close/>
              </a:path>
            </a:pathLst>
          </a:custGeom>
          <a:blipFill rotWithShape="1">
            <a:blip r:embed="rId3">
              <a:alphaModFix/>
            </a:blip>
            <a:stretch>
              <a:fillRect b="0" l="0" r="0" t="0"/>
            </a:stretch>
          </a:blipFill>
          <a:ln>
            <a:noFill/>
          </a:ln>
        </p:spPr>
      </p:sp>
      <p:sp>
        <p:nvSpPr>
          <p:cNvPr id="398" name="Google Shape;398;p13"/>
          <p:cNvSpPr txBox="1"/>
          <p:nvPr/>
        </p:nvSpPr>
        <p:spPr>
          <a:xfrm>
            <a:off x="10864026" y="4282662"/>
            <a:ext cx="6586602" cy="3276600"/>
          </a:xfrm>
          <a:prstGeom prst="rect">
            <a:avLst/>
          </a:prstGeom>
          <a:noFill/>
          <a:ln>
            <a:noFill/>
          </a:ln>
        </p:spPr>
        <p:txBody>
          <a:bodyPr anchorCtr="0" anchor="t" bIns="0" lIns="0" spcFirstLastPara="1" rIns="0" wrap="square" tIns="0">
            <a:spAutoFit/>
          </a:bodyPr>
          <a:lstStyle/>
          <a:p>
            <a:pPr indent="-447040" lvl="1" marL="894080" marR="0" rtl="0" algn="l">
              <a:lnSpc>
                <a:spcPct val="120000"/>
              </a:lnSpc>
              <a:spcBef>
                <a:spcPts val="0"/>
              </a:spcBef>
              <a:spcAft>
                <a:spcPts val="0"/>
              </a:spcAft>
              <a:buClr>
                <a:srgbClr val="FFFFFF"/>
              </a:buClr>
              <a:buSzPts val="3600"/>
              <a:buFont typeface="Arial"/>
              <a:buChar char="•"/>
            </a:pPr>
            <a:r>
              <a:rPr b="0" i="0" lang="en-US" sz="3600" u="none" cap="none" strike="noStrike">
                <a:solidFill>
                  <a:srgbClr val="FFFFFF"/>
                </a:solidFill>
                <a:latin typeface="Trebuchet MS"/>
                <a:ea typeface="Trebuchet MS"/>
                <a:cs typeface="Trebuchet MS"/>
                <a:sym typeface="Trebuchet MS"/>
              </a:rPr>
              <a:t>Basado en enlace-estado (link-state)</a:t>
            </a:r>
            <a:endParaRPr/>
          </a:p>
          <a:p>
            <a:pPr indent="-447040" lvl="1" marL="894080" marR="0" rtl="0" algn="l">
              <a:lnSpc>
                <a:spcPct val="120000"/>
              </a:lnSpc>
              <a:spcBef>
                <a:spcPts val="0"/>
              </a:spcBef>
              <a:spcAft>
                <a:spcPts val="0"/>
              </a:spcAft>
              <a:buClr>
                <a:srgbClr val="FFFFFF"/>
              </a:buClr>
              <a:buSzPts val="3600"/>
              <a:buFont typeface="Arial"/>
              <a:buChar char="•"/>
            </a:pPr>
            <a:r>
              <a:rPr b="0" i="0" lang="en-US" sz="3600" u="none" cap="none" strike="noStrike">
                <a:solidFill>
                  <a:srgbClr val="FFFFFF"/>
                </a:solidFill>
                <a:latin typeface="Trebuchet MS"/>
                <a:ea typeface="Trebuchet MS"/>
                <a:cs typeface="Trebuchet MS"/>
                <a:sym typeface="Trebuchet MS"/>
              </a:rPr>
              <a:t>Jerarquía de áreas</a:t>
            </a:r>
            <a:endParaRPr/>
          </a:p>
          <a:p>
            <a:pPr indent="-447040" lvl="1" marL="894080" marR="0" rtl="0" algn="l">
              <a:lnSpc>
                <a:spcPct val="120000"/>
              </a:lnSpc>
              <a:spcBef>
                <a:spcPts val="0"/>
              </a:spcBef>
              <a:spcAft>
                <a:spcPts val="0"/>
              </a:spcAft>
              <a:buClr>
                <a:srgbClr val="FFFFFF"/>
              </a:buClr>
              <a:buSzPts val="3600"/>
              <a:buFont typeface="Arial"/>
              <a:buChar char="•"/>
            </a:pPr>
            <a:r>
              <a:rPr b="0" i="0" lang="en-US" sz="3600" u="none" cap="none" strike="noStrike">
                <a:solidFill>
                  <a:srgbClr val="FFFFFF"/>
                </a:solidFill>
                <a:latin typeface="Trebuchet MS"/>
                <a:ea typeface="Trebuchet MS"/>
                <a:cs typeface="Trebuchet MS"/>
                <a:sym typeface="Trebuchet MS"/>
              </a:rPr>
              <a:t>Métrica de Costo</a:t>
            </a:r>
            <a:endParaRPr/>
          </a:p>
          <a:p>
            <a:pPr indent="-447040" lvl="1" marL="894080" marR="0" rtl="0" algn="l">
              <a:lnSpc>
                <a:spcPct val="120000"/>
              </a:lnSpc>
              <a:spcBef>
                <a:spcPts val="0"/>
              </a:spcBef>
              <a:spcAft>
                <a:spcPts val="0"/>
              </a:spcAft>
              <a:buClr>
                <a:srgbClr val="FFFFFF"/>
              </a:buClr>
              <a:buSzPts val="3600"/>
              <a:buFont typeface="Arial"/>
              <a:buChar char="•"/>
            </a:pPr>
            <a:r>
              <a:rPr b="0" i="0" lang="en-US" sz="3600" u="none" cap="none" strike="noStrike">
                <a:solidFill>
                  <a:srgbClr val="FFFFFF"/>
                </a:solidFill>
                <a:latin typeface="Trebuchet MS"/>
                <a:ea typeface="Trebuchet MS"/>
                <a:cs typeface="Trebuchet MS"/>
                <a:sym typeface="Trebuchet MS"/>
              </a:rPr>
              <a:t>Convergencia Rápida</a:t>
            </a:r>
            <a:endParaRPr/>
          </a:p>
          <a:p>
            <a:pPr indent="-447040" lvl="1" marL="894080" marR="0" rtl="0" algn="l">
              <a:lnSpc>
                <a:spcPct val="120000"/>
              </a:lnSpc>
              <a:spcBef>
                <a:spcPts val="0"/>
              </a:spcBef>
              <a:spcAft>
                <a:spcPts val="0"/>
              </a:spcAft>
              <a:buClr>
                <a:srgbClr val="FFFFFF"/>
              </a:buClr>
              <a:buSzPts val="3600"/>
              <a:buFont typeface="Arial"/>
              <a:buChar char="•"/>
            </a:pPr>
            <a:r>
              <a:rPr b="0" i="0" lang="en-US" sz="3600" u="none" cap="none" strike="noStrike">
                <a:solidFill>
                  <a:srgbClr val="FFFFFF"/>
                </a:solidFill>
                <a:latin typeface="Trebuchet MS"/>
                <a:ea typeface="Trebuchet MS"/>
                <a:cs typeface="Trebuchet MS"/>
                <a:sym typeface="Trebuchet MS"/>
              </a:rPr>
              <a:t>Escalabilidad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cxnSp>
        <p:nvCxnSpPr>
          <p:cNvPr id="403" name="Google Shape;403;p14"/>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404" name="Google Shape;404;p14"/>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405" name="Google Shape;405;p14"/>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406" name="Google Shape;406;p14"/>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407" name="Google Shape;407;p14"/>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408" name="Google Shape;408;p14"/>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409" name="Google Shape;409;p14"/>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410" name="Google Shape;410;p14"/>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411" name="Google Shape;411;p14"/>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412" name="Google Shape;412;p14"/>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413" name="Google Shape;413;p14"/>
          <p:cNvCxnSpPr/>
          <p:nvPr/>
        </p:nvCxnSpPr>
        <p:spPr>
          <a:xfrm rot="4791364">
            <a:off x="9738485"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414" name="Google Shape;414;p14"/>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415" name="Google Shape;415;p14"/>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416" name="Google Shape;416;p14"/>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417" name="Google Shape;417;p14"/>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418" name="Google Shape;418;p14"/>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419" name="Google Shape;419;p14"/>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420" name="Google Shape;420;p14"/>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421" name="Google Shape;421;p14"/>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422" name="Google Shape;422;p14"/>
          <p:cNvSpPr/>
          <p:nvPr/>
        </p:nvSpPr>
        <p:spPr>
          <a:xfrm rot="10800000">
            <a:off x="22" y="-23"/>
            <a:ext cx="1263872" cy="8499254"/>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cxnSp>
        <p:nvCxnSpPr>
          <p:cNvPr id="423" name="Google Shape;423;p14"/>
          <p:cNvCxnSpPr/>
          <p:nvPr/>
        </p:nvCxnSpPr>
        <p:spPr>
          <a:xfrm rot="4791364">
            <a:off x="4154497" y="5143498"/>
            <a:ext cx="10464869" cy="0"/>
          </a:xfrm>
          <a:prstGeom prst="straightConnector1">
            <a:avLst/>
          </a:prstGeom>
          <a:noFill/>
          <a:ln cap="rnd" cmpd="sng" w="9525">
            <a:solidFill>
              <a:srgbClr val="90C226"/>
            </a:solidFill>
            <a:prstDash val="solid"/>
            <a:round/>
            <a:headEnd len="sm" w="sm" type="none"/>
            <a:tailEnd len="sm" w="sm" type="none"/>
          </a:ln>
        </p:spPr>
      </p:cxnSp>
      <p:cxnSp>
        <p:nvCxnSpPr>
          <p:cNvPr id="424" name="Google Shape;424;p14"/>
          <p:cNvCxnSpPr/>
          <p:nvPr/>
        </p:nvCxnSpPr>
        <p:spPr>
          <a:xfrm rot="8776574">
            <a:off x="5669425" y="7904558"/>
            <a:ext cx="8608175" cy="0"/>
          </a:xfrm>
          <a:prstGeom prst="straightConnector1">
            <a:avLst/>
          </a:prstGeom>
          <a:noFill/>
          <a:ln cap="rnd" cmpd="sng" w="9525">
            <a:solidFill>
              <a:srgbClr val="000000"/>
            </a:solidFill>
            <a:prstDash val="solid"/>
            <a:round/>
            <a:headEnd len="sm" w="sm" type="none"/>
            <a:tailEnd len="sm" w="sm" type="none"/>
          </a:ln>
        </p:spPr>
      </p:cxnSp>
      <p:sp>
        <p:nvSpPr>
          <p:cNvPr id="425" name="Google Shape;425;p14"/>
          <p:cNvSpPr/>
          <p:nvPr/>
        </p:nvSpPr>
        <p:spPr>
          <a:xfrm>
            <a:off x="8188228" y="-12702"/>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426" name="Google Shape;426;p14"/>
          <p:cNvSpPr/>
          <p:nvPr/>
        </p:nvSpPr>
        <p:spPr>
          <a:xfrm>
            <a:off x="8821177" y="-12702"/>
            <a:ext cx="3882867"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427" name="Google Shape;427;p14"/>
          <p:cNvSpPr/>
          <p:nvPr/>
        </p:nvSpPr>
        <p:spPr>
          <a:xfrm>
            <a:off x="7814513" y="4571998"/>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428" name="Google Shape;428;p14"/>
          <p:cNvSpPr/>
          <p:nvPr/>
        </p:nvSpPr>
        <p:spPr>
          <a:xfrm>
            <a:off x="8417764" y="-12702"/>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429" name="Google Shape;429;p14"/>
          <p:cNvSpPr/>
          <p:nvPr/>
        </p:nvSpPr>
        <p:spPr>
          <a:xfrm>
            <a:off x="9973513" y="5384799"/>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430" name="Google Shape;430;p14"/>
          <p:cNvSpPr txBox="1"/>
          <p:nvPr/>
        </p:nvSpPr>
        <p:spPr>
          <a:xfrm>
            <a:off x="844336" y="4308473"/>
            <a:ext cx="4210012" cy="1647825"/>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0" i="0" lang="en-US" sz="10800" u="none" cap="none" strike="noStrike">
                <a:solidFill>
                  <a:srgbClr val="90C226"/>
                </a:solidFill>
                <a:latin typeface="Trebuchet MS"/>
                <a:ea typeface="Trebuchet MS"/>
                <a:cs typeface="Trebuchet MS"/>
                <a:sym typeface="Trebuchet MS"/>
              </a:rPr>
              <a:t>BGP</a:t>
            </a:r>
            <a:endParaRPr/>
          </a:p>
        </p:txBody>
      </p:sp>
      <p:sp>
        <p:nvSpPr>
          <p:cNvPr id="431" name="Google Shape;431;p14"/>
          <p:cNvSpPr/>
          <p:nvPr/>
        </p:nvSpPr>
        <p:spPr>
          <a:xfrm>
            <a:off x="10704744" y="-12702"/>
            <a:ext cx="7612380" cy="10299668"/>
          </a:xfrm>
          <a:custGeom>
            <a:rect b="b" l="l" r="r" t="t"/>
            <a:pathLst>
              <a:path extrusionOk="0" h="13732890" w="10149840">
                <a:moveTo>
                  <a:pt x="0" y="0"/>
                </a:moveTo>
                <a:lnTo>
                  <a:pt x="2499614" y="0"/>
                </a:lnTo>
                <a:lnTo>
                  <a:pt x="2499614" y="16891"/>
                </a:lnTo>
                <a:lnTo>
                  <a:pt x="10149840" y="16891"/>
                </a:lnTo>
                <a:lnTo>
                  <a:pt x="10149840" y="13732890"/>
                </a:lnTo>
                <a:lnTo>
                  <a:pt x="2499614" y="13732890"/>
                </a:lnTo>
                <a:lnTo>
                  <a:pt x="2218817" y="13732890"/>
                </a:lnTo>
                <a:close/>
              </a:path>
            </a:pathLst>
          </a:custGeom>
          <a:solidFill>
            <a:srgbClr val="90C226"/>
          </a:solid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cxnSp>
        <p:nvCxnSpPr>
          <p:cNvPr id="436" name="Google Shape;436;p15"/>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437" name="Google Shape;437;p15"/>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438" name="Google Shape;438;p15"/>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439" name="Google Shape;439;p15"/>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440" name="Google Shape;440;p15"/>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441" name="Google Shape;441;p15"/>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442" name="Google Shape;442;p15"/>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443" name="Google Shape;443;p15"/>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444" name="Google Shape;444;p15"/>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445" name="Google Shape;445;p15"/>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446" name="Google Shape;446;p15"/>
          <p:cNvSpPr txBox="1"/>
          <p:nvPr/>
        </p:nvSpPr>
        <p:spPr>
          <a:xfrm>
            <a:off x="1847620" y="1882855"/>
            <a:ext cx="12712122" cy="1723263"/>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0" i="0" lang="en-US" sz="6199" u="none" cap="none" strike="noStrike">
                <a:solidFill>
                  <a:srgbClr val="90C226"/>
                </a:solidFill>
                <a:latin typeface="Trebuchet MS"/>
                <a:ea typeface="Trebuchet MS"/>
                <a:cs typeface="Trebuchet MS"/>
                <a:sym typeface="Trebuchet MS"/>
              </a:rPr>
              <a:t>BGP (Protocolo de Puerta de Enlace de  Frontera)</a:t>
            </a:r>
            <a:endParaRPr/>
          </a:p>
        </p:txBody>
      </p:sp>
      <p:sp>
        <p:nvSpPr>
          <p:cNvPr id="447" name="Google Shape;447;p15"/>
          <p:cNvSpPr/>
          <p:nvPr/>
        </p:nvSpPr>
        <p:spPr>
          <a:xfrm>
            <a:off x="0" y="0"/>
            <a:ext cx="673132" cy="4267200"/>
          </a:xfrm>
          <a:custGeom>
            <a:rect b="b" l="l" r="r" t="t"/>
            <a:pathLst>
              <a:path extrusionOk="0" h="5689600" w="897509">
                <a:moveTo>
                  <a:pt x="0" y="0"/>
                </a:moveTo>
                <a:lnTo>
                  <a:pt x="0" y="5689600"/>
                </a:lnTo>
                <a:lnTo>
                  <a:pt x="897509" y="0"/>
                </a:lnTo>
                <a:close/>
              </a:path>
            </a:pathLst>
          </a:custGeom>
          <a:solidFill>
            <a:srgbClr val="90C226">
              <a:alpha val="84705"/>
            </a:srgbClr>
          </a:solidFill>
          <a:ln>
            <a:noFill/>
          </a:ln>
        </p:spPr>
      </p:sp>
      <p:sp>
        <p:nvSpPr>
          <p:cNvPr id="448" name="Google Shape;448;p15"/>
          <p:cNvSpPr/>
          <p:nvPr/>
        </p:nvSpPr>
        <p:spPr>
          <a:xfrm>
            <a:off x="11607800" y="5727700"/>
            <a:ext cx="6675406" cy="4559331"/>
          </a:xfrm>
          <a:custGeom>
            <a:rect b="b" l="l" r="r" t="t"/>
            <a:pathLst>
              <a:path extrusionOk="0" h="6079109" w="8900541">
                <a:moveTo>
                  <a:pt x="0" y="6079109"/>
                </a:moveTo>
                <a:lnTo>
                  <a:pt x="8900541" y="0"/>
                </a:lnTo>
                <a:lnTo>
                  <a:pt x="8900541" y="6079109"/>
                </a:lnTo>
                <a:close/>
              </a:path>
            </a:pathLst>
          </a:custGeom>
          <a:solidFill>
            <a:srgbClr val="90C226"/>
          </a:solidFill>
          <a:ln>
            <a:noFill/>
          </a:ln>
        </p:spPr>
      </p:sp>
      <p:cxnSp>
        <p:nvCxnSpPr>
          <p:cNvPr id="449" name="Google Shape;449;p15"/>
          <p:cNvCxnSpPr/>
          <p:nvPr/>
        </p:nvCxnSpPr>
        <p:spPr>
          <a:xfrm rot="4544398">
            <a:off x="11173900" y="5143500"/>
            <a:ext cx="10646801" cy="0"/>
          </a:xfrm>
          <a:prstGeom prst="straightConnector1">
            <a:avLst/>
          </a:prstGeom>
          <a:noFill/>
          <a:ln cap="rnd" cmpd="sng" w="9525">
            <a:solidFill>
              <a:srgbClr val="54A021"/>
            </a:solidFill>
            <a:prstDash val="solid"/>
            <a:round/>
            <a:headEnd len="sm" w="sm" type="none"/>
            <a:tailEnd len="sm" w="sm" type="none"/>
          </a:ln>
        </p:spPr>
      </p:cxnSp>
      <p:cxnSp>
        <p:nvCxnSpPr>
          <p:cNvPr id="450" name="Google Shape;450;p15"/>
          <p:cNvCxnSpPr/>
          <p:nvPr/>
        </p:nvCxnSpPr>
        <p:spPr>
          <a:xfrm rot="8774650">
            <a:off x="10394371" y="7904559"/>
            <a:ext cx="8632395" cy="0"/>
          </a:xfrm>
          <a:prstGeom prst="straightConnector1">
            <a:avLst/>
          </a:prstGeom>
          <a:noFill/>
          <a:ln cap="rnd" cmpd="sng" w="9525">
            <a:solidFill>
              <a:srgbClr val="90C226"/>
            </a:solidFill>
            <a:prstDash val="solid"/>
            <a:round/>
            <a:headEnd len="sm" w="sm" type="none"/>
            <a:tailEnd len="sm" w="sm" type="none"/>
          </a:ln>
        </p:spPr>
      </p:cxnSp>
      <p:sp>
        <p:nvSpPr>
          <p:cNvPr id="451" name="Google Shape;451;p15"/>
          <p:cNvSpPr txBox="1"/>
          <p:nvPr/>
        </p:nvSpPr>
        <p:spPr>
          <a:xfrm>
            <a:off x="1653662" y="4712970"/>
            <a:ext cx="12523468" cy="219075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3600" u="none" cap="none" strike="noStrike">
                <a:solidFill>
                  <a:srgbClr val="404040"/>
                </a:solidFill>
                <a:latin typeface="Trebuchet MS"/>
                <a:ea typeface="Trebuchet MS"/>
                <a:cs typeface="Trebuchet MS"/>
                <a:sym typeface="Trebuchet MS"/>
              </a:rPr>
              <a:t>Es un protocolo de enrutamiento avanzado y ampliamente utilizado en Internet y en redes empresariales de gran escala. BGP se utiliza para intercambiar información de enrutamiento entre diferentes sistemas autónomos.</a:t>
            </a:r>
            <a:endParaRPr/>
          </a:p>
        </p:txBody>
      </p:sp>
      <p:sp>
        <p:nvSpPr>
          <p:cNvPr id="452" name="Google Shape;452;p15"/>
          <p:cNvSpPr/>
          <p:nvPr/>
        </p:nvSpPr>
        <p:spPr>
          <a:xfrm>
            <a:off x="15638460" y="0"/>
            <a:ext cx="2649569" cy="10287000"/>
          </a:xfrm>
          <a:custGeom>
            <a:rect b="b" l="l" r="r" t="t"/>
            <a:pathLst>
              <a:path extrusionOk="0" h="13716000" w="3532759">
                <a:moveTo>
                  <a:pt x="0" y="0"/>
                </a:moveTo>
                <a:lnTo>
                  <a:pt x="3532759" y="0"/>
                </a:lnTo>
                <a:lnTo>
                  <a:pt x="3532759" y="13716000"/>
                </a:lnTo>
                <a:lnTo>
                  <a:pt x="3058033" y="13716000"/>
                </a:lnTo>
                <a:lnTo>
                  <a:pt x="0" y="0"/>
                </a:lnTo>
                <a:close/>
              </a:path>
            </a:pathLst>
          </a:custGeom>
          <a:solidFill>
            <a:srgbClr val="54A021"/>
          </a:solid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cxnSp>
        <p:nvCxnSpPr>
          <p:cNvPr id="457" name="Google Shape;457;p16"/>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458" name="Google Shape;458;p16"/>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459" name="Google Shape;459;p16"/>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460" name="Google Shape;460;p16"/>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461" name="Google Shape;461;p16"/>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462" name="Google Shape;462;p16"/>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463" name="Google Shape;463;p16"/>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464" name="Google Shape;464;p16"/>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465" name="Google Shape;465;p16"/>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466" name="Google Shape;466;p16"/>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467" name="Google Shape;467;p16"/>
          <p:cNvCxnSpPr/>
          <p:nvPr/>
        </p:nvCxnSpPr>
        <p:spPr>
          <a:xfrm rot="4791364">
            <a:off x="9738485"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468" name="Google Shape;468;p16"/>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469" name="Google Shape;469;p16"/>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470" name="Google Shape;470;p16"/>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471" name="Google Shape;471;p16"/>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472" name="Google Shape;472;p16"/>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473" name="Google Shape;473;p16"/>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474" name="Google Shape;474;p16"/>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475" name="Google Shape;475;p16"/>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476" name="Google Shape;476;p16"/>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477" name="Google Shape;477;p16"/>
          <p:cNvSpPr/>
          <p:nvPr/>
        </p:nvSpPr>
        <p:spPr>
          <a:xfrm>
            <a:off x="0" y="0"/>
            <a:ext cx="18283428" cy="10287000"/>
          </a:xfrm>
          <a:custGeom>
            <a:rect b="b" l="l" r="r" t="t"/>
            <a:pathLst>
              <a:path extrusionOk="0" h="13716000" w="24377904">
                <a:moveTo>
                  <a:pt x="0" y="0"/>
                </a:moveTo>
                <a:lnTo>
                  <a:pt x="24377904" y="0"/>
                </a:lnTo>
                <a:lnTo>
                  <a:pt x="24377904" y="13716000"/>
                </a:lnTo>
                <a:lnTo>
                  <a:pt x="0" y="13716000"/>
                </a:lnTo>
                <a:close/>
              </a:path>
            </a:pathLst>
          </a:custGeom>
          <a:solidFill>
            <a:srgbClr val="54A021"/>
          </a:solidFill>
          <a:ln>
            <a:noFill/>
          </a:ln>
        </p:spPr>
      </p:sp>
      <p:cxnSp>
        <p:nvCxnSpPr>
          <p:cNvPr id="478" name="Google Shape;478;p16"/>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479" name="Google Shape;479;p16"/>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480" name="Google Shape;480;p16"/>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481" name="Google Shape;481;p16"/>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482" name="Google Shape;482;p16"/>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483" name="Google Shape;483;p16"/>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484" name="Google Shape;484;p16"/>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485" name="Google Shape;485;p16"/>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486" name="Google Shape;486;p16"/>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487" name="Google Shape;487;p16"/>
          <p:cNvSpPr/>
          <p:nvPr/>
        </p:nvSpPr>
        <p:spPr>
          <a:xfrm>
            <a:off x="715518" y="720090"/>
            <a:ext cx="16856964" cy="8846820"/>
          </a:xfrm>
          <a:custGeom>
            <a:rect b="b" l="l" r="r" t="t"/>
            <a:pathLst>
              <a:path extrusionOk="0" h="11795760" w="22475952">
                <a:moveTo>
                  <a:pt x="0" y="0"/>
                </a:moveTo>
                <a:lnTo>
                  <a:pt x="22475952" y="0"/>
                </a:lnTo>
                <a:lnTo>
                  <a:pt x="22475952" y="11795760"/>
                </a:lnTo>
                <a:lnTo>
                  <a:pt x="0" y="11795760"/>
                </a:lnTo>
                <a:close/>
              </a:path>
            </a:pathLst>
          </a:custGeom>
          <a:solidFill>
            <a:srgbClr val="FFFFFF"/>
          </a:solidFill>
          <a:ln>
            <a:noFill/>
          </a:ln>
        </p:spPr>
      </p:sp>
      <p:sp>
        <p:nvSpPr>
          <p:cNvPr id="488" name="Google Shape;488;p16"/>
          <p:cNvSpPr/>
          <p:nvPr/>
        </p:nvSpPr>
        <p:spPr>
          <a:xfrm>
            <a:off x="3024890" y="1697990"/>
            <a:ext cx="12241032" cy="6885580"/>
          </a:xfrm>
          <a:custGeom>
            <a:rect b="b" l="l" r="r" t="t"/>
            <a:pathLst>
              <a:path extrusionOk="0" h="6885580" w="12241032">
                <a:moveTo>
                  <a:pt x="0" y="0"/>
                </a:moveTo>
                <a:lnTo>
                  <a:pt x="12241032" y="0"/>
                </a:lnTo>
                <a:lnTo>
                  <a:pt x="12241032" y="6885580"/>
                </a:lnTo>
                <a:lnTo>
                  <a:pt x="0" y="68855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cxnSp>
        <p:nvCxnSpPr>
          <p:cNvPr id="493" name="Google Shape;493;p17"/>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494" name="Google Shape;494;p17"/>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495" name="Google Shape;495;p17"/>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496" name="Google Shape;496;p17"/>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497" name="Google Shape;497;p17"/>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498" name="Google Shape;498;p17"/>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499" name="Google Shape;499;p17"/>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500" name="Google Shape;500;p17"/>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501" name="Google Shape;501;p17"/>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502" name="Google Shape;502;p17"/>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503" name="Google Shape;503;p17"/>
          <p:cNvSpPr txBox="1"/>
          <p:nvPr/>
        </p:nvSpPr>
        <p:spPr>
          <a:xfrm>
            <a:off x="1107442" y="950595"/>
            <a:ext cx="12712122" cy="8286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5400" u="none" cap="none" strike="noStrike">
                <a:solidFill>
                  <a:srgbClr val="90C226"/>
                </a:solidFill>
                <a:latin typeface="Trebuchet MS"/>
                <a:ea typeface="Trebuchet MS"/>
                <a:cs typeface="Trebuchet MS"/>
                <a:sym typeface="Trebuchet MS"/>
              </a:rPr>
              <a:t>Características de BGP</a:t>
            </a:r>
            <a:endParaRPr/>
          </a:p>
        </p:txBody>
      </p:sp>
      <p:sp>
        <p:nvSpPr>
          <p:cNvPr id="504" name="Google Shape;504;p17"/>
          <p:cNvSpPr txBox="1"/>
          <p:nvPr/>
        </p:nvSpPr>
        <p:spPr>
          <a:xfrm>
            <a:off x="1107442" y="3277079"/>
            <a:ext cx="12712122" cy="4924425"/>
          </a:xfrm>
          <a:prstGeom prst="rect">
            <a:avLst/>
          </a:prstGeom>
          <a:noFill/>
          <a:ln>
            <a:noFill/>
          </a:ln>
        </p:spPr>
        <p:txBody>
          <a:bodyPr anchorCtr="0" anchor="t" bIns="0" lIns="0" spcFirstLastPara="1" rIns="0" wrap="square" tIns="0">
            <a:spAutoFit/>
          </a:bodyPr>
          <a:lstStyle/>
          <a:p>
            <a:pPr indent="-325583" lvl="1" marL="651167" marR="0" rtl="0" algn="l">
              <a:lnSpc>
                <a:spcPct val="120000"/>
              </a:lnSpc>
              <a:spcBef>
                <a:spcPts val="0"/>
              </a:spcBef>
              <a:spcAft>
                <a:spcPts val="0"/>
              </a:spcAft>
              <a:buClr>
                <a:srgbClr val="404040"/>
              </a:buClr>
              <a:buSzPts val="2700"/>
              <a:buFont typeface="Arial"/>
              <a:buChar char="•"/>
            </a:pPr>
            <a:r>
              <a:rPr b="0" i="0" lang="en-US" sz="2700" u="none" cap="none" strike="noStrike">
                <a:solidFill>
                  <a:srgbClr val="404040"/>
                </a:solidFill>
                <a:latin typeface="Trebuchet MS"/>
                <a:ea typeface="Trebuchet MS"/>
                <a:cs typeface="Trebuchet MS"/>
                <a:sym typeface="Trebuchet MS"/>
              </a:rPr>
              <a:t>Es un protocolo de enrutamiento tipo vector distancia.</a:t>
            </a:r>
            <a:endParaRPr/>
          </a:p>
          <a:p>
            <a:pPr indent="0" lvl="0" marL="0" marR="0" rtl="0" algn="l">
              <a:lnSpc>
                <a:spcPct val="120000"/>
              </a:lnSpc>
              <a:spcBef>
                <a:spcPts val="0"/>
              </a:spcBef>
              <a:spcAft>
                <a:spcPts val="0"/>
              </a:spcAft>
              <a:buNone/>
            </a:pPr>
            <a:r>
              <a:t/>
            </a:r>
            <a:endParaRPr b="0" i="0" sz="2700" u="none" cap="none" strike="noStrike">
              <a:solidFill>
                <a:srgbClr val="404040"/>
              </a:solidFill>
              <a:latin typeface="Trebuchet MS"/>
              <a:ea typeface="Trebuchet MS"/>
              <a:cs typeface="Trebuchet MS"/>
              <a:sym typeface="Trebuchet MS"/>
            </a:endParaRPr>
          </a:p>
          <a:p>
            <a:pPr indent="-325583" lvl="1" marL="651167" marR="0" rtl="0" algn="l">
              <a:lnSpc>
                <a:spcPct val="120000"/>
              </a:lnSpc>
              <a:spcBef>
                <a:spcPts val="0"/>
              </a:spcBef>
              <a:spcAft>
                <a:spcPts val="0"/>
              </a:spcAft>
              <a:buClr>
                <a:srgbClr val="404040"/>
              </a:buClr>
              <a:buSzPts val="2700"/>
              <a:buFont typeface="Arial"/>
              <a:buChar char="•"/>
            </a:pPr>
            <a:r>
              <a:rPr b="0" i="0" lang="en-US" sz="2700" u="none" cap="none" strike="noStrike">
                <a:solidFill>
                  <a:srgbClr val="404040"/>
                </a:solidFill>
                <a:latin typeface="Trebuchet MS"/>
                <a:ea typeface="Trebuchet MS"/>
                <a:cs typeface="Trebuchet MS"/>
                <a:sym typeface="Trebuchet MS"/>
              </a:rPr>
              <a:t>Se le conoce como el protocolo de enrutamiento de internet.</a:t>
            </a:r>
            <a:endParaRPr/>
          </a:p>
          <a:p>
            <a:pPr indent="0" lvl="0" marL="0" marR="0" rtl="0" algn="l">
              <a:lnSpc>
                <a:spcPct val="120000"/>
              </a:lnSpc>
              <a:spcBef>
                <a:spcPts val="0"/>
              </a:spcBef>
              <a:spcAft>
                <a:spcPts val="0"/>
              </a:spcAft>
              <a:buNone/>
            </a:pPr>
            <a:r>
              <a:t/>
            </a:r>
            <a:endParaRPr b="0" i="0" sz="2700" u="none" cap="none" strike="noStrike">
              <a:solidFill>
                <a:srgbClr val="404040"/>
              </a:solidFill>
              <a:latin typeface="Trebuchet MS"/>
              <a:ea typeface="Trebuchet MS"/>
              <a:cs typeface="Trebuchet MS"/>
              <a:sym typeface="Trebuchet MS"/>
            </a:endParaRPr>
          </a:p>
          <a:p>
            <a:pPr indent="-325583" lvl="1" marL="651167" marR="0" rtl="0" algn="l">
              <a:lnSpc>
                <a:spcPct val="120000"/>
              </a:lnSpc>
              <a:spcBef>
                <a:spcPts val="0"/>
              </a:spcBef>
              <a:spcAft>
                <a:spcPts val="0"/>
              </a:spcAft>
              <a:buClr>
                <a:srgbClr val="404040"/>
              </a:buClr>
              <a:buSzPts val="2700"/>
              <a:buFont typeface="Arial"/>
              <a:buChar char="•"/>
            </a:pPr>
            <a:r>
              <a:rPr b="0" i="0" lang="en-US" sz="2700" u="none" cap="none" strike="noStrike">
                <a:solidFill>
                  <a:srgbClr val="404040"/>
                </a:solidFill>
                <a:latin typeface="Trebuchet MS"/>
                <a:ea typeface="Trebuchet MS"/>
                <a:cs typeface="Trebuchet MS"/>
                <a:sym typeface="Trebuchet MS"/>
              </a:rPr>
              <a:t>Generalmente se utiliza para el enrutamiento entre distintos sistemas autónomos (AS).</a:t>
            </a:r>
            <a:endParaRPr/>
          </a:p>
          <a:p>
            <a:pPr indent="0" lvl="0" marL="0" marR="0" rtl="0" algn="l">
              <a:lnSpc>
                <a:spcPct val="120000"/>
              </a:lnSpc>
              <a:spcBef>
                <a:spcPts val="0"/>
              </a:spcBef>
              <a:spcAft>
                <a:spcPts val="0"/>
              </a:spcAft>
              <a:buNone/>
            </a:pPr>
            <a:r>
              <a:t/>
            </a:r>
            <a:endParaRPr b="0" i="0" sz="2700" u="none" cap="none" strike="noStrike">
              <a:solidFill>
                <a:srgbClr val="404040"/>
              </a:solidFill>
              <a:latin typeface="Trebuchet MS"/>
              <a:ea typeface="Trebuchet MS"/>
              <a:cs typeface="Trebuchet MS"/>
              <a:sym typeface="Trebuchet MS"/>
            </a:endParaRPr>
          </a:p>
          <a:p>
            <a:pPr indent="-325583" lvl="1" marL="651167" marR="0" rtl="0" algn="l">
              <a:lnSpc>
                <a:spcPct val="120000"/>
              </a:lnSpc>
              <a:spcBef>
                <a:spcPts val="0"/>
              </a:spcBef>
              <a:spcAft>
                <a:spcPts val="0"/>
              </a:spcAft>
              <a:buClr>
                <a:srgbClr val="404040"/>
              </a:buClr>
              <a:buSzPts val="2700"/>
              <a:buFont typeface="Arial"/>
              <a:buChar char="•"/>
            </a:pPr>
            <a:r>
              <a:rPr b="0" i="0" lang="en-US" sz="2700" u="none" cap="none" strike="noStrike">
                <a:solidFill>
                  <a:srgbClr val="404040"/>
                </a:solidFill>
                <a:latin typeface="Trebuchet MS"/>
                <a:ea typeface="Trebuchet MS"/>
                <a:cs typeface="Trebuchet MS"/>
                <a:sym typeface="Trebuchet MS"/>
              </a:rPr>
              <a:t>Crea y mantiene las conexiones entre vecinos.</a:t>
            </a:r>
            <a:endParaRPr/>
          </a:p>
          <a:p>
            <a:pPr indent="0" lvl="0" marL="0" marR="0" rtl="0" algn="l">
              <a:lnSpc>
                <a:spcPct val="120000"/>
              </a:lnSpc>
              <a:spcBef>
                <a:spcPts val="0"/>
              </a:spcBef>
              <a:spcAft>
                <a:spcPts val="0"/>
              </a:spcAft>
              <a:buNone/>
            </a:pPr>
            <a:r>
              <a:t/>
            </a:r>
            <a:endParaRPr b="0" i="0" sz="2700" u="none" cap="none" strike="noStrike">
              <a:solidFill>
                <a:srgbClr val="404040"/>
              </a:solidFill>
              <a:latin typeface="Trebuchet MS"/>
              <a:ea typeface="Trebuchet MS"/>
              <a:cs typeface="Trebuchet MS"/>
              <a:sym typeface="Trebuchet MS"/>
            </a:endParaRPr>
          </a:p>
          <a:p>
            <a:pPr indent="-325754" lvl="1" marL="651510" marR="0" rtl="0" algn="l">
              <a:lnSpc>
                <a:spcPct val="120000"/>
              </a:lnSpc>
              <a:spcBef>
                <a:spcPts val="0"/>
              </a:spcBef>
              <a:spcAft>
                <a:spcPts val="0"/>
              </a:spcAft>
              <a:buClr>
                <a:srgbClr val="404040"/>
              </a:buClr>
              <a:buSzPts val="2700"/>
              <a:buFont typeface="Arial"/>
              <a:buChar char="•"/>
            </a:pPr>
            <a:r>
              <a:rPr b="0" i="0" lang="en-US" sz="2700" u="none" cap="none" strike="noStrike">
                <a:solidFill>
                  <a:srgbClr val="404040"/>
                </a:solidFill>
                <a:latin typeface="Trebuchet MS"/>
                <a:ea typeface="Trebuchet MS"/>
                <a:cs typeface="Trebuchet MS"/>
                <a:sym typeface="Trebuchet MS"/>
              </a:rPr>
              <a:t>Es altamente escalable y puede gestionar redes con miles de rutas de enrutamiento.</a:t>
            </a:r>
            <a:endParaRPr/>
          </a:p>
          <a:p>
            <a:pPr indent="-325755" lvl="1" marL="651510" marR="0" rtl="0" algn="l">
              <a:lnSpc>
                <a:spcPct val="120000"/>
              </a:lnSpc>
              <a:spcBef>
                <a:spcPts val="0"/>
              </a:spcBef>
              <a:spcAft>
                <a:spcPts val="0"/>
              </a:spcAft>
              <a:buNone/>
            </a:pPr>
            <a:r>
              <a:t/>
            </a:r>
            <a:endParaRPr b="0" i="0" sz="2700" u="none" cap="none" strike="noStrike">
              <a:solidFill>
                <a:srgbClr val="404040"/>
              </a:solidFill>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cxnSp>
        <p:nvCxnSpPr>
          <p:cNvPr id="509" name="Google Shape;509;p18"/>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510" name="Google Shape;510;p18"/>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511" name="Google Shape;511;p18"/>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512" name="Google Shape;512;p18"/>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513" name="Google Shape;513;p18"/>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514" name="Google Shape;514;p18"/>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515" name="Google Shape;515;p18"/>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516" name="Google Shape;516;p18"/>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517" name="Google Shape;517;p18"/>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518" name="Google Shape;518;p18"/>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519" name="Google Shape;519;p18"/>
          <p:cNvCxnSpPr/>
          <p:nvPr/>
        </p:nvCxnSpPr>
        <p:spPr>
          <a:xfrm rot="4791364">
            <a:off x="9738485"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520" name="Google Shape;520;p18"/>
          <p:cNvCxnSpPr/>
          <p:nvPr/>
        </p:nvCxnSpPr>
        <p:spPr>
          <a:xfrm rot="8776574">
            <a:off x="10406483" y="7904560"/>
            <a:ext cx="8608175" cy="0"/>
          </a:xfrm>
          <a:prstGeom prst="straightConnector1">
            <a:avLst/>
          </a:prstGeom>
          <a:noFill/>
          <a:ln cap="rnd" cmpd="sng" w="9525">
            <a:solidFill>
              <a:srgbClr val="FFFFFF"/>
            </a:solidFill>
            <a:prstDash val="solid"/>
            <a:round/>
            <a:headEnd len="sm" w="sm" type="none"/>
            <a:tailEnd len="sm" w="sm" type="none"/>
          </a:ln>
        </p:spPr>
      </p:cxnSp>
      <p:sp>
        <p:nvSpPr>
          <p:cNvPr id="521" name="Google Shape;521;p18"/>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522" name="Google Shape;522;p18"/>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523" name="Google Shape;523;p18"/>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524" name="Google Shape;524;p18"/>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525" name="Google Shape;525;p18"/>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526" name="Google Shape;526;p18"/>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527" name="Google Shape;527;p18"/>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528" name="Google Shape;528;p18"/>
          <p:cNvSpPr/>
          <p:nvPr/>
        </p:nvSpPr>
        <p:spPr>
          <a:xfrm rot="10800000">
            <a:off x="22" y="-23"/>
            <a:ext cx="1263872" cy="8499254"/>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cxnSp>
        <p:nvCxnSpPr>
          <p:cNvPr id="529" name="Google Shape;529;p18"/>
          <p:cNvCxnSpPr/>
          <p:nvPr/>
        </p:nvCxnSpPr>
        <p:spPr>
          <a:xfrm rot="4791364">
            <a:off x="4154497" y="5143498"/>
            <a:ext cx="10464869" cy="0"/>
          </a:xfrm>
          <a:prstGeom prst="straightConnector1">
            <a:avLst/>
          </a:prstGeom>
          <a:noFill/>
          <a:ln cap="rnd" cmpd="sng" w="9525">
            <a:solidFill>
              <a:srgbClr val="90C226"/>
            </a:solidFill>
            <a:prstDash val="solid"/>
            <a:round/>
            <a:headEnd len="sm" w="sm" type="none"/>
            <a:tailEnd len="sm" w="sm" type="none"/>
          </a:ln>
        </p:spPr>
      </p:cxnSp>
      <p:cxnSp>
        <p:nvCxnSpPr>
          <p:cNvPr id="530" name="Google Shape;530;p18"/>
          <p:cNvCxnSpPr/>
          <p:nvPr/>
        </p:nvCxnSpPr>
        <p:spPr>
          <a:xfrm rot="8776574">
            <a:off x="5669425" y="7904558"/>
            <a:ext cx="8608175" cy="0"/>
          </a:xfrm>
          <a:prstGeom prst="straightConnector1">
            <a:avLst/>
          </a:prstGeom>
          <a:noFill/>
          <a:ln cap="rnd" cmpd="sng" w="9525">
            <a:solidFill>
              <a:srgbClr val="000000"/>
            </a:solidFill>
            <a:prstDash val="solid"/>
            <a:round/>
            <a:headEnd len="sm" w="sm" type="none"/>
            <a:tailEnd len="sm" w="sm" type="none"/>
          </a:ln>
        </p:spPr>
      </p:cxnSp>
      <p:sp>
        <p:nvSpPr>
          <p:cNvPr id="531" name="Google Shape;531;p18"/>
          <p:cNvSpPr/>
          <p:nvPr/>
        </p:nvSpPr>
        <p:spPr>
          <a:xfrm>
            <a:off x="8188228" y="-12702"/>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532" name="Google Shape;532;p18"/>
          <p:cNvSpPr/>
          <p:nvPr/>
        </p:nvSpPr>
        <p:spPr>
          <a:xfrm>
            <a:off x="8821177" y="-12702"/>
            <a:ext cx="3882867"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533" name="Google Shape;533;p18"/>
          <p:cNvSpPr/>
          <p:nvPr/>
        </p:nvSpPr>
        <p:spPr>
          <a:xfrm>
            <a:off x="7814513" y="4571998"/>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534" name="Google Shape;534;p18"/>
          <p:cNvSpPr/>
          <p:nvPr/>
        </p:nvSpPr>
        <p:spPr>
          <a:xfrm>
            <a:off x="8417764" y="-12702"/>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535" name="Google Shape;535;p18"/>
          <p:cNvSpPr/>
          <p:nvPr/>
        </p:nvSpPr>
        <p:spPr>
          <a:xfrm>
            <a:off x="9973513" y="5384799"/>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536" name="Google Shape;536;p18"/>
          <p:cNvSpPr txBox="1"/>
          <p:nvPr/>
        </p:nvSpPr>
        <p:spPr>
          <a:xfrm>
            <a:off x="1122076" y="4308473"/>
            <a:ext cx="5124412" cy="1647825"/>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0" i="0" lang="en-US" sz="10800" u="none" cap="none" strike="noStrike">
                <a:solidFill>
                  <a:srgbClr val="90C226"/>
                </a:solidFill>
                <a:latin typeface="Trebuchet MS"/>
                <a:ea typeface="Trebuchet MS"/>
                <a:cs typeface="Trebuchet MS"/>
                <a:sym typeface="Trebuchet MS"/>
              </a:rPr>
              <a:t>EIGRP</a:t>
            </a:r>
            <a:endParaRPr/>
          </a:p>
        </p:txBody>
      </p:sp>
      <p:sp>
        <p:nvSpPr>
          <p:cNvPr id="537" name="Google Shape;537;p18"/>
          <p:cNvSpPr/>
          <p:nvPr/>
        </p:nvSpPr>
        <p:spPr>
          <a:xfrm>
            <a:off x="10704744" y="-12702"/>
            <a:ext cx="7612380" cy="10299668"/>
          </a:xfrm>
          <a:custGeom>
            <a:rect b="b" l="l" r="r" t="t"/>
            <a:pathLst>
              <a:path extrusionOk="0" h="13732890" w="10149840">
                <a:moveTo>
                  <a:pt x="0" y="0"/>
                </a:moveTo>
                <a:lnTo>
                  <a:pt x="2499614" y="0"/>
                </a:lnTo>
                <a:lnTo>
                  <a:pt x="2499614" y="16891"/>
                </a:lnTo>
                <a:lnTo>
                  <a:pt x="10149840" y="16891"/>
                </a:lnTo>
                <a:lnTo>
                  <a:pt x="10149840" y="13732890"/>
                </a:lnTo>
                <a:lnTo>
                  <a:pt x="2499614" y="13732890"/>
                </a:lnTo>
                <a:lnTo>
                  <a:pt x="2218817" y="13732890"/>
                </a:lnTo>
                <a:close/>
              </a:path>
            </a:pathLst>
          </a:custGeom>
          <a:solidFill>
            <a:srgbClr val="90C226"/>
          </a:solid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cxnSp>
        <p:nvCxnSpPr>
          <p:cNvPr id="542" name="Google Shape;542;p19"/>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543" name="Google Shape;543;p19"/>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544" name="Google Shape;544;p19"/>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545" name="Google Shape;545;p19"/>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546" name="Google Shape;546;p19"/>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547" name="Google Shape;547;p19"/>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548" name="Google Shape;548;p19"/>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549" name="Google Shape;549;p19"/>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550" name="Google Shape;550;p19"/>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551" name="Google Shape;551;p19"/>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552" name="Google Shape;552;p19"/>
          <p:cNvSpPr txBox="1"/>
          <p:nvPr/>
        </p:nvSpPr>
        <p:spPr>
          <a:xfrm>
            <a:off x="2091692" y="1026795"/>
            <a:ext cx="12712122" cy="1723263"/>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0" i="0" lang="en-US" sz="6199" u="none" cap="none" strike="noStrike">
                <a:solidFill>
                  <a:srgbClr val="90C226"/>
                </a:solidFill>
                <a:latin typeface="Trebuchet MS"/>
                <a:ea typeface="Trebuchet MS"/>
                <a:cs typeface="Trebuchet MS"/>
                <a:sym typeface="Trebuchet MS"/>
              </a:rPr>
              <a:t>EIGRP (Protocolo de Gateway Interior  Mejorado)</a:t>
            </a:r>
            <a:endParaRPr/>
          </a:p>
        </p:txBody>
      </p:sp>
      <p:sp>
        <p:nvSpPr>
          <p:cNvPr id="553" name="Google Shape;553;p19"/>
          <p:cNvSpPr/>
          <p:nvPr/>
        </p:nvSpPr>
        <p:spPr>
          <a:xfrm>
            <a:off x="0" y="0"/>
            <a:ext cx="673132" cy="4267200"/>
          </a:xfrm>
          <a:custGeom>
            <a:rect b="b" l="l" r="r" t="t"/>
            <a:pathLst>
              <a:path extrusionOk="0" h="5689600" w="897509">
                <a:moveTo>
                  <a:pt x="0" y="0"/>
                </a:moveTo>
                <a:lnTo>
                  <a:pt x="0" y="5689600"/>
                </a:lnTo>
                <a:lnTo>
                  <a:pt x="897509" y="0"/>
                </a:lnTo>
                <a:close/>
              </a:path>
            </a:pathLst>
          </a:custGeom>
          <a:solidFill>
            <a:srgbClr val="90C226">
              <a:alpha val="84705"/>
            </a:srgbClr>
          </a:solidFill>
          <a:ln>
            <a:noFill/>
          </a:ln>
        </p:spPr>
      </p:sp>
      <p:sp>
        <p:nvSpPr>
          <p:cNvPr id="554" name="Google Shape;554;p19"/>
          <p:cNvSpPr/>
          <p:nvPr/>
        </p:nvSpPr>
        <p:spPr>
          <a:xfrm>
            <a:off x="11607800" y="5727700"/>
            <a:ext cx="6675406" cy="4559331"/>
          </a:xfrm>
          <a:custGeom>
            <a:rect b="b" l="l" r="r" t="t"/>
            <a:pathLst>
              <a:path extrusionOk="0" h="6079109" w="8900541">
                <a:moveTo>
                  <a:pt x="0" y="6079109"/>
                </a:moveTo>
                <a:lnTo>
                  <a:pt x="8900541" y="0"/>
                </a:lnTo>
                <a:lnTo>
                  <a:pt x="8900541" y="6079109"/>
                </a:lnTo>
                <a:close/>
              </a:path>
            </a:pathLst>
          </a:custGeom>
          <a:solidFill>
            <a:srgbClr val="90C226"/>
          </a:solidFill>
          <a:ln>
            <a:noFill/>
          </a:ln>
        </p:spPr>
      </p:sp>
      <p:cxnSp>
        <p:nvCxnSpPr>
          <p:cNvPr id="555" name="Google Shape;555;p19"/>
          <p:cNvCxnSpPr/>
          <p:nvPr/>
        </p:nvCxnSpPr>
        <p:spPr>
          <a:xfrm rot="4544398">
            <a:off x="11173900" y="5143500"/>
            <a:ext cx="10646801" cy="0"/>
          </a:xfrm>
          <a:prstGeom prst="straightConnector1">
            <a:avLst/>
          </a:prstGeom>
          <a:noFill/>
          <a:ln cap="rnd" cmpd="sng" w="9525">
            <a:solidFill>
              <a:srgbClr val="54A021"/>
            </a:solidFill>
            <a:prstDash val="solid"/>
            <a:round/>
            <a:headEnd len="sm" w="sm" type="none"/>
            <a:tailEnd len="sm" w="sm" type="none"/>
          </a:ln>
        </p:spPr>
      </p:cxnSp>
      <p:cxnSp>
        <p:nvCxnSpPr>
          <p:cNvPr id="556" name="Google Shape;556;p19"/>
          <p:cNvCxnSpPr/>
          <p:nvPr/>
        </p:nvCxnSpPr>
        <p:spPr>
          <a:xfrm rot="8774650">
            <a:off x="10394371" y="7904559"/>
            <a:ext cx="8632395" cy="0"/>
          </a:xfrm>
          <a:prstGeom prst="straightConnector1">
            <a:avLst/>
          </a:prstGeom>
          <a:noFill/>
          <a:ln cap="rnd" cmpd="sng" w="9525">
            <a:solidFill>
              <a:srgbClr val="90C226"/>
            </a:solidFill>
            <a:prstDash val="solid"/>
            <a:round/>
            <a:headEnd len="sm" w="sm" type="none"/>
            <a:tailEnd len="sm" w="sm" type="none"/>
          </a:ln>
        </p:spPr>
      </p:cxnSp>
      <p:sp>
        <p:nvSpPr>
          <p:cNvPr id="557" name="Google Shape;557;p19"/>
          <p:cNvSpPr/>
          <p:nvPr/>
        </p:nvSpPr>
        <p:spPr>
          <a:xfrm>
            <a:off x="15638460" y="0"/>
            <a:ext cx="2649569" cy="10287000"/>
          </a:xfrm>
          <a:custGeom>
            <a:rect b="b" l="l" r="r" t="t"/>
            <a:pathLst>
              <a:path extrusionOk="0" h="13716000" w="3532759">
                <a:moveTo>
                  <a:pt x="0" y="0"/>
                </a:moveTo>
                <a:lnTo>
                  <a:pt x="3532759" y="0"/>
                </a:lnTo>
                <a:lnTo>
                  <a:pt x="3532759" y="13716000"/>
                </a:lnTo>
                <a:lnTo>
                  <a:pt x="3058033" y="13716000"/>
                </a:lnTo>
                <a:lnTo>
                  <a:pt x="0" y="0"/>
                </a:lnTo>
                <a:close/>
              </a:path>
            </a:pathLst>
          </a:custGeom>
          <a:solidFill>
            <a:srgbClr val="54A021"/>
          </a:solidFill>
          <a:ln>
            <a:noFill/>
          </a:ln>
        </p:spPr>
      </p:sp>
      <p:sp>
        <p:nvSpPr>
          <p:cNvPr id="558" name="Google Shape;558;p19"/>
          <p:cNvSpPr txBox="1"/>
          <p:nvPr/>
        </p:nvSpPr>
        <p:spPr>
          <a:xfrm>
            <a:off x="2061644" y="3620254"/>
            <a:ext cx="11751710" cy="32766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3600" u="none" cap="none" strike="noStrike">
                <a:solidFill>
                  <a:srgbClr val="000000"/>
                </a:solidFill>
                <a:latin typeface="Trebuchet MS"/>
                <a:ea typeface="Trebuchet MS"/>
                <a:cs typeface="Trebuchet MS"/>
                <a:sym typeface="Trebuchet MS"/>
              </a:rPr>
              <a:t>EIGRP es un protocolo de enrutamiento avanzado desarrollado por Cisco, combina las características de los protocolos de enrutamiento de vector de distancia y de estado de enlace, lo que lo hace más eficiente y escalable en comparación con otros protocolos de enrutamiento.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cxnSp>
        <p:nvCxnSpPr>
          <p:cNvPr id="563" name="Google Shape;563;p20"/>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564" name="Google Shape;564;p20"/>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565" name="Google Shape;565;p20"/>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566" name="Google Shape;566;p20"/>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567" name="Google Shape;567;p20"/>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568" name="Google Shape;568;p20"/>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569" name="Google Shape;569;p20"/>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570" name="Google Shape;570;p20"/>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571" name="Google Shape;571;p20"/>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572" name="Google Shape;572;p20"/>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573" name="Google Shape;573;p20"/>
          <p:cNvCxnSpPr/>
          <p:nvPr/>
        </p:nvCxnSpPr>
        <p:spPr>
          <a:xfrm rot="4790100">
            <a:off x="3346169" y="5143500"/>
            <a:ext cx="10470397" cy="0"/>
          </a:xfrm>
          <a:prstGeom prst="straightConnector1">
            <a:avLst/>
          </a:prstGeom>
          <a:noFill/>
          <a:ln cap="rnd" cmpd="sng" w="9525">
            <a:solidFill>
              <a:srgbClr val="90C226"/>
            </a:solidFill>
            <a:prstDash val="solid"/>
            <a:round/>
            <a:headEnd len="sm" w="sm" type="none"/>
            <a:tailEnd len="sm" w="sm" type="none"/>
          </a:ln>
        </p:spPr>
      </p:cxnSp>
      <p:cxnSp>
        <p:nvCxnSpPr>
          <p:cNvPr id="574" name="Google Shape;574;p20"/>
          <p:cNvCxnSpPr/>
          <p:nvPr/>
        </p:nvCxnSpPr>
        <p:spPr>
          <a:xfrm rot="8776047">
            <a:off x="4201746" y="7904559"/>
            <a:ext cx="8614780" cy="0"/>
          </a:xfrm>
          <a:prstGeom prst="straightConnector1">
            <a:avLst/>
          </a:prstGeom>
          <a:noFill/>
          <a:ln cap="rnd" cmpd="sng" w="9525">
            <a:solidFill>
              <a:srgbClr val="000000"/>
            </a:solidFill>
            <a:prstDash val="solid"/>
            <a:round/>
            <a:headEnd len="sm" w="sm" type="none"/>
            <a:tailEnd len="sm" w="sm" type="none"/>
          </a:ln>
        </p:spPr>
      </p:cxnSp>
      <p:sp>
        <p:nvSpPr>
          <p:cNvPr id="575" name="Google Shape;575;p20"/>
          <p:cNvSpPr/>
          <p:nvPr/>
        </p:nvSpPr>
        <p:spPr>
          <a:xfrm>
            <a:off x="6723852"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576" name="Google Shape;576;p20"/>
          <p:cNvSpPr/>
          <p:nvPr/>
        </p:nvSpPr>
        <p:spPr>
          <a:xfrm>
            <a:off x="7356800" y="-12700"/>
            <a:ext cx="3882867"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577" name="Google Shape;577;p20"/>
          <p:cNvSpPr/>
          <p:nvPr/>
        </p:nvSpPr>
        <p:spPr>
          <a:xfrm>
            <a:off x="6350136"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578" name="Google Shape;578;p20"/>
          <p:cNvSpPr/>
          <p:nvPr/>
        </p:nvSpPr>
        <p:spPr>
          <a:xfrm>
            <a:off x="6953388"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579" name="Google Shape;579;p20"/>
          <p:cNvSpPr/>
          <p:nvPr/>
        </p:nvSpPr>
        <p:spPr>
          <a:xfrm>
            <a:off x="8509136" y="5384800"/>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580" name="Google Shape;580;p20"/>
          <p:cNvSpPr/>
          <p:nvPr/>
        </p:nvSpPr>
        <p:spPr>
          <a:xfrm>
            <a:off x="9296446" y="-12700"/>
            <a:ext cx="8991600" cy="10299668"/>
          </a:xfrm>
          <a:custGeom>
            <a:rect b="b" l="l" r="r" t="t"/>
            <a:pathLst>
              <a:path extrusionOk="0" h="13732890" w="11988800">
                <a:moveTo>
                  <a:pt x="0" y="0"/>
                </a:moveTo>
                <a:lnTo>
                  <a:pt x="2499614" y="0"/>
                </a:lnTo>
                <a:lnTo>
                  <a:pt x="2499614" y="16891"/>
                </a:lnTo>
                <a:lnTo>
                  <a:pt x="11988800" y="16891"/>
                </a:lnTo>
                <a:lnTo>
                  <a:pt x="11988800" y="13732890"/>
                </a:lnTo>
                <a:lnTo>
                  <a:pt x="2499614" y="13732890"/>
                </a:lnTo>
                <a:lnTo>
                  <a:pt x="2218817" y="13732890"/>
                </a:lnTo>
                <a:close/>
              </a:path>
            </a:pathLst>
          </a:custGeom>
          <a:solidFill>
            <a:srgbClr val="3F7819"/>
          </a:solidFill>
          <a:ln>
            <a:noFill/>
          </a:ln>
        </p:spPr>
      </p:sp>
      <p:sp>
        <p:nvSpPr>
          <p:cNvPr id="581" name="Google Shape;581;p20"/>
          <p:cNvSpPr txBox="1"/>
          <p:nvPr/>
        </p:nvSpPr>
        <p:spPr>
          <a:xfrm>
            <a:off x="10864024" y="2018459"/>
            <a:ext cx="6586604" cy="11144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7200" u="none" cap="none" strike="noStrike">
                <a:solidFill>
                  <a:srgbClr val="FFFFFF"/>
                </a:solidFill>
                <a:latin typeface="Trebuchet MS"/>
                <a:ea typeface="Trebuchet MS"/>
                <a:cs typeface="Trebuchet MS"/>
                <a:sym typeface="Trebuchet MS"/>
              </a:rPr>
              <a:t>Características</a:t>
            </a:r>
            <a:endParaRPr/>
          </a:p>
        </p:txBody>
      </p:sp>
      <p:sp>
        <p:nvSpPr>
          <p:cNvPr id="582" name="Google Shape;582;p20"/>
          <p:cNvSpPr/>
          <p:nvPr/>
        </p:nvSpPr>
        <p:spPr>
          <a:xfrm>
            <a:off x="1135876" y="4116982"/>
            <a:ext cx="5785160" cy="2186382"/>
          </a:xfrm>
          <a:custGeom>
            <a:rect b="b" l="l" r="r" t="t"/>
            <a:pathLst>
              <a:path extrusionOk="0" h="2186382" w="5785160">
                <a:moveTo>
                  <a:pt x="0" y="0"/>
                </a:moveTo>
                <a:lnTo>
                  <a:pt x="5785160" y="0"/>
                </a:lnTo>
                <a:lnTo>
                  <a:pt x="5785160" y="2186382"/>
                </a:lnTo>
                <a:lnTo>
                  <a:pt x="0" y="2186382"/>
                </a:lnTo>
                <a:lnTo>
                  <a:pt x="0" y="0"/>
                </a:lnTo>
                <a:close/>
              </a:path>
            </a:pathLst>
          </a:custGeom>
          <a:blipFill rotWithShape="1">
            <a:blip r:embed="rId3">
              <a:alphaModFix/>
            </a:blip>
            <a:stretch>
              <a:fillRect b="0" l="0" r="0" t="0"/>
            </a:stretch>
          </a:blipFill>
          <a:ln>
            <a:noFill/>
          </a:ln>
        </p:spPr>
      </p:sp>
      <p:sp>
        <p:nvSpPr>
          <p:cNvPr id="583" name="Google Shape;583;p20"/>
          <p:cNvSpPr txBox="1"/>
          <p:nvPr/>
        </p:nvSpPr>
        <p:spPr>
          <a:xfrm>
            <a:off x="10864026" y="4330287"/>
            <a:ext cx="6586602" cy="2884170"/>
          </a:xfrm>
          <a:prstGeom prst="rect">
            <a:avLst/>
          </a:prstGeom>
          <a:noFill/>
          <a:ln>
            <a:noFill/>
          </a:ln>
        </p:spPr>
        <p:txBody>
          <a:bodyPr anchorCtr="0" anchor="t" bIns="0" lIns="0" spcFirstLastPara="1" rIns="0" wrap="square" tIns="0">
            <a:spAutoFit/>
          </a:bodyPr>
          <a:lstStyle/>
          <a:p>
            <a:pPr indent="-374015" lvl="1" marL="748030" marR="0" rtl="0" algn="l">
              <a:lnSpc>
                <a:spcPct val="108000"/>
              </a:lnSpc>
              <a:spcBef>
                <a:spcPts val="0"/>
              </a:spcBef>
              <a:spcAft>
                <a:spcPts val="0"/>
              </a:spcAft>
              <a:buClr>
                <a:srgbClr val="FFFFFF"/>
              </a:buClr>
              <a:buSzPts val="3000"/>
              <a:buFont typeface="Arial"/>
              <a:buChar char="•"/>
            </a:pPr>
            <a:r>
              <a:rPr b="1" i="0" lang="en-US" sz="3000" u="none" cap="none" strike="noStrike">
                <a:solidFill>
                  <a:srgbClr val="FFFFFF"/>
                </a:solidFill>
                <a:latin typeface="Arial"/>
                <a:ea typeface="Arial"/>
                <a:cs typeface="Arial"/>
                <a:sym typeface="Arial"/>
              </a:rPr>
              <a:t>Actualizaciones parciales y limitadas.</a:t>
            </a:r>
            <a:endParaRPr/>
          </a:p>
          <a:p>
            <a:pPr indent="-374015" lvl="1" marL="748030" marR="0" rtl="0" algn="l">
              <a:lnSpc>
                <a:spcPct val="108000"/>
              </a:lnSpc>
              <a:spcBef>
                <a:spcPts val="0"/>
              </a:spcBef>
              <a:spcAft>
                <a:spcPts val="0"/>
              </a:spcAft>
              <a:buClr>
                <a:srgbClr val="FFFFFF"/>
              </a:buClr>
              <a:buSzPts val="3000"/>
              <a:buFont typeface="Arial"/>
              <a:buChar char="•"/>
            </a:pPr>
            <a:r>
              <a:rPr b="1" i="0" lang="en-US" sz="3000" u="none" cap="none" strike="noStrike">
                <a:solidFill>
                  <a:srgbClr val="FFFFFF"/>
                </a:solidFill>
                <a:latin typeface="Arial"/>
                <a:ea typeface="Arial"/>
                <a:cs typeface="Arial"/>
                <a:sym typeface="Arial"/>
              </a:rPr>
              <a:t>Métrica de costo compuesta.</a:t>
            </a:r>
            <a:endParaRPr/>
          </a:p>
          <a:p>
            <a:pPr indent="-374015" lvl="1" marL="748030" marR="0" rtl="0" algn="l">
              <a:lnSpc>
                <a:spcPct val="108000"/>
              </a:lnSpc>
              <a:spcBef>
                <a:spcPts val="0"/>
              </a:spcBef>
              <a:spcAft>
                <a:spcPts val="0"/>
              </a:spcAft>
              <a:buClr>
                <a:srgbClr val="FFFFFF"/>
              </a:buClr>
              <a:buSzPts val="3000"/>
              <a:buFont typeface="Arial"/>
              <a:buChar char="•"/>
            </a:pPr>
            <a:r>
              <a:rPr b="1" i="0" lang="en-US" sz="3000" u="none" cap="none" strike="noStrike">
                <a:solidFill>
                  <a:srgbClr val="FFFFFF"/>
                </a:solidFill>
                <a:latin typeface="Arial"/>
                <a:ea typeface="Arial"/>
                <a:cs typeface="Arial"/>
                <a:sym typeface="Arial"/>
              </a:rPr>
              <a:t>Protocolo de transporte confinable.</a:t>
            </a:r>
            <a:endParaRPr/>
          </a:p>
          <a:p>
            <a:pPr indent="-374015" lvl="1" marL="748030" marR="0" rtl="0" algn="l">
              <a:lnSpc>
                <a:spcPct val="108000"/>
              </a:lnSpc>
              <a:spcBef>
                <a:spcPts val="0"/>
              </a:spcBef>
              <a:spcAft>
                <a:spcPts val="0"/>
              </a:spcAft>
              <a:buClr>
                <a:srgbClr val="FFFFFF"/>
              </a:buClr>
              <a:buSzPts val="3000"/>
              <a:buFont typeface="Arial"/>
              <a:buChar char="•"/>
            </a:pPr>
            <a:r>
              <a:rPr b="1" i="0" lang="en-US" sz="3000" u="none" cap="none" strike="noStrike">
                <a:solidFill>
                  <a:srgbClr val="FFFFFF"/>
                </a:solidFill>
                <a:latin typeface="Arial"/>
                <a:ea typeface="Arial"/>
                <a:cs typeface="Arial"/>
                <a:sym typeface="Arial"/>
              </a:rPr>
              <a:t>Balanceo de carga de mismo costo o con  distinto costo.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cxnSp>
        <p:nvCxnSpPr>
          <p:cNvPr id="588" name="Google Shape;588;p21"/>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589" name="Google Shape;589;p21"/>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590" name="Google Shape;590;p21"/>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591" name="Google Shape;591;p21"/>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592" name="Google Shape;592;p21"/>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593" name="Google Shape;593;p21"/>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594" name="Google Shape;594;p21"/>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595" name="Google Shape;595;p21"/>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596" name="Google Shape;596;p21"/>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597" name="Google Shape;597;p21"/>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598" name="Google Shape;598;p21"/>
          <p:cNvSpPr/>
          <p:nvPr/>
        </p:nvSpPr>
        <p:spPr>
          <a:xfrm>
            <a:off x="1086200" y="521598"/>
            <a:ext cx="15452998" cy="8988148"/>
          </a:xfrm>
          <a:custGeom>
            <a:rect b="b" l="l" r="r" t="t"/>
            <a:pathLst>
              <a:path extrusionOk="0" h="8988148" w="15452998">
                <a:moveTo>
                  <a:pt x="0" y="0"/>
                </a:moveTo>
                <a:lnTo>
                  <a:pt x="15452998" y="0"/>
                </a:lnTo>
                <a:lnTo>
                  <a:pt x="15452998" y="8988148"/>
                </a:lnTo>
                <a:lnTo>
                  <a:pt x="0" y="898814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cxnSp>
        <p:nvCxnSpPr>
          <p:cNvPr id="603" name="Google Shape;603;p22"/>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604" name="Google Shape;604;p22"/>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605" name="Google Shape;605;p22"/>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606" name="Google Shape;606;p22"/>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607" name="Google Shape;607;p22"/>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608" name="Google Shape;608;p22"/>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609" name="Google Shape;609;p22"/>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610" name="Google Shape;610;p22"/>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611" name="Google Shape;611;p22"/>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612" name="Google Shape;612;p22"/>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613" name="Google Shape;613;p22"/>
          <p:cNvSpPr txBox="1"/>
          <p:nvPr/>
        </p:nvSpPr>
        <p:spPr>
          <a:xfrm>
            <a:off x="191769" y="2008358"/>
            <a:ext cx="14735810" cy="510823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600" u="none" cap="none" strike="noStrike">
                <a:solidFill>
                  <a:srgbClr val="233944"/>
                </a:solidFill>
                <a:latin typeface="Arimo"/>
                <a:ea typeface="Arimo"/>
                <a:cs typeface="Arimo"/>
                <a:sym typeface="Arimo"/>
              </a:rPr>
              <a:t>En esencia un </a:t>
            </a:r>
            <a:r>
              <a:rPr b="0" i="0" lang="en-US" sz="2600" u="sng" cap="none" strike="noStrike">
                <a:solidFill>
                  <a:srgbClr val="99CA3C"/>
                </a:solidFill>
                <a:latin typeface="Arimo"/>
                <a:ea typeface="Arimo"/>
                <a:cs typeface="Arimo"/>
                <a:sym typeface="Arimo"/>
                <a:hlinkClick r:id="rId3">
                  <a:extLst>
                    <a:ext uri="{A12FA001-AC4F-418D-AE19-62706E023703}">
                      <ahyp:hlinkClr val="tx"/>
                    </a:ext>
                  </a:extLst>
                </a:hlinkClick>
              </a:rPr>
              <a:t>protocolo de enrutamiento </a:t>
            </a:r>
            <a:r>
              <a:rPr b="0" i="0" lang="en-US" sz="2600" u="none" cap="none" strike="noStrike">
                <a:solidFill>
                  <a:srgbClr val="233944"/>
                </a:solidFill>
                <a:latin typeface="Arimo"/>
                <a:ea typeface="Arimo"/>
                <a:cs typeface="Arimo"/>
                <a:sym typeface="Arimo"/>
              </a:rPr>
              <a:t>lo que hace es:</a:t>
            </a:r>
            <a:endParaRPr/>
          </a:p>
          <a:p>
            <a:pPr indent="0" lvl="0" marL="0" marR="0" rtl="0" algn="l">
              <a:lnSpc>
                <a:spcPct val="120000"/>
              </a:lnSpc>
              <a:spcBef>
                <a:spcPts val="0"/>
              </a:spcBef>
              <a:spcAft>
                <a:spcPts val="0"/>
              </a:spcAft>
              <a:buNone/>
            </a:pPr>
            <a:r>
              <a:t/>
            </a:r>
            <a:endParaRPr b="0" i="0" sz="2600" u="none" cap="none" strike="noStrike">
              <a:solidFill>
                <a:srgbClr val="233944"/>
              </a:solidFill>
              <a:latin typeface="Arimo"/>
              <a:ea typeface="Arimo"/>
              <a:cs typeface="Arimo"/>
              <a:sym typeface="Arimo"/>
            </a:endParaRPr>
          </a:p>
          <a:p>
            <a:pPr indent="-421005" lvl="3" marL="1684022" marR="0" rtl="0" algn="just">
              <a:lnSpc>
                <a:spcPct val="120000"/>
              </a:lnSpc>
              <a:spcBef>
                <a:spcPts val="0"/>
              </a:spcBef>
              <a:spcAft>
                <a:spcPts val="0"/>
              </a:spcAft>
              <a:buClr>
                <a:srgbClr val="233944"/>
              </a:buClr>
              <a:buSzPts val="2600"/>
              <a:buFont typeface="Arial"/>
              <a:buChar char="￭"/>
            </a:pPr>
            <a:r>
              <a:rPr b="1" i="0" lang="en-US" sz="2600" u="none" cap="none" strike="noStrike">
                <a:solidFill>
                  <a:srgbClr val="233944"/>
                </a:solidFill>
                <a:latin typeface="Arimo"/>
                <a:ea typeface="Arimo"/>
                <a:cs typeface="Arimo"/>
                <a:sym typeface="Arimo"/>
              </a:rPr>
              <a:t>Aprende </a:t>
            </a:r>
            <a:r>
              <a:rPr b="0" i="0" lang="en-US" sz="2600" u="none" cap="none" strike="noStrike">
                <a:solidFill>
                  <a:srgbClr val="233944"/>
                </a:solidFill>
                <a:latin typeface="Arimo"/>
                <a:ea typeface="Arimo"/>
                <a:cs typeface="Arimo"/>
                <a:sym typeface="Arimo"/>
              </a:rPr>
              <a:t>información de enrutamiento sobre las </a:t>
            </a:r>
            <a:r>
              <a:rPr b="0" i="0" lang="en-US" sz="2600" u="sng" cap="none" strike="noStrike">
                <a:solidFill>
                  <a:srgbClr val="99CA3C"/>
                </a:solidFill>
                <a:latin typeface="Arimo"/>
                <a:ea typeface="Arimo"/>
                <a:cs typeface="Arimo"/>
                <a:sym typeface="Arimo"/>
                <a:hlinkClick r:id="rId4">
                  <a:extLst>
                    <a:ext uri="{A12FA001-AC4F-418D-AE19-62706E023703}">
                      <ahyp:hlinkClr val="tx"/>
                    </a:ext>
                  </a:extLst>
                </a:hlinkClick>
              </a:rPr>
              <a:t>subredes IP </a:t>
            </a:r>
            <a:r>
              <a:rPr b="0" i="0" lang="en-US" sz="2600" u="none" cap="none" strike="noStrike">
                <a:solidFill>
                  <a:srgbClr val="233944"/>
                </a:solidFill>
                <a:latin typeface="Arimo"/>
                <a:ea typeface="Arimo"/>
                <a:cs typeface="Arimo"/>
                <a:sym typeface="Arimo"/>
              </a:rPr>
              <a:t>de los routers vecinos.</a:t>
            </a:r>
            <a:endParaRPr/>
          </a:p>
          <a:p>
            <a:pPr indent="0" lvl="0" marL="0" marR="0" rtl="0" algn="just">
              <a:lnSpc>
                <a:spcPct val="120000"/>
              </a:lnSpc>
              <a:spcBef>
                <a:spcPts val="0"/>
              </a:spcBef>
              <a:spcAft>
                <a:spcPts val="0"/>
              </a:spcAft>
              <a:buNone/>
            </a:pPr>
            <a:r>
              <a:t/>
            </a:r>
            <a:endParaRPr b="0" i="0" sz="2600" u="none" cap="none" strike="noStrike">
              <a:solidFill>
                <a:srgbClr val="233944"/>
              </a:solidFill>
              <a:latin typeface="Arimo"/>
              <a:ea typeface="Arimo"/>
              <a:cs typeface="Arimo"/>
              <a:sym typeface="Arimo"/>
            </a:endParaRPr>
          </a:p>
          <a:p>
            <a:pPr indent="-421005" lvl="3" marL="1684022" marR="0" rtl="0" algn="just">
              <a:lnSpc>
                <a:spcPct val="120000"/>
              </a:lnSpc>
              <a:spcBef>
                <a:spcPts val="0"/>
              </a:spcBef>
              <a:spcAft>
                <a:spcPts val="0"/>
              </a:spcAft>
              <a:buClr>
                <a:srgbClr val="233944"/>
              </a:buClr>
              <a:buSzPts val="2600"/>
              <a:buFont typeface="Arial"/>
              <a:buChar char="￭"/>
            </a:pPr>
            <a:r>
              <a:rPr b="1" i="0" lang="en-US" sz="2600" u="none" cap="none" strike="noStrike">
                <a:solidFill>
                  <a:srgbClr val="233944"/>
                </a:solidFill>
                <a:latin typeface="Arimo"/>
                <a:ea typeface="Arimo"/>
                <a:cs typeface="Arimo"/>
                <a:sym typeface="Arimo"/>
              </a:rPr>
              <a:t>Anuncia </a:t>
            </a:r>
            <a:r>
              <a:rPr b="0" i="0" lang="en-US" sz="2600" u="none" cap="none" strike="noStrike">
                <a:solidFill>
                  <a:srgbClr val="233944"/>
                </a:solidFill>
                <a:latin typeface="Arimo"/>
                <a:ea typeface="Arimo"/>
                <a:cs typeface="Arimo"/>
                <a:sym typeface="Arimo"/>
              </a:rPr>
              <a:t>información de enrutamiento sobre subredes IP a los routers vecinos.</a:t>
            </a:r>
            <a:endParaRPr/>
          </a:p>
          <a:p>
            <a:pPr indent="0" lvl="0" marL="0" marR="0" rtl="0" algn="just">
              <a:lnSpc>
                <a:spcPct val="120000"/>
              </a:lnSpc>
              <a:spcBef>
                <a:spcPts val="0"/>
              </a:spcBef>
              <a:spcAft>
                <a:spcPts val="0"/>
              </a:spcAft>
              <a:buNone/>
            </a:pPr>
            <a:r>
              <a:t/>
            </a:r>
            <a:endParaRPr b="0" i="0" sz="2600" u="none" cap="none" strike="noStrike">
              <a:solidFill>
                <a:srgbClr val="233944"/>
              </a:solidFill>
              <a:latin typeface="Arimo"/>
              <a:ea typeface="Arimo"/>
              <a:cs typeface="Arimo"/>
              <a:sym typeface="Arimo"/>
            </a:endParaRPr>
          </a:p>
          <a:p>
            <a:pPr indent="-421005" lvl="3" marL="1684022" marR="0" rtl="0" algn="just">
              <a:lnSpc>
                <a:spcPct val="141269"/>
              </a:lnSpc>
              <a:spcBef>
                <a:spcPts val="0"/>
              </a:spcBef>
              <a:spcAft>
                <a:spcPts val="0"/>
              </a:spcAft>
              <a:buClr>
                <a:srgbClr val="233944"/>
              </a:buClr>
              <a:buSzPts val="2600"/>
              <a:buFont typeface="Arial"/>
              <a:buChar char="￭"/>
            </a:pPr>
            <a:r>
              <a:rPr b="0" i="0" lang="en-US" sz="2600" u="none" cap="none" strike="noStrike">
                <a:solidFill>
                  <a:srgbClr val="233944"/>
                </a:solidFill>
                <a:latin typeface="Arimo"/>
                <a:ea typeface="Arimo"/>
                <a:cs typeface="Arimo"/>
                <a:sym typeface="Arimo"/>
              </a:rPr>
              <a:t>Si existe más de una ruta posible para llegar a una subred, elije la </a:t>
            </a:r>
            <a:r>
              <a:rPr b="1" i="0" lang="en-US" sz="2600" u="none" cap="none" strike="noStrike">
                <a:solidFill>
                  <a:srgbClr val="233944"/>
                </a:solidFill>
                <a:latin typeface="Arimo"/>
                <a:ea typeface="Arimo"/>
                <a:cs typeface="Arimo"/>
                <a:sym typeface="Arimo"/>
              </a:rPr>
              <a:t>mejor ruta </a:t>
            </a:r>
            <a:r>
              <a:rPr b="0" i="0" lang="en-US" sz="2600" u="none" cap="none" strike="noStrike">
                <a:solidFill>
                  <a:srgbClr val="233944"/>
                </a:solidFill>
                <a:latin typeface="Arimo"/>
                <a:ea typeface="Arimo"/>
                <a:cs typeface="Arimo"/>
                <a:sym typeface="Arimo"/>
              </a:rPr>
              <a:t>en base  a una </a:t>
            </a:r>
            <a:r>
              <a:rPr b="1" i="0" lang="en-US" sz="2600" u="none" cap="none" strike="noStrike">
                <a:solidFill>
                  <a:srgbClr val="233944"/>
                </a:solidFill>
                <a:latin typeface="Arimo"/>
                <a:ea typeface="Arimo"/>
                <a:cs typeface="Arimo"/>
                <a:sym typeface="Arimo"/>
              </a:rPr>
              <a:t>métrica</a:t>
            </a:r>
            <a:r>
              <a:rPr b="0" i="0" lang="en-US" sz="2600" u="none" cap="none" strike="noStrike">
                <a:solidFill>
                  <a:srgbClr val="233944"/>
                </a:solidFill>
                <a:latin typeface="Arimo"/>
                <a:ea typeface="Arimo"/>
                <a:cs typeface="Arimo"/>
                <a:sym typeface="Arimo"/>
              </a:rPr>
              <a:t>.</a:t>
            </a:r>
            <a:endParaRPr/>
          </a:p>
          <a:p>
            <a:pPr indent="0" lvl="0" marL="0" marR="0" rtl="0" algn="just">
              <a:lnSpc>
                <a:spcPct val="141346"/>
              </a:lnSpc>
              <a:spcBef>
                <a:spcPts val="0"/>
              </a:spcBef>
              <a:spcAft>
                <a:spcPts val="0"/>
              </a:spcAft>
              <a:buNone/>
            </a:pPr>
            <a:r>
              <a:t/>
            </a:r>
            <a:endParaRPr b="0" i="0" sz="2600" u="none" cap="none" strike="noStrike">
              <a:solidFill>
                <a:srgbClr val="233944"/>
              </a:solidFill>
              <a:latin typeface="Arimo"/>
              <a:ea typeface="Arimo"/>
              <a:cs typeface="Arimo"/>
              <a:sym typeface="Arimo"/>
            </a:endParaRPr>
          </a:p>
          <a:p>
            <a:pPr indent="-421005" lvl="3" marL="1684020" marR="0" rtl="0" algn="just">
              <a:lnSpc>
                <a:spcPct val="141346"/>
              </a:lnSpc>
              <a:spcBef>
                <a:spcPts val="0"/>
              </a:spcBef>
              <a:spcAft>
                <a:spcPts val="0"/>
              </a:spcAft>
              <a:buClr>
                <a:srgbClr val="233944"/>
              </a:buClr>
              <a:buSzPts val="2600"/>
              <a:buFont typeface="Arial"/>
              <a:buChar char="￭"/>
            </a:pPr>
            <a:r>
              <a:rPr b="0" i="0" lang="en-US" sz="2600" u="none" cap="none" strike="noStrike">
                <a:solidFill>
                  <a:srgbClr val="233944"/>
                </a:solidFill>
                <a:latin typeface="Arimo"/>
                <a:ea typeface="Arimo"/>
                <a:cs typeface="Arimo"/>
                <a:sym typeface="Arimo"/>
              </a:rPr>
              <a:t>Si la tipología de la red cambia, por ejemplo si un enlace falla, reacciona anunciando  que algunas rutas han fallado y elige la nueva mejor ruta. (Este proceso se denomina  </a:t>
            </a:r>
            <a:r>
              <a:rPr b="1" i="0" lang="en-US" sz="2600" u="none" cap="none" strike="noStrike">
                <a:solidFill>
                  <a:srgbClr val="233944"/>
                </a:solidFill>
                <a:latin typeface="Arimo"/>
                <a:ea typeface="Arimo"/>
                <a:cs typeface="Arimo"/>
                <a:sym typeface="Arimo"/>
              </a:rPr>
              <a:t>convergencia</a:t>
            </a:r>
            <a:r>
              <a:rPr b="0" i="0" lang="en-US" sz="2600" u="none" cap="none" strike="noStrike">
                <a:solidFill>
                  <a:srgbClr val="233944"/>
                </a:solidFill>
                <a:latin typeface="Arimo"/>
                <a:ea typeface="Arimo"/>
                <a:cs typeface="Arimo"/>
                <a:sym typeface="Arimo"/>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cxnSp>
        <p:nvCxnSpPr>
          <p:cNvPr id="618" name="Google Shape;618;p23"/>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619" name="Google Shape;619;p23"/>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620" name="Google Shape;620;p23"/>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621" name="Google Shape;621;p23"/>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622" name="Google Shape;622;p23"/>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623" name="Google Shape;623;p23"/>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624" name="Google Shape;624;p23"/>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625" name="Google Shape;625;p23"/>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626" name="Google Shape;626;p23"/>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627" name="Google Shape;627;p23"/>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628" name="Google Shape;628;p23"/>
          <p:cNvSpPr/>
          <p:nvPr/>
        </p:nvSpPr>
        <p:spPr>
          <a:xfrm>
            <a:off x="4292906" y="1676524"/>
            <a:ext cx="8800800" cy="6933948"/>
          </a:xfrm>
          <a:custGeom>
            <a:rect b="b" l="l" r="r" t="t"/>
            <a:pathLst>
              <a:path extrusionOk="0" h="6933948" w="8800800">
                <a:moveTo>
                  <a:pt x="0" y="0"/>
                </a:moveTo>
                <a:lnTo>
                  <a:pt x="8800800" y="0"/>
                </a:lnTo>
                <a:lnTo>
                  <a:pt x="8800800" y="6933948"/>
                </a:lnTo>
                <a:lnTo>
                  <a:pt x="0" y="693394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cxnSp>
        <p:nvCxnSpPr>
          <p:cNvPr id="633" name="Google Shape;633;p24"/>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634" name="Google Shape;634;p24"/>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635" name="Google Shape;635;p24"/>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636" name="Google Shape;636;p24"/>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637" name="Google Shape;637;p24"/>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638" name="Google Shape;638;p24"/>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639" name="Google Shape;639;p24"/>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640" name="Google Shape;640;p24"/>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641" name="Google Shape;641;p24"/>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642" name="Google Shape;642;p24"/>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643" name="Google Shape;643;p24"/>
          <p:cNvSpPr txBox="1"/>
          <p:nvPr/>
        </p:nvSpPr>
        <p:spPr>
          <a:xfrm>
            <a:off x="2091692" y="941070"/>
            <a:ext cx="12712122" cy="11144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7200" u="none" cap="none" strike="noStrike">
                <a:solidFill>
                  <a:srgbClr val="90C226"/>
                </a:solidFill>
                <a:latin typeface="Trebuchet MS"/>
                <a:ea typeface="Trebuchet MS"/>
                <a:cs typeface="Trebuchet MS"/>
                <a:sym typeface="Trebuchet MS"/>
              </a:rPr>
              <a:t>Hoja de trabajo 1</a:t>
            </a:r>
            <a:endParaRPr/>
          </a:p>
        </p:txBody>
      </p:sp>
      <p:sp>
        <p:nvSpPr>
          <p:cNvPr id="644" name="Google Shape;644;p24"/>
          <p:cNvSpPr/>
          <p:nvPr/>
        </p:nvSpPr>
        <p:spPr>
          <a:xfrm>
            <a:off x="0" y="0"/>
            <a:ext cx="673132" cy="4267200"/>
          </a:xfrm>
          <a:custGeom>
            <a:rect b="b" l="l" r="r" t="t"/>
            <a:pathLst>
              <a:path extrusionOk="0" h="5689600" w="897509">
                <a:moveTo>
                  <a:pt x="0" y="0"/>
                </a:moveTo>
                <a:lnTo>
                  <a:pt x="0" y="5689600"/>
                </a:lnTo>
                <a:lnTo>
                  <a:pt x="897509" y="0"/>
                </a:lnTo>
                <a:close/>
              </a:path>
            </a:pathLst>
          </a:custGeom>
          <a:solidFill>
            <a:srgbClr val="90C226">
              <a:alpha val="84705"/>
            </a:srgbClr>
          </a:solidFill>
          <a:ln>
            <a:noFill/>
          </a:ln>
        </p:spPr>
      </p:sp>
      <p:sp>
        <p:nvSpPr>
          <p:cNvPr id="645" name="Google Shape;645;p24"/>
          <p:cNvSpPr/>
          <p:nvPr/>
        </p:nvSpPr>
        <p:spPr>
          <a:xfrm>
            <a:off x="11607800" y="5727700"/>
            <a:ext cx="6675406" cy="4559331"/>
          </a:xfrm>
          <a:custGeom>
            <a:rect b="b" l="l" r="r" t="t"/>
            <a:pathLst>
              <a:path extrusionOk="0" h="6079109" w="8900541">
                <a:moveTo>
                  <a:pt x="0" y="6079109"/>
                </a:moveTo>
                <a:lnTo>
                  <a:pt x="8900541" y="0"/>
                </a:lnTo>
                <a:lnTo>
                  <a:pt x="8900541" y="6079109"/>
                </a:lnTo>
                <a:close/>
              </a:path>
            </a:pathLst>
          </a:custGeom>
          <a:solidFill>
            <a:srgbClr val="90C226"/>
          </a:solidFill>
          <a:ln>
            <a:noFill/>
          </a:ln>
        </p:spPr>
      </p:sp>
      <p:cxnSp>
        <p:nvCxnSpPr>
          <p:cNvPr id="646" name="Google Shape;646;p24"/>
          <p:cNvCxnSpPr/>
          <p:nvPr/>
        </p:nvCxnSpPr>
        <p:spPr>
          <a:xfrm rot="4544398">
            <a:off x="11173900" y="5143500"/>
            <a:ext cx="10646801" cy="0"/>
          </a:xfrm>
          <a:prstGeom prst="straightConnector1">
            <a:avLst/>
          </a:prstGeom>
          <a:noFill/>
          <a:ln cap="rnd" cmpd="sng" w="9525">
            <a:solidFill>
              <a:srgbClr val="54A021"/>
            </a:solidFill>
            <a:prstDash val="solid"/>
            <a:round/>
            <a:headEnd len="sm" w="sm" type="none"/>
            <a:tailEnd len="sm" w="sm" type="none"/>
          </a:ln>
        </p:spPr>
      </p:cxnSp>
      <p:cxnSp>
        <p:nvCxnSpPr>
          <p:cNvPr id="647" name="Google Shape;647;p24"/>
          <p:cNvCxnSpPr/>
          <p:nvPr/>
        </p:nvCxnSpPr>
        <p:spPr>
          <a:xfrm rot="8774650">
            <a:off x="10394371" y="7904559"/>
            <a:ext cx="8632395" cy="0"/>
          </a:xfrm>
          <a:prstGeom prst="straightConnector1">
            <a:avLst/>
          </a:prstGeom>
          <a:noFill/>
          <a:ln cap="rnd" cmpd="sng" w="9525">
            <a:solidFill>
              <a:srgbClr val="90C226"/>
            </a:solidFill>
            <a:prstDash val="solid"/>
            <a:round/>
            <a:headEnd len="sm" w="sm" type="none"/>
            <a:tailEnd len="sm" w="sm" type="none"/>
          </a:ln>
        </p:spPr>
      </p:cxnSp>
      <p:sp>
        <p:nvSpPr>
          <p:cNvPr id="648" name="Google Shape;648;p24"/>
          <p:cNvSpPr txBox="1"/>
          <p:nvPr/>
        </p:nvSpPr>
        <p:spPr>
          <a:xfrm>
            <a:off x="2091692" y="3267554"/>
            <a:ext cx="12523468" cy="1104900"/>
          </a:xfrm>
          <a:prstGeom prst="rect">
            <a:avLst/>
          </a:prstGeom>
          <a:noFill/>
          <a:ln>
            <a:noFill/>
          </a:ln>
        </p:spPr>
        <p:txBody>
          <a:bodyPr anchorCtr="0" anchor="t" bIns="0" lIns="0" spcFirstLastPara="1" rIns="0" wrap="square" tIns="0">
            <a:spAutoFit/>
          </a:bodyPr>
          <a:lstStyle/>
          <a:p>
            <a:pPr indent="-447040" lvl="1" marL="894080" marR="0" rtl="0" algn="l">
              <a:lnSpc>
                <a:spcPct val="120000"/>
              </a:lnSpc>
              <a:spcBef>
                <a:spcPts val="0"/>
              </a:spcBef>
              <a:spcAft>
                <a:spcPts val="0"/>
              </a:spcAft>
              <a:buClr>
                <a:srgbClr val="404040"/>
              </a:buClr>
              <a:buSzPts val="3600"/>
              <a:buFont typeface="Arial"/>
              <a:buChar char="•"/>
            </a:pPr>
            <a:r>
              <a:rPr b="0" i="0" lang="en-US" sz="3600" u="none" cap="none" strike="noStrike">
                <a:solidFill>
                  <a:srgbClr val="404040"/>
                </a:solidFill>
                <a:latin typeface="Trebuchet MS"/>
                <a:ea typeface="Trebuchet MS"/>
                <a:cs typeface="Trebuchet MS"/>
                <a:sym typeface="Trebuchet MS"/>
              </a:rPr>
              <a:t>Investigar sobre la herramienta Wireshark y describir la  captura de paquetes realizada de una pagina web.</a:t>
            </a:r>
            <a:endParaRPr/>
          </a:p>
        </p:txBody>
      </p:sp>
      <p:sp>
        <p:nvSpPr>
          <p:cNvPr id="649" name="Google Shape;649;p24"/>
          <p:cNvSpPr/>
          <p:nvPr/>
        </p:nvSpPr>
        <p:spPr>
          <a:xfrm>
            <a:off x="15638460" y="0"/>
            <a:ext cx="2649569" cy="10287000"/>
          </a:xfrm>
          <a:custGeom>
            <a:rect b="b" l="l" r="r" t="t"/>
            <a:pathLst>
              <a:path extrusionOk="0" h="13716000" w="3532759">
                <a:moveTo>
                  <a:pt x="0" y="0"/>
                </a:moveTo>
                <a:lnTo>
                  <a:pt x="3532759" y="0"/>
                </a:lnTo>
                <a:lnTo>
                  <a:pt x="3532759" y="13716000"/>
                </a:lnTo>
                <a:lnTo>
                  <a:pt x="3058033" y="13716000"/>
                </a:lnTo>
                <a:lnTo>
                  <a:pt x="0" y="0"/>
                </a:lnTo>
                <a:close/>
              </a:path>
            </a:pathLst>
          </a:custGeom>
          <a:solidFill>
            <a:srgbClr val="54A021"/>
          </a:solid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cxnSp>
        <p:nvCxnSpPr>
          <p:cNvPr id="654" name="Google Shape;654;p25"/>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655" name="Google Shape;655;p25"/>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656" name="Google Shape;656;p25"/>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657" name="Google Shape;657;p25"/>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658" name="Google Shape;658;p25"/>
          <p:cNvSpPr/>
          <p:nvPr/>
        </p:nvSpPr>
        <p:spPr>
          <a:xfrm>
            <a:off x="13398500"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659" name="Google Shape;659;p25"/>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660" name="Google Shape;660;p25"/>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661" name="Google Shape;661;p25"/>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662" name="Google Shape;662;p25"/>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663" name="Google Shape;663;p25"/>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cxnSp>
        <p:nvCxnSpPr>
          <p:cNvPr id="664" name="Google Shape;664;p25"/>
          <p:cNvCxnSpPr/>
          <p:nvPr/>
        </p:nvCxnSpPr>
        <p:spPr>
          <a:xfrm rot="4791364">
            <a:off x="9738485" y="5143500"/>
            <a:ext cx="10464869" cy="0"/>
          </a:xfrm>
          <a:prstGeom prst="straightConnector1">
            <a:avLst/>
          </a:prstGeom>
          <a:noFill/>
          <a:ln cap="rnd" cmpd="sng" w="9525">
            <a:solidFill>
              <a:srgbClr val="000000"/>
            </a:solidFill>
            <a:prstDash val="solid"/>
            <a:round/>
            <a:headEnd len="sm" w="sm" type="none"/>
            <a:tailEnd len="sm" w="sm" type="none"/>
          </a:ln>
        </p:spPr>
      </p:cxnSp>
      <p:cxnSp>
        <p:nvCxnSpPr>
          <p:cNvPr id="665" name="Google Shape;665;p25"/>
          <p:cNvCxnSpPr/>
          <p:nvPr/>
        </p:nvCxnSpPr>
        <p:spPr>
          <a:xfrm rot="8776574">
            <a:off x="10406483" y="7904560"/>
            <a:ext cx="8608175" cy="0"/>
          </a:xfrm>
          <a:prstGeom prst="straightConnector1">
            <a:avLst/>
          </a:prstGeom>
          <a:noFill/>
          <a:ln cap="rnd" cmpd="sng" w="9525">
            <a:solidFill>
              <a:srgbClr val="000000"/>
            </a:solidFill>
            <a:prstDash val="solid"/>
            <a:round/>
            <a:headEnd len="sm" w="sm" type="none"/>
            <a:tailEnd len="sm" w="sm" type="none"/>
          </a:ln>
        </p:spPr>
      </p:cxnSp>
      <p:sp>
        <p:nvSpPr>
          <p:cNvPr id="666" name="Google Shape;666;p25"/>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667" name="Google Shape;667;p25"/>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668" name="Google Shape;668;p25"/>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669" name="Google Shape;669;p25"/>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670" name="Google Shape;670;p25"/>
          <p:cNvSpPr/>
          <p:nvPr/>
        </p:nvSpPr>
        <p:spPr>
          <a:xfrm>
            <a:off x="16348097"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671" name="Google Shape;671;p25"/>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672" name="Google Shape;672;p25"/>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673" name="Google Shape;673;p25"/>
          <p:cNvSpPr/>
          <p:nvPr/>
        </p:nvSpPr>
        <p:spPr>
          <a:xfrm rot="10800000">
            <a:off x="22" y="-23"/>
            <a:ext cx="1263872" cy="8499254"/>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cxnSp>
        <p:nvCxnSpPr>
          <p:cNvPr id="674" name="Google Shape;674;p25"/>
          <p:cNvCxnSpPr/>
          <p:nvPr/>
        </p:nvCxnSpPr>
        <p:spPr>
          <a:xfrm rot="4791364">
            <a:off x="9738485"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675" name="Google Shape;675;p25"/>
          <p:cNvCxnSpPr/>
          <p:nvPr/>
        </p:nvCxnSpPr>
        <p:spPr>
          <a:xfrm rot="8776574">
            <a:off x="10406483" y="7904560"/>
            <a:ext cx="8608175" cy="0"/>
          </a:xfrm>
          <a:prstGeom prst="straightConnector1">
            <a:avLst/>
          </a:prstGeom>
          <a:noFill/>
          <a:ln cap="rnd" cmpd="sng" w="9525">
            <a:solidFill>
              <a:srgbClr val="000000"/>
            </a:solidFill>
            <a:prstDash val="solid"/>
            <a:round/>
            <a:headEnd len="sm" w="sm" type="none"/>
            <a:tailEnd len="sm" w="sm" type="none"/>
          </a:ln>
        </p:spPr>
      </p:cxnSp>
      <p:sp>
        <p:nvSpPr>
          <p:cNvPr id="676" name="Google Shape;676;p25"/>
          <p:cNvSpPr/>
          <p:nvPr/>
        </p:nvSpPr>
        <p:spPr>
          <a:xfrm>
            <a:off x="13772216" y="-12700"/>
            <a:ext cx="4511040"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677" name="Google Shape;677;p25"/>
          <p:cNvSpPr/>
          <p:nvPr/>
        </p:nvSpPr>
        <p:spPr>
          <a:xfrm>
            <a:off x="14405165" y="-12700"/>
            <a:ext cx="3882865"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678" name="Google Shape;678;p25"/>
          <p:cNvSpPr/>
          <p:nvPr/>
        </p:nvSpPr>
        <p:spPr>
          <a:xfrm>
            <a:off x="13398501" y="4572000"/>
            <a:ext cx="4889468"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679" name="Google Shape;679;p25"/>
          <p:cNvSpPr/>
          <p:nvPr/>
        </p:nvSpPr>
        <p:spPr>
          <a:xfrm>
            <a:off x="14001752" y="-12700"/>
            <a:ext cx="4281487"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680" name="Google Shape;680;p25"/>
          <p:cNvSpPr/>
          <p:nvPr/>
        </p:nvSpPr>
        <p:spPr>
          <a:xfrm>
            <a:off x="16408500" y="-12700"/>
            <a:ext cx="1874711"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681" name="Google Shape;681;p25"/>
          <p:cNvSpPr/>
          <p:nvPr/>
        </p:nvSpPr>
        <p:spPr>
          <a:xfrm>
            <a:off x="15557501" y="5384801"/>
            <a:ext cx="2725770"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682" name="Google Shape;682;p25"/>
          <p:cNvSpPr/>
          <p:nvPr/>
        </p:nvSpPr>
        <p:spPr>
          <a:xfrm rot="10800000">
            <a:off x="22" y="-23"/>
            <a:ext cx="1263872" cy="8499254"/>
          </a:xfrm>
          <a:custGeom>
            <a:rect b="b" l="l" r="r" t="t"/>
            <a:pathLst>
              <a:path extrusionOk="0" h="11332337" w="1685163">
                <a:moveTo>
                  <a:pt x="0" y="11332337"/>
                </a:moveTo>
                <a:lnTo>
                  <a:pt x="1685163" y="0"/>
                </a:lnTo>
                <a:lnTo>
                  <a:pt x="1685163" y="11332337"/>
                </a:lnTo>
                <a:close/>
              </a:path>
            </a:pathLst>
          </a:custGeom>
          <a:solidFill>
            <a:srgbClr val="90C226">
              <a:alpha val="84705"/>
            </a:srgbClr>
          </a:solidFill>
          <a:ln>
            <a:noFill/>
          </a:ln>
        </p:spPr>
      </p:sp>
      <p:sp>
        <p:nvSpPr>
          <p:cNvPr id="683" name="Google Shape;683;p25"/>
          <p:cNvSpPr txBox="1"/>
          <p:nvPr/>
        </p:nvSpPr>
        <p:spPr>
          <a:xfrm>
            <a:off x="2352040" y="4845243"/>
            <a:ext cx="11467524" cy="1185291"/>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8400" u="none" cap="none" strike="noStrike">
                <a:solidFill>
                  <a:srgbClr val="90C226"/>
                </a:solidFill>
                <a:latin typeface="Trebuchet MS"/>
                <a:ea typeface="Trebuchet MS"/>
                <a:cs typeface="Trebuchet MS"/>
                <a:sym typeface="Trebuchet MS"/>
              </a:rPr>
              <a:t>¡Gracias por su atención!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cxnSp>
        <p:nvCxnSpPr>
          <p:cNvPr id="688" name="Google Shape;688;p26"/>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689" name="Google Shape;689;p26"/>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690" name="Google Shape;690;p26"/>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691" name="Google Shape;691;p26"/>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692" name="Google Shape;692;p26"/>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693" name="Google Shape;693;p26"/>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694" name="Google Shape;694;p26"/>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695" name="Google Shape;695;p26"/>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696" name="Google Shape;696;p26"/>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697" name="Google Shape;697;p26"/>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698" name="Google Shape;698;p26"/>
          <p:cNvSpPr/>
          <p:nvPr/>
        </p:nvSpPr>
        <p:spPr>
          <a:xfrm>
            <a:off x="16902" y="0"/>
            <a:ext cx="18254196" cy="10286998"/>
          </a:xfrm>
          <a:custGeom>
            <a:rect b="b" l="l" r="r" t="t"/>
            <a:pathLst>
              <a:path extrusionOk="0" h="10286998" w="18254196">
                <a:moveTo>
                  <a:pt x="0" y="0"/>
                </a:moveTo>
                <a:lnTo>
                  <a:pt x="18254196" y="0"/>
                </a:lnTo>
                <a:lnTo>
                  <a:pt x="18254196" y="10286998"/>
                </a:lnTo>
                <a:lnTo>
                  <a:pt x="0" y="10286998"/>
                </a:lnTo>
                <a:lnTo>
                  <a:pt x="0" y="0"/>
                </a:lnTo>
                <a:close/>
              </a:path>
            </a:pathLst>
          </a:custGeom>
          <a:blipFill rotWithShape="1">
            <a:blip r:embed="rId3">
              <a:alphaModFix/>
            </a:blip>
            <a:stretch>
              <a:fillRect b="0" l="0" r="0" t="0"/>
            </a:stretch>
          </a:blipFill>
          <a:ln>
            <a:noFill/>
          </a:ln>
        </p:spPr>
      </p:sp>
      <p:graphicFrame>
        <p:nvGraphicFramePr>
          <p:cNvPr id="699" name="Google Shape;699;p26"/>
          <p:cNvGraphicFramePr/>
          <p:nvPr/>
        </p:nvGraphicFramePr>
        <p:xfrm>
          <a:off x="7374" y="1497724"/>
          <a:ext cx="3000000" cy="3000000"/>
        </p:xfrm>
        <a:graphic>
          <a:graphicData uri="http://schemas.openxmlformats.org/drawingml/2006/table">
            <a:tbl>
              <a:tblPr>
                <a:noFill/>
                <a:tableStyleId>{C13AD8A3-E456-437A-9F4A-39C497D850FE}</a:tableStyleId>
              </a:tblPr>
              <a:tblGrid>
                <a:gridCol w="5507025"/>
                <a:gridCol w="4906975"/>
              </a:tblGrid>
              <a:tr h="79435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Arial"/>
                          <a:ea typeface="Arial"/>
                          <a:cs typeface="Arial"/>
                          <a:sym typeface="Arial"/>
                        </a:rPr>
                        <a:t>Nombre de la actividad:</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7"/>
                        </a:lnSpc>
                        <a:spcBef>
                          <a:spcPts val="0"/>
                        </a:spcBef>
                        <a:spcAft>
                          <a:spcPts val="0"/>
                        </a:spcAft>
                        <a:buNone/>
                      </a:pPr>
                      <a:r>
                        <a:rPr lang="en-US" sz="2799" u="none" cap="none" strike="noStrike">
                          <a:solidFill>
                            <a:srgbClr val="000000"/>
                          </a:solidFill>
                          <a:latin typeface="Arimo"/>
                          <a:ea typeface="Arimo"/>
                          <a:cs typeface="Arimo"/>
                          <a:sym typeface="Arimo"/>
                        </a:rPr>
                        <a:t>Examen final</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9435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Arial"/>
                          <a:ea typeface="Arial"/>
                          <a:cs typeface="Arial"/>
                          <a:sym typeface="Arial"/>
                        </a:rPr>
                        <a:t>Cantidad de participantes:</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65</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05300">
                <a:tc>
                  <a:txBody>
                    <a:bodyPr/>
                    <a:lstStyle/>
                    <a:p>
                      <a:pPr indent="0" lvl="0" marL="0" marR="0" rtl="0" algn="l">
                        <a:lnSpc>
                          <a:spcPct val="121722"/>
                        </a:lnSpc>
                        <a:spcBef>
                          <a:spcPts val="0"/>
                        </a:spcBef>
                        <a:spcAft>
                          <a:spcPts val="0"/>
                        </a:spcAft>
                        <a:buNone/>
                      </a:pPr>
                      <a:r>
                        <a:rPr b="1" lang="en-US" sz="2799" u="none" cap="none" strike="noStrike">
                          <a:solidFill>
                            <a:srgbClr val="000000"/>
                          </a:solidFill>
                          <a:latin typeface="Arial"/>
                          <a:ea typeface="Arial"/>
                          <a:cs typeface="Arial"/>
                          <a:sym typeface="Arial"/>
                        </a:rPr>
                        <a:t>Doy fe que esta actividad está  planificada en dtt (Sí/No):</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5"/>
                        </a:lnSpc>
                        <a:spcBef>
                          <a:spcPts val="0"/>
                        </a:spcBef>
                        <a:spcAft>
                          <a:spcPts val="0"/>
                        </a:spcAft>
                        <a:buNone/>
                      </a:pPr>
                      <a:r>
                        <a:rPr b="1" lang="en-US" sz="3499" u="none" cap="none" strike="noStrike">
                          <a:solidFill>
                            <a:srgbClr val="000000"/>
                          </a:solidFill>
                          <a:latin typeface="Arimo"/>
                          <a:ea typeface="Arimo"/>
                          <a:cs typeface="Arimo"/>
                          <a:sym typeface="Arimo"/>
                        </a:rPr>
                        <a:t>Si</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00" name="Google Shape;700;p26"/>
          <p:cNvSpPr txBox="1"/>
          <p:nvPr/>
        </p:nvSpPr>
        <p:spPr>
          <a:xfrm>
            <a:off x="146050" y="4369274"/>
            <a:ext cx="14761210" cy="52197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Participantes: llenar las siguientes cajas de texto (tomar información del chat del meet)</a:t>
            </a:r>
            <a:endParaRPr/>
          </a:p>
        </p:txBody>
      </p:sp>
      <p:graphicFrame>
        <p:nvGraphicFramePr>
          <p:cNvPr id="701" name="Google Shape;701;p26"/>
          <p:cNvGraphicFramePr/>
          <p:nvPr/>
        </p:nvGraphicFramePr>
        <p:xfrm>
          <a:off x="10646874" y="1930524"/>
          <a:ext cx="3000000" cy="3000000"/>
        </p:xfrm>
        <a:graphic>
          <a:graphicData uri="http://schemas.openxmlformats.org/drawingml/2006/table">
            <a:tbl>
              <a:tblPr>
                <a:noFill/>
                <a:tableStyleId>{C13AD8A3-E456-437A-9F4A-39C497D850FE}</a:tableStyleId>
              </a:tblPr>
              <a:tblGrid>
                <a:gridCol w="3036975"/>
                <a:gridCol w="4329025"/>
              </a:tblGrid>
              <a:tr h="78740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Arial"/>
                          <a:ea typeface="Arial"/>
                          <a:cs typeface="Arial"/>
                          <a:sym typeface="Arial"/>
                        </a:rPr>
                        <a:t>Hora de inicio:</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7"/>
                        </a:lnSpc>
                        <a:spcBef>
                          <a:spcPts val="0"/>
                        </a:spcBef>
                        <a:spcAft>
                          <a:spcPts val="0"/>
                        </a:spcAft>
                        <a:buNone/>
                      </a:pPr>
                      <a:r>
                        <a:rPr lang="en-US" sz="2799" u="none" cap="none" strike="noStrike">
                          <a:solidFill>
                            <a:srgbClr val="000000"/>
                          </a:solidFill>
                          <a:latin typeface="Arimo"/>
                          <a:ea typeface="Arimo"/>
                          <a:cs typeface="Arimo"/>
                          <a:sym typeface="Arimo"/>
                        </a:rPr>
                        <a:t>18:20</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8740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Arial"/>
                          <a:ea typeface="Arial"/>
                          <a:cs typeface="Arial"/>
                          <a:sym typeface="Arial"/>
                        </a:rPr>
                        <a:t>Hora de fin:</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7"/>
                        </a:lnSpc>
                        <a:spcBef>
                          <a:spcPts val="0"/>
                        </a:spcBef>
                        <a:spcAft>
                          <a:spcPts val="0"/>
                        </a:spcAft>
                        <a:buNone/>
                      </a:pPr>
                      <a:r>
                        <a:rPr lang="en-US" sz="2799" u="none" cap="none" strike="noStrike">
                          <a:solidFill>
                            <a:srgbClr val="000000"/>
                          </a:solidFill>
                          <a:latin typeface="Arimo"/>
                          <a:ea typeface="Arimo"/>
                          <a:cs typeface="Arimo"/>
                          <a:sym typeface="Arimo"/>
                        </a:rPr>
                        <a:t>19:00</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8740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Arial"/>
                          <a:ea typeface="Arial"/>
                          <a:cs typeface="Arial"/>
                          <a:sym typeface="Arial"/>
                        </a:rPr>
                        <a:t>Duración (min):</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7"/>
                        </a:lnSpc>
                        <a:spcBef>
                          <a:spcPts val="0"/>
                        </a:spcBef>
                        <a:spcAft>
                          <a:spcPts val="0"/>
                        </a:spcAft>
                        <a:buNone/>
                      </a:pPr>
                      <a:r>
                        <a:rPr lang="en-US" sz="2799" u="none" cap="none" strike="noStrike">
                          <a:solidFill>
                            <a:srgbClr val="000000"/>
                          </a:solidFill>
                          <a:latin typeface="Arimo"/>
                          <a:ea typeface="Arimo"/>
                          <a:cs typeface="Arimo"/>
                          <a:sym typeface="Arimo"/>
                        </a:rPr>
                        <a:t>40</a:t>
                      </a:r>
                      <a:endParaRPr sz="1100" u="none" cap="none" strike="noStrike"/>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pSp>
        <p:nvGrpSpPr>
          <p:cNvPr id="702" name="Google Shape;702;p26"/>
          <p:cNvGrpSpPr/>
          <p:nvPr/>
        </p:nvGrpSpPr>
        <p:grpSpPr>
          <a:xfrm>
            <a:off x="12477725" y="4927223"/>
            <a:ext cx="5821966" cy="5359813"/>
            <a:chOff x="0" y="0"/>
            <a:chExt cx="7762621" cy="7146417"/>
          </a:xfrm>
        </p:grpSpPr>
        <p:sp>
          <p:nvSpPr>
            <p:cNvPr id="703" name="Google Shape;703;p26"/>
            <p:cNvSpPr/>
            <p:nvPr/>
          </p:nvSpPr>
          <p:spPr>
            <a:xfrm>
              <a:off x="38100" y="0"/>
              <a:ext cx="7724521" cy="7146417"/>
            </a:xfrm>
            <a:custGeom>
              <a:rect b="b" l="l" r="r" t="t"/>
              <a:pathLst>
                <a:path extrusionOk="0" h="7146417" w="7724521">
                  <a:moveTo>
                    <a:pt x="0" y="0"/>
                  </a:moveTo>
                  <a:lnTo>
                    <a:pt x="7686421" y="0"/>
                  </a:lnTo>
                  <a:cubicBezTo>
                    <a:pt x="7707502" y="0"/>
                    <a:pt x="7724521" y="17018"/>
                    <a:pt x="7724521" y="38100"/>
                  </a:cubicBezTo>
                  <a:lnTo>
                    <a:pt x="7724521" y="7146417"/>
                  </a:lnTo>
                  <a:lnTo>
                    <a:pt x="7648321" y="7146417"/>
                  </a:lnTo>
                  <a:lnTo>
                    <a:pt x="7648321" y="38100"/>
                  </a:lnTo>
                  <a:lnTo>
                    <a:pt x="7686421" y="38100"/>
                  </a:lnTo>
                  <a:lnTo>
                    <a:pt x="7686421" y="76200"/>
                  </a:lnTo>
                  <a:lnTo>
                    <a:pt x="0" y="7620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6"/>
            <p:cNvSpPr/>
            <p:nvPr/>
          </p:nvSpPr>
          <p:spPr>
            <a:xfrm>
              <a:off x="0" y="38100"/>
              <a:ext cx="76200" cy="7108317"/>
            </a:xfrm>
            <a:custGeom>
              <a:rect b="b" l="l" r="r" t="t"/>
              <a:pathLst>
                <a:path extrusionOk="0" h="7108317" w="76200">
                  <a:moveTo>
                    <a:pt x="0" y="7108317"/>
                  </a:moveTo>
                  <a:lnTo>
                    <a:pt x="0" y="0"/>
                  </a:lnTo>
                  <a:lnTo>
                    <a:pt x="76200" y="0"/>
                  </a:lnTo>
                  <a:lnTo>
                    <a:pt x="76200" y="7108317"/>
                  </a:lnTo>
                  <a:close/>
                </a:path>
              </a:pathLst>
            </a:custGeom>
            <a:solidFill>
              <a:srgbClr val="000000"/>
            </a:solidFill>
            <a:ln>
              <a:noFill/>
            </a:ln>
          </p:spPr>
        </p:sp>
      </p:grpSp>
      <p:grpSp>
        <p:nvGrpSpPr>
          <p:cNvPr id="705" name="Google Shape;705;p26"/>
          <p:cNvGrpSpPr/>
          <p:nvPr/>
        </p:nvGrpSpPr>
        <p:grpSpPr>
          <a:xfrm>
            <a:off x="390923" y="4927223"/>
            <a:ext cx="5821966" cy="5359813"/>
            <a:chOff x="0" y="0"/>
            <a:chExt cx="7762621" cy="7146417"/>
          </a:xfrm>
        </p:grpSpPr>
        <p:sp>
          <p:nvSpPr>
            <p:cNvPr id="706" name="Google Shape;706;p26"/>
            <p:cNvSpPr/>
            <p:nvPr/>
          </p:nvSpPr>
          <p:spPr>
            <a:xfrm>
              <a:off x="38100" y="0"/>
              <a:ext cx="7724521" cy="7146417"/>
            </a:xfrm>
            <a:custGeom>
              <a:rect b="b" l="l" r="r" t="t"/>
              <a:pathLst>
                <a:path extrusionOk="0" h="7146417" w="7724521">
                  <a:moveTo>
                    <a:pt x="0" y="0"/>
                  </a:moveTo>
                  <a:lnTo>
                    <a:pt x="7686421" y="0"/>
                  </a:lnTo>
                  <a:cubicBezTo>
                    <a:pt x="7707502" y="0"/>
                    <a:pt x="7724521" y="17018"/>
                    <a:pt x="7724521" y="38100"/>
                  </a:cubicBezTo>
                  <a:lnTo>
                    <a:pt x="7724521" y="7146417"/>
                  </a:lnTo>
                  <a:lnTo>
                    <a:pt x="7648321" y="7146417"/>
                  </a:lnTo>
                  <a:lnTo>
                    <a:pt x="7648321" y="38100"/>
                  </a:lnTo>
                  <a:lnTo>
                    <a:pt x="7686421" y="38100"/>
                  </a:lnTo>
                  <a:lnTo>
                    <a:pt x="7686421" y="76200"/>
                  </a:lnTo>
                  <a:lnTo>
                    <a:pt x="0" y="7620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6"/>
            <p:cNvSpPr/>
            <p:nvPr/>
          </p:nvSpPr>
          <p:spPr>
            <a:xfrm>
              <a:off x="0" y="38100"/>
              <a:ext cx="76200" cy="7108317"/>
            </a:xfrm>
            <a:custGeom>
              <a:rect b="b" l="l" r="r" t="t"/>
              <a:pathLst>
                <a:path extrusionOk="0" h="7108317" w="76200">
                  <a:moveTo>
                    <a:pt x="0" y="7108317"/>
                  </a:moveTo>
                  <a:lnTo>
                    <a:pt x="0" y="0"/>
                  </a:lnTo>
                  <a:lnTo>
                    <a:pt x="76200" y="0"/>
                  </a:lnTo>
                  <a:lnTo>
                    <a:pt x="76200" y="7108317"/>
                  </a:lnTo>
                  <a:close/>
                </a:path>
              </a:pathLst>
            </a:custGeom>
            <a:solidFill>
              <a:srgbClr val="000000"/>
            </a:solidFill>
            <a:ln>
              <a:noFill/>
            </a:ln>
          </p:spPr>
        </p:sp>
      </p:grpSp>
      <p:grpSp>
        <p:nvGrpSpPr>
          <p:cNvPr id="708" name="Google Shape;708;p26"/>
          <p:cNvGrpSpPr/>
          <p:nvPr/>
        </p:nvGrpSpPr>
        <p:grpSpPr>
          <a:xfrm>
            <a:off x="6434325" y="4927223"/>
            <a:ext cx="5821966" cy="5359813"/>
            <a:chOff x="0" y="0"/>
            <a:chExt cx="7762621" cy="7146417"/>
          </a:xfrm>
        </p:grpSpPr>
        <p:sp>
          <p:nvSpPr>
            <p:cNvPr id="709" name="Google Shape;709;p26"/>
            <p:cNvSpPr/>
            <p:nvPr/>
          </p:nvSpPr>
          <p:spPr>
            <a:xfrm>
              <a:off x="38100" y="0"/>
              <a:ext cx="7724521" cy="7146417"/>
            </a:xfrm>
            <a:custGeom>
              <a:rect b="b" l="l" r="r" t="t"/>
              <a:pathLst>
                <a:path extrusionOk="0" h="7146417" w="7724521">
                  <a:moveTo>
                    <a:pt x="0" y="0"/>
                  </a:moveTo>
                  <a:lnTo>
                    <a:pt x="7686421" y="0"/>
                  </a:lnTo>
                  <a:cubicBezTo>
                    <a:pt x="7707502" y="0"/>
                    <a:pt x="7724521" y="17018"/>
                    <a:pt x="7724521" y="38100"/>
                  </a:cubicBezTo>
                  <a:lnTo>
                    <a:pt x="7724521" y="7146417"/>
                  </a:lnTo>
                  <a:lnTo>
                    <a:pt x="7648321" y="7146417"/>
                  </a:lnTo>
                  <a:lnTo>
                    <a:pt x="7648321" y="38100"/>
                  </a:lnTo>
                  <a:lnTo>
                    <a:pt x="7686421" y="38100"/>
                  </a:lnTo>
                  <a:lnTo>
                    <a:pt x="7686421" y="76200"/>
                  </a:lnTo>
                  <a:lnTo>
                    <a:pt x="0" y="7620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6"/>
            <p:cNvSpPr/>
            <p:nvPr/>
          </p:nvSpPr>
          <p:spPr>
            <a:xfrm>
              <a:off x="0" y="38100"/>
              <a:ext cx="76200" cy="7108317"/>
            </a:xfrm>
            <a:custGeom>
              <a:rect b="b" l="l" r="r" t="t"/>
              <a:pathLst>
                <a:path extrusionOk="0" h="7108317" w="76200">
                  <a:moveTo>
                    <a:pt x="0" y="7108317"/>
                  </a:moveTo>
                  <a:lnTo>
                    <a:pt x="0" y="0"/>
                  </a:lnTo>
                  <a:lnTo>
                    <a:pt x="76200" y="0"/>
                  </a:lnTo>
                  <a:lnTo>
                    <a:pt x="76200" y="7108317"/>
                  </a:lnTo>
                  <a:close/>
                </a:path>
              </a:pathLst>
            </a:custGeom>
            <a:solidFill>
              <a:srgbClr val="000000"/>
            </a:solidFill>
            <a:ln>
              <a:noFill/>
            </a:ln>
          </p:spPr>
        </p:sp>
      </p:grpSp>
      <p:sp>
        <p:nvSpPr>
          <p:cNvPr id="711" name="Google Shape;711;p26"/>
          <p:cNvSpPr txBox="1"/>
          <p:nvPr/>
        </p:nvSpPr>
        <p:spPr>
          <a:xfrm>
            <a:off x="336550" y="5005074"/>
            <a:ext cx="5822950" cy="528319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201906444 - Saul Jafet Menchu Recinos</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201900042 - Rodrigo Alejandro Hernández</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202112145 - Daniel Cuque</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201801290 - Brian Emmanuel Riad Matus</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202109567 - Alvaro Norberto García Meza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202010918 - Andrea María Cabrera Rosito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201404278 - Christopher Alexander Acajabon</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202110568 - Damián Ignacio Peña Afre</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201700522 - Walter Gustavo Cotí Xalin</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202010223 - Luis Angel Barrera Velásquez</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202004812 - Fredy Samuel Quijada Ceballos</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202003381 - Luisa María Ortíz Romero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201700945 - Bryan Gerardo Páez Morales</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201114236 - José Fernando Recinos Acuté</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201801119 - Edgardo Andrés Nil Guzmán</a:t>
            </a:r>
            <a:endParaRPr/>
          </a:p>
        </p:txBody>
      </p:sp>
      <p:sp>
        <p:nvSpPr>
          <p:cNvPr id="712" name="Google Shape;712;p26"/>
          <p:cNvSpPr txBox="1"/>
          <p:nvPr/>
        </p:nvSpPr>
        <p:spPr>
          <a:xfrm>
            <a:off x="6425606" y="5005074"/>
            <a:ext cx="5822950" cy="528319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201701081 - Pablo Rufino Quevedo Berdúo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201901756 - José Andrés López Pineda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201403541 - Uzzi Libni Aaron Pineda Solorzano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201700339 - Luis Fernando Sánchez Soto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202003959 - Angel Eduardo Marroquín Canizales202010014-Marco Alexander de León </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201906085 - Sebastian Alejandro de Leon</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201314564 - Ronald Geovany Ordoñez Xiloj</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201900576 - Brayan Alexander Mejia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201700770 - Diego Alejandro Juarez Bran</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202003926 - Josué Daniel Mínchez Velásquez</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201503841- Josseline Suseth Godinez García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201701095 - Elder Obdulio Calderon Navarijo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201901598 - Juan Pablo García Ceballos</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201901069- Wuilmar Hamilton López García</a:t>
            </a:r>
            <a:endParaRPr/>
          </a:p>
        </p:txBody>
      </p:sp>
      <p:sp>
        <p:nvSpPr>
          <p:cNvPr id="713" name="Google Shape;713;p26"/>
          <p:cNvSpPr txBox="1"/>
          <p:nvPr/>
        </p:nvSpPr>
        <p:spPr>
          <a:xfrm>
            <a:off x="12448148" y="5005074"/>
            <a:ext cx="5822950" cy="528319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201602805 - María Julissa García Morán</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201504464 - Herberth Abisai Avila Ruiz</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202003894 - Estuardo Gabriel Son Mux</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201901807 - Oward Oward Francisco Alberi </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200530614 - Eduardo Ismael Llamas Calderón</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201700672 - Bryan Vladimir Hernández Del Cid</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201807253 - Brian Josue Erazo Sagastume</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201403907 - Marlon Javier Cabrera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202010816 - César André Ramírez Dávila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202010893 - Cristian Daniel Pereira Tezagüic</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201905743 - José Valerio Choc Mijangos</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200715274 - Sergio Felipe Zapeta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201901121 - Carlos Javier Castro Gonzalez</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202110773 - Joshua David Osorio Tally</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201901772 - Daniel Reginaldo Dubón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cxnSp>
        <p:nvCxnSpPr>
          <p:cNvPr id="718" name="Google Shape;718;p27"/>
          <p:cNvCxnSpPr/>
          <p:nvPr/>
        </p:nvCxnSpPr>
        <p:spPr>
          <a:xfrm rot="4791364">
            <a:off x="9738483" y="5143500"/>
            <a:ext cx="10464869" cy="0"/>
          </a:xfrm>
          <a:prstGeom prst="straightConnector1">
            <a:avLst/>
          </a:prstGeom>
          <a:noFill/>
          <a:ln cap="rnd" cmpd="sng" w="9525">
            <a:solidFill>
              <a:srgbClr val="FFFFFF"/>
            </a:solidFill>
            <a:prstDash val="solid"/>
            <a:round/>
            <a:headEnd len="sm" w="sm" type="none"/>
            <a:tailEnd len="sm" w="sm" type="none"/>
          </a:ln>
        </p:spPr>
      </p:cxnSp>
      <p:cxnSp>
        <p:nvCxnSpPr>
          <p:cNvPr id="719" name="Google Shape;719;p27"/>
          <p:cNvCxnSpPr/>
          <p:nvPr/>
        </p:nvCxnSpPr>
        <p:spPr>
          <a:xfrm rot="8776574">
            <a:off x="10406482" y="7904560"/>
            <a:ext cx="8608174" cy="0"/>
          </a:xfrm>
          <a:prstGeom prst="straightConnector1">
            <a:avLst/>
          </a:prstGeom>
          <a:noFill/>
          <a:ln cap="rnd" cmpd="sng" w="9525">
            <a:solidFill>
              <a:srgbClr val="FFFFFF"/>
            </a:solidFill>
            <a:prstDash val="solid"/>
            <a:round/>
            <a:headEnd len="sm" w="sm" type="none"/>
            <a:tailEnd len="sm" w="sm" type="none"/>
          </a:ln>
        </p:spPr>
      </p:cxnSp>
      <p:sp>
        <p:nvSpPr>
          <p:cNvPr id="720" name="Google Shape;720;p27"/>
          <p:cNvSpPr/>
          <p:nvPr/>
        </p:nvSpPr>
        <p:spPr>
          <a:xfrm>
            <a:off x="13772214" y="-12700"/>
            <a:ext cx="4511041" cy="10299668"/>
          </a:xfrm>
          <a:custGeom>
            <a:rect b="b" l="l" r="r" t="t"/>
            <a:pathLst>
              <a:path extrusionOk="0" h="13732890" w="6014720">
                <a:moveTo>
                  <a:pt x="4091051" y="0"/>
                </a:moveTo>
                <a:lnTo>
                  <a:pt x="6014720" y="0"/>
                </a:lnTo>
                <a:lnTo>
                  <a:pt x="6014720" y="13732890"/>
                </a:lnTo>
                <a:lnTo>
                  <a:pt x="0" y="13732890"/>
                </a:lnTo>
                <a:lnTo>
                  <a:pt x="4091051" y="0"/>
                </a:lnTo>
                <a:close/>
              </a:path>
            </a:pathLst>
          </a:custGeom>
          <a:solidFill>
            <a:srgbClr val="90C226">
              <a:alpha val="29803"/>
            </a:srgbClr>
          </a:solidFill>
          <a:ln>
            <a:noFill/>
          </a:ln>
        </p:spPr>
      </p:sp>
      <p:sp>
        <p:nvSpPr>
          <p:cNvPr id="721" name="Google Shape;721;p27"/>
          <p:cNvSpPr/>
          <p:nvPr/>
        </p:nvSpPr>
        <p:spPr>
          <a:xfrm>
            <a:off x="14405163" y="-12700"/>
            <a:ext cx="3882866" cy="10299668"/>
          </a:xfrm>
          <a:custGeom>
            <a:rect b="b" l="l" r="r" t="t"/>
            <a:pathLst>
              <a:path extrusionOk="0" h="13732890" w="5177155">
                <a:moveTo>
                  <a:pt x="0" y="0"/>
                </a:moveTo>
                <a:lnTo>
                  <a:pt x="5177155" y="0"/>
                </a:lnTo>
                <a:lnTo>
                  <a:pt x="5177155" y="13732890"/>
                </a:lnTo>
                <a:lnTo>
                  <a:pt x="2418969" y="13732890"/>
                </a:lnTo>
                <a:lnTo>
                  <a:pt x="0" y="0"/>
                </a:lnTo>
                <a:close/>
              </a:path>
            </a:pathLst>
          </a:custGeom>
          <a:solidFill>
            <a:srgbClr val="90C226">
              <a:alpha val="19607"/>
            </a:srgbClr>
          </a:solidFill>
          <a:ln>
            <a:noFill/>
          </a:ln>
        </p:spPr>
      </p:sp>
      <p:sp>
        <p:nvSpPr>
          <p:cNvPr id="722" name="Google Shape;722;p27"/>
          <p:cNvSpPr/>
          <p:nvPr/>
        </p:nvSpPr>
        <p:spPr>
          <a:xfrm>
            <a:off x="13398499" y="4572000"/>
            <a:ext cx="4889469" cy="5715000"/>
          </a:xfrm>
          <a:custGeom>
            <a:rect b="b" l="l" r="r" t="t"/>
            <a:pathLst>
              <a:path extrusionOk="0" h="7620000" w="6519291">
                <a:moveTo>
                  <a:pt x="0" y="7620000"/>
                </a:moveTo>
                <a:lnTo>
                  <a:pt x="6519291" y="0"/>
                </a:lnTo>
                <a:lnTo>
                  <a:pt x="6519291" y="7620000"/>
                </a:lnTo>
                <a:close/>
              </a:path>
            </a:pathLst>
          </a:custGeom>
          <a:solidFill>
            <a:srgbClr val="54A021">
              <a:alpha val="71764"/>
            </a:srgbClr>
          </a:solidFill>
          <a:ln>
            <a:noFill/>
          </a:ln>
        </p:spPr>
      </p:sp>
      <p:sp>
        <p:nvSpPr>
          <p:cNvPr id="723" name="Google Shape;723;p27"/>
          <p:cNvSpPr/>
          <p:nvPr/>
        </p:nvSpPr>
        <p:spPr>
          <a:xfrm>
            <a:off x="14001750" y="-12700"/>
            <a:ext cx="4281488" cy="10299668"/>
          </a:xfrm>
          <a:custGeom>
            <a:rect b="b" l="l" r="r" t="t"/>
            <a:pathLst>
              <a:path extrusionOk="0" h="13732890" w="5708650">
                <a:moveTo>
                  <a:pt x="0" y="0"/>
                </a:moveTo>
                <a:lnTo>
                  <a:pt x="5708650" y="0"/>
                </a:lnTo>
                <a:lnTo>
                  <a:pt x="5708650" y="13732890"/>
                </a:lnTo>
                <a:lnTo>
                  <a:pt x="4941443" y="13732890"/>
                </a:lnTo>
                <a:lnTo>
                  <a:pt x="0" y="0"/>
                </a:lnTo>
                <a:close/>
              </a:path>
            </a:pathLst>
          </a:custGeom>
          <a:solidFill>
            <a:srgbClr val="3F7819">
              <a:alpha val="69803"/>
            </a:srgbClr>
          </a:solidFill>
          <a:ln>
            <a:noFill/>
          </a:ln>
        </p:spPr>
      </p:sp>
      <p:sp>
        <p:nvSpPr>
          <p:cNvPr id="724" name="Google Shape;724;p27"/>
          <p:cNvSpPr/>
          <p:nvPr/>
        </p:nvSpPr>
        <p:spPr>
          <a:xfrm>
            <a:off x="16348095" y="-12700"/>
            <a:ext cx="1935194" cy="10299668"/>
          </a:xfrm>
          <a:custGeom>
            <a:rect b="b" l="l" r="r" t="t"/>
            <a:pathLst>
              <a:path extrusionOk="0" h="13732890" w="2580259">
                <a:moveTo>
                  <a:pt x="2039493" y="0"/>
                </a:moveTo>
                <a:lnTo>
                  <a:pt x="2580259" y="0"/>
                </a:lnTo>
                <a:lnTo>
                  <a:pt x="2580259" y="13732890"/>
                </a:lnTo>
                <a:lnTo>
                  <a:pt x="0" y="13732890"/>
                </a:lnTo>
                <a:lnTo>
                  <a:pt x="2039493" y="0"/>
                </a:lnTo>
                <a:close/>
              </a:path>
            </a:pathLst>
          </a:custGeom>
          <a:solidFill>
            <a:srgbClr val="C0E474">
              <a:alpha val="69803"/>
            </a:srgbClr>
          </a:solidFill>
          <a:ln>
            <a:noFill/>
          </a:ln>
        </p:spPr>
      </p:sp>
      <p:sp>
        <p:nvSpPr>
          <p:cNvPr id="725" name="Google Shape;725;p27"/>
          <p:cNvSpPr/>
          <p:nvPr/>
        </p:nvSpPr>
        <p:spPr>
          <a:xfrm>
            <a:off x="16408499" y="-12700"/>
            <a:ext cx="1874710" cy="10299668"/>
          </a:xfrm>
          <a:custGeom>
            <a:rect b="b" l="l" r="r" t="t"/>
            <a:pathLst>
              <a:path extrusionOk="0" h="13732890" w="2499614">
                <a:moveTo>
                  <a:pt x="0" y="0"/>
                </a:moveTo>
                <a:lnTo>
                  <a:pt x="2499614" y="0"/>
                </a:lnTo>
                <a:lnTo>
                  <a:pt x="2499614" y="13732890"/>
                </a:lnTo>
                <a:lnTo>
                  <a:pt x="2218817" y="13732890"/>
                </a:lnTo>
                <a:lnTo>
                  <a:pt x="0" y="0"/>
                </a:lnTo>
                <a:close/>
              </a:path>
            </a:pathLst>
          </a:custGeom>
          <a:solidFill>
            <a:srgbClr val="90C226">
              <a:alpha val="64705"/>
            </a:srgbClr>
          </a:solidFill>
          <a:ln>
            <a:noFill/>
          </a:ln>
        </p:spPr>
      </p:sp>
      <p:sp>
        <p:nvSpPr>
          <p:cNvPr id="726" name="Google Shape;726;p27"/>
          <p:cNvSpPr/>
          <p:nvPr/>
        </p:nvSpPr>
        <p:spPr>
          <a:xfrm>
            <a:off x="15557499" y="5384801"/>
            <a:ext cx="2725769" cy="4902231"/>
          </a:xfrm>
          <a:custGeom>
            <a:rect b="b" l="l" r="r" t="t"/>
            <a:pathLst>
              <a:path extrusionOk="0" h="6536309" w="3634359">
                <a:moveTo>
                  <a:pt x="0" y="6536309"/>
                </a:moveTo>
                <a:lnTo>
                  <a:pt x="3634359" y="0"/>
                </a:lnTo>
                <a:lnTo>
                  <a:pt x="3634359" y="6536309"/>
                </a:lnTo>
                <a:close/>
              </a:path>
            </a:pathLst>
          </a:custGeom>
          <a:solidFill>
            <a:srgbClr val="90C226">
              <a:alpha val="80000"/>
            </a:srgbClr>
          </a:solidFill>
          <a:ln>
            <a:noFill/>
          </a:ln>
        </p:spPr>
      </p:sp>
      <p:sp>
        <p:nvSpPr>
          <p:cNvPr id="727" name="Google Shape;727;p27"/>
          <p:cNvSpPr/>
          <p:nvPr/>
        </p:nvSpPr>
        <p:spPr>
          <a:xfrm>
            <a:off x="0" y="6019800"/>
            <a:ext cx="673132" cy="4267200"/>
          </a:xfrm>
          <a:custGeom>
            <a:rect b="b" l="l" r="r" t="t"/>
            <a:pathLst>
              <a:path extrusionOk="0" h="5689600" w="897509">
                <a:moveTo>
                  <a:pt x="0" y="5689600"/>
                </a:moveTo>
                <a:lnTo>
                  <a:pt x="0" y="0"/>
                </a:lnTo>
                <a:lnTo>
                  <a:pt x="897509" y="5689600"/>
                </a:lnTo>
                <a:close/>
              </a:path>
            </a:pathLst>
          </a:custGeom>
          <a:solidFill>
            <a:srgbClr val="90C226">
              <a:alpha val="84705"/>
            </a:srgbClr>
          </a:solidFill>
          <a:ln>
            <a:noFill/>
          </a:ln>
        </p:spPr>
      </p:sp>
      <p:sp>
        <p:nvSpPr>
          <p:cNvPr id="728" name="Google Shape;728;p27"/>
          <p:cNvSpPr/>
          <p:nvPr/>
        </p:nvSpPr>
        <p:spPr>
          <a:xfrm>
            <a:off x="16902" y="0"/>
            <a:ext cx="18254196" cy="10286998"/>
          </a:xfrm>
          <a:custGeom>
            <a:rect b="b" l="l" r="r" t="t"/>
            <a:pathLst>
              <a:path extrusionOk="0" h="10286998" w="18254196">
                <a:moveTo>
                  <a:pt x="0" y="0"/>
                </a:moveTo>
                <a:lnTo>
                  <a:pt x="18254196" y="0"/>
                </a:lnTo>
                <a:lnTo>
                  <a:pt x="18254196" y="10286998"/>
                </a:lnTo>
                <a:lnTo>
                  <a:pt x="0" y="10286998"/>
                </a:lnTo>
                <a:lnTo>
                  <a:pt x="0" y="0"/>
                </a:lnTo>
                <a:close/>
              </a:path>
            </a:pathLst>
          </a:custGeom>
          <a:blipFill rotWithShape="1">
            <a:blip r:embed="rId3">
              <a:alphaModFix/>
            </a:blip>
            <a:stretch>
              <a:fillRect b="0" l="0" r="0" t="0"/>
            </a:stretch>
          </a:blipFill>
          <a:ln>
            <a:noFill/>
          </a:ln>
        </p:spPr>
      </p:sp>
      <p:sp>
        <p:nvSpPr>
          <p:cNvPr id="729" name="Google Shape;729;p27"/>
          <p:cNvSpPr txBox="1"/>
          <p:nvPr/>
        </p:nvSpPr>
        <p:spPr>
          <a:xfrm>
            <a:off x="390923" y="1803454"/>
            <a:ext cx="14761210" cy="52197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Participantes: llenar las siguientes cajas de texto (tomar información del chat del meet)</a:t>
            </a:r>
            <a:endParaRPr/>
          </a:p>
        </p:txBody>
      </p:sp>
      <p:grpSp>
        <p:nvGrpSpPr>
          <p:cNvPr id="730" name="Google Shape;730;p27"/>
          <p:cNvGrpSpPr/>
          <p:nvPr/>
        </p:nvGrpSpPr>
        <p:grpSpPr>
          <a:xfrm>
            <a:off x="12477725" y="2598979"/>
            <a:ext cx="5821966" cy="7675615"/>
            <a:chOff x="0" y="0"/>
            <a:chExt cx="7762621" cy="10234153"/>
          </a:xfrm>
        </p:grpSpPr>
        <p:sp>
          <p:nvSpPr>
            <p:cNvPr id="731" name="Google Shape;731;p27"/>
            <p:cNvSpPr/>
            <p:nvPr/>
          </p:nvSpPr>
          <p:spPr>
            <a:xfrm>
              <a:off x="38100" y="0"/>
              <a:ext cx="7724521" cy="10234153"/>
            </a:xfrm>
            <a:custGeom>
              <a:rect b="b" l="l" r="r" t="t"/>
              <a:pathLst>
                <a:path extrusionOk="0" h="10234153" w="7724521">
                  <a:moveTo>
                    <a:pt x="0" y="0"/>
                  </a:moveTo>
                  <a:lnTo>
                    <a:pt x="7686421" y="0"/>
                  </a:lnTo>
                  <a:cubicBezTo>
                    <a:pt x="7707502" y="0"/>
                    <a:pt x="7724521" y="24371"/>
                    <a:pt x="7724521" y="54562"/>
                  </a:cubicBezTo>
                  <a:lnTo>
                    <a:pt x="7724521" y="10234153"/>
                  </a:lnTo>
                  <a:lnTo>
                    <a:pt x="7648321" y="10234153"/>
                  </a:lnTo>
                  <a:lnTo>
                    <a:pt x="7648321" y="54562"/>
                  </a:lnTo>
                  <a:lnTo>
                    <a:pt x="7686421" y="54562"/>
                  </a:lnTo>
                  <a:lnTo>
                    <a:pt x="7686421" y="109124"/>
                  </a:lnTo>
                  <a:lnTo>
                    <a:pt x="0" y="109124"/>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7"/>
            <p:cNvSpPr/>
            <p:nvPr/>
          </p:nvSpPr>
          <p:spPr>
            <a:xfrm>
              <a:off x="0" y="54562"/>
              <a:ext cx="76200" cy="10179591"/>
            </a:xfrm>
            <a:custGeom>
              <a:rect b="b" l="l" r="r" t="t"/>
              <a:pathLst>
                <a:path extrusionOk="0" h="10179591" w="76200">
                  <a:moveTo>
                    <a:pt x="0" y="10179591"/>
                  </a:moveTo>
                  <a:lnTo>
                    <a:pt x="0" y="0"/>
                  </a:lnTo>
                  <a:lnTo>
                    <a:pt x="76200" y="0"/>
                  </a:lnTo>
                  <a:lnTo>
                    <a:pt x="76200" y="10179591"/>
                  </a:lnTo>
                  <a:close/>
                </a:path>
              </a:pathLst>
            </a:custGeom>
            <a:solidFill>
              <a:srgbClr val="000000"/>
            </a:solidFill>
            <a:ln>
              <a:noFill/>
            </a:ln>
          </p:spPr>
        </p:sp>
      </p:grpSp>
      <p:grpSp>
        <p:nvGrpSpPr>
          <p:cNvPr id="733" name="Google Shape;733;p27"/>
          <p:cNvGrpSpPr/>
          <p:nvPr/>
        </p:nvGrpSpPr>
        <p:grpSpPr>
          <a:xfrm>
            <a:off x="390923" y="2598979"/>
            <a:ext cx="5821966" cy="7675615"/>
            <a:chOff x="0" y="0"/>
            <a:chExt cx="7762621" cy="10234153"/>
          </a:xfrm>
        </p:grpSpPr>
        <p:sp>
          <p:nvSpPr>
            <p:cNvPr id="734" name="Google Shape;734;p27"/>
            <p:cNvSpPr/>
            <p:nvPr/>
          </p:nvSpPr>
          <p:spPr>
            <a:xfrm>
              <a:off x="38100" y="0"/>
              <a:ext cx="7724521" cy="10234153"/>
            </a:xfrm>
            <a:custGeom>
              <a:rect b="b" l="l" r="r" t="t"/>
              <a:pathLst>
                <a:path extrusionOk="0" h="10234153" w="7724521">
                  <a:moveTo>
                    <a:pt x="0" y="0"/>
                  </a:moveTo>
                  <a:lnTo>
                    <a:pt x="7686421" y="0"/>
                  </a:lnTo>
                  <a:cubicBezTo>
                    <a:pt x="7707502" y="0"/>
                    <a:pt x="7724521" y="24371"/>
                    <a:pt x="7724521" y="54562"/>
                  </a:cubicBezTo>
                  <a:lnTo>
                    <a:pt x="7724521" y="10234153"/>
                  </a:lnTo>
                  <a:lnTo>
                    <a:pt x="7648321" y="10234153"/>
                  </a:lnTo>
                  <a:lnTo>
                    <a:pt x="7648321" y="54562"/>
                  </a:lnTo>
                  <a:lnTo>
                    <a:pt x="7686421" y="54562"/>
                  </a:lnTo>
                  <a:lnTo>
                    <a:pt x="7686421" y="109124"/>
                  </a:lnTo>
                  <a:lnTo>
                    <a:pt x="0" y="109124"/>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7"/>
            <p:cNvSpPr/>
            <p:nvPr/>
          </p:nvSpPr>
          <p:spPr>
            <a:xfrm>
              <a:off x="0" y="54562"/>
              <a:ext cx="76200" cy="10179591"/>
            </a:xfrm>
            <a:custGeom>
              <a:rect b="b" l="l" r="r" t="t"/>
              <a:pathLst>
                <a:path extrusionOk="0" h="10179591" w="76200">
                  <a:moveTo>
                    <a:pt x="0" y="10179591"/>
                  </a:moveTo>
                  <a:lnTo>
                    <a:pt x="0" y="0"/>
                  </a:lnTo>
                  <a:lnTo>
                    <a:pt x="76200" y="0"/>
                  </a:lnTo>
                  <a:lnTo>
                    <a:pt x="76200" y="10179591"/>
                  </a:lnTo>
                  <a:close/>
                </a:path>
              </a:pathLst>
            </a:custGeom>
            <a:solidFill>
              <a:srgbClr val="000000"/>
            </a:solidFill>
            <a:ln>
              <a:noFill/>
            </a:ln>
          </p:spPr>
        </p:sp>
      </p:grpSp>
      <p:grpSp>
        <p:nvGrpSpPr>
          <p:cNvPr id="736" name="Google Shape;736;p27"/>
          <p:cNvGrpSpPr/>
          <p:nvPr/>
        </p:nvGrpSpPr>
        <p:grpSpPr>
          <a:xfrm>
            <a:off x="6434325" y="2598979"/>
            <a:ext cx="5821966" cy="7675615"/>
            <a:chOff x="0" y="0"/>
            <a:chExt cx="7762621" cy="10234153"/>
          </a:xfrm>
        </p:grpSpPr>
        <p:sp>
          <p:nvSpPr>
            <p:cNvPr id="737" name="Google Shape;737;p27"/>
            <p:cNvSpPr/>
            <p:nvPr/>
          </p:nvSpPr>
          <p:spPr>
            <a:xfrm>
              <a:off x="38100" y="0"/>
              <a:ext cx="7724521" cy="10234153"/>
            </a:xfrm>
            <a:custGeom>
              <a:rect b="b" l="l" r="r" t="t"/>
              <a:pathLst>
                <a:path extrusionOk="0" h="10234153" w="7724521">
                  <a:moveTo>
                    <a:pt x="0" y="0"/>
                  </a:moveTo>
                  <a:lnTo>
                    <a:pt x="7686421" y="0"/>
                  </a:lnTo>
                  <a:cubicBezTo>
                    <a:pt x="7707502" y="0"/>
                    <a:pt x="7724521" y="24371"/>
                    <a:pt x="7724521" y="54562"/>
                  </a:cubicBezTo>
                  <a:lnTo>
                    <a:pt x="7724521" y="10234153"/>
                  </a:lnTo>
                  <a:lnTo>
                    <a:pt x="7648321" y="10234153"/>
                  </a:lnTo>
                  <a:lnTo>
                    <a:pt x="7648321" y="54562"/>
                  </a:lnTo>
                  <a:lnTo>
                    <a:pt x="7686421" y="54562"/>
                  </a:lnTo>
                  <a:lnTo>
                    <a:pt x="7686421" y="109124"/>
                  </a:lnTo>
                  <a:lnTo>
                    <a:pt x="0" y="109124"/>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7"/>
            <p:cNvSpPr/>
            <p:nvPr/>
          </p:nvSpPr>
          <p:spPr>
            <a:xfrm>
              <a:off x="0" y="54562"/>
              <a:ext cx="76200" cy="10179591"/>
            </a:xfrm>
            <a:custGeom>
              <a:rect b="b" l="l" r="r" t="t"/>
              <a:pathLst>
                <a:path extrusionOk="0" h="10179591" w="76200">
                  <a:moveTo>
                    <a:pt x="0" y="10179591"/>
                  </a:moveTo>
                  <a:lnTo>
                    <a:pt x="0" y="0"/>
                  </a:lnTo>
                  <a:lnTo>
                    <a:pt x="76200" y="0"/>
                  </a:lnTo>
                  <a:lnTo>
                    <a:pt x="76200" y="10179591"/>
                  </a:lnTo>
                  <a:close/>
                </a:path>
              </a:pathLst>
            </a:custGeom>
            <a:solidFill>
              <a:srgbClr val="000000"/>
            </a:solidFill>
            <a:ln>
              <a:noFill/>
            </a:ln>
          </p:spPr>
        </p:sp>
      </p:grpSp>
      <p:sp>
        <p:nvSpPr>
          <p:cNvPr id="739" name="Google Shape;739;p27"/>
          <p:cNvSpPr txBox="1"/>
          <p:nvPr/>
        </p:nvSpPr>
        <p:spPr>
          <a:xfrm>
            <a:off x="335150" y="2719389"/>
            <a:ext cx="5822950" cy="422592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201901758- Erick Ivan Mayorga Rodríguez</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201800517 - José Manuel Solis Ortiz</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202012039 - Angel Francisco Sique SantosSantos</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201612511 - Luis David Garcia Alay</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202109715 - Pablo Josué Barahona Luncey</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201908075 - Juan José López Pérez</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201212527 - Luis Alfredo Vejo Mendoza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201902502 - Carlos Eduardo Soto Marroquin</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200915305- Sergio Alfonso Ferrer Garcia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202006353 - Juan Josue Zuleta Beb</a:t>
            </a:r>
            <a:endParaRPr/>
          </a:p>
          <a:p>
            <a:pPr indent="0" lvl="0" marL="0" marR="0" rtl="0" algn="ctr">
              <a:lnSpc>
                <a:spcPct val="140000"/>
              </a:lnSpc>
              <a:spcBef>
                <a:spcPts val="0"/>
              </a:spcBef>
              <a:spcAft>
                <a:spcPts val="0"/>
              </a:spcAft>
              <a:buNone/>
            </a:pPr>
            <a:r>
              <a:t/>
            </a:r>
            <a:endParaRPr b="1" i="0" sz="2000" u="none" cap="none" strike="noStrike">
              <a:solidFill>
                <a:srgbClr val="000000"/>
              </a:solidFill>
              <a:latin typeface="Open Sans"/>
              <a:ea typeface="Open Sans"/>
              <a:cs typeface="Open Sans"/>
              <a:sym typeface="Open Sans"/>
            </a:endParaRPr>
          </a:p>
        </p:txBody>
      </p:sp>
      <p:sp>
        <p:nvSpPr>
          <p:cNvPr id="740" name="Google Shape;740;p27"/>
          <p:cNvSpPr txBox="1"/>
          <p:nvPr/>
        </p:nvSpPr>
        <p:spPr>
          <a:xfrm>
            <a:off x="6434325" y="2854326"/>
            <a:ext cx="5822950" cy="387349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202006629 - Wilber Steven Zíñiga Ruano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202000560 - Marjorie Reyes</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202100101 - Ryan Sigüenza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201504119 -  Caren Elizabeth Garcia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201612174 - Alberto Gabriel Reyes Ning</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202006373 - Kemel Efrain Josue Ruano Jeronimo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201904042-Cristian Aramis Lopez Bautista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202004770 - Ronaldo Javier Posadas Guerra</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201404341 - Ocsael Neftali Ramirez Castillo</a:t>
            </a:r>
            <a:endParaRPr/>
          </a:p>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202011535 - Esteban Humberto Valdez Ennati</a:t>
            </a:r>
            <a:endParaRPr/>
          </a:p>
        </p:txBody>
      </p:sp>
      <p:sp>
        <p:nvSpPr>
          <p:cNvPr id="741" name="Google Shape;741;p27"/>
          <p:cNvSpPr txBox="1"/>
          <p:nvPr/>
        </p:nvSpPr>
        <p:spPr>
          <a:xfrm>
            <a:off x="12533500" y="2870201"/>
            <a:ext cx="5822950" cy="3492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Nombre - carnet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