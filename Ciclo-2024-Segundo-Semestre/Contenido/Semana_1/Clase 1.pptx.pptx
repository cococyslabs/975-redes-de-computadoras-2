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Arial Bold" charset="1" panose="020B0802020202020204"/>
      <p:regular r:id="rId42"/>
    </p:embeddedFont>
    <p:embeddedFont>
      <p:font typeface="Arimo" charset="1" panose="020B0604020202020204"/>
      <p:regular r:id="rId43"/>
    </p:embeddedFont>
    <p:embeddedFont>
      <p:font typeface="Trebuchet MS" charset="1" panose="020B0603020202020204"/>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VAF7A-GKSUk.mp4" Type="http://schemas.openxmlformats.org/officeDocument/2006/relationships/video"/><Relationship Id="rId4" Target="../media/VAF7A-GKSUk.mp4" Type="http://schemas.microsoft.com/office/2007/relationships/media"/></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 Id="rId5"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VAF7A94i_Ec.mp4" Type="http://schemas.openxmlformats.org/officeDocument/2006/relationships/video"/><Relationship Id="rId4" Target="../media/VAF7A94i_Ec.mp4" Type="http://schemas.microsoft.com/office/2007/relationships/media"/></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VAF7BJG5NGc.mp4" Type="http://schemas.openxmlformats.org/officeDocument/2006/relationships/video"/><Relationship Id="rId4" Target="../media/VAF7BJG5NGc.mp4" Type="http://schemas.microsoft.com/office/2007/relationships/media"/></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VAF7BLQ-G3A.mp4" Type="http://schemas.openxmlformats.org/officeDocument/2006/relationships/video"/><Relationship Id="rId4" Target="../media/VAF7BLQ-G3A.mp4" Type="http://schemas.microsoft.com/office/2007/relationships/media"/></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02" y="0"/>
            <a:ext cx="18254196" cy="10286998"/>
          </a:xfrm>
          <a:custGeom>
            <a:avLst/>
            <a:gdLst/>
            <a:ahLst/>
            <a:cxnLst/>
            <a:rect r="r" b="b" t="t" l="l"/>
            <a:pathLst>
              <a:path h="10286998" w="18254196">
                <a:moveTo>
                  <a:pt x="0" y="0"/>
                </a:moveTo>
                <a:lnTo>
                  <a:pt x="18254196" y="0"/>
                </a:lnTo>
                <a:lnTo>
                  <a:pt x="18254196" y="10286998"/>
                </a:lnTo>
                <a:lnTo>
                  <a:pt x="0" y="10286998"/>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10646874" y="1930524"/>
          <a:ext cx="7366000" cy="1574800"/>
        </p:xfrm>
        <a:graphic>
          <a:graphicData uri="http://schemas.openxmlformats.org/drawingml/2006/table">
            <a:tbl>
              <a:tblPr/>
              <a:tblGrid>
                <a:gridCol w="3036970"/>
                <a:gridCol w="4329030"/>
              </a:tblGrid>
              <a:tr h="787400">
                <a:tc>
                  <a:txBody>
                    <a:bodyPr anchor="t" rtlCol="false"/>
                    <a:lstStyle/>
                    <a:p>
                      <a:pPr algn="l">
                        <a:lnSpc>
                          <a:spcPts val="3359"/>
                        </a:lnSpc>
                        <a:defRPr/>
                      </a:pPr>
                      <a:r>
                        <a:rPr lang="en-US" b="true" sz="2799" spc="-20">
                          <a:solidFill>
                            <a:srgbClr val="000000"/>
                          </a:solidFill>
                          <a:latin typeface="Arial Bold"/>
                          <a:ea typeface="Arial Bold"/>
                          <a:cs typeface="Arial Bold"/>
                          <a:sym typeface="Arial Bold"/>
                        </a:rPr>
                        <a:t>Día, Fecha:</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c>
                  <a:txBody>
                    <a:bodyPr anchor="t" rtlCol="false"/>
                    <a:lstStyle/>
                    <a:p>
                      <a:pPr algn="l">
                        <a:lnSpc>
                          <a:spcPts val="3359"/>
                        </a:lnSpc>
                        <a:defRPr/>
                      </a:pPr>
                      <a:r>
                        <a:rPr lang="en-US" sz="2799" spc="-20">
                          <a:solidFill>
                            <a:srgbClr val="000000"/>
                          </a:solidFill>
                          <a:latin typeface="Arimo"/>
                          <a:ea typeface="Arimo"/>
                          <a:cs typeface="Arimo"/>
                          <a:sym typeface="Arimo"/>
                        </a:rPr>
                        <a:t>Viernes, 26/01/2024</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r>
              <a:tr h="787400">
                <a:tc>
                  <a:txBody>
                    <a:bodyPr anchor="t" rtlCol="false"/>
                    <a:lstStyle/>
                    <a:p>
                      <a:pPr algn="l">
                        <a:lnSpc>
                          <a:spcPts val="3359"/>
                        </a:lnSpc>
                        <a:defRPr/>
                      </a:pPr>
                      <a:r>
                        <a:rPr lang="en-US" b="true" sz="2799" spc="-20">
                          <a:solidFill>
                            <a:srgbClr val="000000"/>
                          </a:solidFill>
                          <a:latin typeface="Arial Bold"/>
                          <a:ea typeface="Arial Bold"/>
                          <a:cs typeface="Arial Bold"/>
                          <a:sym typeface="Arial Bold"/>
                        </a:rPr>
                        <a:t>Hora de inicio:</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c>
                  <a:txBody>
                    <a:bodyPr anchor="t" rtlCol="false"/>
                    <a:lstStyle/>
                    <a:p>
                      <a:pPr algn="l">
                        <a:lnSpc>
                          <a:spcPts val="3359"/>
                        </a:lnSpc>
                        <a:defRPr/>
                      </a:pPr>
                      <a:r>
                        <a:rPr lang="en-US" sz="2799" spc="-20">
                          <a:solidFill>
                            <a:srgbClr val="000000"/>
                          </a:solidFill>
                          <a:latin typeface="Arimo"/>
                          <a:ea typeface="Arimo"/>
                          <a:cs typeface="Arimo"/>
                          <a:sym typeface="Arimo"/>
                        </a:rPr>
                        <a:t>17:20</a:t>
                      </a:r>
                      <a:endParaRPr lang="en-US" sz="1100"/>
                    </a:p>
                  </a:txBody>
                  <a:tcPr marL="0" marR="0" marT="0" marB="0" anchor="ctr">
                    <a:lnL cmpd="sng" algn="ctr" cap="flat" w="9525">
                      <a:solidFill>
                        <a:srgbClr val="9E9E9E"/>
                      </a:solidFill>
                      <a:prstDash val="solid"/>
                      <a:round/>
                      <a:headEnd type="none" w="med" len="med"/>
                      <a:tailEnd type="none" w="med" len="med"/>
                    </a:lnL>
                    <a:lnR cmpd="sng" algn="ctr" cap="flat" w="9525">
                      <a:solidFill>
                        <a:srgbClr val="9E9E9E"/>
                      </a:solidFill>
                      <a:prstDash val="solid"/>
                      <a:round/>
                      <a:headEnd type="none" w="med" len="med"/>
                      <a:tailEnd type="none" w="med" len="med"/>
                    </a:lnR>
                    <a:lnT cmpd="sng" algn="ctr" cap="flat" w="9525">
                      <a:solidFill>
                        <a:srgbClr val="9E9E9E"/>
                      </a:solidFill>
                      <a:prstDash val="solid"/>
                      <a:round/>
                      <a:headEnd type="none" w="med" len="med"/>
                      <a:tailEnd type="none" w="med" len="med"/>
                    </a:lnT>
                    <a:lnB cmpd="sng" algn="ctr" cap="flat" w="9525">
                      <a:solidFill>
                        <a:srgbClr val="9E9E9E"/>
                      </a:solidFill>
                      <a:prstDash val="solid"/>
                      <a:round/>
                      <a:headEnd type="none" w="med" len="med"/>
                      <a:tailEnd type="none" w="med" len="med"/>
                    </a:lnB>
                  </a:tcPr>
                </a:tc>
              </a:tr>
            </a:tbl>
          </a:graphicData>
        </a:graphic>
      </p:graphicFrame>
      <p:sp>
        <p:nvSpPr>
          <p:cNvPr name="TextBox 4" id="4"/>
          <p:cNvSpPr txBox="true"/>
          <p:nvPr/>
        </p:nvSpPr>
        <p:spPr>
          <a:xfrm rot="0">
            <a:off x="3026400" y="4630900"/>
            <a:ext cx="10637520" cy="819150"/>
          </a:xfrm>
          <a:prstGeom prst="rect">
            <a:avLst/>
          </a:prstGeom>
        </p:spPr>
        <p:txBody>
          <a:bodyPr anchor="t" rtlCol="false" tIns="0" lIns="0" bIns="0" rIns="0">
            <a:spAutoFit/>
          </a:bodyPr>
          <a:lstStyle/>
          <a:p>
            <a:pPr algn="l">
              <a:lnSpc>
                <a:spcPts val="5999"/>
              </a:lnSpc>
            </a:pPr>
            <a:r>
              <a:rPr lang="en-US" sz="4999">
                <a:solidFill>
                  <a:srgbClr val="000000"/>
                </a:solidFill>
                <a:latin typeface="Arimo"/>
                <a:ea typeface="Arimo"/>
                <a:cs typeface="Arimo"/>
                <a:sym typeface="Arimo"/>
              </a:rPr>
              <a:t>Redes de Computadoras 2 [N]</a:t>
            </a:r>
          </a:p>
        </p:txBody>
      </p:sp>
      <p:sp>
        <p:nvSpPr>
          <p:cNvPr name="TextBox 5" id="5"/>
          <p:cNvSpPr txBox="true"/>
          <p:nvPr/>
        </p:nvSpPr>
        <p:spPr>
          <a:xfrm rot="0">
            <a:off x="3703450" y="5920880"/>
            <a:ext cx="7116950" cy="647552"/>
          </a:xfrm>
          <a:prstGeom prst="rect">
            <a:avLst/>
          </a:prstGeom>
        </p:spPr>
        <p:txBody>
          <a:bodyPr anchor="t" rtlCol="false" tIns="0" lIns="0" bIns="0" rIns="0">
            <a:spAutoFit/>
          </a:bodyPr>
          <a:lstStyle/>
          <a:p>
            <a:pPr algn="l">
              <a:lnSpc>
                <a:spcPts val="4800"/>
              </a:lnSpc>
            </a:pPr>
            <a:r>
              <a:rPr lang="en-US" sz="4000">
                <a:solidFill>
                  <a:srgbClr val="000000"/>
                </a:solidFill>
                <a:latin typeface="Arimo"/>
                <a:ea typeface="Arimo"/>
                <a:cs typeface="Arimo"/>
                <a:sym typeface="Arimo"/>
              </a:rPr>
              <a:t>Eduardo Tomás Ixén Rucuch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4510648" y="2444945"/>
            <a:ext cx="2735580" cy="962025"/>
          </a:xfrm>
          <a:prstGeom prst="rect">
            <a:avLst/>
          </a:prstGeom>
        </p:spPr>
        <p:txBody>
          <a:bodyPr anchor="t" rtlCol="false" tIns="0" lIns="0" bIns="0" rIns="0">
            <a:spAutoFit/>
          </a:bodyPr>
          <a:lstStyle/>
          <a:p>
            <a:pPr algn="l">
              <a:lnSpc>
                <a:spcPts val="7200"/>
              </a:lnSpc>
            </a:pPr>
            <a:r>
              <a:rPr lang="en-US" sz="6000" spc="89">
                <a:solidFill>
                  <a:srgbClr val="90C226"/>
                </a:solidFill>
                <a:latin typeface="Trebuchet MS"/>
                <a:ea typeface="Trebuchet MS"/>
                <a:cs typeface="Trebuchet MS"/>
                <a:sym typeface="Trebuchet MS"/>
              </a:rPr>
              <a:t>Agenda</a:t>
            </a:r>
          </a:p>
        </p:txBody>
      </p:sp>
      <p:sp>
        <p:nvSpPr>
          <p:cNvPr name="TextBox 21" id="21"/>
          <p:cNvSpPr txBox="true"/>
          <p:nvPr/>
        </p:nvSpPr>
        <p:spPr>
          <a:xfrm rot="0">
            <a:off x="2101992" y="4693410"/>
            <a:ext cx="4683760" cy="2304676"/>
          </a:xfrm>
          <a:prstGeom prst="rect">
            <a:avLst/>
          </a:prstGeom>
        </p:spPr>
        <p:txBody>
          <a:bodyPr anchor="t" rtlCol="false" tIns="0" lIns="0" bIns="0" rIns="0">
            <a:spAutoFit/>
          </a:bodyPr>
          <a:lstStyle/>
          <a:p>
            <a:pPr algn="l" marL="797560" indent="-398780" lvl="1">
              <a:lnSpc>
                <a:spcPts val="3840"/>
              </a:lnSpc>
              <a:buFont typeface="Arial"/>
              <a:buChar char="•"/>
            </a:pPr>
            <a:r>
              <a:rPr lang="en-US" sz="3200">
                <a:solidFill>
                  <a:srgbClr val="233944"/>
                </a:solidFill>
                <a:latin typeface="Arimo"/>
                <a:ea typeface="Arimo"/>
                <a:cs typeface="Arimo"/>
                <a:sym typeface="Arimo"/>
              </a:rPr>
              <a:t>Avisos</a:t>
            </a:r>
          </a:p>
          <a:p>
            <a:pPr algn="l" marL="797560" indent="-398780" lvl="1">
              <a:lnSpc>
                <a:spcPts val="3840"/>
              </a:lnSpc>
              <a:buFont typeface="Arial"/>
              <a:buChar char="•"/>
            </a:pPr>
            <a:r>
              <a:rPr lang="en-US" sz="3200">
                <a:solidFill>
                  <a:srgbClr val="233944"/>
                </a:solidFill>
                <a:latin typeface="Arimo"/>
                <a:ea typeface="Arimo"/>
                <a:cs typeface="Arimo"/>
                <a:sym typeface="Arimo"/>
              </a:rPr>
              <a:t>Lectura del programa</a:t>
            </a:r>
          </a:p>
          <a:p>
            <a:pPr algn="l" marL="797560" indent="-398780" lvl="1">
              <a:lnSpc>
                <a:spcPts val="3840"/>
              </a:lnSpc>
              <a:buFont typeface="Arial"/>
              <a:buChar char="•"/>
            </a:pPr>
            <a:r>
              <a:rPr lang="en-US" sz="3200">
                <a:solidFill>
                  <a:srgbClr val="233944"/>
                </a:solidFill>
                <a:latin typeface="Arimo"/>
                <a:ea typeface="Arimo"/>
                <a:cs typeface="Arimo"/>
                <a:sym typeface="Arimo"/>
              </a:rPr>
              <a:t>Temas de clase 1</a:t>
            </a:r>
          </a:p>
          <a:p>
            <a:pPr algn="l" marL="797560" indent="-398780" lvl="1">
              <a:lnSpc>
                <a:spcPts val="3840"/>
              </a:lnSpc>
              <a:buFont typeface="Arial"/>
              <a:buChar char="•"/>
            </a:pPr>
            <a:r>
              <a:rPr lang="en-US" sz="3200" spc="-50">
                <a:solidFill>
                  <a:srgbClr val="233944"/>
                </a:solidFill>
                <a:latin typeface="Arimo"/>
                <a:ea typeface="Arimo"/>
                <a:cs typeface="Arimo"/>
                <a:sym typeface="Arimo"/>
              </a:rPr>
              <a:t>Tarea 1</a:t>
            </a:r>
          </a:p>
        </p:txBody>
      </p:sp>
      <p:sp>
        <p:nvSpPr>
          <p:cNvPr name="Freeform 22" id="22"/>
          <p:cNvSpPr/>
          <p:nvPr/>
        </p:nvSpPr>
        <p:spPr>
          <a:xfrm flipH="false" flipV="false" rot="0">
            <a:off x="1744148" y="1663650"/>
            <a:ext cx="2772848" cy="2772848"/>
          </a:xfrm>
          <a:custGeom>
            <a:avLst/>
            <a:gdLst/>
            <a:ahLst/>
            <a:cxnLst/>
            <a:rect r="r" b="b" t="t" l="l"/>
            <a:pathLst>
              <a:path h="2772848" w="2772848">
                <a:moveTo>
                  <a:pt x="0" y="0"/>
                </a:moveTo>
                <a:lnTo>
                  <a:pt x="2772848" y="0"/>
                </a:lnTo>
                <a:lnTo>
                  <a:pt x="2772848" y="2772848"/>
                </a:lnTo>
                <a:lnTo>
                  <a:pt x="0" y="2772848"/>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2509964" y="1421998"/>
            <a:ext cx="2735580" cy="923925"/>
          </a:xfrm>
          <a:prstGeom prst="rect">
            <a:avLst/>
          </a:prstGeom>
        </p:spPr>
        <p:txBody>
          <a:bodyPr anchor="t" rtlCol="false" tIns="0" lIns="0" bIns="0" rIns="0">
            <a:spAutoFit/>
          </a:bodyPr>
          <a:lstStyle/>
          <a:p>
            <a:pPr algn="l">
              <a:lnSpc>
                <a:spcPts val="7200"/>
              </a:lnSpc>
            </a:pPr>
            <a:r>
              <a:rPr lang="en-US" sz="6000" spc="89">
                <a:solidFill>
                  <a:srgbClr val="90C226"/>
                </a:solidFill>
                <a:latin typeface="Trebuchet MS"/>
                <a:ea typeface="Trebuchet MS"/>
                <a:cs typeface="Trebuchet MS"/>
                <a:sym typeface="Trebuchet MS"/>
              </a:rPr>
              <a:t>Avisos</a:t>
            </a:r>
          </a:p>
        </p:txBody>
      </p:sp>
      <p:sp>
        <p:nvSpPr>
          <p:cNvPr name="TextBox 21" id="21"/>
          <p:cNvSpPr txBox="true"/>
          <p:nvPr/>
        </p:nvSpPr>
        <p:spPr>
          <a:xfrm rot="0">
            <a:off x="2509964" y="2832474"/>
            <a:ext cx="12480298" cy="2457450"/>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233944"/>
                </a:solidFill>
                <a:latin typeface="Arimo"/>
                <a:ea typeface="Arimo"/>
                <a:cs typeface="Arimo"/>
                <a:sym typeface="Arimo"/>
              </a:rPr>
              <a:t>Contestar el formulario para el listado del curso y asignación al DTT. </a:t>
            </a:r>
            <a:r>
              <a:rPr lang="en-US" sz="3200">
                <a:solidFill>
                  <a:srgbClr val="233944"/>
                </a:solidFill>
                <a:latin typeface="Arimo"/>
                <a:ea typeface="Arimo"/>
                <a:cs typeface="Arimo"/>
                <a:sym typeface="Arimo"/>
              </a:rPr>
              <a:t> https://forms.gle/y46zKmeAuWhNKrWK9</a:t>
            </a:r>
          </a:p>
          <a:p>
            <a:pPr algn="l">
              <a:lnSpc>
                <a:spcPts val="3840"/>
              </a:lnSpc>
            </a:pPr>
          </a:p>
          <a:p>
            <a:pPr algn="l" marL="797357" indent="-398679" lvl="1">
              <a:lnSpc>
                <a:spcPts val="3840"/>
              </a:lnSpc>
              <a:buFont typeface="Arial"/>
              <a:buChar char="•"/>
            </a:pPr>
            <a:r>
              <a:rPr lang="en-US" sz="3200">
                <a:solidFill>
                  <a:srgbClr val="233944"/>
                </a:solidFill>
                <a:latin typeface="Arimo"/>
                <a:ea typeface="Arimo"/>
                <a:cs typeface="Arimo"/>
                <a:sym typeface="Arimo"/>
              </a:rPr>
              <a:t>Registrarse en https://www.netacad.com/</a:t>
            </a:r>
          </a:p>
          <a:p>
            <a:pPr algn="l">
              <a:lnSpc>
                <a:spcPts val="3840"/>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2C3C43"/>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000000"/>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408500" y="-12700"/>
            <a:ext cx="1874738" cy="10299700"/>
            <a:chOff x="0" y="0"/>
            <a:chExt cx="2499650" cy="13732933"/>
          </a:xfrm>
        </p:grpSpPr>
        <p:sp>
          <p:nvSpPr>
            <p:cNvPr name="Freeform 49" id="49"/>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0" id="50"/>
          <p:cNvGrpSpPr/>
          <p:nvPr/>
        </p:nvGrpSpPr>
        <p:grpSpPr>
          <a:xfrm rot="0">
            <a:off x="15557501" y="5384801"/>
            <a:ext cx="2725739" cy="4902199"/>
            <a:chOff x="0" y="0"/>
            <a:chExt cx="3634318" cy="6536266"/>
          </a:xfrm>
        </p:grpSpPr>
        <p:sp>
          <p:nvSpPr>
            <p:cNvPr name="Freeform 51" id="51"/>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2" id="52"/>
          <p:cNvGrpSpPr/>
          <p:nvPr/>
        </p:nvGrpSpPr>
        <p:grpSpPr>
          <a:xfrm rot="-10800000">
            <a:off x="0" y="0"/>
            <a:ext cx="1263894" cy="8499231"/>
            <a:chOff x="0" y="0"/>
            <a:chExt cx="1685192" cy="11332307"/>
          </a:xfrm>
        </p:grpSpPr>
        <p:sp>
          <p:nvSpPr>
            <p:cNvPr name="Freeform 53" id="53"/>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54" id="54"/>
          <p:cNvSpPr txBox="true"/>
          <p:nvPr/>
        </p:nvSpPr>
        <p:spPr>
          <a:xfrm rot="0">
            <a:off x="2352040" y="4728276"/>
            <a:ext cx="11467524" cy="1302258"/>
          </a:xfrm>
          <a:prstGeom prst="rect">
            <a:avLst/>
          </a:prstGeom>
        </p:spPr>
        <p:txBody>
          <a:bodyPr anchor="t" rtlCol="false" tIns="0" lIns="0" bIns="0" rIns="0">
            <a:spAutoFit/>
          </a:bodyPr>
          <a:lstStyle/>
          <a:p>
            <a:pPr algn="r">
              <a:lnSpc>
                <a:spcPts val="9936"/>
              </a:lnSpc>
            </a:pPr>
            <a:r>
              <a:rPr lang="en-US" sz="9200" spc="-310">
                <a:solidFill>
                  <a:srgbClr val="90C226"/>
                </a:solidFill>
                <a:latin typeface="Trebuchet MS"/>
                <a:ea typeface="Trebuchet MS"/>
                <a:cs typeface="Trebuchet MS"/>
                <a:sym typeface="Trebuchet MS"/>
              </a:rPr>
              <a:t>Lectura del programa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2C3C43"/>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000000"/>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408500" y="-12700"/>
            <a:ext cx="1874738" cy="10299700"/>
            <a:chOff x="0" y="0"/>
            <a:chExt cx="2499650" cy="13732933"/>
          </a:xfrm>
        </p:grpSpPr>
        <p:sp>
          <p:nvSpPr>
            <p:cNvPr name="Freeform 49" id="49"/>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0" id="50"/>
          <p:cNvGrpSpPr/>
          <p:nvPr/>
        </p:nvGrpSpPr>
        <p:grpSpPr>
          <a:xfrm rot="0">
            <a:off x="15557501" y="5384801"/>
            <a:ext cx="2725739" cy="4902199"/>
            <a:chOff x="0" y="0"/>
            <a:chExt cx="3634318" cy="6536266"/>
          </a:xfrm>
        </p:grpSpPr>
        <p:sp>
          <p:nvSpPr>
            <p:cNvPr name="Freeform 51" id="51"/>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2" id="52"/>
          <p:cNvGrpSpPr/>
          <p:nvPr/>
        </p:nvGrpSpPr>
        <p:grpSpPr>
          <a:xfrm rot="-10800000">
            <a:off x="0" y="0"/>
            <a:ext cx="1263894" cy="8499231"/>
            <a:chOff x="0" y="0"/>
            <a:chExt cx="1685192" cy="11332307"/>
          </a:xfrm>
        </p:grpSpPr>
        <p:sp>
          <p:nvSpPr>
            <p:cNvPr name="Freeform 53" id="53"/>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54" id="54"/>
          <p:cNvSpPr txBox="true"/>
          <p:nvPr/>
        </p:nvSpPr>
        <p:spPr>
          <a:xfrm rot="0">
            <a:off x="2352040" y="4728276"/>
            <a:ext cx="11467524" cy="1302258"/>
          </a:xfrm>
          <a:prstGeom prst="rect">
            <a:avLst/>
          </a:prstGeom>
        </p:spPr>
        <p:txBody>
          <a:bodyPr anchor="t" rtlCol="false" tIns="0" lIns="0" bIns="0" rIns="0">
            <a:spAutoFit/>
          </a:bodyPr>
          <a:lstStyle/>
          <a:p>
            <a:pPr algn="r">
              <a:lnSpc>
                <a:spcPts val="9936"/>
              </a:lnSpc>
            </a:pPr>
            <a:r>
              <a:rPr lang="en-US" sz="9200" spc="-310">
                <a:solidFill>
                  <a:srgbClr val="90C226"/>
                </a:solidFill>
                <a:latin typeface="Trebuchet MS"/>
                <a:ea typeface="Trebuchet MS"/>
                <a:cs typeface="Trebuchet MS"/>
                <a:sym typeface="Trebuchet MS"/>
              </a:rPr>
              <a:t>¿Qué es el modelo OSI?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4856111" y="1377792"/>
            <a:ext cx="9549052" cy="1114425"/>
          </a:xfrm>
          <a:prstGeom prst="rect">
            <a:avLst/>
          </a:prstGeom>
        </p:spPr>
        <p:txBody>
          <a:bodyPr anchor="t" rtlCol="false" tIns="0" lIns="0" bIns="0" rIns="0">
            <a:spAutoFit/>
          </a:bodyPr>
          <a:lstStyle/>
          <a:p>
            <a:pPr algn="l">
              <a:lnSpc>
                <a:spcPts val="8640"/>
              </a:lnSpc>
            </a:pPr>
            <a:r>
              <a:rPr lang="en-US" sz="7200" spc="120">
                <a:solidFill>
                  <a:srgbClr val="90C226"/>
                </a:solidFill>
                <a:latin typeface="Trebuchet MS"/>
                <a:ea typeface="Trebuchet MS"/>
                <a:cs typeface="Trebuchet MS"/>
                <a:sym typeface="Trebuchet MS"/>
              </a:rPr>
              <a:t>Modelo OSI</a:t>
            </a:r>
          </a:p>
        </p:txBody>
      </p:sp>
      <p:sp>
        <p:nvSpPr>
          <p:cNvPr name="Freeform 21" id="21" descr="Esferas metálicas conectadas en una malla"/>
          <p:cNvSpPr/>
          <p:nvPr/>
        </p:nvSpPr>
        <p:spPr>
          <a:xfrm flipH="false" flipV="false" rot="0">
            <a:off x="40" y="20"/>
            <a:ext cx="4101044" cy="10314412"/>
          </a:xfrm>
          <a:custGeom>
            <a:avLst/>
            <a:gdLst/>
            <a:ahLst/>
            <a:cxnLst/>
            <a:rect r="r" b="b" t="t" l="l"/>
            <a:pathLst>
              <a:path h="10314412" w="4101044">
                <a:moveTo>
                  <a:pt x="0" y="0"/>
                </a:moveTo>
                <a:lnTo>
                  <a:pt x="4101044" y="0"/>
                </a:lnTo>
                <a:lnTo>
                  <a:pt x="4101044" y="10314412"/>
                </a:lnTo>
                <a:lnTo>
                  <a:pt x="0" y="10314412"/>
                </a:lnTo>
                <a:lnTo>
                  <a:pt x="0" y="0"/>
                </a:lnTo>
                <a:close/>
              </a:path>
            </a:pathLst>
          </a:custGeom>
          <a:blipFill>
            <a:blip r:embed="rId2"/>
            <a:stretch>
              <a:fillRect l="-133976" t="0" r="-143368" b="1"/>
            </a:stretch>
          </a:blipFill>
        </p:spPr>
      </p:sp>
      <p:grpSp>
        <p:nvGrpSpPr>
          <p:cNvPr name="Group 22" id="22"/>
          <p:cNvGrpSpPr/>
          <p:nvPr/>
        </p:nvGrpSpPr>
        <p:grpSpPr>
          <a:xfrm rot="0">
            <a:off x="0" y="1787768"/>
            <a:ext cx="1263894" cy="8499232"/>
            <a:chOff x="0" y="0"/>
            <a:chExt cx="1685192" cy="11332309"/>
          </a:xfrm>
        </p:grpSpPr>
        <p:sp>
          <p:nvSpPr>
            <p:cNvPr name="Freeform 23" id="23"/>
            <p:cNvSpPr/>
            <p:nvPr/>
          </p:nvSpPr>
          <p:spPr>
            <a:xfrm flipH="false" flipV="false" rot="0">
              <a:off x="0" y="0"/>
              <a:ext cx="1685163" cy="11332337"/>
            </a:xfrm>
            <a:custGeom>
              <a:avLst/>
              <a:gdLst/>
              <a:ahLst/>
              <a:cxnLst/>
              <a:rect r="r" b="b" t="t" l="l"/>
              <a:pathLst>
                <a:path h="11332337" w="1685163">
                  <a:moveTo>
                    <a:pt x="1685163" y="11332337"/>
                  </a:moveTo>
                  <a:lnTo>
                    <a:pt x="0" y="0"/>
                  </a:lnTo>
                  <a:lnTo>
                    <a:pt x="0" y="11332337"/>
                  </a:lnTo>
                  <a:close/>
                </a:path>
              </a:pathLst>
            </a:custGeom>
            <a:solidFill>
              <a:srgbClr val="90C226"/>
            </a:solidFill>
          </p:spPr>
        </p:sp>
      </p:grpSp>
      <p:sp>
        <p:nvSpPr>
          <p:cNvPr name="TextBox 24" id="24"/>
          <p:cNvSpPr txBox="true"/>
          <p:nvPr/>
        </p:nvSpPr>
        <p:spPr>
          <a:xfrm rot="0">
            <a:off x="4270510" y="3267552"/>
            <a:ext cx="9549052" cy="3819525"/>
          </a:xfrm>
          <a:prstGeom prst="rect">
            <a:avLst/>
          </a:prstGeom>
        </p:spPr>
        <p:txBody>
          <a:bodyPr anchor="t" rtlCol="false" tIns="0" lIns="0" bIns="0" rIns="0">
            <a:spAutoFit/>
          </a:bodyPr>
          <a:lstStyle/>
          <a:p>
            <a:pPr algn="just" marL="868680" indent="-434340" lvl="1">
              <a:lnSpc>
                <a:spcPts val="4320"/>
              </a:lnSpc>
              <a:buFont typeface="Arial"/>
              <a:buChar char="•"/>
            </a:pPr>
            <a:r>
              <a:rPr lang="en-US" sz="3600">
                <a:solidFill>
                  <a:srgbClr val="404040"/>
                </a:solidFill>
                <a:latin typeface="Trebuchet MS"/>
                <a:ea typeface="Trebuchet MS"/>
                <a:cs typeface="Trebuchet MS"/>
                <a:sym typeface="Trebuchet MS"/>
              </a:rPr>
              <a:t>El modelo de interconexión de sistemas abiertos (en inglés, Open Systems Interconnection) es un modelo de referencia para los protocolos de la red(no es una arquitectura de red), creado en el año 1980 por la Organización Internacional de Normalización.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1277600" y="3603625"/>
            <a:ext cx="3441700" cy="2809875"/>
          </a:xfrm>
          <a:prstGeom prst="rect">
            <a:avLst/>
          </a:prstGeom>
        </p:spPr>
        <p:txBody>
          <a:bodyPr anchor="t" rtlCol="false" tIns="0" lIns="0" bIns="0" rIns="0">
            <a:spAutoFit/>
          </a:bodyPr>
          <a:lstStyle/>
          <a:p>
            <a:pPr algn="ctr">
              <a:lnSpc>
                <a:spcPts val="7200"/>
              </a:lnSpc>
            </a:pPr>
            <a:r>
              <a:rPr lang="en-US" sz="6000" spc="100">
                <a:solidFill>
                  <a:srgbClr val="AE7A51"/>
                </a:solidFill>
                <a:latin typeface="Arimo"/>
                <a:ea typeface="Arimo"/>
                <a:cs typeface="Arimo"/>
                <a:sym typeface="Arimo"/>
              </a:rPr>
              <a:t>Capas del modelo OSI</a:t>
            </a:r>
          </a:p>
        </p:txBody>
      </p:sp>
      <p:sp>
        <p:nvSpPr>
          <p:cNvPr name="Freeform 21" id="21"/>
          <p:cNvSpPr/>
          <p:nvPr/>
        </p:nvSpPr>
        <p:spPr>
          <a:xfrm flipH="false" flipV="false" rot="0">
            <a:off x="2469200" y="740950"/>
            <a:ext cx="8658750" cy="8805100"/>
          </a:xfrm>
          <a:custGeom>
            <a:avLst/>
            <a:gdLst/>
            <a:ahLst/>
            <a:cxnLst/>
            <a:rect r="r" b="b" t="t" l="l"/>
            <a:pathLst>
              <a:path h="8805100" w="8658750">
                <a:moveTo>
                  <a:pt x="0" y="0"/>
                </a:moveTo>
                <a:lnTo>
                  <a:pt x="8658750" y="0"/>
                </a:lnTo>
                <a:lnTo>
                  <a:pt x="8658750" y="8805100"/>
                </a:lnTo>
                <a:lnTo>
                  <a:pt x="0" y="880510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610614" y="1809945"/>
            <a:ext cx="4993640" cy="962025"/>
          </a:xfrm>
          <a:prstGeom prst="rect">
            <a:avLst/>
          </a:prstGeom>
        </p:spPr>
        <p:txBody>
          <a:bodyPr anchor="t" rtlCol="false" tIns="0" lIns="0" bIns="0" rIns="0">
            <a:spAutoFit/>
          </a:bodyPr>
          <a:lstStyle/>
          <a:p>
            <a:pPr algn="l">
              <a:lnSpc>
                <a:spcPts val="7200"/>
              </a:lnSpc>
            </a:pPr>
            <a:r>
              <a:rPr lang="en-US" sz="6000" spc="-100">
                <a:solidFill>
                  <a:srgbClr val="90C226"/>
                </a:solidFill>
                <a:latin typeface="Trebuchet MS"/>
                <a:ea typeface="Trebuchet MS"/>
                <a:cs typeface="Trebuchet MS"/>
                <a:sym typeface="Trebuchet MS"/>
              </a:rPr>
              <a:t>1.	Capa Física</a:t>
            </a:r>
          </a:p>
        </p:txBody>
      </p:sp>
      <p:sp>
        <p:nvSpPr>
          <p:cNvPr name="TextBox 21" id="21"/>
          <p:cNvSpPr txBox="true"/>
          <p:nvPr/>
        </p:nvSpPr>
        <p:spPr>
          <a:xfrm rot="0">
            <a:off x="1016002" y="3347564"/>
            <a:ext cx="12895002" cy="5172075"/>
          </a:xfrm>
          <a:prstGeom prst="rect">
            <a:avLst/>
          </a:prstGeom>
        </p:spPr>
        <p:txBody>
          <a:bodyPr anchor="t" rtlCol="false" tIns="0" lIns="0" bIns="0" rIns="0">
            <a:spAutoFit/>
          </a:bodyPr>
          <a:lstStyle/>
          <a:p>
            <a:pPr algn="just" marL="162535" indent="-81267" lvl="1">
              <a:lnSpc>
                <a:spcPts val="3240"/>
              </a:lnSpc>
              <a:buFont typeface="Arial"/>
              <a:buChar char="•"/>
            </a:pPr>
            <a:r>
              <a:rPr lang="en-US" sz="2700">
                <a:solidFill>
                  <a:srgbClr val="404040"/>
                </a:solidFill>
                <a:latin typeface="Trebuchet MS"/>
                <a:ea typeface="Trebuchet MS"/>
                <a:cs typeface="Trebuchet MS"/>
                <a:sym typeface="Trebuchet MS"/>
              </a:rPr>
              <a:t>Sus principales funciones se pueden resumir como: </a:t>
            </a:r>
          </a:p>
          <a:p>
            <a:pPr algn="just" marL="162560" indent="-81280" lvl="1">
              <a:lnSpc>
                <a:spcPts val="3240"/>
              </a:lnSpc>
              <a:buFont typeface="Arial"/>
              <a:buChar char="•"/>
            </a:pPr>
          </a:p>
          <a:p>
            <a:pPr algn="just">
              <a:lnSpc>
                <a:spcPts val="2879"/>
              </a:lnSpc>
            </a:pPr>
            <a:r>
              <a:rPr lang="en-US" sz="2400">
                <a:solidFill>
                  <a:srgbClr val="404040"/>
                </a:solidFill>
                <a:latin typeface="Trebuchet MS"/>
                <a:ea typeface="Trebuchet MS"/>
                <a:cs typeface="Trebuchet MS"/>
                <a:sym typeface="Trebuchet MS"/>
              </a:rPr>
              <a:t>● Definir el medio o medios físicos por los que va a viajar la comunicación: cable de pares trenzados, guías de onda, aire, fibra óptica. </a:t>
            </a:r>
          </a:p>
          <a:p>
            <a:pPr algn="just" marL="518160" indent="-259080" lvl="1">
              <a:lnSpc>
                <a:spcPts val="2879"/>
              </a:lnSpc>
            </a:pPr>
          </a:p>
          <a:p>
            <a:pPr algn="just">
              <a:lnSpc>
                <a:spcPts val="2879"/>
              </a:lnSpc>
            </a:pPr>
            <a:r>
              <a:rPr lang="en-US" sz="2400">
                <a:solidFill>
                  <a:srgbClr val="404040"/>
                </a:solidFill>
                <a:latin typeface="Trebuchet MS"/>
                <a:ea typeface="Trebuchet MS"/>
                <a:cs typeface="Trebuchet MS"/>
                <a:sym typeface="Trebuchet MS"/>
              </a:rPr>
              <a:t>● Definir las características eléctricas (niveles de tensión) y materiales (componentes y conectores mecánicos) que se van a usar en la transmisión de los datos por los medios físicos. </a:t>
            </a:r>
          </a:p>
          <a:p>
            <a:pPr algn="just" marL="518160" indent="-259080" lvl="1">
              <a:lnSpc>
                <a:spcPts val="2879"/>
              </a:lnSpc>
            </a:pPr>
          </a:p>
          <a:p>
            <a:pPr algn="just">
              <a:lnSpc>
                <a:spcPts val="2879"/>
              </a:lnSpc>
            </a:pPr>
            <a:r>
              <a:rPr lang="en-US" sz="2400">
                <a:solidFill>
                  <a:srgbClr val="404040"/>
                </a:solidFill>
                <a:latin typeface="Trebuchet MS"/>
                <a:ea typeface="Trebuchet MS"/>
                <a:cs typeface="Trebuchet MS"/>
                <a:sym typeface="Trebuchet MS"/>
              </a:rPr>
              <a:t>● Transmitir el flujo de bits a través del medio. </a:t>
            </a:r>
          </a:p>
          <a:p>
            <a:pPr algn="just" marL="518160" indent="-259080" lvl="1">
              <a:lnSpc>
                <a:spcPts val="2879"/>
              </a:lnSpc>
            </a:pPr>
          </a:p>
          <a:p>
            <a:pPr algn="just">
              <a:lnSpc>
                <a:spcPts val="2879"/>
              </a:lnSpc>
            </a:pPr>
            <a:r>
              <a:rPr lang="en-US" sz="2400">
                <a:solidFill>
                  <a:srgbClr val="404040"/>
                </a:solidFill>
                <a:latin typeface="Trebuchet MS"/>
                <a:ea typeface="Trebuchet MS"/>
                <a:cs typeface="Trebuchet MS"/>
                <a:sym typeface="Trebuchet MS"/>
              </a:rPr>
              <a:t>● Manejar las señales eléctricas del medio de transmisión, polos en un enchufe, etc. </a:t>
            </a:r>
          </a:p>
          <a:p>
            <a:pPr algn="just" marL="518160" indent="-259080" lvl="1">
              <a:lnSpc>
                <a:spcPts val="2879"/>
              </a:lnSpc>
            </a:pPr>
          </a:p>
          <a:p>
            <a:pPr algn="just" marL="518160" indent="-259080" lvl="1">
              <a:lnSpc>
                <a:spcPts val="2879"/>
              </a:lnSpc>
            </a:pPr>
            <a:r>
              <a:rPr lang="en-US" sz="2400">
                <a:solidFill>
                  <a:srgbClr val="404040"/>
                </a:solidFill>
                <a:latin typeface="Trebuchet MS"/>
                <a:ea typeface="Trebuchet MS"/>
                <a:cs typeface="Trebuchet MS"/>
                <a:sym typeface="Trebuchet MS"/>
              </a:rPr>
              <a:t>● Garantizar la conexión (aunque no la fiabilidad de dicha conexión)</a:t>
            </a:r>
          </a:p>
        </p:txBody>
      </p:sp>
      <p:sp>
        <p:nvSpPr>
          <p:cNvPr name="Freeform 22" id="22"/>
          <p:cNvSpPr/>
          <p:nvPr/>
        </p:nvSpPr>
        <p:spPr>
          <a:xfrm flipH="false" flipV="false" rot="0">
            <a:off x="9353524" y="755150"/>
            <a:ext cx="7296148" cy="2743198"/>
          </a:xfrm>
          <a:custGeom>
            <a:avLst/>
            <a:gdLst/>
            <a:ahLst/>
            <a:cxnLst/>
            <a:rect r="r" b="b" t="t" l="l"/>
            <a:pathLst>
              <a:path h="2743198" w="7296148">
                <a:moveTo>
                  <a:pt x="0" y="0"/>
                </a:moveTo>
                <a:lnTo>
                  <a:pt x="7296148" y="0"/>
                </a:lnTo>
                <a:lnTo>
                  <a:pt x="7296148" y="2743198"/>
                </a:lnTo>
                <a:lnTo>
                  <a:pt x="0" y="2743198"/>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784350" y="2576440"/>
            <a:ext cx="12895002" cy="964853"/>
          </a:xfrm>
          <a:prstGeom prst="rect">
            <a:avLst/>
          </a:prstGeom>
        </p:spPr>
        <p:txBody>
          <a:bodyPr anchor="t" rtlCol="false" tIns="0" lIns="0" bIns="0" rIns="0">
            <a:spAutoFit/>
          </a:bodyPr>
          <a:lstStyle/>
          <a:p>
            <a:pPr algn="l">
              <a:lnSpc>
                <a:spcPts val="7200"/>
              </a:lnSpc>
            </a:pPr>
            <a:r>
              <a:rPr lang="en-US" sz="6000">
                <a:solidFill>
                  <a:srgbClr val="AE7A51"/>
                </a:solidFill>
                <a:latin typeface="Arimo"/>
                <a:ea typeface="Arimo"/>
                <a:cs typeface="Arimo"/>
                <a:sym typeface="Arimo"/>
              </a:rPr>
              <a:t>2. Enlace de datos</a:t>
            </a:r>
          </a:p>
        </p:txBody>
      </p:sp>
      <p:sp>
        <p:nvSpPr>
          <p:cNvPr name="TextBox 21" id="21"/>
          <p:cNvSpPr txBox="true"/>
          <p:nvPr/>
        </p:nvSpPr>
        <p:spPr>
          <a:xfrm rot="0">
            <a:off x="1784350" y="4118483"/>
            <a:ext cx="7078980" cy="3705225"/>
          </a:xfrm>
          <a:prstGeom prst="rect">
            <a:avLst/>
          </a:prstGeom>
        </p:spPr>
        <p:txBody>
          <a:bodyPr anchor="t" rtlCol="false" tIns="0" lIns="0" bIns="0" rIns="0">
            <a:spAutoFit/>
          </a:bodyPr>
          <a:lstStyle/>
          <a:p>
            <a:pPr algn="just">
              <a:lnSpc>
                <a:spcPts val="2879"/>
              </a:lnSpc>
            </a:pPr>
            <a:r>
              <a:rPr lang="en-US" sz="2400">
                <a:solidFill>
                  <a:srgbClr val="202122"/>
                </a:solidFill>
                <a:latin typeface="Arimo"/>
                <a:ea typeface="Arimo"/>
                <a:cs typeface="Arimo"/>
                <a:sym typeface="Arimo"/>
              </a:rPr>
              <a:t>La capa de enlace de datos es muy similar a la capa de red, salvo que lo que hace es facilitar la transferencia  de  datos  entre  dos  dispositivos ubicados en una MISMA red. La capa de enlace de datos toma los paquetes de la capa de red y los rompe  en  trozos  más  pequeños  denominados tramas. Al igual que la capa de red, la capa de enlace de datos es también la responsable del control  de  flujo  y  de  errores  respecto  de  esa comunicación dentro de la red.</a:t>
            </a:r>
          </a:p>
        </p:txBody>
      </p:sp>
      <p:sp>
        <p:nvSpPr>
          <p:cNvPr name="Freeform 22" id="22"/>
          <p:cNvSpPr/>
          <p:nvPr/>
        </p:nvSpPr>
        <p:spPr>
          <a:xfrm flipH="false" flipV="false" rot="0">
            <a:off x="9335698" y="5027800"/>
            <a:ext cx="7429498" cy="1866898"/>
          </a:xfrm>
          <a:custGeom>
            <a:avLst/>
            <a:gdLst/>
            <a:ahLst/>
            <a:cxnLst/>
            <a:rect r="r" b="b" t="t" l="l"/>
            <a:pathLst>
              <a:path h="1866898" w="7429498">
                <a:moveTo>
                  <a:pt x="0" y="0"/>
                </a:moveTo>
                <a:lnTo>
                  <a:pt x="7429498" y="0"/>
                </a:lnTo>
                <a:lnTo>
                  <a:pt x="7429498" y="1866898"/>
                </a:lnTo>
                <a:lnTo>
                  <a:pt x="0" y="1866898"/>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784350" y="2286852"/>
            <a:ext cx="4536790" cy="923925"/>
          </a:xfrm>
          <a:prstGeom prst="rect">
            <a:avLst/>
          </a:prstGeom>
        </p:spPr>
        <p:txBody>
          <a:bodyPr anchor="t" rtlCol="false" tIns="0" lIns="0" bIns="0" rIns="0">
            <a:spAutoFit/>
          </a:bodyPr>
          <a:lstStyle/>
          <a:p>
            <a:pPr algn="l">
              <a:lnSpc>
                <a:spcPts val="7200"/>
              </a:lnSpc>
            </a:pPr>
            <a:r>
              <a:rPr lang="en-US" sz="6000" spc="-50">
                <a:solidFill>
                  <a:srgbClr val="90C226"/>
                </a:solidFill>
                <a:latin typeface="Trebuchet MS"/>
                <a:ea typeface="Trebuchet MS"/>
                <a:cs typeface="Trebuchet MS"/>
                <a:sym typeface="Trebuchet MS"/>
              </a:rPr>
              <a:t>3. Red</a:t>
            </a:r>
          </a:p>
        </p:txBody>
      </p:sp>
      <p:sp>
        <p:nvSpPr>
          <p:cNvPr name="TextBox 21" id="21"/>
          <p:cNvSpPr txBox="true"/>
          <p:nvPr/>
        </p:nvSpPr>
        <p:spPr>
          <a:xfrm rot="0">
            <a:off x="1784350" y="4118483"/>
            <a:ext cx="7076440" cy="3443603"/>
          </a:xfrm>
          <a:prstGeom prst="rect">
            <a:avLst/>
          </a:prstGeom>
        </p:spPr>
        <p:txBody>
          <a:bodyPr anchor="t" rtlCol="false" tIns="0" lIns="0" bIns="0" rIns="0">
            <a:spAutoFit/>
          </a:bodyPr>
          <a:lstStyle/>
          <a:p>
            <a:pPr algn="just">
              <a:lnSpc>
                <a:spcPts val="2879"/>
              </a:lnSpc>
            </a:pPr>
            <a:r>
              <a:rPr lang="en-US" sz="2400">
                <a:solidFill>
                  <a:srgbClr val="202122"/>
                </a:solidFill>
                <a:latin typeface="Arimo"/>
                <a:ea typeface="Arimo"/>
                <a:cs typeface="Arimo"/>
                <a:sym typeface="Arimo"/>
              </a:rPr>
              <a:t>Se encarga de identificar el enrutamiento existente entre una o más redes. Las unidades de datos se denominan paquetes, y se pueden clasificar en protocolos enrutables y protocolos de enrutamiento.</a:t>
            </a:r>
          </a:p>
          <a:p>
            <a:pPr algn="l">
              <a:lnSpc>
                <a:spcPts val="2879"/>
              </a:lnSpc>
            </a:pPr>
          </a:p>
          <a:p>
            <a:pPr algn="l">
              <a:lnSpc>
                <a:spcPts val="3311"/>
              </a:lnSpc>
            </a:pPr>
            <a:r>
              <a:rPr lang="en-US" sz="2400">
                <a:solidFill>
                  <a:srgbClr val="202122"/>
                </a:solidFill>
                <a:latin typeface="Arimo"/>
                <a:ea typeface="Arimo"/>
                <a:cs typeface="Arimo"/>
                <a:sym typeface="Arimo"/>
              </a:rPr>
              <a:t>En este nivel se realiza el direccionamiento lógico y la determinación de la ruta de los datos hasta su receptor final.</a:t>
            </a:r>
          </a:p>
        </p:txBody>
      </p:sp>
      <p:sp>
        <p:nvSpPr>
          <p:cNvPr name="Freeform 22" id="22"/>
          <p:cNvSpPr/>
          <p:nvPr/>
        </p:nvSpPr>
        <p:spPr>
          <a:xfrm flipH="false" flipV="false" rot="0">
            <a:off x="9315300" y="4619600"/>
            <a:ext cx="7600948" cy="2133598"/>
          </a:xfrm>
          <a:custGeom>
            <a:avLst/>
            <a:gdLst/>
            <a:ahLst/>
            <a:cxnLst/>
            <a:rect r="r" b="b" t="t" l="l"/>
            <a:pathLst>
              <a:path h="2133598" w="7600948">
                <a:moveTo>
                  <a:pt x="0" y="0"/>
                </a:moveTo>
                <a:lnTo>
                  <a:pt x="7600948" y="0"/>
                </a:lnTo>
                <a:lnTo>
                  <a:pt x="7600948" y="2133598"/>
                </a:lnTo>
                <a:lnTo>
                  <a:pt x="0" y="2133598"/>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4705344" y="1946275"/>
            <a:ext cx="4944507" cy="923925"/>
          </a:xfrm>
          <a:prstGeom prst="rect">
            <a:avLst/>
          </a:prstGeom>
        </p:spPr>
        <p:txBody>
          <a:bodyPr anchor="t" rtlCol="false" tIns="0" lIns="0" bIns="0" rIns="0">
            <a:spAutoFit/>
          </a:bodyPr>
          <a:lstStyle/>
          <a:p>
            <a:pPr algn="l">
              <a:lnSpc>
                <a:spcPts val="7200"/>
              </a:lnSpc>
            </a:pPr>
            <a:r>
              <a:rPr lang="en-US" sz="6000" spc="-20">
                <a:solidFill>
                  <a:srgbClr val="90C226"/>
                </a:solidFill>
                <a:latin typeface="Trebuchet MS"/>
                <a:ea typeface="Trebuchet MS"/>
                <a:cs typeface="Trebuchet MS"/>
                <a:sym typeface="Trebuchet MS"/>
              </a:rPr>
              <a:t>4. Transporte</a:t>
            </a:r>
          </a:p>
        </p:txBody>
      </p:sp>
      <p:sp>
        <p:nvSpPr>
          <p:cNvPr name="TextBox 21" id="21"/>
          <p:cNvSpPr txBox="true"/>
          <p:nvPr/>
        </p:nvSpPr>
        <p:spPr>
          <a:xfrm rot="0">
            <a:off x="4705344" y="3505978"/>
            <a:ext cx="6877050" cy="2198370"/>
          </a:xfrm>
          <a:prstGeom prst="rect">
            <a:avLst/>
          </a:prstGeom>
        </p:spPr>
        <p:txBody>
          <a:bodyPr anchor="t" rtlCol="false" tIns="0" lIns="0" bIns="0" rIns="0">
            <a:spAutoFit/>
          </a:bodyPr>
          <a:lstStyle/>
          <a:p>
            <a:pPr algn="l">
              <a:lnSpc>
                <a:spcPts val="3311"/>
              </a:lnSpc>
            </a:pPr>
            <a:r>
              <a:rPr lang="en-US" sz="2400">
                <a:solidFill>
                  <a:srgbClr val="202122"/>
                </a:solidFill>
                <a:latin typeface="Arimo"/>
                <a:ea typeface="Arimo"/>
                <a:cs typeface="Arimo"/>
                <a:sym typeface="Arimo"/>
              </a:rPr>
              <a:t>Capa encargada de efectuar el transporte de los datos libres de errores (que se encuentran dentro del paquete) de la máquina origen a la de destino, independientemente del tipo de red física que esté utilizando.</a:t>
            </a:r>
          </a:p>
        </p:txBody>
      </p:sp>
      <p:sp>
        <p:nvSpPr>
          <p:cNvPr name="Freeform 22" id="22"/>
          <p:cNvSpPr/>
          <p:nvPr/>
        </p:nvSpPr>
        <p:spPr>
          <a:xfrm flipH="false" flipV="false" rot="0">
            <a:off x="4114794" y="5985224"/>
            <a:ext cx="8058148" cy="2819398"/>
          </a:xfrm>
          <a:custGeom>
            <a:avLst/>
            <a:gdLst/>
            <a:ahLst/>
            <a:cxnLst/>
            <a:rect r="r" b="b" t="t" l="l"/>
            <a:pathLst>
              <a:path h="2819398" w="8058148">
                <a:moveTo>
                  <a:pt x="0" y="0"/>
                </a:moveTo>
                <a:lnTo>
                  <a:pt x="8058148" y="0"/>
                </a:lnTo>
                <a:lnTo>
                  <a:pt x="8058148" y="2819398"/>
                </a:lnTo>
                <a:lnTo>
                  <a:pt x="0" y="2819398"/>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784350" y="2596920"/>
            <a:ext cx="3219548" cy="923925"/>
          </a:xfrm>
          <a:prstGeom prst="rect">
            <a:avLst/>
          </a:prstGeom>
        </p:spPr>
        <p:txBody>
          <a:bodyPr anchor="t" rtlCol="false" tIns="0" lIns="0" bIns="0" rIns="0">
            <a:spAutoFit/>
          </a:bodyPr>
          <a:lstStyle/>
          <a:p>
            <a:pPr algn="l">
              <a:lnSpc>
                <a:spcPts val="7200"/>
              </a:lnSpc>
            </a:pPr>
            <a:r>
              <a:rPr lang="en-US" sz="6000" spc="-20">
                <a:solidFill>
                  <a:srgbClr val="90C226"/>
                </a:solidFill>
                <a:latin typeface="Trebuchet MS"/>
                <a:ea typeface="Trebuchet MS"/>
                <a:cs typeface="Trebuchet MS"/>
                <a:sym typeface="Trebuchet MS"/>
              </a:rPr>
              <a:t>5. Sesión</a:t>
            </a:r>
          </a:p>
        </p:txBody>
      </p:sp>
      <p:sp>
        <p:nvSpPr>
          <p:cNvPr name="TextBox 21" id="21"/>
          <p:cNvSpPr txBox="true"/>
          <p:nvPr/>
        </p:nvSpPr>
        <p:spPr>
          <a:xfrm rot="0">
            <a:off x="1784350" y="4015994"/>
            <a:ext cx="7077708" cy="3774190"/>
          </a:xfrm>
          <a:prstGeom prst="rect">
            <a:avLst/>
          </a:prstGeom>
        </p:spPr>
        <p:txBody>
          <a:bodyPr anchor="t" rtlCol="false" tIns="0" lIns="0" bIns="0" rIns="0">
            <a:spAutoFit/>
          </a:bodyPr>
          <a:lstStyle/>
          <a:p>
            <a:pPr algn="just">
              <a:lnSpc>
                <a:spcPts val="3311"/>
              </a:lnSpc>
            </a:pPr>
            <a:r>
              <a:rPr lang="en-US" sz="2400">
                <a:solidFill>
                  <a:srgbClr val="202122"/>
                </a:solidFill>
                <a:latin typeface="Arimo"/>
                <a:ea typeface="Arimo"/>
                <a:cs typeface="Arimo"/>
                <a:sym typeface="Arimo"/>
              </a:rPr>
              <a:t>Esta capa es la que se encarga de mantener y controlar  el  enlace  establecido  entre  dos computadores que están transmitiendo datos de cualquier índole. Por lo tanto, el servicio provisto por esta capa es la capacidad de asegurar que, dada una sesión establecida entre dos máquinas, la misma se pueda efectuar para las operaciones definidas de principio a fin, reanudándose en caso de interrupción.</a:t>
            </a:r>
          </a:p>
        </p:txBody>
      </p:sp>
      <p:sp>
        <p:nvSpPr>
          <p:cNvPr name="Freeform 22" id="22"/>
          <p:cNvSpPr/>
          <p:nvPr/>
        </p:nvSpPr>
        <p:spPr>
          <a:xfrm flipH="false" flipV="false" rot="0">
            <a:off x="10417450" y="3981450"/>
            <a:ext cx="5649848" cy="3254498"/>
          </a:xfrm>
          <a:custGeom>
            <a:avLst/>
            <a:gdLst/>
            <a:ahLst/>
            <a:cxnLst/>
            <a:rect r="r" b="b" t="t" l="l"/>
            <a:pathLst>
              <a:path h="3254498" w="5649848">
                <a:moveTo>
                  <a:pt x="0" y="0"/>
                </a:moveTo>
                <a:lnTo>
                  <a:pt x="5649848" y="0"/>
                </a:lnTo>
                <a:lnTo>
                  <a:pt x="5649848" y="3254498"/>
                </a:lnTo>
                <a:lnTo>
                  <a:pt x="0" y="3254498"/>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784350" y="2611172"/>
            <a:ext cx="5665854" cy="923925"/>
          </a:xfrm>
          <a:prstGeom prst="rect">
            <a:avLst/>
          </a:prstGeom>
        </p:spPr>
        <p:txBody>
          <a:bodyPr anchor="t" rtlCol="false" tIns="0" lIns="0" bIns="0" rIns="0">
            <a:spAutoFit/>
          </a:bodyPr>
          <a:lstStyle/>
          <a:p>
            <a:pPr algn="l">
              <a:lnSpc>
                <a:spcPts val="7200"/>
              </a:lnSpc>
            </a:pPr>
            <a:r>
              <a:rPr lang="en-US" sz="6000" spc="-20">
                <a:solidFill>
                  <a:srgbClr val="90C226"/>
                </a:solidFill>
                <a:latin typeface="Trebuchet MS"/>
                <a:ea typeface="Trebuchet MS"/>
                <a:cs typeface="Trebuchet MS"/>
                <a:sym typeface="Trebuchet MS"/>
              </a:rPr>
              <a:t>6. Presentación</a:t>
            </a:r>
          </a:p>
        </p:txBody>
      </p:sp>
      <p:sp>
        <p:nvSpPr>
          <p:cNvPr name="TextBox 21" id="21"/>
          <p:cNvSpPr txBox="true"/>
          <p:nvPr/>
        </p:nvSpPr>
        <p:spPr>
          <a:xfrm rot="0">
            <a:off x="1784350" y="4015994"/>
            <a:ext cx="7078980" cy="2198370"/>
          </a:xfrm>
          <a:prstGeom prst="rect">
            <a:avLst/>
          </a:prstGeom>
        </p:spPr>
        <p:txBody>
          <a:bodyPr anchor="t" rtlCol="false" tIns="0" lIns="0" bIns="0" rIns="0">
            <a:spAutoFit/>
          </a:bodyPr>
          <a:lstStyle/>
          <a:p>
            <a:pPr algn="just">
              <a:lnSpc>
                <a:spcPts val="3311"/>
              </a:lnSpc>
            </a:pPr>
            <a:r>
              <a:rPr lang="en-US" sz="2400">
                <a:solidFill>
                  <a:srgbClr val="202122"/>
                </a:solidFill>
                <a:latin typeface="Arimo"/>
                <a:ea typeface="Arimo"/>
                <a:cs typeface="Arimo"/>
                <a:sym typeface="Arimo"/>
              </a:rPr>
              <a:t>El objetivo es encargarse de la representación de la información,  de  manera  que,  aunque  distintos equipos puedan tener diferentes representaciones internas de caracteres, los datos lleguen de manera reconocible.</a:t>
            </a:r>
          </a:p>
        </p:txBody>
      </p:sp>
      <p:sp>
        <p:nvSpPr>
          <p:cNvPr name="Freeform 22" id="22"/>
          <p:cNvSpPr/>
          <p:nvPr/>
        </p:nvSpPr>
        <p:spPr>
          <a:xfrm flipH="false" flipV="false" rot="0">
            <a:off x="9315300" y="3905200"/>
            <a:ext cx="8058148" cy="2666998"/>
          </a:xfrm>
          <a:custGeom>
            <a:avLst/>
            <a:gdLst/>
            <a:ahLst/>
            <a:cxnLst/>
            <a:rect r="r" b="b" t="t" l="l"/>
            <a:pathLst>
              <a:path h="2666998" w="8058148">
                <a:moveTo>
                  <a:pt x="0" y="0"/>
                </a:moveTo>
                <a:lnTo>
                  <a:pt x="8058148" y="0"/>
                </a:lnTo>
                <a:lnTo>
                  <a:pt x="8058148" y="2666998"/>
                </a:lnTo>
                <a:lnTo>
                  <a:pt x="0" y="2666998"/>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3377144" y="863794"/>
            <a:ext cx="4709286" cy="923925"/>
          </a:xfrm>
          <a:prstGeom prst="rect">
            <a:avLst/>
          </a:prstGeom>
        </p:spPr>
        <p:txBody>
          <a:bodyPr anchor="t" rtlCol="false" tIns="0" lIns="0" bIns="0" rIns="0">
            <a:spAutoFit/>
          </a:bodyPr>
          <a:lstStyle/>
          <a:p>
            <a:pPr algn="l">
              <a:lnSpc>
                <a:spcPts val="7200"/>
              </a:lnSpc>
            </a:pPr>
            <a:r>
              <a:rPr lang="en-US" sz="6000" spc="-20">
                <a:solidFill>
                  <a:srgbClr val="90C226"/>
                </a:solidFill>
                <a:latin typeface="Trebuchet MS"/>
                <a:ea typeface="Trebuchet MS"/>
                <a:cs typeface="Trebuchet MS"/>
                <a:sym typeface="Trebuchet MS"/>
              </a:rPr>
              <a:t>7. Aplicación</a:t>
            </a:r>
          </a:p>
        </p:txBody>
      </p:sp>
      <p:sp>
        <p:nvSpPr>
          <p:cNvPr name="TextBox 21" id="21"/>
          <p:cNvSpPr txBox="true"/>
          <p:nvPr/>
        </p:nvSpPr>
        <p:spPr>
          <a:xfrm rot="0">
            <a:off x="3377144" y="2355850"/>
            <a:ext cx="11533706" cy="2158106"/>
          </a:xfrm>
          <a:prstGeom prst="rect">
            <a:avLst/>
          </a:prstGeom>
        </p:spPr>
        <p:txBody>
          <a:bodyPr anchor="t" rtlCol="false" tIns="0" lIns="0" bIns="0" rIns="0">
            <a:spAutoFit/>
          </a:bodyPr>
          <a:lstStyle/>
          <a:p>
            <a:pPr algn="just">
              <a:lnSpc>
                <a:spcPts val="3311"/>
              </a:lnSpc>
            </a:pPr>
            <a:r>
              <a:rPr lang="en-US" sz="2400">
                <a:solidFill>
                  <a:srgbClr val="000000"/>
                </a:solidFill>
                <a:latin typeface="Trebuchet MS"/>
                <a:ea typeface="Trebuchet MS"/>
                <a:cs typeface="Trebuchet MS"/>
                <a:sym typeface="Trebuchet MS"/>
              </a:rPr>
              <a:t>Ofrece a las aplicaciones la posibilidad de acceder a los servicios de las demás capas y define los protocolos que utilizan las aplicaciones para intercambiar datos, como correo electrónico, gestores de bases de datos y servidor de ficheros (FTP). Hay tantos protocolos como aplicaciones distintas y puesto que continuamente se desarrollan nuevas aplicaciones el número de protocolos crece sin parar</a:t>
            </a:r>
          </a:p>
        </p:txBody>
      </p:sp>
      <p:sp>
        <p:nvSpPr>
          <p:cNvPr name="Freeform 22" id="22"/>
          <p:cNvSpPr/>
          <p:nvPr/>
        </p:nvSpPr>
        <p:spPr>
          <a:xfrm flipH="false" flipV="false" rot="0">
            <a:off x="4810046" y="5746580"/>
            <a:ext cx="8667898" cy="2436684"/>
          </a:xfrm>
          <a:custGeom>
            <a:avLst/>
            <a:gdLst/>
            <a:ahLst/>
            <a:cxnLst/>
            <a:rect r="r" b="b" t="t" l="l"/>
            <a:pathLst>
              <a:path h="2436684" w="8667898">
                <a:moveTo>
                  <a:pt x="0" y="0"/>
                </a:moveTo>
                <a:lnTo>
                  <a:pt x="8667898" y="0"/>
                </a:lnTo>
                <a:lnTo>
                  <a:pt x="8667898" y="2436684"/>
                </a:lnTo>
                <a:lnTo>
                  <a:pt x="0" y="2436684"/>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FFFFFF"/>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grpSp>
        <p:nvGrpSpPr>
          <p:cNvPr name="Group 38" id="38"/>
          <p:cNvGrpSpPr/>
          <p:nvPr/>
        </p:nvGrpSpPr>
        <p:grpSpPr>
          <a:xfrm rot="-10800000">
            <a:off x="0" y="0"/>
            <a:ext cx="1263894" cy="8499230"/>
            <a:chOff x="0" y="0"/>
            <a:chExt cx="1685192" cy="11332307"/>
          </a:xfrm>
        </p:grpSpPr>
        <p:sp>
          <p:nvSpPr>
            <p:cNvPr name="Freeform 39" id="39"/>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solidFill>
          </p:spPr>
        </p:sp>
      </p:grpSp>
      <p:grpSp>
        <p:nvGrpSpPr>
          <p:cNvPr name="Group 40" id="40"/>
          <p:cNvGrpSpPr/>
          <p:nvPr/>
        </p:nvGrpSpPr>
        <p:grpSpPr>
          <a:xfrm rot="0">
            <a:off x="11607800" y="5727700"/>
            <a:ext cx="6675438" cy="4559300"/>
            <a:chOff x="0" y="0"/>
            <a:chExt cx="8900584" cy="6079067"/>
          </a:xfrm>
        </p:grpSpPr>
        <p:sp>
          <p:nvSpPr>
            <p:cNvPr name="Freeform 41" id="41"/>
            <p:cNvSpPr/>
            <p:nvPr/>
          </p:nvSpPr>
          <p:spPr>
            <a:xfrm flipH="false" flipV="false" rot="0">
              <a:off x="0" y="0"/>
              <a:ext cx="8900541" cy="6079109"/>
            </a:xfrm>
            <a:custGeom>
              <a:avLst/>
              <a:gdLst/>
              <a:ahLst/>
              <a:cxnLst/>
              <a:rect r="r" b="b" t="t" l="l"/>
              <a:pathLst>
                <a:path h="6079109" w="8900541">
                  <a:moveTo>
                    <a:pt x="0" y="6079109"/>
                  </a:moveTo>
                  <a:lnTo>
                    <a:pt x="8900541" y="0"/>
                  </a:lnTo>
                  <a:lnTo>
                    <a:pt x="8900541" y="6079109"/>
                  </a:lnTo>
                  <a:close/>
                </a:path>
              </a:pathLst>
            </a:custGeom>
            <a:solidFill>
              <a:srgbClr val="90C226">
                <a:alpha val="87843"/>
              </a:srgbClr>
            </a:solidFill>
          </p:spPr>
        </p:sp>
      </p:grpSp>
      <p:grpSp>
        <p:nvGrpSpPr>
          <p:cNvPr name="Group 42" id="42"/>
          <p:cNvGrpSpPr/>
          <p:nvPr/>
        </p:nvGrpSpPr>
        <p:grpSpPr>
          <a:xfrm rot="0">
            <a:off x="15638460" y="0"/>
            <a:ext cx="2649540" cy="10287000"/>
            <a:chOff x="0" y="0"/>
            <a:chExt cx="3532720" cy="13716000"/>
          </a:xfrm>
        </p:grpSpPr>
        <p:sp>
          <p:nvSpPr>
            <p:cNvPr name="Freeform 43" id="43"/>
            <p:cNvSpPr/>
            <p:nvPr/>
          </p:nvSpPr>
          <p:spPr>
            <a:xfrm flipH="false" flipV="false" rot="0">
              <a:off x="0" y="0"/>
              <a:ext cx="3532759" cy="13716000"/>
            </a:xfrm>
            <a:custGeom>
              <a:avLst/>
              <a:gdLst/>
              <a:ahLst/>
              <a:cxnLst/>
              <a:rect r="r" b="b" t="t" l="l"/>
              <a:pathLst>
                <a:path h="13716000" w="3532759">
                  <a:moveTo>
                    <a:pt x="0" y="0"/>
                  </a:moveTo>
                  <a:lnTo>
                    <a:pt x="3532759" y="0"/>
                  </a:lnTo>
                  <a:lnTo>
                    <a:pt x="3532759" y="13716000"/>
                  </a:lnTo>
                  <a:lnTo>
                    <a:pt x="3058033" y="13716000"/>
                  </a:lnTo>
                  <a:lnTo>
                    <a:pt x="0" y="0"/>
                  </a:lnTo>
                  <a:close/>
                </a:path>
              </a:pathLst>
            </a:custGeom>
            <a:solidFill>
              <a:srgbClr val="54A021"/>
            </a:solidFill>
          </p:spPr>
        </p:sp>
      </p:grpSp>
      <p:sp>
        <p:nvSpPr>
          <p:cNvPr name="AutoShape 44" id="44"/>
          <p:cNvSpPr/>
          <p:nvPr/>
        </p:nvSpPr>
        <p:spPr>
          <a:xfrm rot="4544398">
            <a:off x="11173900" y="5143500"/>
            <a:ext cx="10646801" cy="0"/>
          </a:xfrm>
          <a:prstGeom prst="line">
            <a:avLst/>
          </a:prstGeom>
          <a:ln cap="rnd" w="9525">
            <a:solidFill>
              <a:srgbClr val="54A021"/>
            </a:solidFill>
            <a:prstDash val="solid"/>
            <a:headEnd type="none" len="sm" w="sm"/>
            <a:tailEnd type="none" len="sm" w="sm"/>
          </a:ln>
        </p:spPr>
      </p:sp>
      <p:sp>
        <p:nvSpPr>
          <p:cNvPr name="AutoShape 45" id="45"/>
          <p:cNvSpPr/>
          <p:nvPr/>
        </p:nvSpPr>
        <p:spPr>
          <a:xfrm rot="8774650">
            <a:off x="10394371" y="7904559"/>
            <a:ext cx="8632395" cy="0"/>
          </a:xfrm>
          <a:prstGeom prst="line">
            <a:avLst/>
          </a:prstGeom>
          <a:ln cap="rnd" w="9525">
            <a:solidFill>
              <a:srgbClr val="90C226"/>
            </a:solidFill>
            <a:prstDash val="solid"/>
            <a:headEnd type="none" len="sm" w="sm"/>
            <a:tailEnd type="none" len="sm" w="sm"/>
          </a:ln>
        </p:spPr>
      </p:sp>
      <p:sp>
        <p:nvSpPr>
          <p:cNvPr name="TextBox 46" id="46"/>
          <p:cNvSpPr txBox="true"/>
          <p:nvPr/>
        </p:nvSpPr>
        <p:spPr>
          <a:xfrm rot="0">
            <a:off x="2352040" y="2131695"/>
            <a:ext cx="11467524" cy="3898839"/>
          </a:xfrm>
          <a:prstGeom prst="rect">
            <a:avLst/>
          </a:prstGeom>
        </p:spPr>
        <p:txBody>
          <a:bodyPr anchor="t" rtlCol="false" tIns="0" lIns="0" bIns="0" rIns="0">
            <a:spAutoFit/>
          </a:bodyPr>
          <a:lstStyle/>
          <a:p>
            <a:pPr algn="r">
              <a:lnSpc>
                <a:spcPts val="12960"/>
              </a:lnSpc>
            </a:pPr>
            <a:r>
              <a:rPr lang="en-US" sz="10800">
                <a:solidFill>
                  <a:srgbClr val="90C226"/>
                </a:solidFill>
                <a:latin typeface="Trebuchet MS"/>
                <a:ea typeface="Trebuchet MS"/>
                <a:cs typeface="Trebuchet MS"/>
                <a:sym typeface="Trebuchet MS"/>
              </a:rPr>
              <a:t>¿Qué es el modelo TCP/IP? </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2716375" y="4719740"/>
            <a:ext cx="3689191" cy="847519"/>
          </a:xfrm>
          <a:prstGeom prst="rect">
            <a:avLst/>
          </a:prstGeom>
        </p:spPr>
        <p:txBody>
          <a:bodyPr anchor="t" rtlCol="false" tIns="0" lIns="0" bIns="0" rIns="0">
            <a:spAutoFit/>
          </a:bodyPr>
          <a:lstStyle/>
          <a:p>
            <a:pPr algn="l">
              <a:lnSpc>
                <a:spcPts val="6684"/>
              </a:lnSpc>
            </a:pPr>
            <a:r>
              <a:rPr lang="en-US" sz="5570" spc="-176">
                <a:solidFill>
                  <a:srgbClr val="90C226"/>
                </a:solidFill>
                <a:latin typeface="Trebuchet MS"/>
                <a:ea typeface="Trebuchet MS"/>
                <a:cs typeface="Trebuchet MS"/>
                <a:sym typeface="Trebuchet MS"/>
              </a:rPr>
              <a:t>TCP/IP</a:t>
            </a:r>
          </a:p>
        </p:txBody>
      </p:sp>
      <p:grpSp>
        <p:nvGrpSpPr>
          <p:cNvPr name="Group 21" id="21"/>
          <p:cNvGrpSpPr/>
          <p:nvPr/>
        </p:nvGrpSpPr>
        <p:grpSpPr>
          <a:xfrm rot="0">
            <a:off x="0" y="6019800"/>
            <a:ext cx="673098" cy="4267200"/>
            <a:chOff x="0" y="0"/>
            <a:chExt cx="897464" cy="5689600"/>
          </a:xfrm>
        </p:grpSpPr>
        <p:sp>
          <p:nvSpPr>
            <p:cNvPr name="Freeform 22" id="2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solidFill>
          </p:spPr>
        </p:sp>
      </p:grpSp>
      <p:sp>
        <p:nvSpPr>
          <p:cNvPr name="AutoShape 23" id="23"/>
          <p:cNvSpPr/>
          <p:nvPr/>
        </p:nvSpPr>
        <p:spPr>
          <a:xfrm rot="5385277">
            <a:off x="4019527" y="5116642"/>
            <a:ext cx="5930954" cy="0"/>
          </a:xfrm>
          <a:prstGeom prst="line">
            <a:avLst/>
          </a:prstGeom>
          <a:ln cap="rnd" w="9525">
            <a:solidFill>
              <a:srgbClr val="90C226"/>
            </a:solidFill>
            <a:prstDash val="solid"/>
            <a:headEnd type="none" len="sm" w="sm"/>
            <a:tailEnd type="none" len="sm" w="sm"/>
          </a:ln>
        </p:spPr>
      </p:sp>
      <p:sp>
        <p:nvSpPr>
          <p:cNvPr name="TextBox 24" id="24"/>
          <p:cNvSpPr txBox="true"/>
          <p:nvPr/>
        </p:nvSpPr>
        <p:spPr>
          <a:xfrm rot="0">
            <a:off x="7559816" y="1690386"/>
            <a:ext cx="9328644" cy="6833460"/>
          </a:xfrm>
          <a:prstGeom prst="rect">
            <a:avLst/>
          </a:prstGeom>
        </p:spPr>
        <p:txBody>
          <a:bodyPr anchor="t" rtlCol="false" tIns="0" lIns="0" bIns="0" rIns="0">
            <a:spAutoFit/>
          </a:bodyPr>
          <a:lstStyle/>
          <a:p>
            <a:pPr algn="l" marL="894080" indent="-447040" lvl="1">
              <a:lnSpc>
                <a:spcPts val="4320"/>
              </a:lnSpc>
              <a:buFont typeface="Arial"/>
              <a:buChar char="•"/>
            </a:pPr>
            <a:r>
              <a:rPr lang="en-US" sz="3600">
                <a:solidFill>
                  <a:srgbClr val="404040"/>
                </a:solidFill>
                <a:latin typeface="Trebuchet MS"/>
                <a:ea typeface="Trebuchet MS"/>
                <a:cs typeface="Trebuchet MS"/>
                <a:sym typeface="Trebuchet MS"/>
              </a:rPr>
              <a:t>El modelo TCP/IP es usado para comunicaciones en redes y, como todo protocolo, describe un conjunto de guías generales de operación para permitir que un equipo pueda comunicarse en una red. TCP/IP provee conectividad de extremo a extremo especificando cómo los datos deberían ser formateados,    direccionados,    transmitidos, enrutados y recibidos por el destinatario.</a:t>
            </a:r>
          </a:p>
        </p:txBody>
      </p:sp>
      <p:grpSp>
        <p:nvGrpSpPr>
          <p:cNvPr name="Group 25" id="25"/>
          <p:cNvGrpSpPr/>
          <p:nvPr/>
        </p:nvGrpSpPr>
        <p:grpSpPr>
          <a:xfrm rot="-10800000">
            <a:off x="17046208" y="0"/>
            <a:ext cx="1263894" cy="6924432"/>
            <a:chOff x="0" y="0"/>
            <a:chExt cx="1685192" cy="9232576"/>
          </a:xfrm>
        </p:grpSpPr>
        <p:sp>
          <p:nvSpPr>
            <p:cNvPr name="Freeform 26" id="26"/>
            <p:cNvSpPr/>
            <p:nvPr/>
          </p:nvSpPr>
          <p:spPr>
            <a:xfrm flipH="false" flipV="false" rot="0">
              <a:off x="0" y="0"/>
              <a:ext cx="1685163" cy="9232519"/>
            </a:xfrm>
            <a:custGeom>
              <a:avLst/>
              <a:gdLst/>
              <a:ahLst/>
              <a:cxnLst/>
              <a:rect r="r" b="b" t="t" l="l"/>
              <a:pathLst>
                <a:path h="9232519" w="1685163">
                  <a:moveTo>
                    <a:pt x="1685163" y="9232519"/>
                  </a:moveTo>
                  <a:lnTo>
                    <a:pt x="0" y="0"/>
                  </a:lnTo>
                  <a:lnTo>
                    <a:pt x="0" y="9232519"/>
                  </a:lnTo>
                  <a:close/>
                </a:path>
              </a:pathLst>
            </a:custGeom>
            <a:solidFill>
              <a:srgbClr val="54A021"/>
            </a:solid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FFFFFF"/>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38" id="38"/>
          <p:cNvSpPr txBox="true"/>
          <p:nvPr/>
        </p:nvSpPr>
        <p:spPr>
          <a:xfrm rot="0">
            <a:off x="9233722" y="3330843"/>
            <a:ext cx="5063468" cy="3019425"/>
          </a:xfrm>
          <a:prstGeom prst="rect">
            <a:avLst/>
          </a:prstGeom>
        </p:spPr>
        <p:txBody>
          <a:bodyPr anchor="t" rtlCol="false" tIns="0" lIns="0" bIns="0" rIns="0">
            <a:spAutoFit/>
          </a:bodyPr>
          <a:lstStyle/>
          <a:p>
            <a:pPr algn="l">
              <a:lnSpc>
                <a:spcPts val="7920"/>
              </a:lnSpc>
            </a:pPr>
            <a:r>
              <a:rPr lang="en-US" sz="6600">
                <a:solidFill>
                  <a:srgbClr val="90C226"/>
                </a:solidFill>
                <a:latin typeface="Trebuchet MS"/>
                <a:ea typeface="Trebuchet MS"/>
                <a:cs typeface="Trebuchet MS"/>
                <a:sym typeface="Trebuchet MS"/>
              </a:rPr>
              <a:t>Capas del modelo TCP/IP </a:t>
            </a:r>
          </a:p>
        </p:txBody>
      </p:sp>
      <p:grpSp>
        <p:nvGrpSpPr>
          <p:cNvPr name="Group 39" id="39"/>
          <p:cNvGrpSpPr/>
          <p:nvPr/>
        </p:nvGrpSpPr>
        <p:grpSpPr>
          <a:xfrm rot="-10800000">
            <a:off x="4760" y="19050"/>
            <a:ext cx="1263894" cy="8499230"/>
            <a:chOff x="0" y="0"/>
            <a:chExt cx="1685192" cy="11332307"/>
          </a:xfrm>
        </p:grpSpPr>
        <p:sp>
          <p:nvSpPr>
            <p:cNvPr name="Freeform 40" id="40"/>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Freeform 41" id="41"/>
          <p:cNvSpPr/>
          <p:nvPr/>
        </p:nvSpPr>
        <p:spPr>
          <a:xfrm flipH="false" flipV="false" rot="0">
            <a:off x="1537348" y="1891994"/>
            <a:ext cx="7126586" cy="6503010"/>
          </a:xfrm>
          <a:custGeom>
            <a:avLst/>
            <a:gdLst/>
            <a:ahLst/>
            <a:cxnLst/>
            <a:rect r="r" b="b" t="t" l="l"/>
            <a:pathLst>
              <a:path h="6503010" w="7126586">
                <a:moveTo>
                  <a:pt x="0" y="0"/>
                </a:moveTo>
                <a:lnTo>
                  <a:pt x="7126586" y="0"/>
                </a:lnTo>
                <a:lnTo>
                  <a:pt x="7126586" y="6503010"/>
                </a:lnTo>
                <a:lnTo>
                  <a:pt x="0" y="6503010"/>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bg>
      <p:bgPr>
        <a:solidFill>
          <a:srgbClr val="2C3C43"/>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000000"/>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408500" y="-12700"/>
            <a:ext cx="1874738" cy="10299700"/>
            <a:chOff x="0" y="0"/>
            <a:chExt cx="2499650" cy="13732933"/>
          </a:xfrm>
        </p:grpSpPr>
        <p:sp>
          <p:nvSpPr>
            <p:cNvPr name="Freeform 49" id="49"/>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0" id="50"/>
          <p:cNvGrpSpPr/>
          <p:nvPr/>
        </p:nvGrpSpPr>
        <p:grpSpPr>
          <a:xfrm rot="0">
            <a:off x="15557501" y="5384801"/>
            <a:ext cx="2725739" cy="4902199"/>
            <a:chOff x="0" y="0"/>
            <a:chExt cx="3634318" cy="6536266"/>
          </a:xfrm>
        </p:grpSpPr>
        <p:sp>
          <p:nvSpPr>
            <p:cNvPr name="Freeform 51" id="51"/>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2" id="52"/>
          <p:cNvGrpSpPr/>
          <p:nvPr/>
        </p:nvGrpSpPr>
        <p:grpSpPr>
          <a:xfrm rot="-10800000">
            <a:off x="0" y="0"/>
            <a:ext cx="1263894" cy="8499231"/>
            <a:chOff x="0" y="0"/>
            <a:chExt cx="1685192" cy="11332307"/>
          </a:xfrm>
        </p:grpSpPr>
        <p:sp>
          <p:nvSpPr>
            <p:cNvPr name="Freeform 53" id="53"/>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54" id="54"/>
          <p:cNvSpPr txBox="true"/>
          <p:nvPr/>
        </p:nvSpPr>
        <p:spPr>
          <a:xfrm rot="0">
            <a:off x="2352040" y="4506534"/>
            <a:ext cx="11467524" cy="1524000"/>
          </a:xfrm>
          <a:prstGeom prst="rect">
            <a:avLst/>
          </a:prstGeom>
        </p:spPr>
        <p:txBody>
          <a:bodyPr anchor="t" rtlCol="false" tIns="0" lIns="0" bIns="0" rIns="0">
            <a:spAutoFit/>
          </a:bodyPr>
          <a:lstStyle/>
          <a:p>
            <a:pPr algn="r">
              <a:lnSpc>
                <a:spcPts val="11999"/>
              </a:lnSpc>
            </a:pPr>
            <a:r>
              <a:rPr lang="en-US" sz="9999">
                <a:solidFill>
                  <a:srgbClr val="90C226"/>
                </a:solidFill>
                <a:latin typeface="Trebuchet MS"/>
                <a:ea typeface="Trebuchet MS"/>
                <a:cs typeface="Trebuchet MS"/>
                <a:sym typeface="Trebuchet MS"/>
              </a:rPr>
              <a:t>Dispositivos de red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4"/>
            <a:ext cx="6990188" cy="10286998"/>
            <a:chOff x="0" y="0"/>
            <a:chExt cx="9320251" cy="13715997"/>
          </a:xfrm>
        </p:grpSpPr>
        <p:sp>
          <p:nvSpPr>
            <p:cNvPr name="Freeform 21" id="21"/>
            <p:cNvSpPr/>
            <p:nvPr/>
          </p:nvSpPr>
          <p:spPr>
            <a:xfrm flipH="false" flipV="false" rot="0">
              <a:off x="0" y="0"/>
              <a:ext cx="9320276" cy="13716000"/>
            </a:xfrm>
            <a:custGeom>
              <a:avLst/>
              <a:gdLst/>
              <a:ahLst/>
              <a:cxnLst/>
              <a:rect r="r" b="b" t="t" l="l"/>
              <a:pathLst>
                <a:path h="13716000" w="9320276">
                  <a:moveTo>
                    <a:pt x="0" y="0"/>
                  </a:moveTo>
                  <a:lnTo>
                    <a:pt x="9320276" y="0"/>
                  </a:lnTo>
                  <a:lnTo>
                    <a:pt x="9320276" y="13716000"/>
                  </a:lnTo>
                  <a:lnTo>
                    <a:pt x="0" y="13716000"/>
                  </a:lnTo>
                  <a:close/>
                </a:path>
              </a:pathLst>
            </a:custGeom>
            <a:solidFill>
              <a:srgbClr val="2C3C43"/>
            </a:solidFill>
          </p:spPr>
        </p:sp>
      </p:grpSp>
      <p:grpSp>
        <p:nvGrpSpPr>
          <p:cNvPr name="Group 22" id="22"/>
          <p:cNvGrpSpPr/>
          <p:nvPr/>
        </p:nvGrpSpPr>
        <p:grpSpPr>
          <a:xfrm rot="-10800000">
            <a:off x="6990190" y="-4"/>
            <a:ext cx="1585118" cy="10287000"/>
            <a:chOff x="0" y="0"/>
            <a:chExt cx="2113491" cy="13716000"/>
          </a:xfrm>
        </p:grpSpPr>
        <p:sp>
          <p:nvSpPr>
            <p:cNvPr name="Freeform 23" id="23"/>
            <p:cNvSpPr/>
            <p:nvPr/>
          </p:nvSpPr>
          <p:spPr>
            <a:xfrm flipH="false" flipV="false" rot="0">
              <a:off x="0" y="0"/>
              <a:ext cx="2113534" cy="13716000"/>
            </a:xfrm>
            <a:custGeom>
              <a:avLst/>
              <a:gdLst/>
              <a:ahLst/>
              <a:cxnLst/>
              <a:rect r="r" b="b" t="t" l="l"/>
              <a:pathLst>
                <a:path h="13716000" w="2113534">
                  <a:moveTo>
                    <a:pt x="0" y="13716000"/>
                  </a:moveTo>
                  <a:lnTo>
                    <a:pt x="2113534" y="0"/>
                  </a:lnTo>
                  <a:lnTo>
                    <a:pt x="2113534" y="13716000"/>
                  </a:lnTo>
                  <a:close/>
                </a:path>
              </a:pathLst>
            </a:custGeom>
            <a:solidFill>
              <a:srgbClr val="2C3C43"/>
            </a:solidFill>
          </p:spPr>
        </p:sp>
      </p:grpSp>
      <p:sp>
        <p:nvSpPr>
          <p:cNvPr name="TextBox 24" id="24"/>
          <p:cNvSpPr txBox="true"/>
          <p:nvPr/>
        </p:nvSpPr>
        <p:spPr>
          <a:xfrm rot="0">
            <a:off x="5527184" y="1225192"/>
            <a:ext cx="1903378" cy="682752"/>
          </a:xfrm>
          <a:prstGeom prst="rect">
            <a:avLst/>
          </a:prstGeom>
        </p:spPr>
        <p:txBody>
          <a:bodyPr anchor="t" rtlCol="false" tIns="0" lIns="0" bIns="0" rIns="0">
            <a:spAutoFit/>
          </a:bodyPr>
          <a:lstStyle/>
          <a:p>
            <a:pPr algn="l">
              <a:lnSpc>
                <a:spcPts val="5184"/>
              </a:lnSpc>
            </a:pPr>
            <a:r>
              <a:rPr lang="en-US" sz="4800" spc="-40">
                <a:solidFill>
                  <a:srgbClr val="FFFFFF"/>
                </a:solidFill>
                <a:latin typeface="Trebuchet MS"/>
                <a:ea typeface="Trebuchet MS"/>
                <a:cs typeface="Trebuchet MS"/>
                <a:sym typeface="Trebuchet MS"/>
              </a:rPr>
              <a:t>Hubs</a:t>
            </a:r>
          </a:p>
        </p:txBody>
      </p:sp>
      <p:sp>
        <p:nvSpPr>
          <p:cNvPr name="TextBox 25" id="25"/>
          <p:cNvSpPr txBox="true"/>
          <p:nvPr/>
        </p:nvSpPr>
        <p:spPr>
          <a:xfrm rot="0">
            <a:off x="1102070" y="3315179"/>
            <a:ext cx="5778034" cy="5348097"/>
          </a:xfrm>
          <a:prstGeom prst="rect">
            <a:avLst/>
          </a:prstGeom>
        </p:spPr>
        <p:txBody>
          <a:bodyPr anchor="t" rtlCol="false" tIns="0" lIns="0" bIns="0" rIns="0">
            <a:spAutoFit/>
          </a:bodyPr>
          <a:lstStyle/>
          <a:p>
            <a:pPr algn="just" marL="701040" indent="-350520" lvl="1">
              <a:lnSpc>
                <a:spcPts val="3024"/>
              </a:lnSpc>
              <a:buFont typeface="Arial"/>
              <a:buChar char="•"/>
            </a:pPr>
            <a:r>
              <a:rPr lang="en-US" sz="2799">
                <a:solidFill>
                  <a:srgbClr val="FFFFFF"/>
                </a:solidFill>
                <a:latin typeface="Trebuchet MS"/>
                <a:ea typeface="Trebuchet MS"/>
                <a:cs typeface="Trebuchet MS"/>
                <a:sym typeface="Trebuchet MS"/>
              </a:rPr>
              <a:t>Los Hubs operan en la capa física del modelo OSI y en modo Half-Duplex (no pueden enviar y recibir datos al mismo tiempo), además pueden generar mucho tráfico innecesario en la red. Es por esto que ya no se usan salvo en instalaciones muy viejas o para algunas aplicaciones específicas, y han  sido  reemplazados  por  los  Switches  (que veremos después).</a:t>
            </a:r>
          </a:p>
        </p:txBody>
      </p:sp>
      <p:sp>
        <p:nvSpPr>
          <p:cNvPr name="Freeform 26" id="26"/>
          <p:cNvSpPr/>
          <p:nvPr/>
        </p:nvSpPr>
        <p:spPr>
          <a:xfrm flipH="false" flipV="false" rot="0">
            <a:off x="9144000" y="1907944"/>
            <a:ext cx="7715250" cy="6452336"/>
          </a:xfrm>
          <a:custGeom>
            <a:avLst/>
            <a:gdLst/>
            <a:ahLst/>
            <a:cxnLst/>
            <a:rect r="r" b="b" t="t" l="l"/>
            <a:pathLst>
              <a:path h="6452336" w="7715250">
                <a:moveTo>
                  <a:pt x="0" y="0"/>
                </a:moveTo>
                <a:lnTo>
                  <a:pt x="7715250" y="0"/>
                </a:lnTo>
                <a:lnTo>
                  <a:pt x="7715250" y="6452336"/>
                </a:lnTo>
                <a:lnTo>
                  <a:pt x="0" y="6452336"/>
                </a:lnTo>
                <a:lnTo>
                  <a:pt x="0" y="0"/>
                </a:lnTo>
                <a:close/>
              </a:path>
            </a:pathLst>
          </a:custGeom>
          <a:blipFill>
            <a:blip r:embed="rId2"/>
            <a:stretch>
              <a:fillRect l="0" t="0" r="0" b="0"/>
            </a:stretch>
          </a:blipFill>
        </p:spPr>
      </p:sp>
      <p:grpSp>
        <p:nvGrpSpPr>
          <p:cNvPr name="Group 27" id="27"/>
          <p:cNvGrpSpPr/>
          <p:nvPr/>
        </p:nvGrpSpPr>
        <p:grpSpPr>
          <a:xfrm rot="0">
            <a:off x="17633544" y="6019800"/>
            <a:ext cx="673098" cy="4267200"/>
            <a:chOff x="0" y="0"/>
            <a:chExt cx="897464" cy="5689600"/>
          </a:xfrm>
        </p:grpSpPr>
        <p:sp>
          <p:nvSpPr>
            <p:cNvPr name="Freeform 28" id="28"/>
            <p:cNvSpPr/>
            <p:nvPr/>
          </p:nvSpPr>
          <p:spPr>
            <a:xfrm flipH="false" flipV="false" rot="0">
              <a:off x="0" y="0"/>
              <a:ext cx="897509" cy="5689600"/>
            </a:xfrm>
            <a:custGeom>
              <a:avLst/>
              <a:gdLst/>
              <a:ahLst/>
              <a:cxnLst/>
              <a:rect r="r" b="b" t="t" l="l"/>
              <a:pathLst>
                <a:path h="5689600" w="897509">
                  <a:moveTo>
                    <a:pt x="897509" y="5689600"/>
                  </a:moveTo>
                  <a:lnTo>
                    <a:pt x="897509" y="0"/>
                  </a:lnTo>
                  <a:lnTo>
                    <a:pt x="0" y="5689600"/>
                  </a:lnTo>
                  <a:close/>
                </a:path>
              </a:pathLst>
            </a:custGeom>
            <a:solidFill>
              <a:srgbClr val="90C226">
                <a:alpha val="84706"/>
              </a:srgbClr>
            </a:solid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pic>
        <p:nvPicPr>
          <p:cNvPr name="Picture 20" id="20">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056383" y="2827787"/>
            <a:ext cx="6175234" cy="4631426"/>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20"/>
                </p:tgtEl>
              </p:cMediaNode>
            </p:video>
          </p:childTnLst>
        </p:cTn>
      </p:par>
    </p:tnLst>
  </p:timing>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4"/>
            <a:ext cx="6990188" cy="10286998"/>
            <a:chOff x="0" y="0"/>
            <a:chExt cx="9320251" cy="13715997"/>
          </a:xfrm>
        </p:grpSpPr>
        <p:sp>
          <p:nvSpPr>
            <p:cNvPr name="Freeform 21" id="21"/>
            <p:cNvSpPr/>
            <p:nvPr/>
          </p:nvSpPr>
          <p:spPr>
            <a:xfrm flipH="false" flipV="false" rot="0">
              <a:off x="0" y="0"/>
              <a:ext cx="9320276" cy="13716000"/>
            </a:xfrm>
            <a:custGeom>
              <a:avLst/>
              <a:gdLst/>
              <a:ahLst/>
              <a:cxnLst/>
              <a:rect r="r" b="b" t="t" l="l"/>
              <a:pathLst>
                <a:path h="13716000" w="9320276">
                  <a:moveTo>
                    <a:pt x="0" y="0"/>
                  </a:moveTo>
                  <a:lnTo>
                    <a:pt x="9320276" y="0"/>
                  </a:lnTo>
                  <a:lnTo>
                    <a:pt x="9320276" y="13716000"/>
                  </a:lnTo>
                  <a:lnTo>
                    <a:pt x="0" y="13716000"/>
                  </a:lnTo>
                  <a:close/>
                </a:path>
              </a:pathLst>
            </a:custGeom>
            <a:solidFill>
              <a:srgbClr val="2C3C43"/>
            </a:solidFill>
          </p:spPr>
        </p:sp>
      </p:grpSp>
      <p:grpSp>
        <p:nvGrpSpPr>
          <p:cNvPr name="Group 22" id="22"/>
          <p:cNvGrpSpPr/>
          <p:nvPr/>
        </p:nvGrpSpPr>
        <p:grpSpPr>
          <a:xfrm rot="-10800000">
            <a:off x="6990190" y="-4"/>
            <a:ext cx="1585118" cy="10287000"/>
            <a:chOff x="0" y="0"/>
            <a:chExt cx="2113491" cy="13716000"/>
          </a:xfrm>
        </p:grpSpPr>
        <p:sp>
          <p:nvSpPr>
            <p:cNvPr name="Freeform 23" id="23"/>
            <p:cNvSpPr/>
            <p:nvPr/>
          </p:nvSpPr>
          <p:spPr>
            <a:xfrm flipH="false" flipV="false" rot="0">
              <a:off x="0" y="0"/>
              <a:ext cx="2113534" cy="13716000"/>
            </a:xfrm>
            <a:custGeom>
              <a:avLst/>
              <a:gdLst/>
              <a:ahLst/>
              <a:cxnLst/>
              <a:rect r="r" b="b" t="t" l="l"/>
              <a:pathLst>
                <a:path h="13716000" w="2113534">
                  <a:moveTo>
                    <a:pt x="0" y="13716000"/>
                  </a:moveTo>
                  <a:lnTo>
                    <a:pt x="2113534" y="0"/>
                  </a:lnTo>
                  <a:lnTo>
                    <a:pt x="2113534" y="13716000"/>
                  </a:lnTo>
                  <a:close/>
                </a:path>
              </a:pathLst>
            </a:custGeom>
            <a:solidFill>
              <a:srgbClr val="2C3C43"/>
            </a:solidFill>
          </p:spPr>
        </p:sp>
      </p:grpSp>
      <p:sp>
        <p:nvSpPr>
          <p:cNvPr name="TextBox 24" id="24"/>
          <p:cNvSpPr txBox="true"/>
          <p:nvPr/>
        </p:nvSpPr>
        <p:spPr>
          <a:xfrm rot="0">
            <a:off x="5115549" y="1076325"/>
            <a:ext cx="2388932" cy="682752"/>
          </a:xfrm>
          <a:prstGeom prst="rect">
            <a:avLst/>
          </a:prstGeom>
        </p:spPr>
        <p:txBody>
          <a:bodyPr anchor="t" rtlCol="false" tIns="0" lIns="0" bIns="0" rIns="0">
            <a:spAutoFit/>
          </a:bodyPr>
          <a:lstStyle/>
          <a:p>
            <a:pPr algn="l">
              <a:lnSpc>
                <a:spcPts val="5184"/>
              </a:lnSpc>
            </a:pPr>
            <a:r>
              <a:rPr lang="en-US" sz="4800">
                <a:solidFill>
                  <a:srgbClr val="FFFFFF"/>
                </a:solidFill>
                <a:latin typeface="Trebuchet MS"/>
                <a:ea typeface="Trebuchet MS"/>
                <a:cs typeface="Trebuchet MS"/>
                <a:sym typeface="Trebuchet MS"/>
              </a:rPr>
              <a:t>Switches</a:t>
            </a:r>
          </a:p>
        </p:txBody>
      </p:sp>
      <p:sp>
        <p:nvSpPr>
          <p:cNvPr name="TextBox 25" id="25"/>
          <p:cNvSpPr txBox="true"/>
          <p:nvPr/>
        </p:nvSpPr>
        <p:spPr>
          <a:xfrm rot="0">
            <a:off x="1102070" y="3315179"/>
            <a:ext cx="5778034" cy="4112895"/>
          </a:xfrm>
          <a:prstGeom prst="rect">
            <a:avLst/>
          </a:prstGeom>
        </p:spPr>
        <p:txBody>
          <a:bodyPr anchor="t" rtlCol="false" tIns="0" lIns="0" bIns="0" rIns="0">
            <a:spAutoFit/>
          </a:bodyPr>
          <a:lstStyle/>
          <a:p>
            <a:pPr algn="just" marL="749300" indent="-374650" lvl="1">
              <a:lnSpc>
                <a:spcPts val="3240"/>
              </a:lnSpc>
              <a:buFont typeface="Arial"/>
              <a:buChar char="•"/>
            </a:pPr>
            <a:r>
              <a:rPr lang="en-US" sz="3000">
                <a:solidFill>
                  <a:srgbClr val="FFFFFF"/>
                </a:solidFill>
                <a:latin typeface="Trebuchet MS"/>
                <a:ea typeface="Trebuchet MS"/>
                <a:cs typeface="Trebuchet MS"/>
                <a:sym typeface="Trebuchet MS"/>
              </a:rPr>
              <a:t>Al igual que los Hubs, la función de los Switches es repetir paquetes, sin embargo, en vez de reenviar el paquete por todos los puertos salientes, lo que hace es enviarlo solamente al equipo (o equipos) para el cual se había destinado inicialmente.</a:t>
            </a:r>
          </a:p>
        </p:txBody>
      </p:sp>
      <p:sp>
        <p:nvSpPr>
          <p:cNvPr name="Freeform 26" id="26"/>
          <p:cNvSpPr/>
          <p:nvPr/>
        </p:nvSpPr>
        <p:spPr>
          <a:xfrm flipH="false" flipV="false" rot="0">
            <a:off x="9144000" y="3227886"/>
            <a:ext cx="7715250" cy="3812452"/>
          </a:xfrm>
          <a:custGeom>
            <a:avLst/>
            <a:gdLst/>
            <a:ahLst/>
            <a:cxnLst/>
            <a:rect r="r" b="b" t="t" l="l"/>
            <a:pathLst>
              <a:path h="3812452" w="7715250">
                <a:moveTo>
                  <a:pt x="0" y="0"/>
                </a:moveTo>
                <a:lnTo>
                  <a:pt x="7715250" y="0"/>
                </a:lnTo>
                <a:lnTo>
                  <a:pt x="7715250" y="3812452"/>
                </a:lnTo>
                <a:lnTo>
                  <a:pt x="0" y="3812452"/>
                </a:lnTo>
                <a:lnTo>
                  <a:pt x="0" y="0"/>
                </a:lnTo>
                <a:close/>
              </a:path>
            </a:pathLst>
          </a:custGeom>
          <a:blipFill>
            <a:blip r:embed="rId2"/>
            <a:stretch>
              <a:fillRect l="0" t="0" r="0" b="0"/>
            </a:stretch>
          </a:blipFill>
        </p:spPr>
      </p:sp>
      <p:grpSp>
        <p:nvGrpSpPr>
          <p:cNvPr name="Group 27" id="27"/>
          <p:cNvGrpSpPr/>
          <p:nvPr/>
        </p:nvGrpSpPr>
        <p:grpSpPr>
          <a:xfrm rot="0">
            <a:off x="17633544" y="6019800"/>
            <a:ext cx="673098" cy="4267200"/>
            <a:chOff x="0" y="0"/>
            <a:chExt cx="897464" cy="5689600"/>
          </a:xfrm>
        </p:grpSpPr>
        <p:sp>
          <p:nvSpPr>
            <p:cNvPr name="Freeform 28" id="28"/>
            <p:cNvSpPr/>
            <p:nvPr/>
          </p:nvSpPr>
          <p:spPr>
            <a:xfrm flipH="false" flipV="false" rot="0">
              <a:off x="0" y="0"/>
              <a:ext cx="897509" cy="5689600"/>
            </a:xfrm>
            <a:custGeom>
              <a:avLst/>
              <a:gdLst/>
              <a:ahLst/>
              <a:cxnLst/>
              <a:rect r="r" b="b" t="t" l="l"/>
              <a:pathLst>
                <a:path h="5689600" w="897509">
                  <a:moveTo>
                    <a:pt x="897509" y="5689600"/>
                  </a:moveTo>
                  <a:lnTo>
                    <a:pt x="897509" y="0"/>
                  </a:lnTo>
                  <a:lnTo>
                    <a:pt x="0" y="5689600"/>
                  </a:lnTo>
                  <a:close/>
                </a:path>
              </a:pathLst>
            </a:custGeom>
            <a:solidFill>
              <a:srgbClr val="90C226">
                <a:alpha val="84706"/>
              </a:srgbClr>
            </a:solid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Freeform 20" id="20"/>
          <p:cNvSpPr/>
          <p:nvPr/>
        </p:nvSpPr>
        <p:spPr>
          <a:xfrm flipH="false" flipV="false" rot="0">
            <a:off x="360550" y="575000"/>
            <a:ext cx="9067798" cy="3353500"/>
          </a:xfrm>
          <a:custGeom>
            <a:avLst/>
            <a:gdLst/>
            <a:ahLst/>
            <a:cxnLst/>
            <a:rect r="r" b="b" t="t" l="l"/>
            <a:pathLst>
              <a:path h="3353500" w="9067798">
                <a:moveTo>
                  <a:pt x="0" y="0"/>
                </a:moveTo>
                <a:lnTo>
                  <a:pt x="9067798" y="0"/>
                </a:lnTo>
                <a:lnTo>
                  <a:pt x="9067798" y="3353500"/>
                </a:lnTo>
                <a:lnTo>
                  <a:pt x="0" y="3353500"/>
                </a:lnTo>
                <a:lnTo>
                  <a:pt x="0" y="0"/>
                </a:lnTo>
                <a:close/>
              </a:path>
            </a:pathLst>
          </a:custGeom>
          <a:blipFill>
            <a:blip r:embed="rId2"/>
            <a:stretch>
              <a:fillRect l="0" t="0" r="0" b="0"/>
            </a:stretch>
          </a:blipFill>
        </p:spPr>
      </p:sp>
      <p:sp>
        <p:nvSpPr>
          <p:cNvPr name="Freeform 21" id="21"/>
          <p:cNvSpPr/>
          <p:nvPr/>
        </p:nvSpPr>
        <p:spPr>
          <a:xfrm flipH="false" flipV="false" rot="0">
            <a:off x="9326300" y="5051100"/>
            <a:ext cx="7292098" cy="4521098"/>
          </a:xfrm>
          <a:custGeom>
            <a:avLst/>
            <a:gdLst/>
            <a:ahLst/>
            <a:cxnLst/>
            <a:rect r="r" b="b" t="t" l="l"/>
            <a:pathLst>
              <a:path h="4521098" w="7292098">
                <a:moveTo>
                  <a:pt x="0" y="0"/>
                </a:moveTo>
                <a:lnTo>
                  <a:pt x="7292098" y="0"/>
                </a:lnTo>
                <a:lnTo>
                  <a:pt x="7292098" y="4521098"/>
                </a:lnTo>
                <a:lnTo>
                  <a:pt x="0" y="4521098"/>
                </a:lnTo>
                <a:lnTo>
                  <a:pt x="0" y="0"/>
                </a:lnTo>
                <a:close/>
              </a:path>
            </a:pathLst>
          </a:custGeom>
          <a:blipFill>
            <a:blip r:embed="rId3"/>
            <a:stretch>
              <a:fillRect l="0" t="0" r="0" b="0"/>
            </a:stretch>
          </a:blipFill>
        </p:spPr>
      </p:sp>
      <p:sp>
        <p:nvSpPr>
          <p:cNvPr name="Freeform 22" id="22"/>
          <p:cNvSpPr/>
          <p:nvPr/>
        </p:nvSpPr>
        <p:spPr>
          <a:xfrm flipH="false" flipV="false" rot="0">
            <a:off x="464000" y="5521648"/>
            <a:ext cx="8006446" cy="4296800"/>
          </a:xfrm>
          <a:custGeom>
            <a:avLst/>
            <a:gdLst/>
            <a:ahLst/>
            <a:cxnLst/>
            <a:rect r="r" b="b" t="t" l="l"/>
            <a:pathLst>
              <a:path h="4296800" w="8006446">
                <a:moveTo>
                  <a:pt x="0" y="0"/>
                </a:moveTo>
                <a:lnTo>
                  <a:pt x="8006446" y="0"/>
                </a:lnTo>
                <a:lnTo>
                  <a:pt x="8006446" y="4296800"/>
                </a:lnTo>
                <a:lnTo>
                  <a:pt x="0" y="4296800"/>
                </a:lnTo>
                <a:lnTo>
                  <a:pt x="0" y="0"/>
                </a:lnTo>
                <a:close/>
              </a:path>
            </a:pathLst>
          </a:custGeom>
          <a:blipFill>
            <a:blip r:embed="rId4"/>
            <a:stretch>
              <a:fillRect l="0" t="0" r="0" b="0"/>
            </a:stretch>
          </a:blipFill>
        </p:spPr>
      </p:sp>
      <p:sp>
        <p:nvSpPr>
          <p:cNvPr name="Freeform 23" id="23"/>
          <p:cNvSpPr/>
          <p:nvPr/>
        </p:nvSpPr>
        <p:spPr>
          <a:xfrm flipH="false" flipV="false" rot="0">
            <a:off x="6343600" y="2422050"/>
            <a:ext cx="11429998" cy="4495798"/>
          </a:xfrm>
          <a:custGeom>
            <a:avLst/>
            <a:gdLst/>
            <a:ahLst/>
            <a:cxnLst/>
            <a:rect r="r" b="b" t="t" l="l"/>
            <a:pathLst>
              <a:path h="4495798" w="11429998">
                <a:moveTo>
                  <a:pt x="0" y="0"/>
                </a:moveTo>
                <a:lnTo>
                  <a:pt x="11429998" y="0"/>
                </a:lnTo>
                <a:lnTo>
                  <a:pt x="11429998" y="4495798"/>
                </a:lnTo>
                <a:lnTo>
                  <a:pt x="0" y="4495798"/>
                </a:lnTo>
                <a:lnTo>
                  <a:pt x="0" y="0"/>
                </a:lnTo>
                <a:close/>
              </a:path>
            </a:pathLst>
          </a:custGeom>
          <a:blipFill>
            <a:blip r:embed="rId5"/>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pic>
        <p:nvPicPr>
          <p:cNvPr name="Picture 20" id="20">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5482157" y="2397118"/>
            <a:ext cx="7323686" cy="5492765"/>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20"/>
                </p:tgtEl>
              </p:cMediaNode>
            </p:video>
          </p:childTnLst>
        </p:cTn>
      </p:par>
    </p:tnLst>
  </p:timing>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Freeform 20" id="20"/>
          <p:cNvSpPr/>
          <p:nvPr/>
        </p:nvSpPr>
        <p:spPr>
          <a:xfrm flipH="false" flipV="false" rot="0">
            <a:off x="3023452" y="2076511"/>
            <a:ext cx="10375047" cy="6121278"/>
          </a:xfrm>
          <a:custGeom>
            <a:avLst/>
            <a:gdLst/>
            <a:ahLst/>
            <a:cxnLst/>
            <a:rect r="r" b="b" t="t" l="l"/>
            <a:pathLst>
              <a:path h="6121278" w="10375047">
                <a:moveTo>
                  <a:pt x="0" y="0"/>
                </a:moveTo>
                <a:lnTo>
                  <a:pt x="10375048" y="0"/>
                </a:lnTo>
                <a:lnTo>
                  <a:pt x="10375048" y="6121278"/>
                </a:lnTo>
                <a:lnTo>
                  <a:pt x="0" y="6121278"/>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flipH="true">
            <a:off x="11140282" y="5519738"/>
            <a:ext cx="7159625" cy="4779168"/>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3349174" y="919496"/>
            <a:ext cx="10109198" cy="742950"/>
          </a:xfrm>
          <a:prstGeom prst="rect">
            <a:avLst/>
          </a:prstGeom>
        </p:spPr>
        <p:txBody>
          <a:bodyPr anchor="t" rtlCol="false" tIns="0" lIns="0" bIns="0" rIns="0">
            <a:spAutoFit/>
          </a:bodyPr>
          <a:lstStyle/>
          <a:p>
            <a:pPr algn="l">
              <a:lnSpc>
                <a:spcPts val="5759"/>
              </a:lnSpc>
            </a:pPr>
            <a:r>
              <a:rPr lang="en-US" sz="4800">
                <a:solidFill>
                  <a:srgbClr val="AE7A51"/>
                </a:solidFill>
                <a:latin typeface="Arimo"/>
                <a:ea typeface="Arimo"/>
                <a:cs typeface="Arimo"/>
                <a:sym typeface="Arimo"/>
              </a:rPr>
              <a:t>Comparación entre Hubs y Switches </a:t>
            </a:r>
          </a:p>
        </p:txBody>
      </p:sp>
      <p:sp>
        <p:nvSpPr>
          <p:cNvPr name="Freeform 21" id="21"/>
          <p:cNvSpPr/>
          <p:nvPr/>
        </p:nvSpPr>
        <p:spPr>
          <a:xfrm flipH="false" flipV="false" rot="0">
            <a:off x="4114800" y="2247900"/>
            <a:ext cx="8577948" cy="6731098"/>
          </a:xfrm>
          <a:custGeom>
            <a:avLst/>
            <a:gdLst/>
            <a:ahLst/>
            <a:cxnLst/>
            <a:rect r="r" b="b" t="t" l="l"/>
            <a:pathLst>
              <a:path h="6731098" w="8577948">
                <a:moveTo>
                  <a:pt x="0" y="0"/>
                </a:moveTo>
                <a:lnTo>
                  <a:pt x="8577948" y="0"/>
                </a:lnTo>
                <a:lnTo>
                  <a:pt x="8577948" y="6731098"/>
                </a:lnTo>
                <a:lnTo>
                  <a:pt x="0" y="6731098"/>
                </a:lnTo>
                <a:lnTo>
                  <a:pt x="0" y="0"/>
                </a:lnTo>
                <a:close/>
              </a:path>
            </a:pathLst>
          </a:custGeom>
          <a:blipFill>
            <a:blip r:embed="rId2"/>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flipH="true">
            <a:off x="11140282" y="5519738"/>
            <a:ext cx="7159625" cy="4779168"/>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pic>
        <p:nvPicPr>
          <p:cNvPr name="Picture 20" id="20">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117495" y="1079500"/>
            <a:ext cx="16230600" cy="8115300"/>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20"/>
                </p:tgtEl>
              </p:cMediaNode>
            </p:video>
          </p:childTnLst>
        </p:cTn>
      </p:par>
    </p:tnLst>
  </p:timing>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flipH="true">
            <a:off x="11140282" y="5519738"/>
            <a:ext cx="7159625" cy="4779168"/>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pic>
        <p:nvPicPr>
          <p:cNvPr name="Picture 20" id="20">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180492" y="1028700"/>
            <a:ext cx="13927015" cy="8229600"/>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20"/>
                </p:tgtEl>
              </p:cMediaNode>
            </p:video>
          </p:childTnLst>
        </p:cTn>
      </p:par>
    </p:tnLst>
  </p:timing>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4"/>
            <a:ext cx="6990188" cy="10286998"/>
            <a:chOff x="0" y="0"/>
            <a:chExt cx="9320251" cy="13715997"/>
          </a:xfrm>
        </p:grpSpPr>
        <p:sp>
          <p:nvSpPr>
            <p:cNvPr name="Freeform 21" id="21"/>
            <p:cNvSpPr/>
            <p:nvPr/>
          </p:nvSpPr>
          <p:spPr>
            <a:xfrm flipH="false" flipV="false" rot="0">
              <a:off x="0" y="0"/>
              <a:ext cx="9320276" cy="13716000"/>
            </a:xfrm>
            <a:custGeom>
              <a:avLst/>
              <a:gdLst/>
              <a:ahLst/>
              <a:cxnLst/>
              <a:rect r="r" b="b" t="t" l="l"/>
              <a:pathLst>
                <a:path h="13716000" w="9320276">
                  <a:moveTo>
                    <a:pt x="0" y="0"/>
                  </a:moveTo>
                  <a:lnTo>
                    <a:pt x="9320276" y="0"/>
                  </a:lnTo>
                  <a:lnTo>
                    <a:pt x="9320276" y="13716000"/>
                  </a:lnTo>
                  <a:lnTo>
                    <a:pt x="0" y="13716000"/>
                  </a:lnTo>
                  <a:close/>
                </a:path>
              </a:pathLst>
            </a:custGeom>
            <a:solidFill>
              <a:srgbClr val="2C3C43"/>
            </a:solidFill>
          </p:spPr>
        </p:sp>
      </p:grpSp>
      <p:grpSp>
        <p:nvGrpSpPr>
          <p:cNvPr name="Group 22" id="22"/>
          <p:cNvGrpSpPr/>
          <p:nvPr/>
        </p:nvGrpSpPr>
        <p:grpSpPr>
          <a:xfrm rot="-10800000">
            <a:off x="6990190" y="-4"/>
            <a:ext cx="1585118" cy="10287000"/>
            <a:chOff x="0" y="0"/>
            <a:chExt cx="2113491" cy="13716000"/>
          </a:xfrm>
        </p:grpSpPr>
        <p:sp>
          <p:nvSpPr>
            <p:cNvPr name="Freeform 23" id="23"/>
            <p:cNvSpPr/>
            <p:nvPr/>
          </p:nvSpPr>
          <p:spPr>
            <a:xfrm flipH="false" flipV="false" rot="0">
              <a:off x="0" y="0"/>
              <a:ext cx="2113534" cy="13716000"/>
            </a:xfrm>
            <a:custGeom>
              <a:avLst/>
              <a:gdLst/>
              <a:ahLst/>
              <a:cxnLst/>
              <a:rect r="r" b="b" t="t" l="l"/>
              <a:pathLst>
                <a:path h="13716000" w="2113534">
                  <a:moveTo>
                    <a:pt x="0" y="13716000"/>
                  </a:moveTo>
                  <a:lnTo>
                    <a:pt x="2113534" y="0"/>
                  </a:lnTo>
                  <a:lnTo>
                    <a:pt x="2113534" y="13716000"/>
                  </a:lnTo>
                  <a:close/>
                </a:path>
              </a:pathLst>
            </a:custGeom>
            <a:solidFill>
              <a:srgbClr val="2C3C43"/>
            </a:solidFill>
          </p:spPr>
        </p:sp>
      </p:grpSp>
      <p:sp>
        <p:nvSpPr>
          <p:cNvPr name="TextBox 24" id="24"/>
          <p:cNvSpPr txBox="true"/>
          <p:nvPr/>
        </p:nvSpPr>
        <p:spPr>
          <a:xfrm rot="0">
            <a:off x="4793979" y="1038669"/>
            <a:ext cx="2988770" cy="907161"/>
          </a:xfrm>
          <a:prstGeom prst="rect">
            <a:avLst/>
          </a:prstGeom>
        </p:spPr>
        <p:txBody>
          <a:bodyPr anchor="t" rtlCol="false" tIns="0" lIns="0" bIns="0" rIns="0">
            <a:spAutoFit/>
          </a:bodyPr>
          <a:lstStyle/>
          <a:p>
            <a:pPr algn="l">
              <a:lnSpc>
                <a:spcPts val="6912"/>
              </a:lnSpc>
            </a:pPr>
            <a:r>
              <a:rPr lang="en-US" sz="6400" spc="-20">
                <a:solidFill>
                  <a:srgbClr val="FFFFFF"/>
                </a:solidFill>
                <a:latin typeface="Trebuchet MS"/>
                <a:ea typeface="Trebuchet MS"/>
                <a:cs typeface="Trebuchet MS"/>
                <a:sym typeface="Trebuchet MS"/>
              </a:rPr>
              <a:t>Routers</a:t>
            </a:r>
          </a:p>
        </p:txBody>
      </p:sp>
      <p:sp>
        <p:nvSpPr>
          <p:cNvPr name="TextBox 25" id="25"/>
          <p:cNvSpPr txBox="true"/>
          <p:nvPr/>
        </p:nvSpPr>
        <p:spPr>
          <a:xfrm rot="0">
            <a:off x="1102070" y="3315179"/>
            <a:ext cx="5778034" cy="5369814"/>
          </a:xfrm>
          <a:prstGeom prst="rect">
            <a:avLst/>
          </a:prstGeom>
        </p:spPr>
        <p:txBody>
          <a:bodyPr anchor="t" rtlCol="false" tIns="0" lIns="0" bIns="0" rIns="0">
            <a:spAutoFit/>
          </a:bodyPr>
          <a:lstStyle/>
          <a:p>
            <a:pPr algn="just" marL="894080" indent="-447040" lvl="1">
              <a:lnSpc>
                <a:spcPts val="3888"/>
              </a:lnSpc>
              <a:buFont typeface="Arial"/>
              <a:buChar char="•"/>
            </a:pPr>
            <a:r>
              <a:rPr lang="en-US" sz="3600">
                <a:solidFill>
                  <a:srgbClr val="FFFFFF"/>
                </a:solidFill>
                <a:latin typeface="Trebuchet MS"/>
                <a:ea typeface="Trebuchet MS"/>
                <a:cs typeface="Trebuchet MS"/>
                <a:sym typeface="Trebuchet MS"/>
              </a:rPr>
              <a:t>Un  router  es  un  dispositivo  que  se  encarga  de reenviar paquetes entre dos o más redes. Trabaja en la capa 3 del modelo OSI, es decir en la capa de Red, por lo que utiliza las direcciones IP para identificar a los distintos dispositivos.</a:t>
            </a:r>
          </a:p>
        </p:txBody>
      </p:sp>
      <p:sp>
        <p:nvSpPr>
          <p:cNvPr name="Freeform 26" id="26"/>
          <p:cNvSpPr/>
          <p:nvPr/>
        </p:nvSpPr>
        <p:spPr>
          <a:xfrm flipH="false" flipV="false" rot="0">
            <a:off x="9326424" y="1458912"/>
            <a:ext cx="7350402" cy="7350402"/>
          </a:xfrm>
          <a:custGeom>
            <a:avLst/>
            <a:gdLst/>
            <a:ahLst/>
            <a:cxnLst/>
            <a:rect r="r" b="b" t="t" l="l"/>
            <a:pathLst>
              <a:path h="7350402" w="7350402">
                <a:moveTo>
                  <a:pt x="0" y="0"/>
                </a:moveTo>
                <a:lnTo>
                  <a:pt x="7350402" y="0"/>
                </a:lnTo>
                <a:lnTo>
                  <a:pt x="7350402" y="7350402"/>
                </a:lnTo>
                <a:lnTo>
                  <a:pt x="0" y="7350402"/>
                </a:lnTo>
                <a:lnTo>
                  <a:pt x="0" y="0"/>
                </a:lnTo>
                <a:close/>
              </a:path>
            </a:pathLst>
          </a:custGeom>
          <a:blipFill>
            <a:blip r:embed="rId2"/>
            <a:stretch>
              <a:fillRect l="0" t="0" r="0" b="0"/>
            </a:stretch>
          </a:blipFill>
        </p:spPr>
      </p:sp>
      <p:grpSp>
        <p:nvGrpSpPr>
          <p:cNvPr name="Group 27" id="27"/>
          <p:cNvGrpSpPr/>
          <p:nvPr/>
        </p:nvGrpSpPr>
        <p:grpSpPr>
          <a:xfrm rot="0">
            <a:off x="17633544" y="6019800"/>
            <a:ext cx="673098" cy="4267200"/>
            <a:chOff x="0" y="0"/>
            <a:chExt cx="897464" cy="5689600"/>
          </a:xfrm>
        </p:grpSpPr>
        <p:sp>
          <p:nvSpPr>
            <p:cNvPr name="Freeform 28" id="28"/>
            <p:cNvSpPr/>
            <p:nvPr/>
          </p:nvSpPr>
          <p:spPr>
            <a:xfrm flipH="false" flipV="false" rot="0">
              <a:off x="0" y="0"/>
              <a:ext cx="897509" cy="5689600"/>
            </a:xfrm>
            <a:custGeom>
              <a:avLst/>
              <a:gdLst/>
              <a:ahLst/>
              <a:cxnLst/>
              <a:rect r="r" b="b" t="t" l="l"/>
              <a:pathLst>
                <a:path h="5689600" w="897509">
                  <a:moveTo>
                    <a:pt x="897509" y="5689600"/>
                  </a:moveTo>
                  <a:lnTo>
                    <a:pt x="897509" y="0"/>
                  </a:lnTo>
                  <a:lnTo>
                    <a:pt x="0" y="5689600"/>
                  </a:lnTo>
                  <a:close/>
                </a:path>
              </a:pathLst>
            </a:custGeom>
            <a:solidFill>
              <a:srgbClr val="90C226">
                <a:alpha val="84706"/>
              </a:srgbClr>
            </a:solid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4"/>
            <a:ext cx="6990188" cy="10286998"/>
            <a:chOff x="0" y="0"/>
            <a:chExt cx="9320251" cy="13715997"/>
          </a:xfrm>
        </p:grpSpPr>
        <p:sp>
          <p:nvSpPr>
            <p:cNvPr name="Freeform 21" id="21"/>
            <p:cNvSpPr/>
            <p:nvPr/>
          </p:nvSpPr>
          <p:spPr>
            <a:xfrm flipH="false" flipV="false" rot="0">
              <a:off x="0" y="0"/>
              <a:ext cx="9320276" cy="13716000"/>
            </a:xfrm>
            <a:custGeom>
              <a:avLst/>
              <a:gdLst/>
              <a:ahLst/>
              <a:cxnLst/>
              <a:rect r="r" b="b" t="t" l="l"/>
              <a:pathLst>
                <a:path h="13716000" w="9320276">
                  <a:moveTo>
                    <a:pt x="0" y="0"/>
                  </a:moveTo>
                  <a:lnTo>
                    <a:pt x="9320276" y="0"/>
                  </a:lnTo>
                  <a:lnTo>
                    <a:pt x="9320276" y="13716000"/>
                  </a:lnTo>
                  <a:lnTo>
                    <a:pt x="0" y="13716000"/>
                  </a:lnTo>
                  <a:close/>
                </a:path>
              </a:pathLst>
            </a:custGeom>
            <a:solidFill>
              <a:srgbClr val="2C3C43"/>
            </a:solidFill>
          </p:spPr>
        </p:sp>
      </p:grpSp>
      <p:grpSp>
        <p:nvGrpSpPr>
          <p:cNvPr name="Group 22" id="22"/>
          <p:cNvGrpSpPr/>
          <p:nvPr/>
        </p:nvGrpSpPr>
        <p:grpSpPr>
          <a:xfrm rot="-10800000">
            <a:off x="6990190" y="-4"/>
            <a:ext cx="1585118" cy="10287000"/>
            <a:chOff x="0" y="0"/>
            <a:chExt cx="2113491" cy="13716000"/>
          </a:xfrm>
        </p:grpSpPr>
        <p:sp>
          <p:nvSpPr>
            <p:cNvPr name="Freeform 23" id="23"/>
            <p:cNvSpPr/>
            <p:nvPr/>
          </p:nvSpPr>
          <p:spPr>
            <a:xfrm flipH="false" flipV="false" rot="0">
              <a:off x="0" y="0"/>
              <a:ext cx="2113534" cy="13716000"/>
            </a:xfrm>
            <a:custGeom>
              <a:avLst/>
              <a:gdLst/>
              <a:ahLst/>
              <a:cxnLst/>
              <a:rect r="r" b="b" t="t" l="l"/>
              <a:pathLst>
                <a:path h="13716000" w="2113534">
                  <a:moveTo>
                    <a:pt x="0" y="13716000"/>
                  </a:moveTo>
                  <a:lnTo>
                    <a:pt x="2113534" y="0"/>
                  </a:lnTo>
                  <a:lnTo>
                    <a:pt x="2113534" y="13716000"/>
                  </a:lnTo>
                  <a:close/>
                </a:path>
              </a:pathLst>
            </a:custGeom>
            <a:solidFill>
              <a:srgbClr val="2C3C43"/>
            </a:solidFill>
          </p:spPr>
        </p:sp>
      </p:grpSp>
      <p:sp>
        <p:nvSpPr>
          <p:cNvPr name="TextBox 24" id="24"/>
          <p:cNvSpPr txBox="true"/>
          <p:nvPr/>
        </p:nvSpPr>
        <p:spPr>
          <a:xfrm rot="0">
            <a:off x="3495094" y="831604"/>
            <a:ext cx="4432447" cy="790194"/>
          </a:xfrm>
          <a:prstGeom prst="rect">
            <a:avLst/>
          </a:prstGeom>
        </p:spPr>
        <p:txBody>
          <a:bodyPr anchor="t" rtlCol="false" tIns="0" lIns="0" bIns="0" rIns="0">
            <a:spAutoFit/>
          </a:bodyPr>
          <a:lstStyle/>
          <a:p>
            <a:pPr algn="l">
              <a:lnSpc>
                <a:spcPts val="6048"/>
              </a:lnSpc>
            </a:pPr>
            <a:r>
              <a:rPr lang="en-US" sz="5599" spc="-20">
                <a:solidFill>
                  <a:srgbClr val="FFFFFF"/>
                </a:solidFill>
                <a:latin typeface="Trebuchet MS"/>
                <a:ea typeface="Trebuchet MS"/>
                <a:cs typeface="Trebuchet MS"/>
                <a:sym typeface="Trebuchet MS"/>
              </a:rPr>
              <a:t>Access Point</a:t>
            </a:r>
          </a:p>
        </p:txBody>
      </p:sp>
      <p:sp>
        <p:nvSpPr>
          <p:cNvPr name="TextBox 25" id="25"/>
          <p:cNvSpPr txBox="true"/>
          <p:nvPr/>
        </p:nvSpPr>
        <p:spPr>
          <a:xfrm rot="0">
            <a:off x="1102070" y="3267554"/>
            <a:ext cx="5778034" cy="5991225"/>
          </a:xfrm>
          <a:prstGeom prst="rect">
            <a:avLst/>
          </a:prstGeom>
        </p:spPr>
        <p:txBody>
          <a:bodyPr anchor="t" rtlCol="false" tIns="0" lIns="0" bIns="0" rIns="0">
            <a:spAutoFit/>
          </a:bodyPr>
          <a:lstStyle/>
          <a:p>
            <a:pPr algn="just" marL="894080" indent="-447040" lvl="1">
              <a:lnSpc>
                <a:spcPts val="4320"/>
              </a:lnSpc>
              <a:buFont typeface="Arial"/>
              <a:buChar char="•"/>
            </a:pPr>
            <a:r>
              <a:rPr lang="en-US" sz="3600">
                <a:solidFill>
                  <a:srgbClr val="FFFFFF"/>
                </a:solidFill>
                <a:latin typeface="Trebuchet MS"/>
                <a:ea typeface="Trebuchet MS"/>
                <a:cs typeface="Trebuchet MS"/>
                <a:sym typeface="Trebuchet MS"/>
              </a:rPr>
              <a:t>Un  access  point  o  extensión  de  malla  puede configurarse como repetidora independiente para ampliar el alcance de la infraestructura o superar un obstáculo que bloquea las comunicaciones por radio.</a:t>
            </a:r>
          </a:p>
        </p:txBody>
      </p:sp>
      <p:sp>
        <p:nvSpPr>
          <p:cNvPr name="Freeform 26" id="26"/>
          <p:cNvSpPr/>
          <p:nvPr/>
        </p:nvSpPr>
        <p:spPr>
          <a:xfrm flipH="false" flipV="false" rot="0">
            <a:off x="9144000" y="2771318"/>
            <a:ext cx="7715250" cy="4725590"/>
          </a:xfrm>
          <a:custGeom>
            <a:avLst/>
            <a:gdLst/>
            <a:ahLst/>
            <a:cxnLst/>
            <a:rect r="r" b="b" t="t" l="l"/>
            <a:pathLst>
              <a:path h="4725590" w="7715250">
                <a:moveTo>
                  <a:pt x="0" y="0"/>
                </a:moveTo>
                <a:lnTo>
                  <a:pt x="7715250" y="0"/>
                </a:lnTo>
                <a:lnTo>
                  <a:pt x="7715250" y="4725590"/>
                </a:lnTo>
                <a:lnTo>
                  <a:pt x="0" y="4725590"/>
                </a:lnTo>
                <a:lnTo>
                  <a:pt x="0" y="0"/>
                </a:lnTo>
                <a:close/>
              </a:path>
            </a:pathLst>
          </a:custGeom>
          <a:blipFill>
            <a:blip r:embed="rId2"/>
            <a:stretch>
              <a:fillRect l="-95" t="0" r="-95" b="0"/>
            </a:stretch>
          </a:blipFill>
        </p:spPr>
      </p:sp>
      <p:grpSp>
        <p:nvGrpSpPr>
          <p:cNvPr name="Group 27" id="27"/>
          <p:cNvGrpSpPr/>
          <p:nvPr/>
        </p:nvGrpSpPr>
        <p:grpSpPr>
          <a:xfrm rot="0">
            <a:off x="17633544" y="6019800"/>
            <a:ext cx="673098" cy="4267200"/>
            <a:chOff x="0" y="0"/>
            <a:chExt cx="897464" cy="5689600"/>
          </a:xfrm>
        </p:grpSpPr>
        <p:sp>
          <p:nvSpPr>
            <p:cNvPr name="Freeform 28" id="28"/>
            <p:cNvSpPr/>
            <p:nvPr/>
          </p:nvSpPr>
          <p:spPr>
            <a:xfrm flipH="false" flipV="false" rot="0">
              <a:off x="0" y="0"/>
              <a:ext cx="897509" cy="5689600"/>
            </a:xfrm>
            <a:custGeom>
              <a:avLst/>
              <a:gdLst/>
              <a:ahLst/>
              <a:cxnLst/>
              <a:rect r="r" b="b" t="t" l="l"/>
              <a:pathLst>
                <a:path h="5689600" w="897509">
                  <a:moveTo>
                    <a:pt x="897509" y="5689600"/>
                  </a:moveTo>
                  <a:lnTo>
                    <a:pt x="897509" y="0"/>
                  </a:lnTo>
                  <a:lnTo>
                    <a:pt x="0" y="5689600"/>
                  </a:lnTo>
                  <a:close/>
                </a:path>
              </a:pathLst>
            </a:custGeom>
            <a:solidFill>
              <a:srgbClr val="90C226">
                <a:alpha val="84706"/>
              </a:srgbClr>
            </a:solidFill>
          </p:spPr>
        </p:sp>
      </p:grpSp>
    </p:spTree>
  </p:cSld>
  <p:clrMapOvr>
    <a:masterClrMapping/>
  </p:clrMapOvr>
</p:sld>
</file>

<file path=ppt/slides/slide30.xml><?xml version="1.0" encoding="utf-8"?>
<p:sld xmlns:p="http://schemas.openxmlformats.org/presentationml/2006/main" xmlns:a="http://schemas.openxmlformats.org/drawingml/2006/main">
  <p:cSld>
    <p:bg>
      <p:bgPr>
        <a:solidFill>
          <a:srgbClr val="2C3C43"/>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000000"/>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408500" y="-12700"/>
            <a:ext cx="1874738" cy="10299700"/>
            <a:chOff x="0" y="0"/>
            <a:chExt cx="2499650" cy="13732933"/>
          </a:xfrm>
        </p:grpSpPr>
        <p:sp>
          <p:nvSpPr>
            <p:cNvPr name="Freeform 49" id="49"/>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0" id="50"/>
          <p:cNvGrpSpPr/>
          <p:nvPr/>
        </p:nvGrpSpPr>
        <p:grpSpPr>
          <a:xfrm rot="0">
            <a:off x="15557501" y="5384801"/>
            <a:ext cx="2725739" cy="4902199"/>
            <a:chOff x="0" y="0"/>
            <a:chExt cx="3634318" cy="6536266"/>
          </a:xfrm>
        </p:grpSpPr>
        <p:sp>
          <p:nvSpPr>
            <p:cNvPr name="Freeform 51" id="51"/>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2" id="52"/>
          <p:cNvGrpSpPr/>
          <p:nvPr/>
        </p:nvGrpSpPr>
        <p:grpSpPr>
          <a:xfrm rot="-10800000">
            <a:off x="0" y="0"/>
            <a:ext cx="1263894" cy="8499231"/>
            <a:chOff x="0" y="0"/>
            <a:chExt cx="1685192" cy="11332307"/>
          </a:xfrm>
        </p:grpSpPr>
        <p:sp>
          <p:nvSpPr>
            <p:cNvPr name="Freeform 53" id="53"/>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54" id="54"/>
          <p:cNvSpPr txBox="true"/>
          <p:nvPr/>
        </p:nvSpPr>
        <p:spPr>
          <a:xfrm rot="0">
            <a:off x="2352040" y="4382709"/>
            <a:ext cx="11467524" cy="1647825"/>
          </a:xfrm>
          <a:prstGeom prst="rect">
            <a:avLst/>
          </a:prstGeom>
        </p:spPr>
        <p:txBody>
          <a:bodyPr anchor="t" rtlCol="false" tIns="0" lIns="0" bIns="0" rIns="0">
            <a:spAutoFit/>
          </a:bodyPr>
          <a:lstStyle/>
          <a:p>
            <a:pPr algn="r">
              <a:lnSpc>
                <a:spcPts val="12960"/>
              </a:lnSpc>
            </a:pPr>
            <a:r>
              <a:rPr lang="en-US" sz="10800">
                <a:solidFill>
                  <a:srgbClr val="90C226"/>
                </a:solidFill>
                <a:latin typeface="Trebuchet MS"/>
                <a:ea typeface="Trebuchet MS"/>
                <a:cs typeface="Trebuchet MS"/>
                <a:sym typeface="Trebuchet MS"/>
              </a:rPr>
              <a:t>Tipos de tráfico </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784350" y="2389325"/>
            <a:ext cx="6760883" cy="923925"/>
          </a:xfrm>
          <a:prstGeom prst="rect">
            <a:avLst/>
          </a:prstGeom>
        </p:spPr>
        <p:txBody>
          <a:bodyPr anchor="t" rtlCol="false" tIns="0" lIns="0" bIns="0" rIns="0">
            <a:spAutoFit/>
          </a:bodyPr>
          <a:lstStyle/>
          <a:p>
            <a:pPr algn="l">
              <a:lnSpc>
                <a:spcPts val="7200"/>
              </a:lnSpc>
            </a:pPr>
            <a:r>
              <a:rPr lang="en-US" sz="6000">
                <a:solidFill>
                  <a:srgbClr val="90C226"/>
                </a:solidFill>
                <a:latin typeface="Trebuchet MS"/>
                <a:ea typeface="Trebuchet MS"/>
                <a:cs typeface="Trebuchet MS"/>
                <a:sym typeface="Trebuchet MS"/>
              </a:rPr>
              <a:t>Unicast (uno a uno)</a:t>
            </a:r>
          </a:p>
        </p:txBody>
      </p:sp>
      <p:sp>
        <p:nvSpPr>
          <p:cNvPr name="TextBox 21" id="21"/>
          <p:cNvSpPr txBox="true"/>
          <p:nvPr/>
        </p:nvSpPr>
        <p:spPr>
          <a:xfrm rot="0">
            <a:off x="1784350" y="4018788"/>
            <a:ext cx="7077708" cy="901700"/>
          </a:xfrm>
          <a:prstGeom prst="rect">
            <a:avLst/>
          </a:prstGeom>
        </p:spPr>
        <p:txBody>
          <a:bodyPr anchor="t" rtlCol="false" tIns="0" lIns="0" bIns="0" rIns="0">
            <a:spAutoFit/>
          </a:bodyPr>
          <a:lstStyle/>
          <a:p>
            <a:pPr algn="l">
              <a:lnSpc>
                <a:spcPts val="3173"/>
              </a:lnSpc>
            </a:pPr>
            <a:r>
              <a:rPr lang="en-US" sz="2300">
                <a:solidFill>
                  <a:srgbClr val="333333"/>
                </a:solidFill>
                <a:latin typeface="Arimo"/>
                <a:ea typeface="Arimo"/>
                <a:cs typeface="Arimo"/>
                <a:sym typeface="Arimo"/>
              </a:rPr>
              <a:t>Un paquete Unicast se transmite directamente desde un equipo a otro.</a:t>
            </a:r>
          </a:p>
        </p:txBody>
      </p:sp>
      <p:sp>
        <p:nvSpPr>
          <p:cNvPr name="Freeform 22" id="22"/>
          <p:cNvSpPr/>
          <p:nvPr/>
        </p:nvSpPr>
        <p:spPr>
          <a:xfrm flipH="false" flipV="false" rot="0">
            <a:off x="9010500" y="3313250"/>
            <a:ext cx="8667902" cy="5907882"/>
          </a:xfrm>
          <a:custGeom>
            <a:avLst/>
            <a:gdLst/>
            <a:ahLst/>
            <a:cxnLst/>
            <a:rect r="r" b="b" t="t" l="l"/>
            <a:pathLst>
              <a:path h="5907882" w="8667902">
                <a:moveTo>
                  <a:pt x="0" y="0"/>
                </a:moveTo>
                <a:lnTo>
                  <a:pt x="8667902" y="0"/>
                </a:lnTo>
                <a:lnTo>
                  <a:pt x="8667902" y="5907882"/>
                </a:lnTo>
                <a:lnTo>
                  <a:pt x="0" y="5907882"/>
                </a:lnTo>
                <a:lnTo>
                  <a:pt x="0" y="0"/>
                </a:lnTo>
                <a:close/>
              </a:path>
            </a:pathLst>
          </a:custGeom>
          <a:blipFill>
            <a:blip r:embed="rId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784350" y="2567957"/>
            <a:ext cx="8723737" cy="923925"/>
          </a:xfrm>
          <a:prstGeom prst="rect">
            <a:avLst/>
          </a:prstGeom>
        </p:spPr>
        <p:txBody>
          <a:bodyPr anchor="t" rtlCol="false" tIns="0" lIns="0" bIns="0" rIns="0">
            <a:spAutoFit/>
          </a:bodyPr>
          <a:lstStyle/>
          <a:p>
            <a:pPr algn="l">
              <a:lnSpc>
                <a:spcPts val="7200"/>
              </a:lnSpc>
            </a:pPr>
            <a:r>
              <a:rPr lang="en-US" sz="6000">
                <a:solidFill>
                  <a:srgbClr val="90C226"/>
                </a:solidFill>
                <a:latin typeface="Trebuchet MS"/>
                <a:ea typeface="Trebuchet MS"/>
                <a:cs typeface="Trebuchet MS"/>
                <a:sym typeface="Trebuchet MS"/>
              </a:rPr>
              <a:t>Multicast (uno a muchos)</a:t>
            </a:r>
          </a:p>
        </p:txBody>
      </p:sp>
      <p:sp>
        <p:nvSpPr>
          <p:cNvPr name="TextBox 21" id="21"/>
          <p:cNvSpPr txBox="true"/>
          <p:nvPr/>
        </p:nvSpPr>
        <p:spPr>
          <a:xfrm rot="0">
            <a:off x="1784350" y="4018788"/>
            <a:ext cx="7078980" cy="2804926"/>
          </a:xfrm>
          <a:prstGeom prst="rect">
            <a:avLst/>
          </a:prstGeom>
        </p:spPr>
        <p:txBody>
          <a:bodyPr anchor="t" rtlCol="false" tIns="0" lIns="0" bIns="0" rIns="0">
            <a:spAutoFit/>
          </a:bodyPr>
          <a:lstStyle/>
          <a:p>
            <a:pPr algn="just">
              <a:lnSpc>
                <a:spcPts val="3173"/>
              </a:lnSpc>
            </a:pPr>
            <a:r>
              <a:rPr lang="en-US" sz="2300">
                <a:solidFill>
                  <a:srgbClr val="333333"/>
                </a:solidFill>
                <a:latin typeface="Arimo"/>
                <a:ea typeface="Arimo"/>
                <a:cs typeface="Arimo"/>
                <a:sym typeface="Arimo"/>
              </a:rPr>
              <a:t>Este es el tipo de tráfico que se utiliza cuando queremos enviar  un  paquete  desde un  origen  a múltiples  destinos  simultáneamente.  Es  similar  al Broadcast, pero aquí solo se envía la información a un grupo  de receptores específico mientras que en Broadcast se envía la información a todos los nodos de la red.</a:t>
            </a:r>
          </a:p>
        </p:txBody>
      </p:sp>
      <p:sp>
        <p:nvSpPr>
          <p:cNvPr name="Freeform 22" id="22"/>
          <p:cNvSpPr/>
          <p:nvPr/>
        </p:nvSpPr>
        <p:spPr>
          <a:xfrm flipH="false" flipV="false" rot="0">
            <a:off x="9010500" y="3981450"/>
            <a:ext cx="8667898" cy="4657376"/>
          </a:xfrm>
          <a:custGeom>
            <a:avLst/>
            <a:gdLst/>
            <a:ahLst/>
            <a:cxnLst/>
            <a:rect r="r" b="b" t="t" l="l"/>
            <a:pathLst>
              <a:path h="4657376" w="8667898">
                <a:moveTo>
                  <a:pt x="0" y="0"/>
                </a:moveTo>
                <a:lnTo>
                  <a:pt x="8667898" y="0"/>
                </a:lnTo>
                <a:lnTo>
                  <a:pt x="8667898" y="4657376"/>
                </a:lnTo>
                <a:lnTo>
                  <a:pt x="0" y="4657376"/>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1784350" y="2532764"/>
            <a:ext cx="8127998" cy="923925"/>
          </a:xfrm>
          <a:prstGeom prst="rect">
            <a:avLst/>
          </a:prstGeom>
        </p:spPr>
        <p:txBody>
          <a:bodyPr anchor="t" rtlCol="false" tIns="0" lIns="0" bIns="0" rIns="0">
            <a:spAutoFit/>
          </a:bodyPr>
          <a:lstStyle/>
          <a:p>
            <a:pPr algn="l">
              <a:lnSpc>
                <a:spcPts val="7200"/>
              </a:lnSpc>
            </a:pPr>
            <a:r>
              <a:rPr lang="en-US" sz="6000">
                <a:solidFill>
                  <a:srgbClr val="90C226"/>
                </a:solidFill>
                <a:latin typeface="Trebuchet MS"/>
                <a:ea typeface="Trebuchet MS"/>
                <a:cs typeface="Trebuchet MS"/>
                <a:sym typeface="Trebuchet MS"/>
              </a:rPr>
              <a:t>Broadcast (uno a todos)</a:t>
            </a:r>
          </a:p>
        </p:txBody>
      </p:sp>
      <p:sp>
        <p:nvSpPr>
          <p:cNvPr name="TextBox 21" id="21"/>
          <p:cNvSpPr txBox="true"/>
          <p:nvPr/>
        </p:nvSpPr>
        <p:spPr>
          <a:xfrm rot="0">
            <a:off x="1784350" y="4018788"/>
            <a:ext cx="7078980" cy="3098800"/>
          </a:xfrm>
          <a:prstGeom prst="rect">
            <a:avLst/>
          </a:prstGeom>
        </p:spPr>
        <p:txBody>
          <a:bodyPr anchor="t" rtlCol="false" tIns="0" lIns="0" bIns="0" rIns="0">
            <a:spAutoFit/>
          </a:bodyPr>
          <a:lstStyle/>
          <a:p>
            <a:pPr algn="just">
              <a:lnSpc>
                <a:spcPts val="3173"/>
              </a:lnSpc>
            </a:pPr>
            <a:r>
              <a:rPr lang="en-US" sz="2300">
                <a:solidFill>
                  <a:srgbClr val="333333"/>
                </a:solidFill>
                <a:latin typeface="Arimo"/>
                <a:ea typeface="Arimo"/>
                <a:cs typeface="Arimo"/>
                <a:sym typeface="Arimo"/>
              </a:rPr>
              <a:t>Un paquete Broadcast es un paquete que se envía a todos  los  puertos  de  un  segmento  de  red, independientemente de si el puerto es de un Switch o de un Hub.</a:t>
            </a:r>
          </a:p>
          <a:p>
            <a:pPr algn="l">
              <a:lnSpc>
                <a:spcPts val="2760"/>
              </a:lnSpc>
            </a:pPr>
          </a:p>
          <a:p>
            <a:pPr algn="just">
              <a:lnSpc>
                <a:spcPts val="3173"/>
              </a:lnSpc>
            </a:pPr>
            <a:r>
              <a:rPr lang="en-US" sz="2300">
                <a:solidFill>
                  <a:srgbClr val="333333"/>
                </a:solidFill>
                <a:latin typeface="Arimo"/>
                <a:ea typeface="Arimo"/>
                <a:cs typeface="Arimo"/>
                <a:sym typeface="Arimo"/>
              </a:rPr>
              <a:t>El tráfico Broadcast puede ser de capa 2 (Data Link), o de capa 3 (Network).</a:t>
            </a:r>
          </a:p>
        </p:txBody>
      </p:sp>
      <p:sp>
        <p:nvSpPr>
          <p:cNvPr name="Freeform 22" id="22"/>
          <p:cNvSpPr/>
          <p:nvPr/>
        </p:nvSpPr>
        <p:spPr>
          <a:xfrm flipH="false" flipV="false" rot="0">
            <a:off x="9010500" y="3231650"/>
            <a:ext cx="8667898" cy="6034154"/>
          </a:xfrm>
          <a:custGeom>
            <a:avLst/>
            <a:gdLst/>
            <a:ahLst/>
            <a:cxnLst/>
            <a:rect r="r" b="b" t="t" l="l"/>
            <a:pathLst>
              <a:path h="6034154" w="8667898">
                <a:moveTo>
                  <a:pt x="0" y="0"/>
                </a:moveTo>
                <a:lnTo>
                  <a:pt x="8667898" y="0"/>
                </a:lnTo>
                <a:lnTo>
                  <a:pt x="8667898" y="6034154"/>
                </a:lnTo>
                <a:lnTo>
                  <a:pt x="0" y="6034154"/>
                </a:lnTo>
                <a:lnTo>
                  <a:pt x="0" y="0"/>
                </a:lnTo>
                <a:close/>
              </a:path>
            </a:pathLst>
          </a:custGeom>
          <a:blipFill>
            <a:blip r:embed="rId2"/>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TextBox 20" id="20"/>
          <p:cNvSpPr txBox="true"/>
          <p:nvPr/>
        </p:nvSpPr>
        <p:spPr>
          <a:xfrm rot="0">
            <a:off x="2449934" y="1883780"/>
            <a:ext cx="12712122" cy="1114425"/>
          </a:xfrm>
          <a:prstGeom prst="rect">
            <a:avLst/>
          </a:prstGeom>
        </p:spPr>
        <p:txBody>
          <a:bodyPr anchor="t" rtlCol="false" tIns="0" lIns="0" bIns="0" rIns="0">
            <a:spAutoFit/>
          </a:bodyPr>
          <a:lstStyle/>
          <a:p>
            <a:pPr algn="l">
              <a:lnSpc>
                <a:spcPts val="8640"/>
              </a:lnSpc>
            </a:pPr>
            <a:r>
              <a:rPr lang="en-US" sz="7200" spc="-100">
                <a:solidFill>
                  <a:srgbClr val="90C226"/>
                </a:solidFill>
                <a:latin typeface="Trebuchet MS"/>
                <a:ea typeface="Trebuchet MS"/>
                <a:cs typeface="Trebuchet MS"/>
                <a:sym typeface="Trebuchet MS"/>
              </a:rPr>
              <a:t>Tarea 1</a:t>
            </a:r>
          </a:p>
        </p:txBody>
      </p:sp>
      <p:grpSp>
        <p:nvGrpSpPr>
          <p:cNvPr name="Group 21" id="21"/>
          <p:cNvGrpSpPr/>
          <p:nvPr/>
        </p:nvGrpSpPr>
        <p:grpSpPr>
          <a:xfrm rot="-10800000">
            <a:off x="0" y="0"/>
            <a:ext cx="1263894" cy="8499230"/>
            <a:chOff x="0" y="0"/>
            <a:chExt cx="1685192" cy="11332307"/>
          </a:xfrm>
        </p:grpSpPr>
        <p:sp>
          <p:nvSpPr>
            <p:cNvPr name="Freeform 22" id="22"/>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23" id="23"/>
          <p:cNvSpPr txBox="true"/>
          <p:nvPr/>
        </p:nvSpPr>
        <p:spPr>
          <a:xfrm rot="0">
            <a:off x="2091692" y="3267552"/>
            <a:ext cx="12712122" cy="3276600"/>
          </a:xfrm>
          <a:prstGeom prst="rect">
            <a:avLst/>
          </a:prstGeom>
        </p:spPr>
        <p:txBody>
          <a:bodyPr anchor="t" rtlCol="false" tIns="0" lIns="0" bIns="0" rIns="0">
            <a:spAutoFit/>
          </a:bodyPr>
          <a:lstStyle/>
          <a:p>
            <a:pPr algn="l" marL="892810" indent="-446405" lvl="1">
              <a:lnSpc>
                <a:spcPts val="4320"/>
              </a:lnSpc>
              <a:buFont typeface="Arial"/>
              <a:buChar char="•"/>
            </a:pPr>
            <a:r>
              <a:rPr lang="en-US" sz="3600">
                <a:solidFill>
                  <a:srgbClr val="000000"/>
                </a:solidFill>
                <a:latin typeface="Trebuchet MS"/>
                <a:ea typeface="Trebuchet MS"/>
                <a:cs typeface="Trebuchet MS"/>
                <a:sym typeface="Trebuchet MS"/>
              </a:rPr>
              <a:t>Investigación de las clasificaciones de red según el alcance geográfico(MAN, LAN, PAN, etc) y según la topología (estrella, bus, malla, etc).</a:t>
            </a:r>
          </a:p>
          <a:p>
            <a:pPr algn="l" marL="892810" indent="-446405" lvl="1">
              <a:lnSpc>
                <a:spcPts val="4320"/>
              </a:lnSpc>
              <a:buFont typeface="Arial"/>
              <a:buChar char="•"/>
            </a:pPr>
            <a:r>
              <a:rPr lang="en-US" sz="3600" spc="-20">
                <a:solidFill>
                  <a:srgbClr val="000000"/>
                </a:solidFill>
                <a:latin typeface="Trebuchet MS"/>
                <a:ea typeface="Trebuchet MS"/>
                <a:cs typeface="Trebuchet MS"/>
                <a:sym typeface="Trebuchet MS"/>
              </a:rPr>
              <a:t>Incluir	imagen	sobre	las	redes	encontradas.</a:t>
            </a:r>
          </a:p>
          <a:p>
            <a:pPr algn="l" marL="893826" indent="-446913" lvl="1">
              <a:lnSpc>
                <a:spcPts val="4320"/>
              </a:lnSpc>
              <a:buFont typeface="Arial"/>
              <a:buChar char="•"/>
            </a:pPr>
            <a:r>
              <a:rPr lang="en-US" sz="3600" spc="-18">
                <a:solidFill>
                  <a:srgbClr val="000000"/>
                </a:solidFill>
                <a:latin typeface="Trebuchet MS"/>
                <a:ea typeface="Trebuchet MS"/>
                <a:cs typeface="Trebuchet MS"/>
                <a:sym typeface="Trebuchet MS"/>
              </a:rPr>
              <a:t>Incluir comparación entre los tipos de red.</a:t>
            </a:r>
          </a:p>
          <a:p>
            <a:pPr algn="l" marL="894080" indent="-447040" lvl="1">
              <a:lnSpc>
                <a:spcPts val="4320"/>
              </a:lnSpc>
              <a:buFont typeface="Arial"/>
              <a:buChar char="•"/>
            </a:pPr>
            <a:r>
              <a:rPr lang="en-US" sz="3600" spc="-20">
                <a:solidFill>
                  <a:srgbClr val="000000"/>
                </a:solidFill>
                <a:latin typeface="Trebuchet MS"/>
                <a:ea typeface="Trebuchet MS"/>
                <a:cs typeface="Trebuchet MS"/>
                <a:sym typeface="Trebuchet MS"/>
              </a:rPr>
              <a:t>Fecha límite de entrega 30/01/2024</a:t>
            </a:r>
          </a:p>
        </p:txBody>
      </p:sp>
      <p:grpSp>
        <p:nvGrpSpPr>
          <p:cNvPr name="Group 24" id="24"/>
          <p:cNvGrpSpPr/>
          <p:nvPr/>
        </p:nvGrpSpPr>
        <p:grpSpPr>
          <a:xfrm rot="0">
            <a:off x="17614900" y="6019800"/>
            <a:ext cx="673100" cy="4267200"/>
            <a:chOff x="0" y="0"/>
            <a:chExt cx="897467" cy="5689600"/>
          </a:xfrm>
        </p:grpSpPr>
        <p:sp>
          <p:nvSpPr>
            <p:cNvPr name="Freeform 25" id="25"/>
            <p:cNvSpPr/>
            <p:nvPr/>
          </p:nvSpPr>
          <p:spPr>
            <a:xfrm flipH="false" flipV="false" rot="0">
              <a:off x="0" y="0"/>
              <a:ext cx="897509" cy="5689600"/>
            </a:xfrm>
            <a:custGeom>
              <a:avLst/>
              <a:gdLst/>
              <a:ahLst/>
              <a:cxnLst/>
              <a:rect r="r" b="b" t="t" l="l"/>
              <a:pathLst>
                <a:path h="5689600" w="897509">
                  <a:moveTo>
                    <a:pt x="897509" y="5689600"/>
                  </a:moveTo>
                  <a:lnTo>
                    <a:pt x="897509" y="0"/>
                  </a:lnTo>
                  <a:lnTo>
                    <a:pt x="0" y="5689600"/>
                  </a:lnTo>
                  <a:close/>
                </a:path>
              </a:pathLst>
            </a:custGeom>
            <a:solidFill>
              <a:srgbClr val="90C226">
                <a:alpha val="84706"/>
              </a:srgbClr>
            </a:solidFill>
          </p:spPr>
        </p:sp>
      </p:grpSp>
    </p:spTree>
  </p:cSld>
  <p:clrMapOvr>
    <a:masterClrMapping/>
  </p:clrMapOvr>
</p:sld>
</file>

<file path=ppt/slides/slide35.xml><?xml version="1.0" encoding="utf-8"?>
<p:sld xmlns:p="http://schemas.openxmlformats.org/presentationml/2006/main" xmlns:a="http://schemas.openxmlformats.org/drawingml/2006/main">
  <p:cSld>
    <p:bg>
      <p:bgPr>
        <a:solidFill>
          <a:srgbClr val="2C3C43"/>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000000"/>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408500" y="-12700"/>
            <a:ext cx="1874738" cy="10299700"/>
            <a:chOff x="0" y="0"/>
            <a:chExt cx="2499650" cy="13732933"/>
          </a:xfrm>
        </p:grpSpPr>
        <p:sp>
          <p:nvSpPr>
            <p:cNvPr name="Freeform 49" id="49"/>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0" id="50"/>
          <p:cNvGrpSpPr/>
          <p:nvPr/>
        </p:nvGrpSpPr>
        <p:grpSpPr>
          <a:xfrm rot="0">
            <a:off x="15557501" y="5384801"/>
            <a:ext cx="2725739" cy="4902199"/>
            <a:chOff x="0" y="0"/>
            <a:chExt cx="3634318" cy="6536266"/>
          </a:xfrm>
        </p:grpSpPr>
        <p:sp>
          <p:nvSpPr>
            <p:cNvPr name="Freeform 51" id="51"/>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2" id="52"/>
          <p:cNvGrpSpPr/>
          <p:nvPr/>
        </p:nvGrpSpPr>
        <p:grpSpPr>
          <a:xfrm rot="-10800000">
            <a:off x="0" y="0"/>
            <a:ext cx="1263894" cy="8499231"/>
            <a:chOff x="0" y="0"/>
            <a:chExt cx="1685192" cy="11332307"/>
          </a:xfrm>
        </p:grpSpPr>
        <p:sp>
          <p:nvSpPr>
            <p:cNvPr name="Freeform 53" id="53"/>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54" id="54"/>
          <p:cNvSpPr txBox="true"/>
          <p:nvPr/>
        </p:nvSpPr>
        <p:spPr>
          <a:xfrm rot="0">
            <a:off x="6806218" y="4691063"/>
            <a:ext cx="4675564" cy="1647825"/>
          </a:xfrm>
          <a:prstGeom prst="rect">
            <a:avLst/>
          </a:prstGeom>
        </p:spPr>
        <p:txBody>
          <a:bodyPr anchor="t" rtlCol="false" tIns="0" lIns="0" bIns="0" rIns="0">
            <a:spAutoFit/>
          </a:bodyPr>
          <a:lstStyle/>
          <a:p>
            <a:pPr algn="r">
              <a:lnSpc>
                <a:spcPts val="12960"/>
              </a:lnSpc>
            </a:pPr>
            <a:r>
              <a:rPr lang="en-US" sz="10800">
                <a:solidFill>
                  <a:srgbClr val="90C226"/>
                </a:solidFill>
                <a:latin typeface="Trebuchet MS"/>
                <a:ea typeface="Trebuchet MS"/>
                <a:cs typeface="Trebuchet MS"/>
                <a:sym typeface="Trebuchet MS"/>
              </a:rPr>
              <a:t>¿Dudas?</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2C3C43"/>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69" cy="0"/>
          </a:xfrm>
          <a:prstGeom prst="line">
            <a:avLst/>
          </a:prstGeom>
          <a:ln cap="rnd" w="9525">
            <a:solidFill>
              <a:srgbClr val="FFFFFF"/>
            </a:solidFill>
            <a:prstDash val="solid"/>
            <a:headEnd type="none" len="sm" w="sm"/>
            <a:tailEnd type="none" len="sm" w="sm"/>
          </a:ln>
        </p:spPr>
      </p:sp>
      <p:sp>
        <p:nvSpPr>
          <p:cNvPr name="AutoShape 3" id="3"/>
          <p:cNvSpPr/>
          <p:nvPr/>
        </p:nvSpPr>
        <p:spPr>
          <a:xfrm rot="8776574">
            <a:off x="10406482" y="7904560"/>
            <a:ext cx="8608174"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0"/>
            <a:chOff x="0" y="0"/>
            <a:chExt cx="6014698" cy="13732933"/>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0"/>
            <a:chOff x="0" y="0"/>
            <a:chExt cx="5177116" cy="13732933"/>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0"/>
            <a:chOff x="0" y="0"/>
            <a:chExt cx="5708652" cy="13732933"/>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0"/>
            <a:chOff x="0" y="0"/>
            <a:chExt cx="2580188" cy="13732933"/>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0"/>
            <a:chOff x="0" y="0"/>
            <a:chExt cx="2499650" cy="13732933"/>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1"/>
            <a:ext cx="2725738" cy="4902199"/>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sp>
        <p:nvSpPr>
          <p:cNvPr name="AutoShape 20" id="20"/>
          <p:cNvSpPr/>
          <p:nvPr/>
        </p:nvSpPr>
        <p:spPr>
          <a:xfrm rot="4791364">
            <a:off x="9738485" y="5143500"/>
            <a:ext cx="10464869" cy="0"/>
          </a:xfrm>
          <a:prstGeom prst="line">
            <a:avLst/>
          </a:prstGeom>
          <a:ln cap="rnd" w="9525">
            <a:solidFill>
              <a:srgbClr val="000000"/>
            </a:solidFill>
            <a:prstDash val="solid"/>
            <a:headEnd type="none" len="sm" w="sm"/>
            <a:tailEnd type="none" len="sm" w="sm"/>
          </a:ln>
        </p:spPr>
      </p:sp>
      <p:sp>
        <p:nvSpPr>
          <p:cNvPr name="AutoShape 21" id="21"/>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22" id="22"/>
          <p:cNvGrpSpPr/>
          <p:nvPr/>
        </p:nvGrpSpPr>
        <p:grpSpPr>
          <a:xfrm rot="0">
            <a:off x="13772216" y="-12700"/>
            <a:ext cx="4511024" cy="10299700"/>
            <a:chOff x="0" y="0"/>
            <a:chExt cx="6014699" cy="13732933"/>
          </a:xfrm>
        </p:grpSpPr>
        <p:sp>
          <p:nvSpPr>
            <p:cNvPr name="Freeform 23" id="23"/>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24" id="24"/>
          <p:cNvGrpSpPr/>
          <p:nvPr/>
        </p:nvGrpSpPr>
        <p:grpSpPr>
          <a:xfrm rot="0">
            <a:off x="14405165" y="-12700"/>
            <a:ext cx="3882837" cy="10299700"/>
            <a:chOff x="0" y="0"/>
            <a:chExt cx="5177117" cy="13732933"/>
          </a:xfrm>
        </p:grpSpPr>
        <p:sp>
          <p:nvSpPr>
            <p:cNvPr name="Freeform 25" id="25"/>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26" id="26"/>
          <p:cNvGrpSpPr/>
          <p:nvPr/>
        </p:nvGrpSpPr>
        <p:grpSpPr>
          <a:xfrm rot="0">
            <a:off x="13398501" y="4572000"/>
            <a:ext cx="4889501" cy="5715000"/>
            <a:chOff x="0" y="0"/>
            <a:chExt cx="6519335" cy="7620000"/>
          </a:xfrm>
        </p:grpSpPr>
        <p:sp>
          <p:nvSpPr>
            <p:cNvPr name="Freeform 27" id="27"/>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28" id="28"/>
          <p:cNvGrpSpPr/>
          <p:nvPr/>
        </p:nvGrpSpPr>
        <p:grpSpPr>
          <a:xfrm rot="0">
            <a:off x="14001752" y="-12700"/>
            <a:ext cx="4281489" cy="10299700"/>
            <a:chOff x="0" y="0"/>
            <a:chExt cx="5708653" cy="13732933"/>
          </a:xfrm>
        </p:grpSpPr>
        <p:sp>
          <p:nvSpPr>
            <p:cNvPr name="Freeform 29" id="29"/>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30" id="30"/>
          <p:cNvGrpSpPr/>
          <p:nvPr/>
        </p:nvGrpSpPr>
        <p:grpSpPr>
          <a:xfrm rot="0">
            <a:off x="16348097" y="-12700"/>
            <a:ext cx="1935141" cy="10299700"/>
            <a:chOff x="0" y="0"/>
            <a:chExt cx="2580188" cy="13732933"/>
          </a:xfrm>
        </p:grpSpPr>
        <p:sp>
          <p:nvSpPr>
            <p:cNvPr name="Freeform 31" id="31"/>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32" id="32"/>
          <p:cNvGrpSpPr/>
          <p:nvPr/>
        </p:nvGrpSpPr>
        <p:grpSpPr>
          <a:xfrm rot="0">
            <a:off x="16408500" y="-12700"/>
            <a:ext cx="1874738" cy="10299700"/>
            <a:chOff x="0" y="0"/>
            <a:chExt cx="2499650" cy="13732933"/>
          </a:xfrm>
        </p:grpSpPr>
        <p:sp>
          <p:nvSpPr>
            <p:cNvPr name="Freeform 33" id="33"/>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34" id="34"/>
          <p:cNvGrpSpPr/>
          <p:nvPr/>
        </p:nvGrpSpPr>
        <p:grpSpPr>
          <a:xfrm rot="0">
            <a:off x="15557501" y="5384801"/>
            <a:ext cx="2725739" cy="4902199"/>
            <a:chOff x="0" y="0"/>
            <a:chExt cx="3634318" cy="6536266"/>
          </a:xfrm>
        </p:grpSpPr>
        <p:sp>
          <p:nvSpPr>
            <p:cNvPr name="Freeform 35" id="35"/>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36" id="36"/>
          <p:cNvGrpSpPr/>
          <p:nvPr/>
        </p:nvGrpSpPr>
        <p:grpSpPr>
          <a:xfrm rot="-10800000">
            <a:off x="0" y="0"/>
            <a:ext cx="1263894" cy="8499231"/>
            <a:chOff x="0" y="0"/>
            <a:chExt cx="1685192" cy="11332307"/>
          </a:xfrm>
        </p:grpSpPr>
        <p:sp>
          <p:nvSpPr>
            <p:cNvPr name="Freeform 37" id="37"/>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AutoShape 38" id="38"/>
          <p:cNvSpPr/>
          <p:nvPr/>
        </p:nvSpPr>
        <p:spPr>
          <a:xfrm rot="4791364">
            <a:off x="9738485" y="5143500"/>
            <a:ext cx="10464869" cy="0"/>
          </a:xfrm>
          <a:prstGeom prst="line">
            <a:avLst/>
          </a:prstGeom>
          <a:ln cap="rnd" w="9525">
            <a:solidFill>
              <a:srgbClr val="FFFFFF"/>
            </a:solidFill>
            <a:prstDash val="solid"/>
            <a:headEnd type="none" len="sm" w="sm"/>
            <a:tailEnd type="none" len="sm" w="sm"/>
          </a:ln>
        </p:spPr>
      </p:sp>
      <p:sp>
        <p:nvSpPr>
          <p:cNvPr name="AutoShape 39" id="39"/>
          <p:cNvSpPr/>
          <p:nvPr/>
        </p:nvSpPr>
        <p:spPr>
          <a:xfrm rot="8776574">
            <a:off x="10406483" y="7904560"/>
            <a:ext cx="8608175" cy="0"/>
          </a:xfrm>
          <a:prstGeom prst="line">
            <a:avLst/>
          </a:prstGeom>
          <a:ln cap="rnd" w="9525">
            <a:solidFill>
              <a:srgbClr val="000000"/>
            </a:solidFill>
            <a:prstDash val="solid"/>
            <a:headEnd type="none" len="sm" w="sm"/>
            <a:tailEnd type="none" len="sm" w="sm"/>
          </a:ln>
        </p:spPr>
      </p:sp>
      <p:grpSp>
        <p:nvGrpSpPr>
          <p:cNvPr name="Group 40" id="40"/>
          <p:cNvGrpSpPr/>
          <p:nvPr/>
        </p:nvGrpSpPr>
        <p:grpSpPr>
          <a:xfrm rot="0">
            <a:off x="13772216" y="-12700"/>
            <a:ext cx="4511024" cy="10299700"/>
            <a:chOff x="0" y="0"/>
            <a:chExt cx="6014699" cy="13732933"/>
          </a:xfrm>
        </p:grpSpPr>
        <p:sp>
          <p:nvSpPr>
            <p:cNvPr name="Freeform 41" id="41"/>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42" id="42"/>
          <p:cNvGrpSpPr/>
          <p:nvPr/>
        </p:nvGrpSpPr>
        <p:grpSpPr>
          <a:xfrm rot="0">
            <a:off x="14405165" y="-12700"/>
            <a:ext cx="3882837" cy="10299700"/>
            <a:chOff x="0" y="0"/>
            <a:chExt cx="5177117" cy="13732933"/>
          </a:xfrm>
        </p:grpSpPr>
        <p:sp>
          <p:nvSpPr>
            <p:cNvPr name="Freeform 43" id="43"/>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44" id="44"/>
          <p:cNvGrpSpPr/>
          <p:nvPr/>
        </p:nvGrpSpPr>
        <p:grpSpPr>
          <a:xfrm rot="0">
            <a:off x="13398501" y="4572000"/>
            <a:ext cx="4889501" cy="5715000"/>
            <a:chOff x="0" y="0"/>
            <a:chExt cx="6519335" cy="7620000"/>
          </a:xfrm>
        </p:grpSpPr>
        <p:sp>
          <p:nvSpPr>
            <p:cNvPr name="Freeform 45" id="45"/>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46" id="46"/>
          <p:cNvGrpSpPr/>
          <p:nvPr/>
        </p:nvGrpSpPr>
        <p:grpSpPr>
          <a:xfrm rot="0">
            <a:off x="14001752" y="-12700"/>
            <a:ext cx="4281489" cy="10299700"/>
            <a:chOff x="0" y="0"/>
            <a:chExt cx="5708653" cy="13732933"/>
          </a:xfrm>
        </p:grpSpPr>
        <p:sp>
          <p:nvSpPr>
            <p:cNvPr name="Freeform 47" id="47"/>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48" id="48"/>
          <p:cNvGrpSpPr/>
          <p:nvPr/>
        </p:nvGrpSpPr>
        <p:grpSpPr>
          <a:xfrm rot="0">
            <a:off x="16408500" y="-12700"/>
            <a:ext cx="1874738" cy="10299700"/>
            <a:chOff x="0" y="0"/>
            <a:chExt cx="2499650" cy="13732933"/>
          </a:xfrm>
        </p:grpSpPr>
        <p:sp>
          <p:nvSpPr>
            <p:cNvPr name="Freeform 49" id="49"/>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50" id="50"/>
          <p:cNvGrpSpPr/>
          <p:nvPr/>
        </p:nvGrpSpPr>
        <p:grpSpPr>
          <a:xfrm rot="0">
            <a:off x="15557501" y="5384801"/>
            <a:ext cx="2725739" cy="4902199"/>
            <a:chOff x="0" y="0"/>
            <a:chExt cx="3634318" cy="6536266"/>
          </a:xfrm>
        </p:grpSpPr>
        <p:sp>
          <p:nvSpPr>
            <p:cNvPr name="Freeform 51" id="51"/>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52" id="52"/>
          <p:cNvGrpSpPr/>
          <p:nvPr/>
        </p:nvGrpSpPr>
        <p:grpSpPr>
          <a:xfrm rot="-10800000">
            <a:off x="0" y="0"/>
            <a:ext cx="1263894" cy="8499231"/>
            <a:chOff x="0" y="0"/>
            <a:chExt cx="1685192" cy="11332307"/>
          </a:xfrm>
        </p:grpSpPr>
        <p:sp>
          <p:nvSpPr>
            <p:cNvPr name="Freeform 53" id="53"/>
            <p:cNvSpPr/>
            <p:nvPr/>
          </p:nvSpPr>
          <p:spPr>
            <a:xfrm flipH="false" flipV="false" rot="0">
              <a:off x="0" y="0"/>
              <a:ext cx="1685163" cy="11332337"/>
            </a:xfrm>
            <a:custGeom>
              <a:avLst/>
              <a:gdLst/>
              <a:ahLst/>
              <a:cxnLst/>
              <a:rect r="r" b="b" t="t" l="l"/>
              <a:pathLst>
                <a:path h="11332337" w="1685163">
                  <a:moveTo>
                    <a:pt x="0" y="11332337"/>
                  </a:moveTo>
                  <a:lnTo>
                    <a:pt x="1685163" y="0"/>
                  </a:lnTo>
                  <a:lnTo>
                    <a:pt x="1685163" y="11332337"/>
                  </a:lnTo>
                  <a:close/>
                </a:path>
              </a:pathLst>
            </a:custGeom>
            <a:solidFill>
              <a:srgbClr val="90C226">
                <a:alpha val="84706"/>
              </a:srgbClr>
            </a:solidFill>
          </p:spPr>
        </p:sp>
      </p:grpSp>
      <p:sp>
        <p:nvSpPr>
          <p:cNvPr name="TextBox 54" id="54"/>
          <p:cNvSpPr txBox="true"/>
          <p:nvPr/>
        </p:nvSpPr>
        <p:spPr>
          <a:xfrm rot="0">
            <a:off x="2674649" y="3489325"/>
            <a:ext cx="9686810" cy="3286125"/>
          </a:xfrm>
          <a:prstGeom prst="rect">
            <a:avLst/>
          </a:prstGeom>
        </p:spPr>
        <p:txBody>
          <a:bodyPr anchor="t" rtlCol="false" tIns="0" lIns="0" bIns="0" rIns="0">
            <a:spAutoFit/>
          </a:bodyPr>
          <a:lstStyle/>
          <a:p>
            <a:pPr algn="ctr">
              <a:lnSpc>
                <a:spcPts val="12960"/>
              </a:lnSpc>
            </a:pPr>
            <a:r>
              <a:rPr lang="en-US" sz="10800">
                <a:solidFill>
                  <a:srgbClr val="90C226"/>
                </a:solidFill>
                <a:latin typeface="Trebuchet MS"/>
                <a:ea typeface="Trebuchet MS"/>
                <a:cs typeface="Trebuchet MS"/>
                <a:sym typeface="Trebuchet MS"/>
              </a:rPr>
              <a:t>¡Gracias 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DAF69pJ1l-I</dc:identifier>
  <dcterms:modified xsi:type="dcterms:W3CDTF">2011-08-01T06:04:30Z</dcterms:modified>
  <cp:revision>1</cp:revision>
  <dc:title>Clase 1.pptx</dc:title>
</cp:coreProperties>
</file>