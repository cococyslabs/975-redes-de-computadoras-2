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6445250" cx="11430000"/>
  <p:notesSz cx="11430000" cy="6445250"/>
  <p:embeddedFontLst>
    <p:embeddedFont>
      <p:font typeface="Roboto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  <p:ext uri="GoogleSlidesCustomDataVersion2">
      <go:slidesCustomData xmlns:go="http://customooxmlschemas.google.com/" r:id="rId15" roundtripDataSignature="AMtx7mj4OVkoBBjF5+M4knKgnziIfwUD1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oboto-regular.fntdata"/><Relationship Id="rId10" Type="http://schemas.openxmlformats.org/officeDocument/2006/relationships/slide" Target="slides/slide5.xml"/><Relationship Id="rId13" Type="http://schemas.openxmlformats.org/officeDocument/2006/relationships/font" Target="fonts/Roboto-italic.fntdata"/><Relationship Id="rId12" Type="http://schemas.openxmlformats.org/officeDocument/2006/relationships/font" Target="fonts/Robot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customschemas.google.com/relationships/presentationmetadata" Target="metadata"/><Relationship Id="rId14" Type="http://schemas.openxmlformats.org/officeDocument/2006/relationships/font" Target="fonts/Robo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905375" y="483375"/>
            <a:ext cx="7620375" cy="24169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1143000" y="3061475"/>
            <a:ext cx="9144000" cy="29003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:notes"/>
          <p:cNvSpPr txBox="1"/>
          <p:nvPr>
            <p:ph idx="1" type="body"/>
          </p:nvPr>
        </p:nvSpPr>
        <p:spPr>
          <a:xfrm>
            <a:off x="1143000" y="3061475"/>
            <a:ext cx="9144000" cy="29003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1:notes"/>
          <p:cNvSpPr/>
          <p:nvPr>
            <p:ph idx="2" type="sldImg"/>
          </p:nvPr>
        </p:nvSpPr>
        <p:spPr>
          <a:xfrm>
            <a:off x="1905375" y="483375"/>
            <a:ext cx="7620375" cy="24169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:notes"/>
          <p:cNvSpPr txBox="1"/>
          <p:nvPr>
            <p:ph idx="1" type="body"/>
          </p:nvPr>
        </p:nvSpPr>
        <p:spPr>
          <a:xfrm>
            <a:off x="1143000" y="3061475"/>
            <a:ext cx="9144000" cy="29003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2:notes"/>
          <p:cNvSpPr/>
          <p:nvPr>
            <p:ph idx="2" type="sldImg"/>
          </p:nvPr>
        </p:nvSpPr>
        <p:spPr>
          <a:xfrm>
            <a:off x="1905375" y="483375"/>
            <a:ext cx="7620375" cy="24169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:notes"/>
          <p:cNvSpPr txBox="1"/>
          <p:nvPr>
            <p:ph idx="1" type="body"/>
          </p:nvPr>
        </p:nvSpPr>
        <p:spPr>
          <a:xfrm>
            <a:off x="1143000" y="3061475"/>
            <a:ext cx="9144000" cy="29003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3:notes"/>
          <p:cNvSpPr/>
          <p:nvPr>
            <p:ph idx="2" type="sldImg"/>
          </p:nvPr>
        </p:nvSpPr>
        <p:spPr>
          <a:xfrm>
            <a:off x="1905375" y="483375"/>
            <a:ext cx="7620375" cy="24169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:notes"/>
          <p:cNvSpPr txBox="1"/>
          <p:nvPr>
            <p:ph idx="1" type="body"/>
          </p:nvPr>
        </p:nvSpPr>
        <p:spPr>
          <a:xfrm>
            <a:off x="1143000" y="3061475"/>
            <a:ext cx="9144000" cy="29003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4:notes"/>
          <p:cNvSpPr/>
          <p:nvPr>
            <p:ph idx="2" type="sldImg"/>
          </p:nvPr>
        </p:nvSpPr>
        <p:spPr>
          <a:xfrm>
            <a:off x="1905375" y="483375"/>
            <a:ext cx="7620375" cy="24169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:notes"/>
          <p:cNvSpPr txBox="1"/>
          <p:nvPr>
            <p:ph idx="1" type="body"/>
          </p:nvPr>
        </p:nvSpPr>
        <p:spPr>
          <a:xfrm>
            <a:off x="1143000" y="3061475"/>
            <a:ext cx="9144000" cy="29003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5:notes"/>
          <p:cNvSpPr/>
          <p:nvPr>
            <p:ph idx="2" type="sldImg"/>
          </p:nvPr>
        </p:nvSpPr>
        <p:spPr>
          <a:xfrm>
            <a:off x="1905375" y="483375"/>
            <a:ext cx="7620375" cy="24169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obj">
  <p:cSld name="OBJECT">
    <p:bg>
      <p:bgPr>
        <a:solidFill>
          <a:schemeClr val="lt1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7"/>
          <p:cNvSpPr/>
          <p:nvPr/>
        </p:nvSpPr>
        <p:spPr>
          <a:xfrm>
            <a:off x="0" y="0"/>
            <a:ext cx="11430000" cy="6438900"/>
          </a:xfrm>
          <a:custGeom>
            <a:rect b="b" l="l" r="r" t="t"/>
            <a:pathLst>
              <a:path extrusionOk="0" h="6438900" w="11430000">
                <a:moveTo>
                  <a:pt x="11430000" y="0"/>
                </a:moveTo>
                <a:lnTo>
                  <a:pt x="0" y="0"/>
                </a:lnTo>
                <a:lnTo>
                  <a:pt x="0" y="6438900"/>
                </a:lnTo>
                <a:lnTo>
                  <a:pt x="11430000" y="64389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1F263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14" name="Google Shape;14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143750" y="253"/>
            <a:ext cx="4286249" cy="6438645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7"/>
          <p:cNvSpPr txBox="1"/>
          <p:nvPr>
            <p:ph idx="11" type="ftr"/>
          </p:nvPr>
        </p:nvSpPr>
        <p:spPr>
          <a:xfrm>
            <a:off x="3886200" y="5994082"/>
            <a:ext cx="3657600" cy="3222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7"/>
          <p:cNvSpPr txBox="1"/>
          <p:nvPr>
            <p:ph idx="10" type="dt"/>
          </p:nvPr>
        </p:nvSpPr>
        <p:spPr>
          <a:xfrm>
            <a:off x="571500" y="5994082"/>
            <a:ext cx="2628900" cy="3222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7"/>
          <p:cNvSpPr txBox="1"/>
          <p:nvPr>
            <p:ph idx="12" type="sldNum"/>
          </p:nvPr>
        </p:nvSpPr>
        <p:spPr>
          <a:xfrm>
            <a:off x="8229600" y="5994082"/>
            <a:ext cx="2628900" cy="3222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8"/>
          <p:cNvSpPr txBox="1"/>
          <p:nvPr>
            <p:ph type="title"/>
          </p:nvPr>
        </p:nvSpPr>
        <p:spPr>
          <a:xfrm>
            <a:off x="2069465" y="1749425"/>
            <a:ext cx="7291069" cy="539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50">
                <a:solidFill>
                  <a:srgbClr val="75B8FF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8"/>
          <p:cNvSpPr txBox="1"/>
          <p:nvPr>
            <p:ph idx="1" type="body"/>
          </p:nvPr>
        </p:nvSpPr>
        <p:spPr>
          <a:xfrm>
            <a:off x="571500" y="1482407"/>
            <a:ext cx="10287000" cy="42538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8"/>
          <p:cNvSpPr txBox="1"/>
          <p:nvPr>
            <p:ph idx="11" type="ftr"/>
          </p:nvPr>
        </p:nvSpPr>
        <p:spPr>
          <a:xfrm>
            <a:off x="3886200" y="5994082"/>
            <a:ext cx="3657600" cy="3222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8"/>
          <p:cNvSpPr txBox="1"/>
          <p:nvPr>
            <p:ph idx="10" type="dt"/>
          </p:nvPr>
        </p:nvSpPr>
        <p:spPr>
          <a:xfrm>
            <a:off x="571500" y="5994082"/>
            <a:ext cx="2628900" cy="3222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8"/>
          <p:cNvSpPr txBox="1"/>
          <p:nvPr>
            <p:ph idx="12" type="sldNum"/>
          </p:nvPr>
        </p:nvSpPr>
        <p:spPr>
          <a:xfrm>
            <a:off x="8229600" y="5994082"/>
            <a:ext cx="2628900" cy="3222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9"/>
          <p:cNvSpPr txBox="1"/>
          <p:nvPr>
            <p:ph type="title"/>
          </p:nvPr>
        </p:nvSpPr>
        <p:spPr>
          <a:xfrm>
            <a:off x="2069465" y="1749425"/>
            <a:ext cx="7291069" cy="539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50">
                <a:solidFill>
                  <a:srgbClr val="75B8FF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9"/>
          <p:cNvSpPr txBox="1"/>
          <p:nvPr>
            <p:ph idx="1" type="body"/>
          </p:nvPr>
        </p:nvSpPr>
        <p:spPr>
          <a:xfrm>
            <a:off x="571500" y="1482407"/>
            <a:ext cx="4972050" cy="42538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9"/>
          <p:cNvSpPr txBox="1"/>
          <p:nvPr>
            <p:ph idx="2" type="body"/>
          </p:nvPr>
        </p:nvSpPr>
        <p:spPr>
          <a:xfrm>
            <a:off x="5886450" y="1482407"/>
            <a:ext cx="4972050" cy="42538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9"/>
          <p:cNvSpPr txBox="1"/>
          <p:nvPr>
            <p:ph idx="11" type="ftr"/>
          </p:nvPr>
        </p:nvSpPr>
        <p:spPr>
          <a:xfrm>
            <a:off x="3886200" y="5994082"/>
            <a:ext cx="3657600" cy="3222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9"/>
          <p:cNvSpPr txBox="1"/>
          <p:nvPr>
            <p:ph idx="10" type="dt"/>
          </p:nvPr>
        </p:nvSpPr>
        <p:spPr>
          <a:xfrm>
            <a:off x="571500" y="5994082"/>
            <a:ext cx="2628900" cy="3222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9"/>
          <p:cNvSpPr txBox="1"/>
          <p:nvPr>
            <p:ph idx="12" type="sldNum"/>
          </p:nvPr>
        </p:nvSpPr>
        <p:spPr>
          <a:xfrm>
            <a:off x="8229600" y="5994082"/>
            <a:ext cx="2628900" cy="3222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0"/>
          <p:cNvSpPr txBox="1"/>
          <p:nvPr>
            <p:ph type="ctrTitle"/>
          </p:nvPr>
        </p:nvSpPr>
        <p:spPr>
          <a:xfrm>
            <a:off x="857250" y="1998027"/>
            <a:ext cx="9715500" cy="13535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0"/>
          <p:cNvSpPr txBox="1"/>
          <p:nvPr>
            <p:ph idx="1" type="subTitle"/>
          </p:nvPr>
        </p:nvSpPr>
        <p:spPr>
          <a:xfrm>
            <a:off x="1714500" y="3609340"/>
            <a:ext cx="8001000" cy="1611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0"/>
          <p:cNvSpPr txBox="1"/>
          <p:nvPr>
            <p:ph idx="11" type="ftr"/>
          </p:nvPr>
        </p:nvSpPr>
        <p:spPr>
          <a:xfrm>
            <a:off x="3886200" y="5994082"/>
            <a:ext cx="3657600" cy="3222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0"/>
          <p:cNvSpPr txBox="1"/>
          <p:nvPr>
            <p:ph idx="10" type="dt"/>
          </p:nvPr>
        </p:nvSpPr>
        <p:spPr>
          <a:xfrm>
            <a:off x="571500" y="5994082"/>
            <a:ext cx="2628900" cy="3222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0"/>
          <p:cNvSpPr txBox="1"/>
          <p:nvPr>
            <p:ph idx="12" type="sldNum"/>
          </p:nvPr>
        </p:nvSpPr>
        <p:spPr>
          <a:xfrm>
            <a:off x="8229600" y="5994082"/>
            <a:ext cx="2628900" cy="3222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1"/>
          <p:cNvSpPr txBox="1"/>
          <p:nvPr>
            <p:ph type="title"/>
          </p:nvPr>
        </p:nvSpPr>
        <p:spPr>
          <a:xfrm>
            <a:off x="2069465" y="1749425"/>
            <a:ext cx="7291069" cy="539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50">
                <a:solidFill>
                  <a:srgbClr val="75B8FF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1"/>
          <p:cNvSpPr txBox="1"/>
          <p:nvPr>
            <p:ph idx="11" type="ftr"/>
          </p:nvPr>
        </p:nvSpPr>
        <p:spPr>
          <a:xfrm>
            <a:off x="3886200" y="5994082"/>
            <a:ext cx="3657600" cy="3222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1"/>
          <p:cNvSpPr txBox="1"/>
          <p:nvPr>
            <p:ph idx="10" type="dt"/>
          </p:nvPr>
        </p:nvSpPr>
        <p:spPr>
          <a:xfrm>
            <a:off x="571500" y="5994082"/>
            <a:ext cx="2628900" cy="3222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1"/>
          <p:cNvSpPr txBox="1"/>
          <p:nvPr>
            <p:ph idx="12" type="sldNum"/>
          </p:nvPr>
        </p:nvSpPr>
        <p:spPr>
          <a:xfrm>
            <a:off x="8229600" y="5994082"/>
            <a:ext cx="2628900" cy="3222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/>
          <p:nvPr/>
        </p:nvSpPr>
        <p:spPr>
          <a:xfrm>
            <a:off x="0" y="0"/>
            <a:ext cx="11430000" cy="6438900"/>
          </a:xfrm>
          <a:custGeom>
            <a:rect b="b" l="l" r="r" t="t"/>
            <a:pathLst>
              <a:path extrusionOk="0" h="6438900" w="11430000">
                <a:moveTo>
                  <a:pt x="11430000" y="0"/>
                </a:moveTo>
                <a:lnTo>
                  <a:pt x="0" y="0"/>
                </a:lnTo>
                <a:lnTo>
                  <a:pt x="0" y="6438900"/>
                </a:lnTo>
                <a:lnTo>
                  <a:pt x="11430000" y="64389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1F263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" name="Google Shape;7;p6"/>
          <p:cNvSpPr txBox="1"/>
          <p:nvPr>
            <p:ph type="title"/>
          </p:nvPr>
        </p:nvSpPr>
        <p:spPr>
          <a:xfrm>
            <a:off x="2069465" y="1749425"/>
            <a:ext cx="7291069" cy="539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50" u="none" cap="none" strike="noStrike">
                <a:solidFill>
                  <a:srgbClr val="75B8FF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" name="Google Shape;8;p6"/>
          <p:cNvSpPr txBox="1"/>
          <p:nvPr>
            <p:ph idx="1" type="body"/>
          </p:nvPr>
        </p:nvSpPr>
        <p:spPr>
          <a:xfrm>
            <a:off x="571500" y="1482407"/>
            <a:ext cx="10287000" cy="42538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6"/>
          <p:cNvSpPr txBox="1"/>
          <p:nvPr>
            <p:ph idx="11" type="ftr"/>
          </p:nvPr>
        </p:nvSpPr>
        <p:spPr>
          <a:xfrm>
            <a:off x="3886200" y="5994082"/>
            <a:ext cx="3657600" cy="3222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0" name="Google Shape;10;p6"/>
          <p:cNvSpPr txBox="1"/>
          <p:nvPr>
            <p:ph idx="10" type="dt"/>
          </p:nvPr>
        </p:nvSpPr>
        <p:spPr>
          <a:xfrm>
            <a:off x="571500" y="5994082"/>
            <a:ext cx="2628900" cy="3222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1" name="Google Shape;11;p6"/>
          <p:cNvSpPr txBox="1"/>
          <p:nvPr>
            <p:ph idx="12" type="sldNum"/>
          </p:nvPr>
        </p:nvSpPr>
        <p:spPr>
          <a:xfrm>
            <a:off x="8229600" y="5994082"/>
            <a:ext cx="2628900" cy="3222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rt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1pPr>
            <a:lvl2pPr indent="0" lvl="1" marL="0" marR="0" rt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2pPr>
            <a:lvl3pPr indent="0" lvl="2" marL="0" marR="0" rt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3pPr>
            <a:lvl4pPr indent="0" lvl="3" marL="0" marR="0" rt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4pPr>
            <a:lvl5pPr indent="0" lvl="4" marL="0" marR="0" rt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5pPr>
            <a:lvl6pPr indent="0" lvl="5" marL="0" marR="0" rt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6pPr>
            <a:lvl7pPr indent="0" lvl="6" marL="0" marR="0" rt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7pPr>
            <a:lvl8pPr indent="0" lvl="7" marL="0" marR="0" rt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8pPr>
            <a:lvl9pPr indent="0" lvl="8" marL="0" marR="0" rt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Relationship Id="rId4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jpg"/><Relationship Id="rId4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jp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"/>
          <p:cNvSpPr txBox="1"/>
          <p:nvPr/>
        </p:nvSpPr>
        <p:spPr>
          <a:xfrm>
            <a:off x="587375" y="976947"/>
            <a:ext cx="4370070" cy="39376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marR="5080" rtl="0" algn="l">
              <a:lnSpc>
                <a:spcPct val="1258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650">
                <a:solidFill>
                  <a:srgbClr val="75B8FF"/>
                </a:solidFill>
                <a:latin typeface="Cambria"/>
                <a:ea typeface="Cambria"/>
                <a:cs typeface="Cambria"/>
                <a:sym typeface="Cambria"/>
              </a:rPr>
              <a:t>Enrutamiento  Estático:</a:t>
            </a:r>
            <a:endParaRPr sz="4650">
              <a:latin typeface="Cambria"/>
              <a:ea typeface="Cambria"/>
              <a:cs typeface="Cambria"/>
              <a:sym typeface="Cambria"/>
            </a:endParaRPr>
          </a:p>
          <a:p>
            <a:pPr indent="0" lvl="0" marL="12700" marR="5080" rtl="0" algn="l">
              <a:lnSpc>
                <a:spcPct val="124301"/>
              </a:lnSpc>
              <a:spcBef>
                <a:spcPts val="55"/>
              </a:spcBef>
              <a:spcAft>
                <a:spcPts val="0"/>
              </a:spcAft>
              <a:buNone/>
            </a:pPr>
            <a:r>
              <a:rPr lang="en-US" sz="4650">
                <a:solidFill>
                  <a:srgbClr val="75B8FF"/>
                </a:solidFill>
                <a:latin typeface="Cambria"/>
                <a:ea typeface="Cambria"/>
                <a:cs typeface="Cambria"/>
                <a:sym typeface="Cambria"/>
              </a:rPr>
              <a:t>Fundamentos y  Aplicaciones</a:t>
            </a:r>
            <a:endParaRPr sz="4650">
              <a:latin typeface="Cambria"/>
              <a:ea typeface="Cambria"/>
              <a:cs typeface="Cambria"/>
              <a:sym typeface="Cambria"/>
            </a:endParaRPr>
          </a:p>
          <a:p>
            <a:pPr indent="0" lvl="0" marL="12700" marR="968375" rtl="0" algn="l">
              <a:lnSpc>
                <a:spcPct val="2269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Configuración manual de rutas en redes.  Ideal para entornos pequeños y controlados.</a:t>
            </a:r>
            <a:endParaRPr sz="135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7" name="Google Shape;4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80244" y="5926073"/>
            <a:ext cx="1754504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Google Shape;52;p2"/>
          <p:cNvGrpSpPr/>
          <p:nvPr/>
        </p:nvGrpSpPr>
        <p:grpSpPr>
          <a:xfrm>
            <a:off x="7143750" y="253"/>
            <a:ext cx="4286249" cy="6438645"/>
            <a:chOff x="7143750" y="253"/>
            <a:chExt cx="4286249" cy="6438645"/>
          </a:xfrm>
        </p:grpSpPr>
        <p:pic>
          <p:nvPicPr>
            <p:cNvPr id="53" name="Google Shape;53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143750" y="253"/>
              <a:ext cx="4286249" cy="643864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4" name="Google Shape;54;p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580244" y="5926073"/>
              <a:ext cx="1754504" cy="4191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5" name="Google Shape;55;p2"/>
          <p:cNvSpPr txBox="1"/>
          <p:nvPr>
            <p:ph type="title"/>
          </p:nvPr>
        </p:nvSpPr>
        <p:spPr>
          <a:xfrm>
            <a:off x="587375" y="1463675"/>
            <a:ext cx="5913755" cy="539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Definición y Funcionamiento</a:t>
            </a:r>
            <a:endParaRPr/>
          </a:p>
        </p:txBody>
      </p:sp>
      <p:sp>
        <p:nvSpPr>
          <p:cNvPr id="56" name="Google Shape;56;p2"/>
          <p:cNvSpPr/>
          <p:nvPr/>
        </p:nvSpPr>
        <p:spPr>
          <a:xfrm>
            <a:off x="600075" y="2266949"/>
            <a:ext cx="2886075" cy="1533525"/>
          </a:xfrm>
          <a:custGeom>
            <a:rect b="b" l="l" r="r" t="t"/>
            <a:pathLst>
              <a:path extrusionOk="0" h="1533525" w="2886075">
                <a:moveTo>
                  <a:pt x="2867482" y="0"/>
                </a:moveTo>
                <a:lnTo>
                  <a:pt x="18588" y="0"/>
                </a:lnTo>
                <a:lnTo>
                  <a:pt x="15854" y="546"/>
                </a:lnTo>
                <a:lnTo>
                  <a:pt x="0" y="18592"/>
                </a:lnTo>
                <a:lnTo>
                  <a:pt x="0" y="1512100"/>
                </a:lnTo>
                <a:lnTo>
                  <a:pt x="0" y="1514932"/>
                </a:lnTo>
                <a:lnTo>
                  <a:pt x="18588" y="1533525"/>
                </a:lnTo>
                <a:lnTo>
                  <a:pt x="2867482" y="1533525"/>
                </a:lnTo>
                <a:lnTo>
                  <a:pt x="2886075" y="1514932"/>
                </a:lnTo>
                <a:lnTo>
                  <a:pt x="2886075" y="18592"/>
                </a:lnTo>
                <a:lnTo>
                  <a:pt x="2870225" y="546"/>
                </a:lnTo>
                <a:lnTo>
                  <a:pt x="2867482" y="0"/>
                </a:lnTo>
                <a:close/>
              </a:path>
            </a:pathLst>
          </a:custGeom>
          <a:solidFill>
            <a:srgbClr val="3F455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7" name="Google Shape;57;p2"/>
          <p:cNvSpPr txBox="1"/>
          <p:nvPr/>
        </p:nvSpPr>
        <p:spPr>
          <a:xfrm>
            <a:off x="758825" y="2430462"/>
            <a:ext cx="2292985" cy="1169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D6E5EF"/>
                </a:solidFill>
                <a:latin typeface="Georgia"/>
                <a:ea typeface="Georgia"/>
                <a:cs typeface="Georgia"/>
                <a:sym typeface="Georgia"/>
              </a:rPr>
              <a:t>Configuración Manual</a:t>
            </a:r>
            <a:endParaRPr sz="1650">
              <a:latin typeface="Georgia"/>
              <a:ea typeface="Georgia"/>
              <a:cs typeface="Georgia"/>
              <a:sym typeface="Georgia"/>
            </a:endParaRPr>
          </a:p>
          <a:p>
            <a:pPr indent="0" lvl="0" marL="12700" marR="242570" rtl="0" algn="l">
              <a:lnSpc>
                <a:spcPct val="134300"/>
              </a:lnSpc>
              <a:spcBef>
                <a:spcPts val="465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Administrador define rutas  específicas en tabla de  enrutamiento.</a:t>
            </a:r>
            <a:endParaRPr sz="135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3657600" y="2266949"/>
            <a:ext cx="2886075" cy="1533525"/>
          </a:xfrm>
          <a:custGeom>
            <a:rect b="b" l="l" r="r" t="t"/>
            <a:pathLst>
              <a:path extrusionOk="0" h="1533525" w="2886075">
                <a:moveTo>
                  <a:pt x="2867482" y="0"/>
                </a:moveTo>
                <a:lnTo>
                  <a:pt x="18592" y="0"/>
                </a:lnTo>
                <a:lnTo>
                  <a:pt x="15849" y="546"/>
                </a:lnTo>
                <a:lnTo>
                  <a:pt x="0" y="18592"/>
                </a:lnTo>
                <a:lnTo>
                  <a:pt x="0" y="1512100"/>
                </a:lnTo>
                <a:lnTo>
                  <a:pt x="0" y="1514932"/>
                </a:lnTo>
                <a:lnTo>
                  <a:pt x="18592" y="1533525"/>
                </a:lnTo>
                <a:lnTo>
                  <a:pt x="2867482" y="1533525"/>
                </a:lnTo>
                <a:lnTo>
                  <a:pt x="2886075" y="1514932"/>
                </a:lnTo>
                <a:lnTo>
                  <a:pt x="2886075" y="18592"/>
                </a:lnTo>
                <a:lnTo>
                  <a:pt x="2870225" y="546"/>
                </a:lnTo>
                <a:lnTo>
                  <a:pt x="2867482" y="0"/>
                </a:lnTo>
                <a:close/>
              </a:path>
            </a:pathLst>
          </a:custGeom>
          <a:solidFill>
            <a:srgbClr val="3F455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9" name="Google Shape;59;p2"/>
          <p:cNvSpPr txBox="1"/>
          <p:nvPr/>
        </p:nvSpPr>
        <p:spPr>
          <a:xfrm>
            <a:off x="3816350" y="2430462"/>
            <a:ext cx="2523490" cy="893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D6E5EF"/>
                </a:solidFill>
                <a:latin typeface="Georgia"/>
                <a:ea typeface="Georgia"/>
                <a:cs typeface="Georgia"/>
                <a:sym typeface="Georgia"/>
              </a:rPr>
              <a:t>Destino y Siguiente Salto</a:t>
            </a:r>
            <a:endParaRPr sz="1650">
              <a:latin typeface="Georgia"/>
              <a:ea typeface="Georgia"/>
              <a:cs typeface="Georgia"/>
              <a:sym typeface="Georgia"/>
            </a:endParaRPr>
          </a:p>
          <a:p>
            <a:pPr indent="0" lvl="0" marL="12700" marR="65405" rtl="0" algn="l">
              <a:lnSpc>
                <a:spcPct val="134300"/>
              </a:lnSpc>
              <a:spcBef>
                <a:spcPts val="465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Especifica red destino y  dirección IP del siguiente router.</a:t>
            </a:r>
            <a:endParaRPr sz="135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600075" y="3971925"/>
            <a:ext cx="5943600" cy="990600"/>
          </a:xfrm>
          <a:custGeom>
            <a:rect b="b" l="l" r="r" t="t"/>
            <a:pathLst>
              <a:path extrusionOk="0" h="990600" w="5943600">
                <a:moveTo>
                  <a:pt x="5925007" y="0"/>
                </a:moveTo>
                <a:lnTo>
                  <a:pt x="18588" y="0"/>
                </a:lnTo>
                <a:lnTo>
                  <a:pt x="15854" y="546"/>
                </a:lnTo>
                <a:lnTo>
                  <a:pt x="0" y="18592"/>
                </a:lnTo>
                <a:lnTo>
                  <a:pt x="0" y="969175"/>
                </a:lnTo>
                <a:lnTo>
                  <a:pt x="0" y="972007"/>
                </a:lnTo>
                <a:lnTo>
                  <a:pt x="18588" y="990600"/>
                </a:lnTo>
                <a:lnTo>
                  <a:pt x="5925007" y="990600"/>
                </a:lnTo>
                <a:lnTo>
                  <a:pt x="5943600" y="972007"/>
                </a:lnTo>
                <a:lnTo>
                  <a:pt x="5943600" y="18592"/>
                </a:lnTo>
                <a:lnTo>
                  <a:pt x="5927750" y="546"/>
                </a:lnTo>
                <a:lnTo>
                  <a:pt x="5925007" y="0"/>
                </a:lnTo>
                <a:close/>
              </a:path>
            </a:pathLst>
          </a:custGeom>
          <a:solidFill>
            <a:srgbClr val="3F455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1" name="Google Shape;61;p2"/>
          <p:cNvSpPr txBox="1"/>
          <p:nvPr/>
        </p:nvSpPr>
        <p:spPr>
          <a:xfrm>
            <a:off x="758825" y="4135437"/>
            <a:ext cx="4979035" cy="617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D6E5EF"/>
                </a:solidFill>
                <a:latin typeface="Georgia"/>
                <a:ea typeface="Georgia"/>
                <a:cs typeface="Georgia"/>
                <a:sym typeface="Georgia"/>
              </a:rPr>
              <a:t>Sin Actualizaciones Automáticas</a:t>
            </a:r>
            <a:endParaRPr sz="1650">
              <a:latin typeface="Georgia"/>
              <a:ea typeface="Georgia"/>
              <a:cs typeface="Georgia"/>
              <a:sym typeface="Georgia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019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Rutas permanecen hasta modificación manual del administrador.</a:t>
            </a:r>
            <a:endParaRPr sz="135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"/>
          <p:cNvSpPr txBox="1"/>
          <p:nvPr>
            <p:ph type="title"/>
          </p:nvPr>
        </p:nvSpPr>
        <p:spPr>
          <a:xfrm>
            <a:off x="587375" y="2006600"/>
            <a:ext cx="4387215" cy="539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SimSun"/>
                <a:ea typeface="SimSun"/>
                <a:cs typeface="SimSun"/>
                <a:sym typeface="SimSun"/>
              </a:rPr>
              <a:t>Estático vs. Dinámico</a:t>
            </a:r>
            <a:endParaRPr/>
          </a:p>
        </p:txBody>
      </p:sp>
      <p:sp>
        <p:nvSpPr>
          <p:cNvPr id="67" name="Google Shape;67;p3"/>
          <p:cNvSpPr/>
          <p:nvPr/>
        </p:nvSpPr>
        <p:spPr>
          <a:xfrm>
            <a:off x="638175" y="3533775"/>
            <a:ext cx="57150" cy="57150"/>
          </a:xfrm>
          <a:custGeom>
            <a:rect b="b" l="l" r="r" t="t"/>
            <a:pathLst>
              <a:path extrusionOk="0" h="57150" w="57150">
                <a:moveTo>
                  <a:pt x="32364" y="0"/>
                </a:moveTo>
                <a:lnTo>
                  <a:pt x="24785" y="0"/>
                </a:lnTo>
                <a:lnTo>
                  <a:pt x="21139" y="723"/>
                </a:lnTo>
                <a:lnTo>
                  <a:pt x="0" y="24790"/>
                </a:lnTo>
                <a:lnTo>
                  <a:pt x="0" y="32359"/>
                </a:lnTo>
                <a:lnTo>
                  <a:pt x="24785" y="57150"/>
                </a:lnTo>
                <a:lnTo>
                  <a:pt x="32364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10" y="723"/>
                </a:lnTo>
                <a:lnTo>
                  <a:pt x="32364" y="0"/>
                </a:lnTo>
                <a:close/>
              </a:path>
            </a:pathLst>
          </a:custGeom>
          <a:solidFill>
            <a:srgbClr val="D6E5E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8" name="Google Shape;68;p3"/>
          <p:cNvSpPr/>
          <p:nvPr/>
        </p:nvSpPr>
        <p:spPr>
          <a:xfrm>
            <a:off x="638175" y="3867150"/>
            <a:ext cx="57150" cy="57150"/>
          </a:xfrm>
          <a:custGeom>
            <a:rect b="b" l="l" r="r" t="t"/>
            <a:pathLst>
              <a:path extrusionOk="0" h="57150" w="57150">
                <a:moveTo>
                  <a:pt x="32364" y="0"/>
                </a:moveTo>
                <a:lnTo>
                  <a:pt x="24785" y="0"/>
                </a:lnTo>
                <a:lnTo>
                  <a:pt x="21139" y="723"/>
                </a:lnTo>
                <a:lnTo>
                  <a:pt x="0" y="24790"/>
                </a:lnTo>
                <a:lnTo>
                  <a:pt x="0" y="32359"/>
                </a:lnTo>
                <a:lnTo>
                  <a:pt x="24785" y="57150"/>
                </a:lnTo>
                <a:lnTo>
                  <a:pt x="32364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10" y="723"/>
                </a:lnTo>
                <a:lnTo>
                  <a:pt x="32364" y="0"/>
                </a:lnTo>
                <a:close/>
              </a:path>
            </a:pathLst>
          </a:custGeom>
          <a:solidFill>
            <a:srgbClr val="D6E5E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9" name="Google Shape;69;p3"/>
          <p:cNvSpPr/>
          <p:nvPr/>
        </p:nvSpPr>
        <p:spPr>
          <a:xfrm>
            <a:off x="638175" y="4200525"/>
            <a:ext cx="57150" cy="57150"/>
          </a:xfrm>
          <a:custGeom>
            <a:rect b="b" l="l" r="r" t="t"/>
            <a:pathLst>
              <a:path extrusionOk="0" h="57150" w="57150">
                <a:moveTo>
                  <a:pt x="32364" y="0"/>
                </a:moveTo>
                <a:lnTo>
                  <a:pt x="24785" y="0"/>
                </a:lnTo>
                <a:lnTo>
                  <a:pt x="21139" y="723"/>
                </a:lnTo>
                <a:lnTo>
                  <a:pt x="0" y="24790"/>
                </a:lnTo>
                <a:lnTo>
                  <a:pt x="0" y="32359"/>
                </a:lnTo>
                <a:lnTo>
                  <a:pt x="24785" y="57150"/>
                </a:lnTo>
                <a:lnTo>
                  <a:pt x="32364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10" y="723"/>
                </a:lnTo>
                <a:lnTo>
                  <a:pt x="32364" y="0"/>
                </a:lnTo>
                <a:close/>
              </a:path>
            </a:pathLst>
          </a:custGeom>
          <a:solidFill>
            <a:srgbClr val="D6E5E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0" name="Google Shape;70;p3"/>
          <p:cNvSpPr txBox="1"/>
          <p:nvPr/>
        </p:nvSpPr>
        <p:spPr>
          <a:xfrm>
            <a:off x="587375" y="2973387"/>
            <a:ext cx="2482215" cy="13506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75B8FF"/>
                </a:solidFill>
                <a:latin typeface="SimSun"/>
                <a:ea typeface="SimSun"/>
                <a:cs typeface="SimSun"/>
                <a:sym typeface="SimSun"/>
              </a:rPr>
              <a:t>Enrutamiento Estático</a:t>
            </a:r>
            <a:endParaRPr sz="1650">
              <a:latin typeface="SimSun"/>
              <a:ea typeface="SimSun"/>
              <a:cs typeface="SimSun"/>
              <a:sym typeface="SimSun"/>
            </a:endParaRPr>
          </a:p>
          <a:p>
            <a:pPr indent="0" lvl="0" marL="286385" marR="5080" rtl="0" algn="l">
              <a:lnSpc>
                <a:spcPct val="162000"/>
              </a:lnSpc>
              <a:spcBef>
                <a:spcPts val="54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Configuración manual  Menor consumo de recursos  Ideal para redes pequeñas</a:t>
            </a:r>
            <a:endParaRPr sz="135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5972175" y="3533775"/>
            <a:ext cx="57150" cy="57150"/>
          </a:xfrm>
          <a:custGeom>
            <a:rect b="b" l="l" r="r" t="t"/>
            <a:pathLst>
              <a:path extrusionOk="0" h="57150" w="57150">
                <a:moveTo>
                  <a:pt x="32359" y="0"/>
                </a:moveTo>
                <a:lnTo>
                  <a:pt x="24790" y="0"/>
                </a:lnTo>
                <a:lnTo>
                  <a:pt x="21132" y="723"/>
                </a:lnTo>
                <a:lnTo>
                  <a:pt x="0" y="24790"/>
                </a:lnTo>
                <a:lnTo>
                  <a:pt x="0" y="32359"/>
                </a:lnTo>
                <a:lnTo>
                  <a:pt x="24790" y="57150"/>
                </a:lnTo>
                <a:lnTo>
                  <a:pt x="32359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04" y="723"/>
                </a:lnTo>
                <a:lnTo>
                  <a:pt x="32359" y="0"/>
                </a:lnTo>
                <a:close/>
              </a:path>
            </a:pathLst>
          </a:custGeom>
          <a:solidFill>
            <a:srgbClr val="D6E5E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2" name="Google Shape;72;p3"/>
          <p:cNvSpPr/>
          <p:nvPr/>
        </p:nvSpPr>
        <p:spPr>
          <a:xfrm>
            <a:off x="5972175" y="3867150"/>
            <a:ext cx="57150" cy="57150"/>
          </a:xfrm>
          <a:custGeom>
            <a:rect b="b" l="l" r="r" t="t"/>
            <a:pathLst>
              <a:path extrusionOk="0" h="57150" w="57150">
                <a:moveTo>
                  <a:pt x="32359" y="0"/>
                </a:moveTo>
                <a:lnTo>
                  <a:pt x="24790" y="0"/>
                </a:lnTo>
                <a:lnTo>
                  <a:pt x="21132" y="723"/>
                </a:lnTo>
                <a:lnTo>
                  <a:pt x="0" y="24790"/>
                </a:lnTo>
                <a:lnTo>
                  <a:pt x="0" y="32359"/>
                </a:lnTo>
                <a:lnTo>
                  <a:pt x="24790" y="57150"/>
                </a:lnTo>
                <a:lnTo>
                  <a:pt x="32359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04" y="723"/>
                </a:lnTo>
                <a:lnTo>
                  <a:pt x="32359" y="0"/>
                </a:lnTo>
                <a:close/>
              </a:path>
            </a:pathLst>
          </a:custGeom>
          <a:solidFill>
            <a:srgbClr val="D6E5E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3" name="Google Shape;73;p3"/>
          <p:cNvSpPr/>
          <p:nvPr/>
        </p:nvSpPr>
        <p:spPr>
          <a:xfrm>
            <a:off x="5972175" y="4200525"/>
            <a:ext cx="57150" cy="57150"/>
          </a:xfrm>
          <a:custGeom>
            <a:rect b="b" l="l" r="r" t="t"/>
            <a:pathLst>
              <a:path extrusionOk="0" h="57150" w="57150">
                <a:moveTo>
                  <a:pt x="32359" y="0"/>
                </a:moveTo>
                <a:lnTo>
                  <a:pt x="24790" y="0"/>
                </a:lnTo>
                <a:lnTo>
                  <a:pt x="21132" y="723"/>
                </a:lnTo>
                <a:lnTo>
                  <a:pt x="0" y="24790"/>
                </a:lnTo>
                <a:lnTo>
                  <a:pt x="0" y="32359"/>
                </a:lnTo>
                <a:lnTo>
                  <a:pt x="24790" y="57150"/>
                </a:lnTo>
                <a:lnTo>
                  <a:pt x="32359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04" y="723"/>
                </a:lnTo>
                <a:lnTo>
                  <a:pt x="32359" y="0"/>
                </a:lnTo>
                <a:close/>
              </a:path>
            </a:pathLst>
          </a:custGeom>
          <a:solidFill>
            <a:srgbClr val="D6E5E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4" name="Google Shape;74;p3"/>
          <p:cNvSpPr txBox="1"/>
          <p:nvPr/>
        </p:nvSpPr>
        <p:spPr>
          <a:xfrm>
            <a:off x="5920930" y="2973387"/>
            <a:ext cx="2533650" cy="13506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75B8FF"/>
                </a:solidFill>
                <a:latin typeface="SimSun"/>
                <a:ea typeface="SimSun"/>
                <a:cs typeface="SimSun"/>
                <a:sym typeface="SimSun"/>
              </a:rPr>
              <a:t>Enrutamiento Dinámico</a:t>
            </a:r>
            <a:endParaRPr sz="1650">
              <a:latin typeface="SimSun"/>
              <a:ea typeface="SimSun"/>
              <a:cs typeface="SimSun"/>
              <a:sym typeface="SimSun"/>
            </a:endParaRPr>
          </a:p>
          <a:p>
            <a:pPr indent="0" lvl="0" marL="286385" marR="5080" rtl="0" algn="l">
              <a:lnSpc>
                <a:spcPct val="162000"/>
              </a:lnSpc>
              <a:spcBef>
                <a:spcPts val="54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Actualización automática  Mayor consumo de recursos  Escalable para redes grandes</a:t>
            </a:r>
            <a:endParaRPr sz="135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75" name="Google Shape;75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80244" y="5926073"/>
            <a:ext cx="1754504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53"/>
            <a:ext cx="4286250" cy="6438645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4"/>
          <p:cNvSpPr txBox="1"/>
          <p:nvPr>
            <p:ph type="title"/>
          </p:nvPr>
        </p:nvSpPr>
        <p:spPr>
          <a:xfrm>
            <a:off x="4873625" y="577850"/>
            <a:ext cx="5142230" cy="539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Configuración y Métricas</a:t>
            </a:r>
            <a:endParaRPr/>
          </a:p>
        </p:txBody>
      </p:sp>
      <p:grpSp>
        <p:nvGrpSpPr>
          <p:cNvPr id="82" name="Google Shape;82;p4"/>
          <p:cNvGrpSpPr/>
          <p:nvPr/>
        </p:nvGrpSpPr>
        <p:grpSpPr>
          <a:xfrm>
            <a:off x="4950625" y="1381124"/>
            <a:ext cx="972020" cy="4467225"/>
            <a:chOff x="4950625" y="1381124"/>
            <a:chExt cx="972020" cy="4467225"/>
          </a:xfrm>
        </p:grpSpPr>
        <p:sp>
          <p:nvSpPr>
            <p:cNvPr id="83" name="Google Shape;83;p4"/>
            <p:cNvSpPr/>
            <p:nvPr/>
          </p:nvSpPr>
          <p:spPr>
            <a:xfrm>
              <a:off x="5133975" y="1381124"/>
              <a:ext cx="788670" cy="4467225"/>
            </a:xfrm>
            <a:custGeom>
              <a:rect b="b" l="l" r="r" t="t"/>
              <a:pathLst>
                <a:path extrusionOk="0" h="4467225" w="788670">
                  <a:moveTo>
                    <a:pt x="19050" y="6896"/>
                  </a:moveTo>
                  <a:lnTo>
                    <a:pt x="18122" y="4648"/>
                  </a:lnTo>
                  <a:lnTo>
                    <a:pt x="14401" y="927"/>
                  </a:lnTo>
                  <a:lnTo>
                    <a:pt x="12153" y="0"/>
                  </a:lnTo>
                  <a:lnTo>
                    <a:pt x="6896" y="0"/>
                  </a:lnTo>
                  <a:lnTo>
                    <a:pt x="4648" y="927"/>
                  </a:lnTo>
                  <a:lnTo>
                    <a:pt x="927" y="4648"/>
                  </a:lnTo>
                  <a:lnTo>
                    <a:pt x="0" y="6896"/>
                  </a:lnTo>
                  <a:lnTo>
                    <a:pt x="0" y="4457712"/>
                  </a:lnTo>
                  <a:lnTo>
                    <a:pt x="0" y="4460341"/>
                  </a:lnTo>
                  <a:lnTo>
                    <a:pt x="927" y="4462577"/>
                  </a:lnTo>
                  <a:lnTo>
                    <a:pt x="4648" y="4466298"/>
                  </a:lnTo>
                  <a:lnTo>
                    <a:pt x="6896" y="4467225"/>
                  </a:lnTo>
                  <a:lnTo>
                    <a:pt x="12153" y="4467225"/>
                  </a:lnTo>
                  <a:lnTo>
                    <a:pt x="14401" y="4466298"/>
                  </a:lnTo>
                  <a:lnTo>
                    <a:pt x="18122" y="4462577"/>
                  </a:lnTo>
                  <a:lnTo>
                    <a:pt x="19050" y="4460341"/>
                  </a:lnTo>
                  <a:lnTo>
                    <a:pt x="19050" y="6896"/>
                  </a:lnTo>
                  <a:close/>
                </a:path>
                <a:path extrusionOk="0" h="4467225" w="788670">
                  <a:moveTo>
                    <a:pt x="788200" y="387896"/>
                  </a:moveTo>
                  <a:lnTo>
                    <a:pt x="787260" y="385648"/>
                  </a:lnTo>
                  <a:lnTo>
                    <a:pt x="783539" y="381927"/>
                  </a:lnTo>
                  <a:lnTo>
                    <a:pt x="781304" y="381000"/>
                  </a:lnTo>
                  <a:lnTo>
                    <a:pt x="195008" y="381000"/>
                  </a:lnTo>
                  <a:lnTo>
                    <a:pt x="192773" y="381927"/>
                  </a:lnTo>
                  <a:lnTo>
                    <a:pt x="189039" y="385648"/>
                  </a:lnTo>
                  <a:lnTo>
                    <a:pt x="188125" y="387896"/>
                  </a:lnTo>
                  <a:lnTo>
                    <a:pt x="188125" y="390525"/>
                  </a:lnTo>
                  <a:lnTo>
                    <a:pt x="188125" y="393153"/>
                  </a:lnTo>
                  <a:lnTo>
                    <a:pt x="189039" y="395401"/>
                  </a:lnTo>
                  <a:lnTo>
                    <a:pt x="192773" y="399122"/>
                  </a:lnTo>
                  <a:lnTo>
                    <a:pt x="195008" y="400050"/>
                  </a:lnTo>
                  <a:lnTo>
                    <a:pt x="781304" y="400050"/>
                  </a:lnTo>
                  <a:lnTo>
                    <a:pt x="783539" y="399122"/>
                  </a:lnTo>
                  <a:lnTo>
                    <a:pt x="787260" y="395401"/>
                  </a:lnTo>
                  <a:lnTo>
                    <a:pt x="788200" y="393153"/>
                  </a:lnTo>
                  <a:lnTo>
                    <a:pt x="788200" y="387896"/>
                  </a:lnTo>
                  <a:close/>
                </a:path>
              </a:pathLst>
            </a:custGeom>
            <a:solidFill>
              <a:srgbClr val="585F6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4" name="Google Shape;84;p4"/>
            <p:cNvSpPr/>
            <p:nvPr/>
          </p:nvSpPr>
          <p:spPr>
            <a:xfrm>
              <a:off x="4950625" y="1571624"/>
              <a:ext cx="390525" cy="390525"/>
            </a:xfrm>
            <a:custGeom>
              <a:rect b="b" l="l" r="r" t="t"/>
              <a:pathLst>
                <a:path extrusionOk="0" h="390525" w="390525">
                  <a:moveTo>
                    <a:pt x="371932" y="0"/>
                  </a:moveTo>
                  <a:lnTo>
                    <a:pt x="18580" y="0"/>
                  </a:lnTo>
                  <a:lnTo>
                    <a:pt x="15849" y="546"/>
                  </a:lnTo>
                  <a:lnTo>
                    <a:pt x="0" y="18592"/>
                  </a:lnTo>
                  <a:lnTo>
                    <a:pt x="0" y="369100"/>
                  </a:lnTo>
                  <a:lnTo>
                    <a:pt x="0" y="371932"/>
                  </a:lnTo>
                  <a:lnTo>
                    <a:pt x="18580" y="390525"/>
                  </a:lnTo>
                  <a:lnTo>
                    <a:pt x="371932" y="390525"/>
                  </a:lnTo>
                  <a:lnTo>
                    <a:pt x="390525" y="371932"/>
                  </a:lnTo>
                  <a:lnTo>
                    <a:pt x="390525" y="18592"/>
                  </a:lnTo>
                  <a:lnTo>
                    <a:pt x="374662" y="546"/>
                  </a:lnTo>
                  <a:lnTo>
                    <a:pt x="371932" y="0"/>
                  </a:lnTo>
                  <a:close/>
                </a:path>
              </a:pathLst>
            </a:custGeom>
            <a:solidFill>
              <a:srgbClr val="3F455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85" name="Google Shape;85;p4"/>
          <p:cNvSpPr txBox="1"/>
          <p:nvPr/>
        </p:nvSpPr>
        <p:spPr>
          <a:xfrm>
            <a:off x="5077663" y="1597025"/>
            <a:ext cx="131445" cy="3340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D6E5EF"/>
                </a:solidFill>
                <a:latin typeface="Georgia"/>
                <a:ea typeface="Georgia"/>
                <a:cs typeface="Georgia"/>
                <a:sym typeface="Georgia"/>
              </a:rPr>
              <a:t>1</a:t>
            </a:r>
            <a:endParaRPr sz="20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6" name="Google Shape;86;p4"/>
          <p:cNvSpPr txBox="1"/>
          <p:nvPr/>
        </p:nvSpPr>
        <p:spPr>
          <a:xfrm>
            <a:off x="6073769" y="1544637"/>
            <a:ext cx="3183890" cy="617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D6E5EF"/>
                </a:solidFill>
                <a:latin typeface="Georgia"/>
                <a:ea typeface="Georgia"/>
                <a:cs typeface="Georgia"/>
                <a:sym typeface="Georgia"/>
              </a:rPr>
              <a:t>Paso 1: Acceso al Router</a:t>
            </a:r>
            <a:endParaRPr sz="1650">
              <a:latin typeface="Georgia"/>
              <a:ea typeface="Georgia"/>
              <a:cs typeface="Georgia"/>
              <a:sym typeface="Georgia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019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Ingresar al modo de configuración global.</a:t>
            </a:r>
            <a:endParaRPr sz="1350"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87" name="Google Shape;87;p4"/>
          <p:cNvGrpSpPr/>
          <p:nvPr/>
        </p:nvGrpSpPr>
        <p:grpSpPr>
          <a:xfrm>
            <a:off x="4950625" y="2733674"/>
            <a:ext cx="971550" cy="390525"/>
            <a:chOff x="4950625" y="2733674"/>
            <a:chExt cx="971550" cy="390525"/>
          </a:xfrm>
        </p:grpSpPr>
        <p:sp>
          <p:nvSpPr>
            <p:cNvPr id="88" name="Google Shape;88;p4"/>
            <p:cNvSpPr/>
            <p:nvPr/>
          </p:nvSpPr>
          <p:spPr>
            <a:xfrm>
              <a:off x="5322100" y="2914649"/>
              <a:ext cx="600075" cy="19050"/>
            </a:xfrm>
            <a:custGeom>
              <a:rect b="b" l="l" r="r" t="t"/>
              <a:pathLst>
                <a:path extrusionOk="0" h="19050" w="600075">
                  <a:moveTo>
                    <a:pt x="593178" y="0"/>
                  </a:moveTo>
                  <a:lnTo>
                    <a:pt x="6883" y="0"/>
                  </a:lnTo>
                  <a:lnTo>
                    <a:pt x="4648" y="927"/>
                  </a:lnTo>
                  <a:lnTo>
                    <a:pt x="927" y="4648"/>
                  </a:lnTo>
                  <a:lnTo>
                    <a:pt x="0" y="6896"/>
                  </a:lnTo>
                  <a:lnTo>
                    <a:pt x="0" y="9525"/>
                  </a:lnTo>
                  <a:lnTo>
                    <a:pt x="0" y="12153"/>
                  </a:lnTo>
                  <a:lnTo>
                    <a:pt x="927" y="14401"/>
                  </a:lnTo>
                  <a:lnTo>
                    <a:pt x="4648" y="18122"/>
                  </a:lnTo>
                  <a:lnTo>
                    <a:pt x="6883" y="19050"/>
                  </a:lnTo>
                  <a:lnTo>
                    <a:pt x="593178" y="19050"/>
                  </a:lnTo>
                  <a:lnTo>
                    <a:pt x="595414" y="18122"/>
                  </a:lnTo>
                  <a:lnTo>
                    <a:pt x="599135" y="14401"/>
                  </a:lnTo>
                  <a:lnTo>
                    <a:pt x="600075" y="12153"/>
                  </a:lnTo>
                  <a:lnTo>
                    <a:pt x="600075" y="6896"/>
                  </a:lnTo>
                  <a:lnTo>
                    <a:pt x="599135" y="4648"/>
                  </a:lnTo>
                  <a:lnTo>
                    <a:pt x="595414" y="927"/>
                  </a:lnTo>
                  <a:lnTo>
                    <a:pt x="593178" y="0"/>
                  </a:lnTo>
                  <a:close/>
                </a:path>
              </a:pathLst>
            </a:custGeom>
            <a:solidFill>
              <a:srgbClr val="585F6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9" name="Google Shape;89;p4"/>
            <p:cNvSpPr/>
            <p:nvPr/>
          </p:nvSpPr>
          <p:spPr>
            <a:xfrm>
              <a:off x="4950625" y="2733674"/>
              <a:ext cx="390525" cy="390525"/>
            </a:xfrm>
            <a:custGeom>
              <a:rect b="b" l="l" r="r" t="t"/>
              <a:pathLst>
                <a:path extrusionOk="0" h="390525" w="390525">
                  <a:moveTo>
                    <a:pt x="371932" y="0"/>
                  </a:moveTo>
                  <a:lnTo>
                    <a:pt x="18580" y="0"/>
                  </a:lnTo>
                  <a:lnTo>
                    <a:pt x="15849" y="546"/>
                  </a:lnTo>
                  <a:lnTo>
                    <a:pt x="0" y="18592"/>
                  </a:lnTo>
                  <a:lnTo>
                    <a:pt x="0" y="369100"/>
                  </a:lnTo>
                  <a:lnTo>
                    <a:pt x="0" y="371932"/>
                  </a:lnTo>
                  <a:lnTo>
                    <a:pt x="18580" y="390525"/>
                  </a:lnTo>
                  <a:lnTo>
                    <a:pt x="371932" y="390525"/>
                  </a:lnTo>
                  <a:lnTo>
                    <a:pt x="390525" y="371932"/>
                  </a:lnTo>
                  <a:lnTo>
                    <a:pt x="390525" y="18592"/>
                  </a:lnTo>
                  <a:lnTo>
                    <a:pt x="374662" y="546"/>
                  </a:lnTo>
                  <a:lnTo>
                    <a:pt x="371932" y="0"/>
                  </a:lnTo>
                  <a:close/>
                </a:path>
              </a:pathLst>
            </a:custGeom>
            <a:solidFill>
              <a:srgbClr val="3F455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90" name="Google Shape;90;p4"/>
          <p:cNvSpPr txBox="1"/>
          <p:nvPr/>
        </p:nvSpPr>
        <p:spPr>
          <a:xfrm>
            <a:off x="5059654" y="2759075"/>
            <a:ext cx="167640" cy="3340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D6E5EF"/>
                </a:solidFill>
                <a:latin typeface="Georgia"/>
                <a:ea typeface="Georgia"/>
                <a:cs typeface="Georgia"/>
                <a:sym typeface="Georgia"/>
              </a:rPr>
              <a:t>2</a:t>
            </a:r>
            <a:endParaRPr sz="20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91" name="Google Shape;91;p4"/>
          <p:cNvSpPr txBox="1"/>
          <p:nvPr/>
        </p:nvSpPr>
        <p:spPr>
          <a:xfrm>
            <a:off x="6073769" y="2706687"/>
            <a:ext cx="4066540" cy="617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D6E5EF"/>
                </a:solidFill>
                <a:latin typeface="Georgia"/>
                <a:ea typeface="Georgia"/>
                <a:cs typeface="Georgia"/>
                <a:sym typeface="Georgia"/>
              </a:rPr>
              <a:t>Paso 2: Comando de Ruta</a:t>
            </a:r>
            <a:endParaRPr sz="1650">
              <a:latin typeface="Georgia"/>
              <a:ea typeface="Georgia"/>
              <a:cs typeface="Georgia"/>
              <a:sym typeface="Georgia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019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Utilizar 'ip route' para definir destino y siguiente salto.</a:t>
            </a:r>
            <a:endParaRPr sz="1350"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92" name="Google Shape;92;p4"/>
          <p:cNvGrpSpPr/>
          <p:nvPr/>
        </p:nvGrpSpPr>
        <p:grpSpPr>
          <a:xfrm>
            <a:off x="4950625" y="3895725"/>
            <a:ext cx="971550" cy="381000"/>
            <a:chOff x="4950625" y="3895725"/>
            <a:chExt cx="971550" cy="381000"/>
          </a:xfrm>
        </p:grpSpPr>
        <p:sp>
          <p:nvSpPr>
            <p:cNvPr id="93" name="Google Shape;93;p4"/>
            <p:cNvSpPr/>
            <p:nvPr/>
          </p:nvSpPr>
          <p:spPr>
            <a:xfrm>
              <a:off x="5322100" y="4076700"/>
              <a:ext cx="600075" cy="19050"/>
            </a:xfrm>
            <a:custGeom>
              <a:rect b="b" l="l" r="r" t="t"/>
              <a:pathLst>
                <a:path extrusionOk="0" h="19050" w="600075">
                  <a:moveTo>
                    <a:pt x="593178" y="0"/>
                  </a:moveTo>
                  <a:lnTo>
                    <a:pt x="6883" y="0"/>
                  </a:lnTo>
                  <a:lnTo>
                    <a:pt x="4648" y="927"/>
                  </a:lnTo>
                  <a:lnTo>
                    <a:pt x="927" y="4648"/>
                  </a:lnTo>
                  <a:lnTo>
                    <a:pt x="0" y="6896"/>
                  </a:lnTo>
                  <a:lnTo>
                    <a:pt x="0" y="9525"/>
                  </a:lnTo>
                  <a:lnTo>
                    <a:pt x="0" y="12153"/>
                  </a:lnTo>
                  <a:lnTo>
                    <a:pt x="927" y="14401"/>
                  </a:lnTo>
                  <a:lnTo>
                    <a:pt x="4648" y="18122"/>
                  </a:lnTo>
                  <a:lnTo>
                    <a:pt x="6883" y="19050"/>
                  </a:lnTo>
                  <a:lnTo>
                    <a:pt x="593178" y="19050"/>
                  </a:lnTo>
                  <a:lnTo>
                    <a:pt x="595414" y="18122"/>
                  </a:lnTo>
                  <a:lnTo>
                    <a:pt x="599135" y="14401"/>
                  </a:lnTo>
                  <a:lnTo>
                    <a:pt x="600075" y="12153"/>
                  </a:lnTo>
                  <a:lnTo>
                    <a:pt x="600075" y="6896"/>
                  </a:lnTo>
                  <a:lnTo>
                    <a:pt x="599135" y="4648"/>
                  </a:lnTo>
                  <a:lnTo>
                    <a:pt x="595414" y="927"/>
                  </a:lnTo>
                  <a:lnTo>
                    <a:pt x="593178" y="0"/>
                  </a:lnTo>
                  <a:close/>
                </a:path>
              </a:pathLst>
            </a:custGeom>
            <a:solidFill>
              <a:srgbClr val="585F6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4" name="Google Shape;94;p4"/>
            <p:cNvSpPr/>
            <p:nvPr/>
          </p:nvSpPr>
          <p:spPr>
            <a:xfrm>
              <a:off x="4950625" y="3895725"/>
              <a:ext cx="390525" cy="381000"/>
            </a:xfrm>
            <a:custGeom>
              <a:rect b="b" l="l" r="r" t="t"/>
              <a:pathLst>
                <a:path extrusionOk="0" h="381000" w="390525">
                  <a:moveTo>
                    <a:pt x="371932" y="0"/>
                  </a:moveTo>
                  <a:lnTo>
                    <a:pt x="18580" y="0"/>
                  </a:lnTo>
                  <a:lnTo>
                    <a:pt x="15849" y="546"/>
                  </a:lnTo>
                  <a:lnTo>
                    <a:pt x="0" y="18592"/>
                  </a:lnTo>
                  <a:lnTo>
                    <a:pt x="0" y="359575"/>
                  </a:lnTo>
                  <a:lnTo>
                    <a:pt x="0" y="362407"/>
                  </a:lnTo>
                  <a:lnTo>
                    <a:pt x="18580" y="381000"/>
                  </a:lnTo>
                  <a:lnTo>
                    <a:pt x="371932" y="381000"/>
                  </a:lnTo>
                  <a:lnTo>
                    <a:pt x="390525" y="362407"/>
                  </a:lnTo>
                  <a:lnTo>
                    <a:pt x="390525" y="18592"/>
                  </a:lnTo>
                  <a:lnTo>
                    <a:pt x="374662" y="546"/>
                  </a:lnTo>
                  <a:lnTo>
                    <a:pt x="371932" y="0"/>
                  </a:lnTo>
                  <a:close/>
                </a:path>
              </a:pathLst>
            </a:custGeom>
            <a:solidFill>
              <a:srgbClr val="3F455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95" name="Google Shape;95;p4"/>
          <p:cNvSpPr txBox="1"/>
          <p:nvPr/>
        </p:nvSpPr>
        <p:spPr>
          <a:xfrm>
            <a:off x="5061293" y="3921125"/>
            <a:ext cx="164465" cy="3340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D6E5EF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  <a:endParaRPr sz="20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96" name="Google Shape;96;p4"/>
          <p:cNvSpPr txBox="1"/>
          <p:nvPr/>
        </p:nvSpPr>
        <p:spPr>
          <a:xfrm>
            <a:off x="6073771" y="3868737"/>
            <a:ext cx="3313429" cy="617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D6E5EF"/>
                </a:solidFill>
                <a:latin typeface="Georgia"/>
                <a:ea typeface="Georgia"/>
                <a:cs typeface="Georgia"/>
                <a:sym typeface="Georgia"/>
              </a:rPr>
              <a:t>Paso 3: Establecer Métrica</a:t>
            </a:r>
            <a:endParaRPr sz="1650">
              <a:latin typeface="Georgia"/>
              <a:ea typeface="Georgia"/>
              <a:cs typeface="Georgia"/>
              <a:sym typeface="Georgia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019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Asignar valor numérico para priorizar rutas.</a:t>
            </a:r>
            <a:endParaRPr sz="1350"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97" name="Google Shape;97;p4"/>
          <p:cNvGrpSpPr/>
          <p:nvPr/>
        </p:nvGrpSpPr>
        <p:grpSpPr>
          <a:xfrm>
            <a:off x="4950625" y="5057775"/>
            <a:ext cx="971550" cy="381000"/>
            <a:chOff x="4950625" y="5057775"/>
            <a:chExt cx="971550" cy="381000"/>
          </a:xfrm>
        </p:grpSpPr>
        <p:sp>
          <p:nvSpPr>
            <p:cNvPr id="98" name="Google Shape;98;p4"/>
            <p:cNvSpPr/>
            <p:nvPr/>
          </p:nvSpPr>
          <p:spPr>
            <a:xfrm>
              <a:off x="5322100" y="5238751"/>
              <a:ext cx="600075" cy="19050"/>
            </a:xfrm>
            <a:custGeom>
              <a:rect b="b" l="l" r="r" t="t"/>
              <a:pathLst>
                <a:path extrusionOk="0" h="19050" w="600075">
                  <a:moveTo>
                    <a:pt x="593178" y="0"/>
                  </a:moveTo>
                  <a:lnTo>
                    <a:pt x="6883" y="0"/>
                  </a:lnTo>
                  <a:lnTo>
                    <a:pt x="4648" y="927"/>
                  </a:lnTo>
                  <a:lnTo>
                    <a:pt x="927" y="4648"/>
                  </a:lnTo>
                  <a:lnTo>
                    <a:pt x="0" y="6891"/>
                  </a:lnTo>
                  <a:lnTo>
                    <a:pt x="0" y="9525"/>
                  </a:lnTo>
                  <a:lnTo>
                    <a:pt x="0" y="12153"/>
                  </a:lnTo>
                  <a:lnTo>
                    <a:pt x="927" y="14396"/>
                  </a:lnTo>
                  <a:lnTo>
                    <a:pt x="4648" y="18116"/>
                  </a:lnTo>
                  <a:lnTo>
                    <a:pt x="6883" y="19050"/>
                  </a:lnTo>
                  <a:lnTo>
                    <a:pt x="593178" y="19050"/>
                  </a:lnTo>
                  <a:lnTo>
                    <a:pt x="595414" y="18116"/>
                  </a:lnTo>
                  <a:lnTo>
                    <a:pt x="599135" y="14396"/>
                  </a:lnTo>
                  <a:lnTo>
                    <a:pt x="600075" y="12153"/>
                  </a:lnTo>
                  <a:lnTo>
                    <a:pt x="600075" y="6891"/>
                  </a:lnTo>
                  <a:lnTo>
                    <a:pt x="599135" y="4648"/>
                  </a:lnTo>
                  <a:lnTo>
                    <a:pt x="595414" y="927"/>
                  </a:lnTo>
                  <a:lnTo>
                    <a:pt x="593178" y="0"/>
                  </a:lnTo>
                  <a:close/>
                </a:path>
              </a:pathLst>
            </a:custGeom>
            <a:solidFill>
              <a:srgbClr val="585F6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9" name="Google Shape;99;p4"/>
            <p:cNvSpPr/>
            <p:nvPr/>
          </p:nvSpPr>
          <p:spPr>
            <a:xfrm>
              <a:off x="4950625" y="5057775"/>
              <a:ext cx="390525" cy="381000"/>
            </a:xfrm>
            <a:custGeom>
              <a:rect b="b" l="l" r="r" t="t"/>
              <a:pathLst>
                <a:path extrusionOk="0" h="381000" w="390525">
                  <a:moveTo>
                    <a:pt x="371932" y="0"/>
                  </a:moveTo>
                  <a:lnTo>
                    <a:pt x="18580" y="0"/>
                  </a:lnTo>
                  <a:lnTo>
                    <a:pt x="15849" y="546"/>
                  </a:lnTo>
                  <a:lnTo>
                    <a:pt x="0" y="18592"/>
                  </a:lnTo>
                  <a:lnTo>
                    <a:pt x="0" y="359570"/>
                  </a:lnTo>
                  <a:lnTo>
                    <a:pt x="0" y="362412"/>
                  </a:lnTo>
                  <a:lnTo>
                    <a:pt x="18580" y="381001"/>
                  </a:lnTo>
                  <a:lnTo>
                    <a:pt x="371932" y="381001"/>
                  </a:lnTo>
                  <a:lnTo>
                    <a:pt x="390525" y="362412"/>
                  </a:lnTo>
                  <a:lnTo>
                    <a:pt x="390525" y="18592"/>
                  </a:lnTo>
                  <a:lnTo>
                    <a:pt x="374662" y="546"/>
                  </a:lnTo>
                  <a:lnTo>
                    <a:pt x="371932" y="0"/>
                  </a:lnTo>
                  <a:close/>
                </a:path>
              </a:pathLst>
            </a:custGeom>
            <a:solidFill>
              <a:srgbClr val="3F455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00" name="Google Shape;100;p4"/>
          <p:cNvSpPr txBox="1"/>
          <p:nvPr/>
        </p:nvSpPr>
        <p:spPr>
          <a:xfrm>
            <a:off x="5056238" y="5073651"/>
            <a:ext cx="174625" cy="3340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D6E5EF"/>
                </a:solidFill>
                <a:latin typeface="Georgia"/>
                <a:ea typeface="Georgia"/>
                <a:cs typeface="Georgia"/>
                <a:sym typeface="Georgia"/>
              </a:rPr>
              <a:t>4</a:t>
            </a:r>
            <a:endParaRPr sz="20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01" name="Google Shape;101;p4"/>
          <p:cNvSpPr txBox="1"/>
          <p:nvPr/>
        </p:nvSpPr>
        <p:spPr>
          <a:xfrm>
            <a:off x="6073776" y="5021263"/>
            <a:ext cx="3547745" cy="617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D6E5EF"/>
                </a:solidFill>
                <a:latin typeface="Georgia"/>
                <a:ea typeface="Georgia"/>
                <a:cs typeface="Georgia"/>
                <a:sym typeface="Georgia"/>
              </a:rPr>
              <a:t>Paso 4: Verificar Configuración</a:t>
            </a:r>
            <a:endParaRPr sz="1650">
              <a:latin typeface="Georgia"/>
              <a:ea typeface="Georgia"/>
              <a:cs typeface="Georgia"/>
              <a:sym typeface="Georgia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019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Usar 'show ip route' para confirmar nueva ruta.</a:t>
            </a:r>
            <a:endParaRPr sz="135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2" name="Google Shape;102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80244" y="5926073"/>
            <a:ext cx="1754504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53"/>
            <a:ext cx="4286250" cy="6438645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5"/>
          <p:cNvSpPr txBox="1"/>
          <p:nvPr>
            <p:ph type="title"/>
          </p:nvPr>
        </p:nvSpPr>
        <p:spPr>
          <a:xfrm>
            <a:off x="2069465" y="1749425"/>
            <a:ext cx="7291069" cy="539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28162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Ventajas y Evaluación</a:t>
            </a:r>
            <a:endParaRPr/>
          </a:p>
        </p:txBody>
      </p:sp>
      <p:sp>
        <p:nvSpPr>
          <p:cNvPr id="109" name="Google Shape;109;p5"/>
          <p:cNvSpPr/>
          <p:nvPr/>
        </p:nvSpPr>
        <p:spPr>
          <a:xfrm>
            <a:off x="4886325" y="2752724"/>
            <a:ext cx="390525" cy="381000"/>
          </a:xfrm>
          <a:custGeom>
            <a:rect b="b" l="l" r="r" t="t"/>
            <a:pathLst>
              <a:path extrusionOk="0" h="381000" w="390525">
                <a:moveTo>
                  <a:pt x="371932" y="0"/>
                </a:moveTo>
                <a:lnTo>
                  <a:pt x="18592" y="0"/>
                </a:lnTo>
                <a:lnTo>
                  <a:pt x="15849" y="546"/>
                </a:lnTo>
                <a:lnTo>
                  <a:pt x="0" y="18592"/>
                </a:lnTo>
                <a:lnTo>
                  <a:pt x="0" y="359575"/>
                </a:lnTo>
                <a:lnTo>
                  <a:pt x="0" y="362407"/>
                </a:lnTo>
                <a:lnTo>
                  <a:pt x="18592" y="381000"/>
                </a:lnTo>
                <a:lnTo>
                  <a:pt x="371932" y="381000"/>
                </a:lnTo>
                <a:lnTo>
                  <a:pt x="390525" y="362407"/>
                </a:lnTo>
                <a:lnTo>
                  <a:pt x="390525" y="18592"/>
                </a:lnTo>
                <a:lnTo>
                  <a:pt x="374675" y="546"/>
                </a:lnTo>
                <a:lnTo>
                  <a:pt x="371932" y="0"/>
                </a:lnTo>
                <a:close/>
              </a:path>
            </a:pathLst>
          </a:custGeom>
          <a:solidFill>
            <a:srgbClr val="3F455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10" name="Google Shape;110;p5"/>
          <p:cNvSpPr txBox="1"/>
          <p:nvPr/>
        </p:nvSpPr>
        <p:spPr>
          <a:xfrm>
            <a:off x="5013375" y="2768600"/>
            <a:ext cx="131445" cy="3340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D6E5EF"/>
                </a:solidFill>
                <a:latin typeface="Georgia"/>
                <a:ea typeface="Georgia"/>
                <a:cs typeface="Georgia"/>
                <a:sym typeface="Georgia"/>
              </a:rPr>
              <a:t>1</a:t>
            </a:r>
            <a:endParaRPr sz="20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11" name="Google Shape;111;p5"/>
          <p:cNvSpPr txBox="1"/>
          <p:nvPr/>
        </p:nvSpPr>
        <p:spPr>
          <a:xfrm>
            <a:off x="5430838" y="2595959"/>
            <a:ext cx="2326005" cy="10325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850">
            <a:spAutoFit/>
          </a:bodyPr>
          <a:lstStyle/>
          <a:p>
            <a:pPr indent="0" lvl="0" marL="12700" marR="5080" rtl="0" algn="l">
              <a:lnSpc>
                <a:spcPct val="14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D6E5EF"/>
                </a:solidFill>
                <a:latin typeface="Georgia"/>
                <a:ea typeface="Georgia"/>
                <a:cs typeface="Georgia"/>
                <a:sym typeface="Georgia"/>
              </a:rPr>
              <a:t>Control Preciso  </a:t>
            </a:r>
            <a:r>
              <a:rPr lang="en-US" sz="135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Determina exactamente cómo  se enruta el tráfico.</a:t>
            </a:r>
            <a:endParaRPr sz="135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" name="Google Shape;112;p5"/>
          <p:cNvSpPr/>
          <p:nvPr/>
        </p:nvSpPr>
        <p:spPr>
          <a:xfrm>
            <a:off x="7943850" y="2752724"/>
            <a:ext cx="390525" cy="381000"/>
          </a:xfrm>
          <a:custGeom>
            <a:rect b="b" l="l" r="r" t="t"/>
            <a:pathLst>
              <a:path extrusionOk="0" h="381000" w="390525">
                <a:moveTo>
                  <a:pt x="371932" y="0"/>
                </a:moveTo>
                <a:lnTo>
                  <a:pt x="18592" y="0"/>
                </a:lnTo>
                <a:lnTo>
                  <a:pt x="15849" y="546"/>
                </a:lnTo>
                <a:lnTo>
                  <a:pt x="0" y="18592"/>
                </a:lnTo>
                <a:lnTo>
                  <a:pt x="0" y="359575"/>
                </a:lnTo>
                <a:lnTo>
                  <a:pt x="0" y="362407"/>
                </a:lnTo>
                <a:lnTo>
                  <a:pt x="18592" y="381000"/>
                </a:lnTo>
                <a:lnTo>
                  <a:pt x="371932" y="381000"/>
                </a:lnTo>
                <a:lnTo>
                  <a:pt x="390525" y="362407"/>
                </a:lnTo>
                <a:lnTo>
                  <a:pt x="390525" y="18592"/>
                </a:lnTo>
                <a:lnTo>
                  <a:pt x="374675" y="546"/>
                </a:lnTo>
                <a:lnTo>
                  <a:pt x="371932" y="0"/>
                </a:lnTo>
                <a:close/>
              </a:path>
            </a:pathLst>
          </a:custGeom>
          <a:solidFill>
            <a:srgbClr val="3F455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13" name="Google Shape;113;p5"/>
          <p:cNvSpPr txBox="1"/>
          <p:nvPr/>
        </p:nvSpPr>
        <p:spPr>
          <a:xfrm>
            <a:off x="8052892" y="2768600"/>
            <a:ext cx="167640" cy="3340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D6E5EF"/>
                </a:solidFill>
                <a:latin typeface="Georgia"/>
                <a:ea typeface="Georgia"/>
                <a:cs typeface="Georgia"/>
                <a:sym typeface="Georgia"/>
              </a:rPr>
              <a:t>2</a:t>
            </a:r>
            <a:endParaRPr sz="20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14" name="Google Shape;114;p5"/>
          <p:cNvSpPr txBox="1"/>
          <p:nvPr/>
        </p:nvSpPr>
        <p:spPr>
          <a:xfrm>
            <a:off x="8488364" y="2595959"/>
            <a:ext cx="2333625" cy="10325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850">
            <a:spAutoFit/>
          </a:bodyPr>
          <a:lstStyle/>
          <a:p>
            <a:pPr indent="0" lvl="0" marL="12700" marR="5080" rtl="0" algn="l">
              <a:lnSpc>
                <a:spcPct val="14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D6E5EF"/>
                </a:solidFill>
                <a:latin typeface="Georgia"/>
                <a:ea typeface="Georgia"/>
                <a:cs typeface="Georgia"/>
                <a:sym typeface="Georgia"/>
              </a:rPr>
              <a:t>Seguridad Mejorada  </a:t>
            </a:r>
            <a:r>
              <a:rPr lang="en-US" sz="135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Reduce riesgo de propagación  de rutas falsas.</a:t>
            </a:r>
            <a:endParaRPr sz="135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4886325" y="4029075"/>
            <a:ext cx="390525" cy="390525"/>
          </a:xfrm>
          <a:custGeom>
            <a:rect b="b" l="l" r="r" t="t"/>
            <a:pathLst>
              <a:path extrusionOk="0" h="390525" w="390525">
                <a:moveTo>
                  <a:pt x="371932" y="0"/>
                </a:moveTo>
                <a:lnTo>
                  <a:pt x="18592" y="0"/>
                </a:lnTo>
                <a:lnTo>
                  <a:pt x="15849" y="546"/>
                </a:lnTo>
                <a:lnTo>
                  <a:pt x="0" y="18592"/>
                </a:lnTo>
                <a:lnTo>
                  <a:pt x="0" y="369100"/>
                </a:lnTo>
                <a:lnTo>
                  <a:pt x="0" y="371932"/>
                </a:lnTo>
                <a:lnTo>
                  <a:pt x="18592" y="390525"/>
                </a:lnTo>
                <a:lnTo>
                  <a:pt x="371932" y="390525"/>
                </a:lnTo>
                <a:lnTo>
                  <a:pt x="390525" y="371932"/>
                </a:lnTo>
                <a:lnTo>
                  <a:pt x="390525" y="18592"/>
                </a:lnTo>
                <a:lnTo>
                  <a:pt x="374675" y="546"/>
                </a:lnTo>
                <a:lnTo>
                  <a:pt x="371932" y="0"/>
                </a:lnTo>
                <a:close/>
              </a:path>
            </a:pathLst>
          </a:custGeom>
          <a:solidFill>
            <a:srgbClr val="3F455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16" name="Google Shape;116;p5"/>
          <p:cNvSpPr txBox="1"/>
          <p:nvPr/>
        </p:nvSpPr>
        <p:spPr>
          <a:xfrm>
            <a:off x="4997005" y="4054475"/>
            <a:ext cx="164465" cy="3340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D6E5EF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  <a:endParaRPr sz="20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17" name="Google Shape;117;p5"/>
          <p:cNvSpPr txBox="1"/>
          <p:nvPr/>
        </p:nvSpPr>
        <p:spPr>
          <a:xfrm>
            <a:off x="5430840" y="4021137"/>
            <a:ext cx="3910965" cy="617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D6E5EF"/>
                </a:solidFill>
                <a:latin typeface="Georgia"/>
                <a:ea typeface="Georgia"/>
                <a:cs typeface="Georgia"/>
                <a:sym typeface="Georgia"/>
              </a:rPr>
              <a:t>Bajo Overhead</a:t>
            </a:r>
            <a:endParaRPr sz="1650">
              <a:latin typeface="Georgia"/>
              <a:ea typeface="Georgia"/>
              <a:cs typeface="Georgia"/>
              <a:sym typeface="Georgia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019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No consume ancho de banda para actualizaciones.</a:t>
            </a:r>
            <a:endParaRPr sz="135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8" name="Google Shape;118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80244" y="5926073"/>
            <a:ext cx="1754504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2024-11-05T07:28:57Z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2024-11-03T00:00:00Z</vt:filetime>
  </property>
  <property fmtid="{D5CDD505-2E9C-101B-9397-08002B2CF9AE}" pid="3" name="Creator">
    <vt:lpwstr>pdf-lib (https://github.com/Hopding/pdf-lib)</vt:lpwstr>
  </property>
  <property fmtid="{D5CDD505-2E9C-101B-9397-08002B2CF9AE}" pid="4" name="LastSaved">
    <vt:filetime>2024-11-05T00:00:00Z</vt:filetime>
  </property>
</Properties>
</file>