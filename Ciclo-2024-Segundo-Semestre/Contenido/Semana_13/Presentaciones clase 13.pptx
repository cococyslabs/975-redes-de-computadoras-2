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9906000"/>
  <p:notesSz cx="11430000" cy="9906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75B8F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75B8F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75B8F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75B8F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26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3625" y="463549"/>
            <a:ext cx="558038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75B8F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499" y="2209799"/>
            <a:ext cx="6000750" cy="281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hyperlink" Target="https://gamma.app/?utm_source=made-with-gamma" TargetMode="External"/><Relationship Id="rId8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938847"/>
            <a:ext cx="5304790" cy="221170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220"/>
              <a:t>Redes</a:t>
            </a:r>
            <a:r>
              <a:rPr dirty="0" sz="4650" spc="135"/>
              <a:t> </a:t>
            </a:r>
            <a:r>
              <a:rPr dirty="0" sz="4650" spc="285"/>
              <a:t>en</a:t>
            </a:r>
            <a:r>
              <a:rPr dirty="0" sz="4650" spc="135"/>
              <a:t> </a:t>
            </a:r>
            <a:r>
              <a:rPr dirty="0" sz="4650" spc="250"/>
              <a:t>la</a:t>
            </a:r>
            <a:r>
              <a:rPr dirty="0" sz="4650" spc="135"/>
              <a:t> </a:t>
            </a:r>
            <a:r>
              <a:rPr dirty="0" sz="4650" spc="240"/>
              <a:t>Nube</a:t>
            </a:r>
            <a:r>
              <a:rPr dirty="0" sz="4650" spc="140"/>
              <a:t> </a:t>
            </a:r>
            <a:r>
              <a:rPr dirty="0" sz="4650" spc="300"/>
              <a:t>y</a:t>
            </a:r>
            <a:endParaRPr sz="4650"/>
          </a:p>
          <a:p>
            <a:pPr marL="12700" marR="798195">
              <a:lnSpc>
                <a:spcPct val="103499"/>
              </a:lnSpc>
              <a:spcBef>
                <a:spcPts val="75"/>
              </a:spcBef>
            </a:pPr>
            <a:r>
              <a:rPr dirty="0" sz="4650" spc="180"/>
              <a:t>AWS:</a:t>
            </a:r>
            <a:r>
              <a:rPr dirty="0" sz="4650" spc="135"/>
              <a:t> </a:t>
            </a:r>
            <a:r>
              <a:rPr dirty="0" sz="4650" spc="200"/>
              <a:t>Conceptos </a:t>
            </a:r>
            <a:r>
              <a:rPr dirty="0" sz="4650" spc="240"/>
              <a:t>Clave</a:t>
            </a:r>
            <a:endParaRPr sz="4650"/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3364865"/>
            <a:ext cx="5915025" cy="1587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Bienvenidos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esta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presentación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sobre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redes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nube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AWS.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Exploraremos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conceptos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fundamentales,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configuraciones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herramientas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esenciales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para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profesionales</a:t>
            </a:r>
            <a:r>
              <a:rPr dirty="0" sz="1350" spc="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TI.</a:t>
            </a:r>
            <a:endParaRPr sz="1350">
              <a:latin typeface="Roboto"/>
              <a:cs typeface="Roboto"/>
            </a:endParaRPr>
          </a:p>
          <a:p>
            <a:pPr marL="12700" marR="108585">
              <a:lnSpc>
                <a:spcPct val="129600"/>
              </a:lnSpc>
              <a:spcBef>
                <a:spcPts val="1575"/>
              </a:spcBef>
            </a:pP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Prepárate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sumergirte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el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fascinante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mundo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infraestructura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la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nube.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47390" y="5173662"/>
            <a:ext cx="1650364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D6E5EF"/>
                </a:solidFill>
                <a:latin typeface="Roboto"/>
                <a:cs typeface="Roboto"/>
              </a:rPr>
              <a:t>por</a:t>
            </a:r>
            <a:r>
              <a:rPr dirty="0" sz="1650" spc="65" b="1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650" b="1">
                <a:solidFill>
                  <a:srgbClr val="D6E5EF"/>
                </a:solidFill>
                <a:latin typeface="Roboto"/>
                <a:cs typeface="Roboto"/>
              </a:rPr>
              <a:t>Eduardo</a:t>
            </a:r>
            <a:r>
              <a:rPr dirty="0" sz="1650" spc="70" b="1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650" spc="-20" b="1">
                <a:solidFill>
                  <a:srgbClr val="D6E5EF"/>
                </a:solidFill>
                <a:latin typeface="Roboto"/>
                <a:cs typeface="Roboto"/>
              </a:rPr>
              <a:t>Ixén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00075" y="5200651"/>
            <a:ext cx="276225" cy="276225"/>
            <a:chOff x="600075" y="5200651"/>
            <a:chExt cx="276225" cy="276225"/>
          </a:xfrm>
        </p:grpSpPr>
        <p:sp>
          <p:nvSpPr>
            <p:cNvPr id="9" name="object 9" descr=""/>
            <p:cNvSpPr/>
            <p:nvPr/>
          </p:nvSpPr>
          <p:spPr>
            <a:xfrm>
              <a:off x="604837" y="5205413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lnTo>
                    <a:pt x="94640" y="5736"/>
                  </a:lnTo>
                  <a:lnTo>
                    <a:pt x="59263" y="22472"/>
                  </a:lnTo>
                  <a:lnTo>
                    <a:pt x="30268" y="48750"/>
                  </a:lnTo>
                  <a:lnTo>
                    <a:pt x="10149" y="82316"/>
                  </a:lnTo>
                  <a:lnTo>
                    <a:pt x="640" y="120278"/>
                  </a:lnTo>
                  <a:lnTo>
                    <a:pt x="0" y="133350"/>
                  </a:lnTo>
                  <a:lnTo>
                    <a:pt x="160" y="139900"/>
                  </a:lnTo>
                  <a:lnTo>
                    <a:pt x="7791" y="178263"/>
                  </a:lnTo>
                  <a:lnTo>
                    <a:pt x="26246" y="212790"/>
                  </a:lnTo>
                  <a:lnTo>
                    <a:pt x="53906" y="240450"/>
                  </a:lnTo>
                  <a:lnTo>
                    <a:pt x="88431" y="258905"/>
                  </a:lnTo>
                  <a:lnTo>
                    <a:pt x="126798" y="266539"/>
                  </a:lnTo>
                  <a:lnTo>
                    <a:pt x="133350" y="266700"/>
                  </a:lnTo>
                  <a:lnTo>
                    <a:pt x="139901" y="266539"/>
                  </a:lnTo>
                  <a:lnTo>
                    <a:pt x="178268" y="258905"/>
                  </a:lnTo>
                  <a:lnTo>
                    <a:pt x="212793" y="240452"/>
                  </a:lnTo>
                  <a:lnTo>
                    <a:pt x="240453" y="212790"/>
                  </a:lnTo>
                  <a:lnTo>
                    <a:pt x="258908" y="178263"/>
                  </a:lnTo>
                  <a:lnTo>
                    <a:pt x="266539" y="139900"/>
                  </a:lnTo>
                  <a:lnTo>
                    <a:pt x="266700" y="133350"/>
                  </a:lnTo>
                  <a:lnTo>
                    <a:pt x="266539" y="126798"/>
                  </a:lnTo>
                  <a:lnTo>
                    <a:pt x="258908" y="88431"/>
                  </a:lnTo>
                  <a:lnTo>
                    <a:pt x="240453" y="53904"/>
                  </a:lnTo>
                  <a:lnTo>
                    <a:pt x="212793" y="26243"/>
                  </a:lnTo>
                  <a:lnTo>
                    <a:pt x="178268" y="7788"/>
                  </a:lnTo>
                  <a:lnTo>
                    <a:pt x="139901" y="16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813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04837" y="5205413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lnTo>
                    <a:pt x="260958" y="172057"/>
                  </a:lnTo>
                  <a:lnTo>
                    <a:pt x="244227" y="207431"/>
                  </a:lnTo>
                  <a:lnTo>
                    <a:pt x="217946" y="236430"/>
                  </a:lnTo>
                  <a:lnTo>
                    <a:pt x="184383" y="256545"/>
                  </a:lnTo>
                  <a:lnTo>
                    <a:pt x="146421" y="266057"/>
                  </a:lnTo>
                  <a:lnTo>
                    <a:pt x="133350" y="266700"/>
                  </a:lnTo>
                  <a:lnTo>
                    <a:pt x="126798" y="266539"/>
                  </a:lnTo>
                  <a:lnTo>
                    <a:pt x="88431" y="258905"/>
                  </a:lnTo>
                  <a:lnTo>
                    <a:pt x="53906" y="240450"/>
                  </a:lnTo>
                  <a:lnTo>
                    <a:pt x="26246" y="212790"/>
                  </a:lnTo>
                  <a:lnTo>
                    <a:pt x="7791" y="178263"/>
                  </a:lnTo>
                  <a:lnTo>
                    <a:pt x="160" y="139900"/>
                  </a:lnTo>
                  <a:lnTo>
                    <a:pt x="0" y="133350"/>
                  </a:lnTo>
                  <a:lnTo>
                    <a:pt x="160" y="126798"/>
                  </a:lnTo>
                  <a:lnTo>
                    <a:pt x="7791" y="88431"/>
                  </a:lnTo>
                  <a:lnTo>
                    <a:pt x="26246" y="53904"/>
                  </a:lnTo>
                  <a:lnTo>
                    <a:pt x="53906" y="26243"/>
                  </a:lnTo>
                  <a:lnTo>
                    <a:pt x="88431" y="7788"/>
                  </a:lnTo>
                  <a:lnTo>
                    <a:pt x="126798" y="160"/>
                  </a:lnTo>
                  <a:lnTo>
                    <a:pt x="133350" y="0"/>
                  </a:lnTo>
                  <a:lnTo>
                    <a:pt x="139901" y="160"/>
                  </a:lnTo>
                  <a:lnTo>
                    <a:pt x="178268" y="7788"/>
                  </a:lnTo>
                  <a:lnTo>
                    <a:pt x="212793" y="26243"/>
                  </a:lnTo>
                  <a:lnTo>
                    <a:pt x="240453" y="53904"/>
                  </a:lnTo>
                  <a:lnTo>
                    <a:pt x="258908" y="88431"/>
                  </a:lnTo>
                  <a:lnTo>
                    <a:pt x="266539" y="126798"/>
                  </a:lnTo>
                  <a:lnTo>
                    <a:pt x="266700" y="13335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72802" y="5237481"/>
            <a:ext cx="12890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25">
                <a:solidFill>
                  <a:srgbClr val="FFFFFF"/>
                </a:solidFill>
                <a:latin typeface="Roboto Lt"/>
                <a:cs typeface="Roboto Lt"/>
              </a:rPr>
              <a:t>EI</a:t>
            </a:r>
            <a:endParaRPr sz="95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572" y="1473200"/>
            <a:ext cx="911796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90"/>
              <a:t>Virtualización</a:t>
            </a:r>
            <a:r>
              <a:rPr dirty="0" spc="114"/>
              <a:t> </a:t>
            </a:r>
            <a:r>
              <a:rPr dirty="0" spc="270"/>
              <a:t>y</a:t>
            </a:r>
            <a:r>
              <a:rPr dirty="0" spc="114"/>
              <a:t> </a:t>
            </a:r>
            <a:r>
              <a:rPr dirty="0" spc="175"/>
              <a:t>Escalabilidad</a:t>
            </a:r>
            <a:r>
              <a:rPr dirty="0" spc="114"/>
              <a:t> </a:t>
            </a:r>
            <a:r>
              <a:rPr dirty="0" spc="210"/>
              <a:t>en</a:t>
            </a:r>
            <a:r>
              <a:rPr dirty="0" spc="114"/>
              <a:t> </a:t>
            </a:r>
            <a:r>
              <a:rPr dirty="0" spc="160"/>
              <a:t>Redes</a:t>
            </a:r>
            <a:r>
              <a:rPr dirty="0" spc="114"/>
              <a:t> </a:t>
            </a:r>
            <a:r>
              <a:rPr dirty="0" spc="210"/>
              <a:t>en</a:t>
            </a:r>
            <a:r>
              <a:rPr dirty="0" spc="120"/>
              <a:t> </a:t>
            </a:r>
            <a:r>
              <a:rPr dirty="0" spc="165"/>
              <a:t>la Nube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19572" y="2982912"/>
            <a:ext cx="2778125" cy="15030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75B8FF"/>
                </a:solidFill>
                <a:latin typeface="Cambria"/>
                <a:cs typeface="Cambria"/>
              </a:rPr>
              <a:t>Virtualización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1015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Permite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crear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redes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lógicas independientes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 de</a:t>
            </a:r>
            <a:r>
              <a:rPr dirty="0" sz="1350" spc="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infraestructura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física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subyacente.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Facilita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gestión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optimización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recursos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red.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89920" y="2982912"/>
            <a:ext cx="2633980" cy="15030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75B8FF"/>
                </a:solidFill>
                <a:latin typeface="Cambria"/>
                <a:cs typeface="Cambria"/>
              </a:rPr>
              <a:t>Escalabilidad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1015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Capacidad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adaptar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recursos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de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red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según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demanda.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Permite crecimiento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flexible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eficiente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sin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interrupciones.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60271" y="2982912"/>
            <a:ext cx="2813685" cy="17792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75B8FF"/>
                </a:solidFill>
                <a:latin typeface="Cambria"/>
                <a:cs typeface="Cambria"/>
              </a:rPr>
              <a:t>Beneficios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100"/>
              </a:lnSpc>
              <a:spcBef>
                <a:spcPts val="1010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Mayor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flexibilidad,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reducción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de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costes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mejora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utilización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recursos.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Facilita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implementación rápida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nuevas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configuraciones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de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red.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6" name="object 6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9572" y="2835275"/>
            <a:ext cx="53060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60"/>
              <a:t>Tipos</a:t>
            </a:r>
            <a:r>
              <a:rPr dirty="0" spc="100"/>
              <a:t> </a:t>
            </a:r>
            <a:r>
              <a:rPr dirty="0" spc="105"/>
              <a:t>de </a:t>
            </a:r>
            <a:r>
              <a:rPr dirty="0" spc="165"/>
              <a:t>Redes</a:t>
            </a:r>
            <a:r>
              <a:rPr dirty="0" spc="105"/>
              <a:t> </a:t>
            </a:r>
            <a:r>
              <a:rPr dirty="0" spc="210"/>
              <a:t>en</a:t>
            </a:r>
            <a:r>
              <a:rPr dirty="0" spc="100"/>
              <a:t> </a:t>
            </a:r>
            <a:r>
              <a:rPr dirty="0" spc="190"/>
              <a:t>la</a:t>
            </a:r>
            <a:r>
              <a:rPr dirty="0" spc="105"/>
              <a:t> </a:t>
            </a:r>
            <a:r>
              <a:rPr dirty="0" spc="165"/>
              <a:t>Nube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28700" y="3648075"/>
            <a:ext cx="3009900" cy="2085975"/>
          </a:xfrm>
          <a:custGeom>
            <a:avLst/>
            <a:gdLst/>
            <a:ahLst/>
            <a:cxnLst/>
            <a:rect l="l" t="t" r="r" b="b"/>
            <a:pathLst>
              <a:path w="3009900" h="2085975">
                <a:moveTo>
                  <a:pt x="29913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2064545"/>
                </a:lnTo>
                <a:lnTo>
                  <a:pt x="0" y="2067382"/>
                </a:lnTo>
                <a:lnTo>
                  <a:pt x="18588" y="2085971"/>
                </a:lnTo>
                <a:lnTo>
                  <a:pt x="2991307" y="2085971"/>
                </a:lnTo>
                <a:lnTo>
                  <a:pt x="3009900" y="2067382"/>
                </a:lnTo>
                <a:lnTo>
                  <a:pt x="3009900" y="18592"/>
                </a:lnTo>
                <a:lnTo>
                  <a:pt x="2994050" y="546"/>
                </a:lnTo>
                <a:lnTo>
                  <a:pt x="2991307" y="0"/>
                </a:lnTo>
                <a:close/>
              </a:path>
            </a:pathLst>
          </a:custGeom>
          <a:solidFill>
            <a:srgbClr val="3F45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191022" y="3811587"/>
            <a:ext cx="2574290" cy="1712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D6E5EF"/>
                </a:solidFill>
                <a:latin typeface="Cambria"/>
                <a:cs typeface="Cambria"/>
              </a:rPr>
              <a:t>Redes</a:t>
            </a:r>
            <a:r>
              <a:rPr dirty="0" sz="1650" spc="6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90">
                <a:solidFill>
                  <a:srgbClr val="D6E5EF"/>
                </a:solidFill>
                <a:latin typeface="Cambria"/>
                <a:cs typeface="Cambria"/>
              </a:rPr>
              <a:t>Públicas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100"/>
              </a:lnSpc>
              <a:spcBef>
                <a:spcPts val="484"/>
              </a:spcBef>
            </a:pP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Infraestructura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compartida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gestionada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por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proveedores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de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servicios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nube.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Ideal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para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empresas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que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buscan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flexibilidad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costes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reducidos.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210050" y="3648075"/>
            <a:ext cx="3009900" cy="2085975"/>
          </a:xfrm>
          <a:custGeom>
            <a:avLst/>
            <a:gdLst/>
            <a:ahLst/>
            <a:cxnLst/>
            <a:rect l="l" t="t" r="r" b="b"/>
            <a:pathLst>
              <a:path w="3009900" h="2085975">
                <a:moveTo>
                  <a:pt x="29913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64545"/>
                </a:lnTo>
                <a:lnTo>
                  <a:pt x="0" y="2067382"/>
                </a:lnTo>
                <a:lnTo>
                  <a:pt x="18592" y="2085971"/>
                </a:lnTo>
                <a:lnTo>
                  <a:pt x="2991307" y="2085971"/>
                </a:lnTo>
                <a:lnTo>
                  <a:pt x="3009900" y="2067382"/>
                </a:lnTo>
                <a:lnTo>
                  <a:pt x="3009900" y="18592"/>
                </a:lnTo>
                <a:lnTo>
                  <a:pt x="2994050" y="546"/>
                </a:lnTo>
                <a:lnTo>
                  <a:pt x="2991307" y="0"/>
                </a:lnTo>
                <a:close/>
              </a:path>
            </a:pathLst>
          </a:custGeom>
          <a:solidFill>
            <a:srgbClr val="3F45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369993" y="3811587"/>
            <a:ext cx="2583180" cy="14363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D6E5EF"/>
                </a:solidFill>
                <a:latin typeface="Cambria"/>
                <a:cs typeface="Cambria"/>
              </a:rPr>
              <a:t>Redes</a:t>
            </a:r>
            <a:r>
              <a:rPr dirty="0" sz="1650" spc="6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90">
                <a:solidFill>
                  <a:srgbClr val="D6E5EF"/>
                </a:solidFill>
                <a:latin typeface="Cambria"/>
                <a:cs typeface="Cambria"/>
              </a:rPr>
              <a:t>Privadas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490"/>
              </a:spcBef>
            </a:pP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Infraestructura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dedicada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y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exclusiva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una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organización.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Ofrece</a:t>
            </a:r>
            <a:r>
              <a:rPr dirty="0" sz="1350" spc="-6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mayor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control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seguridad,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adecuada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datos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sensibles.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391400" y="3648075"/>
            <a:ext cx="3009900" cy="2085975"/>
          </a:xfrm>
          <a:custGeom>
            <a:avLst/>
            <a:gdLst/>
            <a:ahLst/>
            <a:cxnLst/>
            <a:rect l="l" t="t" r="r" b="b"/>
            <a:pathLst>
              <a:path w="3009900" h="2085975">
                <a:moveTo>
                  <a:pt x="29913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64545"/>
                </a:lnTo>
                <a:lnTo>
                  <a:pt x="0" y="2067382"/>
                </a:lnTo>
                <a:lnTo>
                  <a:pt x="18592" y="2085971"/>
                </a:lnTo>
                <a:lnTo>
                  <a:pt x="2991307" y="2085971"/>
                </a:lnTo>
                <a:lnTo>
                  <a:pt x="3009900" y="2067382"/>
                </a:lnTo>
                <a:lnTo>
                  <a:pt x="3009900" y="18592"/>
                </a:lnTo>
                <a:lnTo>
                  <a:pt x="2994050" y="546"/>
                </a:lnTo>
                <a:lnTo>
                  <a:pt x="2991307" y="0"/>
                </a:lnTo>
                <a:close/>
              </a:path>
            </a:pathLst>
          </a:custGeom>
          <a:solidFill>
            <a:srgbClr val="3F45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548956" y="3811587"/>
            <a:ext cx="2560320" cy="14363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D6E5EF"/>
                </a:solidFill>
                <a:latin typeface="Cambria"/>
                <a:cs typeface="Cambria"/>
              </a:rPr>
              <a:t>Redes</a:t>
            </a:r>
            <a:r>
              <a:rPr dirty="0" sz="1650" spc="6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Híbridas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490"/>
              </a:spcBef>
            </a:pP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Combinación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redes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 públicas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y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privadas.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Proporciona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flexibilidad para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distribuir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cargas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trabajo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según</a:t>
            </a:r>
            <a:r>
              <a:rPr dirty="0" sz="1350" spc="-6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requisitos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específicos.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0" name="object 10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1430000" cy="7219950"/>
          </a:xfrm>
          <a:custGeom>
            <a:avLst/>
            <a:gdLst/>
            <a:ahLst/>
            <a:cxnLst/>
            <a:rect l="l" t="t" r="r" b="b"/>
            <a:pathLst>
              <a:path w="11430000" h="7219950">
                <a:moveTo>
                  <a:pt x="11430000" y="0"/>
                </a:moveTo>
                <a:lnTo>
                  <a:pt x="0" y="0"/>
                </a:lnTo>
                <a:lnTo>
                  <a:pt x="0" y="7219950"/>
                </a:lnTo>
                <a:lnTo>
                  <a:pt x="11430000" y="72199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263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7"/>
            <a:ext cx="4286250" cy="72194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85"/>
              <a:t>Elastic</a:t>
            </a:r>
            <a:r>
              <a:rPr dirty="0" spc="120"/>
              <a:t> </a:t>
            </a:r>
            <a:r>
              <a:rPr dirty="0" spc="165"/>
              <a:t>Load</a:t>
            </a:r>
            <a:r>
              <a:rPr dirty="0" spc="114"/>
              <a:t> </a:t>
            </a:r>
            <a:r>
              <a:rPr dirty="0" spc="180"/>
              <a:t>Balancer</a:t>
            </a:r>
            <a:r>
              <a:rPr dirty="0" spc="120"/>
              <a:t> </a:t>
            </a:r>
            <a:r>
              <a:rPr dirty="0" spc="-10"/>
              <a:t>(ELB) </a:t>
            </a:r>
            <a:r>
              <a:rPr dirty="0" spc="210"/>
              <a:t>en</a:t>
            </a:r>
            <a:r>
              <a:rPr dirty="0" spc="100"/>
              <a:t> </a:t>
            </a:r>
            <a:r>
              <a:rPr dirty="0" spc="235"/>
              <a:t>AWS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950625" y="1800224"/>
            <a:ext cx="971550" cy="4953000"/>
            <a:chOff x="4950625" y="1800224"/>
            <a:chExt cx="971550" cy="4953000"/>
          </a:xfrm>
        </p:grpSpPr>
        <p:sp>
          <p:nvSpPr>
            <p:cNvPr id="6" name="object 6" descr=""/>
            <p:cNvSpPr/>
            <p:nvPr/>
          </p:nvSpPr>
          <p:spPr>
            <a:xfrm>
              <a:off x="5133975" y="1800237"/>
              <a:ext cx="788670" cy="4953000"/>
            </a:xfrm>
            <a:custGeom>
              <a:avLst/>
              <a:gdLst/>
              <a:ahLst/>
              <a:cxnLst/>
              <a:rect l="l" t="t" r="r" b="b"/>
              <a:pathLst>
                <a:path w="788670" h="4953000">
                  <a:moveTo>
                    <a:pt x="19050" y="6883"/>
                  </a:moveTo>
                  <a:lnTo>
                    <a:pt x="18122" y="4635"/>
                  </a:lnTo>
                  <a:lnTo>
                    <a:pt x="14401" y="914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14"/>
                  </a:lnTo>
                  <a:lnTo>
                    <a:pt x="927" y="4635"/>
                  </a:lnTo>
                  <a:lnTo>
                    <a:pt x="0" y="6883"/>
                  </a:lnTo>
                  <a:lnTo>
                    <a:pt x="0" y="4943462"/>
                  </a:lnTo>
                  <a:lnTo>
                    <a:pt x="0" y="4946104"/>
                  </a:lnTo>
                  <a:lnTo>
                    <a:pt x="927" y="4948339"/>
                  </a:lnTo>
                  <a:lnTo>
                    <a:pt x="4648" y="4952060"/>
                  </a:lnTo>
                  <a:lnTo>
                    <a:pt x="6896" y="4952987"/>
                  </a:lnTo>
                  <a:lnTo>
                    <a:pt x="12153" y="4952987"/>
                  </a:lnTo>
                  <a:lnTo>
                    <a:pt x="14401" y="4952060"/>
                  </a:lnTo>
                  <a:lnTo>
                    <a:pt x="18122" y="4948339"/>
                  </a:lnTo>
                  <a:lnTo>
                    <a:pt x="19050" y="4946104"/>
                  </a:lnTo>
                  <a:lnTo>
                    <a:pt x="19050" y="6883"/>
                  </a:lnTo>
                  <a:close/>
                </a:path>
                <a:path w="788670" h="4953000">
                  <a:moveTo>
                    <a:pt x="788200" y="387883"/>
                  </a:moveTo>
                  <a:lnTo>
                    <a:pt x="787260" y="385635"/>
                  </a:lnTo>
                  <a:lnTo>
                    <a:pt x="783539" y="381914"/>
                  </a:lnTo>
                  <a:lnTo>
                    <a:pt x="781304" y="380987"/>
                  </a:lnTo>
                  <a:lnTo>
                    <a:pt x="195008" y="380987"/>
                  </a:lnTo>
                  <a:lnTo>
                    <a:pt x="192773" y="381914"/>
                  </a:lnTo>
                  <a:lnTo>
                    <a:pt x="189039" y="385635"/>
                  </a:lnTo>
                  <a:lnTo>
                    <a:pt x="188125" y="387883"/>
                  </a:lnTo>
                  <a:lnTo>
                    <a:pt x="188125" y="390512"/>
                  </a:lnTo>
                  <a:lnTo>
                    <a:pt x="188125" y="393141"/>
                  </a:lnTo>
                  <a:lnTo>
                    <a:pt x="189039" y="395389"/>
                  </a:lnTo>
                  <a:lnTo>
                    <a:pt x="192773" y="399110"/>
                  </a:lnTo>
                  <a:lnTo>
                    <a:pt x="195008" y="400037"/>
                  </a:lnTo>
                  <a:lnTo>
                    <a:pt x="781304" y="400037"/>
                  </a:lnTo>
                  <a:lnTo>
                    <a:pt x="783539" y="399110"/>
                  </a:lnTo>
                  <a:lnTo>
                    <a:pt x="787260" y="395389"/>
                  </a:lnTo>
                  <a:lnTo>
                    <a:pt x="788200" y="393141"/>
                  </a:lnTo>
                  <a:lnTo>
                    <a:pt x="788200" y="387883"/>
                  </a:lnTo>
                  <a:close/>
                </a:path>
              </a:pathLst>
            </a:custGeom>
            <a:solidFill>
              <a:srgbClr val="585F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50625" y="1990724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3F45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077663" y="2016124"/>
            <a:ext cx="1314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40">
                <a:solidFill>
                  <a:srgbClr val="D6E5EF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73769" y="1963737"/>
            <a:ext cx="438086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>
                <a:solidFill>
                  <a:srgbClr val="D6E5EF"/>
                </a:solidFill>
                <a:latin typeface="Cambria"/>
                <a:cs typeface="Cambria"/>
              </a:rPr>
              <a:t>Recepción</a:t>
            </a:r>
            <a:r>
              <a:rPr dirty="0" sz="1650" spc="55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de</a:t>
            </a:r>
            <a:r>
              <a:rPr dirty="0" sz="1650" spc="6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75">
                <a:solidFill>
                  <a:srgbClr val="D6E5EF"/>
                </a:solidFill>
                <a:latin typeface="Cambria"/>
                <a:cs typeface="Cambria"/>
              </a:rPr>
              <a:t>Tráfico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ELB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actúa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como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punto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entrada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único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el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tráfico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de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aplicaciones.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Distribuye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automáticamente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las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solicitudes entrantes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entre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múltiples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instancias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EC2.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950625" y="3705224"/>
            <a:ext cx="971550" cy="381000"/>
            <a:chOff x="4950625" y="3705224"/>
            <a:chExt cx="971550" cy="381000"/>
          </a:xfrm>
        </p:grpSpPr>
        <p:sp>
          <p:nvSpPr>
            <p:cNvPr id="11" name="object 11" descr=""/>
            <p:cNvSpPr/>
            <p:nvPr/>
          </p:nvSpPr>
          <p:spPr>
            <a:xfrm>
              <a:off x="5322100" y="3886199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585F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50625" y="3705224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71932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3F45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059654" y="3721100"/>
            <a:ext cx="1676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D6E5EF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73769" y="3668712"/>
            <a:ext cx="457644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D6E5EF"/>
                </a:solidFill>
                <a:latin typeface="Cambria"/>
                <a:cs typeface="Cambria"/>
              </a:rPr>
              <a:t>Distribución</a:t>
            </a:r>
            <a:r>
              <a:rPr dirty="0" sz="1650" spc="6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de</a:t>
            </a:r>
            <a:r>
              <a:rPr dirty="0" sz="1650" spc="6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80">
                <a:solidFill>
                  <a:srgbClr val="D6E5EF"/>
                </a:solidFill>
                <a:latin typeface="Cambria"/>
                <a:cs typeface="Cambria"/>
              </a:rPr>
              <a:t>Carga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Utiliza</a:t>
            </a:r>
            <a:r>
              <a:rPr dirty="0" sz="1350" spc="-5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algoritmos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equilibrar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carga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entre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instancias disponibles.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Asegura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que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ninguna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instancia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se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sobrecargue, mejorando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el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rendimiento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general.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50625" y="5410199"/>
            <a:ext cx="971550" cy="381000"/>
            <a:chOff x="4950625" y="5410199"/>
            <a:chExt cx="971550" cy="381000"/>
          </a:xfrm>
        </p:grpSpPr>
        <p:sp>
          <p:nvSpPr>
            <p:cNvPr id="16" name="object 16" descr=""/>
            <p:cNvSpPr/>
            <p:nvPr/>
          </p:nvSpPr>
          <p:spPr>
            <a:xfrm>
              <a:off x="5322100" y="5591174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585F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50625" y="541019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71932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3F45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061293" y="5435599"/>
            <a:ext cx="16446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D6E5EF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073771" y="5383212"/>
            <a:ext cx="4460875" cy="1160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>
                <a:solidFill>
                  <a:srgbClr val="D6E5EF"/>
                </a:solidFill>
                <a:latin typeface="Cambria"/>
                <a:cs typeface="Cambria"/>
              </a:rPr>
              <a:t>Escalado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90">
                <a:solidFill>
                  <a:srgbClr val="D6E5EF"/>
                </a:solidFill>
                <a:latin typeface="Cambria"/>
                <a:cs typeface="Cambria"/>
              </a:rPr>
              <a:t>Automático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505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integra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con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Auto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Scaling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ajustar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dinámicamente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el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número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 instancias.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Mantiene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el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rendimiento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óptimo durante</a:t>
            </a:r>
            <a:r>
              <a:rPr dirty="0" sz="1350" spc="-1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fluctuaciones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 tráfico.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0" name="object 20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712457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8001000"/>
          </a:xfrm>
          <a:custGeom>
            <a:avLst/>
            <a:gdLst/>
            <a:ahLst/>
            <a:cxnLst/>
            <a:rect l="l" t="t" r="r" b="b"/>
            <a:pathLst>
              <a:path w="11430000" h="8001000">
                <a:moveTo>
                  <a:pt x="11430000" y="0"/>
                </a:moveTo>
                <a:lnTo>
                  <a:pt x="0" y="0"/>
                </a:lnTo>
                <a:lnTo>
                  <a:pt x="0" y="8001000"/>
                </a:lnTo>
                <a:lnTo>
                  <a:pt x="11430000" y="8001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263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1431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9572" y="2606675"/>
            <a:ext cx="42913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14"/>
              <a:t>Route</a:t>
            </a:r>
            <a:r>
              <a:rPr dirty="0" spc="105"/>
              <a:t> </a:t>
            </a:r>
            <a:r>
              <a:rPr dirty="0" spc="135"/>
              <a:t>Tables</a:t>
            </a:r>
            <a:r>
              <a:rPr dirty="0" spc="110"/>
              <a:t> </a:t>
            </a:r>
            <a:r>
              <a:rPr dirty="0" spc="210"/>
              <a:t>en</a:t>
            </a:r>
            <a:r>
              <a:rPr dirty="0" spc="110"/>
              <a:t> </a:t>
            </a:r>
            <a:r>
              <a:rPr dirty="0" spc="235"/>
              <a:t>AWS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1028700" y="3409950"/>
            <a:ext cx="857250" cy="1371600"/>
          </a:xfrm>
          <a:custGeom>
            <a:avLst/>
            <a:gdLst/>
            <a:ahLst/>
            <a:cxnLst/>
            <a:rect l="l" t="t" r="r" b="b"/>
            <a:pathLst>
              <a:path w="857250" h="1371600">
                <a:moveTo>
                  <a:pt x="857250" y="0"/>
                </a:moveTo>
                <a:lnTo>
                  <a:pt x="428625" y="171450"/>
                </a:lnTo>
                <a:lnTo>
                  <a:pt x="0" y="0"/>
                </a:lnTo>
                <a:lnTo>
                  <a:pt x="0" y="1200150"/>
                </a:lnTo>
                <a:lnTo>
                  <a:pt x="428625" y="1371600"/>
                </a:lnTo>
                <a:lnTo>
                  <a:pt x="857250" y="1200150"/>
                </a:lnTo>
                <a:lnTo>
                  <a:pt x="857250" y="0"/>
                </a:lnTo>
                <a:close/>
              </a:path>
            </a:pathLst>
          </a:custGeom>
          <a:solidFill>
            <a:srgbClr val="3F45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395069" y="3930650"/>
            <a:ext cx="1314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40">
                <a:solidFill>
                  <a:srgbClr val="D6E5EF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134001" y="3573462"/>
            <a:ext cx="199136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D6E5EF"/>
                </a:solidFill>
                <a:latin typeface="Cambria"/>
                <a:cs typeface="Cambria"/>
              </a:rPr>
              <a:t>Definición</a:t>
            </a:r>
            <a:r>
              <a:rPr dirty="0" sz="1650" spc="75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de</a:t>
            </a:r>
            <a:r>
              <a:rPr dirty="0" sz="1650" spc="8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90">
                <a:solidFill>
                  <a:srgbClr val="D6E5EF"/>
                </a:solidFill>
                <a:latin typeface="Cambria"/>
                <a:cs typeface="Cambria"/>
              </a:rPr>
              <a:t>Rutas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34001" y="3888740"/>
            <a:ext cx="804989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Las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Route</a:t>
            </a:r>
            <a:r>
              <a:rPr dirty="0" sz="1350" spc="-7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Tables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determinan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cómo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se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dirige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el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tráfico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entre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subredes.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Especifican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las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rutas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el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tráfico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red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dentro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VPC.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28700" y="4781550"/>
            <a:ext cx="857250" cy="1371600"/>
          </a:xfrm>
          <a:custGeom>
            <a:avLst/>
            <a:gdLst/>
            <a:ahLst/>
            <a:cxnLst/>
            <a:rect l="l" t="t" r="r" b="b"/>
            <a:pathLst>
              <a:path w="857250" h="1371600">
                <a:moveTo>
                  <a:pt x="857250" y="0"/>
                </a:moveTo>
                <a:lnTo>
                  <a:pt x="428625" y="171450"/>
                </a:lnTo>
                <a:lnTo>
                  <a:pt x="0" y="0"/>
                </a:lnTo>
                <a:lnTo>
                  <a:pt x="0" y="1200150"/>
                </a:lnTo>
                <a:lnTo>
                  <a:pt x="428625" y="1371600"/>
                </a:lnTo>
                <a:lnTo>
                  <a:pt x="857250" y="1200150"/>
                </a:lnTo>
                <a:lnTo>
                  <a:pt x="857250" y="0"/>
                </a:lnTo>
                <a:close/>
              </a:path>
            </a:pathLst>
          </a:custGeom>
          <a:solidFill>
            <a:srgbClr val="3F45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377061" y="5302250"/>
            <a:ext cx="1676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D6E5EF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134001" y="4945062"/>
            <a:ext cx="824547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0">
                <a:solidFill>
                  <a:srgbClr val="D6E5EF"/>
                </a:solidFill>
                <a:latin typeface="Cambria"/>
                <a:cs typeface="Cambria"/>
              </a:rPr>
              <a:t>Asociación</a:t>
            </a:r>
            <a:r>
              <a:rPr dirty="0" sz="1650" spc="75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125">
                <a:solidFill>
                  <a:srgbClr val="D6E5EF"/>
                </a:solidFill>
                <a:latin typeface="Cambria"/>
                <a:cs typeface="Cambria"/>
              </a:rPr>
              <a:t>con</a:t>
            </a:r>
            <a:r>
              <a:rPr dirty="0" sz="1650" spc="8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75">
                <a:solidFill>
                  <a:srgbClr val="D6E5EF"/>
                </a:solidFill>
                <a:latin typeface="Cambria"/>
                <a:cs typeface="Cambria"/>
              </a:rPr>
              <a:t>Subredes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Cada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subred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una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VPC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debe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estar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asociada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una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Route</a:t>
            </a:r>
            <a:r>
              <a:rPr dirty="0" sz="1350" spc="-6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Table.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Controla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el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flujo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tráfico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entre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subredes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y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hacia</a:t>
            </a:r>
            <a:r>
              <a:rPr dirty="0" sz="1350" spc="-7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internet.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028700" y="6153150"/>
            <a:ext cx="857250" cy="1371600"/>
          </a:xfrm>
          <a:custGeom>
            <a:avLst/>
            <a:gdLst/>
            <a:ahLst/>
            <a:cxnLst/>
            <a:rect l="l" t="t" r="r" b="b"/>
            <a:pathLst>
              <a:path w="857250" h="1371600">
                <a:moveTo>
                  <a:pt x="857250" y="0"/>
                </a:moveTo>
                <a:lnTo>
                  <a:pt x="428625" y="171450"/>
                </a:lnTo>
                <a:lnTo>
                  <a:pt x="0" y="0"/>
                </a:lnTo>
                <a:lnTo>
                  <a:pt x="0" y="1200150"/>
                </a:lnTo>
                <a:lnTo>
                  <a:pt x="428625" y="1371600"/>
                </a:lnTo>
                <a:lnTo>
                  <a:pt x="857250" y="1200150"/>
                </a:lnTo>
                <a:lnTo>
                  <a:pt x="857250" y="0"/>
                </a:lnTo>
                <a:close/>
              </a:path>
            </a:pathLst>
          </a:custGeom>
          <a:solidFill>
            <a:srgbClr val="3F45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378699" y="6673850"/>
            <a:ext cx="16446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D6E5EF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134002" y="6316662"/>
            <a:ext cx="8182609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>
                <a:solidFill>
                  <a:srgbClr val="D6E5EF"/>
                </a:solidFill>
                <a:latin typeface="Cambria"/>
                <a:cs typeface="Cambria"/>
              </a:rPr>
              <a:t>Configuración</a:t>
            </a:r>
            <a:r>
              <a:rPr dirty="0" sz="1650" spc="65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de</a:t>
            </a:r>
            <a:r>
              <a:rPr dirty="0" sz="1650" spc="65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100">
                <a:solidFill>
                  <a:srgbClr val="D6E5EF"/>
                </a:solidFill>
                <a:latin typeface="Cambria"/>
                <a:cs typeface="Cambria"/>
              </a:rPr>
              <a:t>Gateways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Permiten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configurar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rutas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hacia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Internet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Gateways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o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VPN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Gateways.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Facilitan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conectividad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entre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VPC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y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redes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externas.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5" name="object 1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486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387475"/>
            <a:ext cx="49225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70"/>
              <a:t>Security</a:t>
            </a:r>
            <a:r>
              <a:rPr dirty="0" spc="120"/>
              <a:t> Groups </a:t>
            </a:r>
            <a:r>
              <a:rPr dirty="0" spc="210"/>
              <a:t>en</a:t>
            </a:r>
            <a:r>
              <a:rPr dirty="0" spc="120"/>
              <a:t> </a:t>
            </a:r>
            <a:r>
              <a:rPr dirty="0" spc="235"/>
              <a:t>AWS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604837" y="2205037"/>
            <a:ext cx="5934075" cy="2828925"/>
          </a:xfrm>
          <a:custGeom>
            <a:avLst/>
            <a:gdLst/>
            <a:ahLst/>
            <a:cxnLst/>
            <a:rect l="l" t="t" r="r" b="b"/>
            <a:pathLst>
              <a:path w="5934075" h="2828925">
                <a:moveTo>
                  <a:pt x="0" y="2812262"/>
                </a:moveTo>
                <a:lnTo>
                  <a:pt x="0" y="16675"/>
                </a:lnTo>
                <a:lnTo>
                  <a:pt x="0" y="14452"/>
                </a:lnTo>
                <a:lnTo>
                  <a:pt x="421" y="12331"/>
                </a:lnTo>
                <a:lnTo>
                  <a:pt x="1270" y="10287"/>
                </a:lnTo>
                <a:lnTo>
                  <a:pt x="2113" y="8242"/>
                </a:lnTo>
                <a:lnTo>
                  <a:pt x="3318" y="6438"/>
                </a:lnTo>
                <a:lnTo>
                  <a:pt x="4881" y="4876"/>
                </a:lnTo>
                <a:lnTo>
                  <a:pt x="6443" y="3314"/>
                </a:lnTo>
                <a:lnTo>
                  <a:pt x="8249" y="2108"/>
                </a:lnTo>
                <a:lnTo>
                  <a:pt x="10289" y="1270"/>
                </a:lnTo>
                <a:lnTo>
                  <a:pt x="12332" y="419"/>
                </a:lnTo>
                <a:lnTo>
                  <a:pt x="14456" y="0"/>
                </a:lnTo>
                <a:lnTo>
                  <a:pt x="16668" y="0"/>
                </a:lnTo>
                <a:lnTo>
                  <a:pt x="5917412" y="0"/>
                </a:lnTo>
                <a:lnTo>
                  <a:pt x="5919609" y="0"/>
                </a:lnTo>
                <a:lnTo>
                  <a:pt x="5921743" y="419"/>
                </a:lnTo>
                <a:lnTo>
                  <a:pt x="5923788" y="1270"/>
                </a:lnTo>
                <a:lnTo>
                  <a:pt x="5925820" y="2108"/>
                </a:lnTo>
                <a:lnTo>
                  <a:pt x="5927636" y="3314"/>
                </a:lnTo>
                <a:lnTo>
                  <a:pt x="5929198" y="4876"/>
                </a:lnTo>
                <a:lnTo>
                  <a:pt x="5930760" y="6438"/>
                </a:lnTo>
                <a:lnTo>
                  <a:pt x="5931966" y="8242"/>
                </a:lnTo>
                <a:lnTo>
                  <a:pt x="5932805" y="10287"/>
                </a:lnTo>
                <a:lnTo>
                  <a:pt x="5933655" y="12331"/>
                </a:lnTo>
                <a:lnTo>
                  <a:pt x="5934075" y="14452"/>
                </a:lnTo>
                <a:lnTo>
                  <a:pt x="5934075" y="16675"/>
                </a:lnTo>
                <a:lnTo>
                  <a:pt x="5934075" y="2812262"/>
                </a:lnTo>
                <a:lnTo>
                  <a:pt x="5934075" y="2814459"/>
                </a:lnTo>
                <a:lnTo>
                  <a:pt x="5933655" y="2816593"/>
                </a:lnTo>
                <a:lnTo>
                  <a:pt x="5932805" y="2818638"/>
                </a:lnTo>
                <a:lnTo>
                  <a:pt x="5931966" y="2820670"/>
                </a:lnTo>
                <a:lnTo>
                  <a:pt x="5930760" y="2822473"/>
                </a:lnTo>
                <a:lnTo>
                  <a:pt x="5919609" y="2828925"/>
                </a:lnTo>
                <a:lnTo>
                  <a:pt x="5917412" y="2828925"/>
                </a:lnTo>
                <a:lnTo>
                  <a:pt x="16668" y="2828925"/>
                </a:lnTo>
                <a:lnTo>
                  <a:pt x="14456" y="2828925"/>
                </a:lnTo>
                <a:lnTo>
                  <a:pt x="12332" y="2828493"/>
                </a:lnTo>
                <a:lnTo>
                  <a:pt x="0" y="2814459"/>
                </a:lnTo>
                <a:lnTo>
                  <a:pt x="0" y="2812262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609599" y="2209799"/>
          <a:ext cx="6000750" cy="281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0820"/>
                <a:gridCol w="1485265"/>
                <a:gridCol w="1475739"/>
                <a:gridCol w="1480820"/>
              </a:tblGrid>
              <a:tr h="49530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-2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Tipo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3825"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Puerto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3825">
                    <a:lnL w="9525">
                      <a:solidFill>
                        <a:srgbClr val="1F2632"/>
                      </a:solidFill>
                      <a:prstDash val="solid"/>
                    </a:lnL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Origen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3825">
                    <a:lnL w="9525">
                      <a:solidFill>
                        <a:srgbClr val="1F2632"/>
                      </a:solidFill>
                      <a:prstDash val="solid"/>
                    </a:lnL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Descripción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23825">
                    <a:lnL w="9525">
                      <a:solidFill>
                        <a:srgbClr val="1F2632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2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HTTP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2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80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1F2632"/>
                      </a:solidFill>
                      <a:prstDash val="solid"/>
                    </a:lnL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0.0.0.0/0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1F2632"/>
                      </a:solidFill>
                      <a:prstDash val="solid"/>
                    </a:lnL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 marR="40576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Tráfico</a:t>
                      </a:r>
                      <a:r>
                        <a:rPr dirty="0" sz="1350" spc="-6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web </a:t>
                      </a: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entrante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2865">
                    <a:lnL w="9525">
                      <a:solidFill>
                        <a:srgbClr val="1F2632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2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SSH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2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22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1F2632"/>
                      </a:solidFill>
                      <a:prstDash val="solid"/>
                    </a:lnL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IP</a:t>
                      </a:r>
                      <a:r>
                        <a:rPr dirty="0" sz="1350" spc="-4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específica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1F2632"/>
                      </a:solidFill>
                      <a:prstDash val="solid"/>
                    </a:lnL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 marR="18288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Acceso </a:t>
                      </a:r>
                      <a:r>
                        <a:rPr dirty="0" sz="135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remoto</a:t>
                      </a:r>
                      <a:r>
                        <a:rPr dirty="0" sz="1350" spc="-5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seguro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2865">
                    <a:lnL w="9525">
                      <a:solidFill>
                        <a:srgbClr val="1F2632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HTTPS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2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443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1F2632"/>
                      </a:solidFill>
                      <a:prstDash val="solid"/>
                    </a:lnL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0.0.0.0/0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1F2632"/>
                      </a:solidFill>
                      <a:prstDash val="solid"/>
                    </a:lnL>
                    <a:lnR w="9525">
                      <a:solidFill>
                        <a:srgbClr val="1F263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 marR="40576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Tráfico</a:t>
                      </a:r>
                      <a:r>
                        <a:rPr dirty="0" sz="1350" spc="-6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50" spc="-25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web </a:t>
                      </a:r>
                      <a:r>
                        <a:rPr dirty="0" sz="1350" spc="-10">
                          <a:solidFill>
                            <a:srgbClr val="D6E5EF"/>
                          </a:solidFill>
                          <a:latin typeface="Roboto"/>
                          <a:cs typeface="Roboto"/>
                        </a:rPr>
                        <a:t>seguro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B="0" marT="62865">
                    <a:lnL w="9525">
                      <a:solidFill>
                        <a:srgbClr val="1F2632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9906000"/>
          </a:xfrm>
          <a:custGeom>
            <a:avLst/>
            <a:gdLst/>
            <a:ahLst/>
            <a:cxnLst/>
            <a:rect l="l" t="t" r="r" b="b"/>
            <a:pathLst>
              <a:path w="11430000" h="9906000">
                <a:moveTo>
                  <a:pt x="11430000" y="0"/>
                </a:moveTo>
                <a:lnTo>
                  <a:pt x="0" y="0"/>
                </a:lnTo>
                <a:lnTo>
                  <a:pt x="0" y="9906000"/>
                </a:lnTo>
                <a:lnTo>
                  <a:pt x="11430000" y="9906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263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9905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40"/>
              <a:t>Mejores</a:t>
            </a:r>
            <a:r>
              <a:rPr dirty="0" spc="105"/>
              <a:t> </a:t>
            </a:r>
            <a:r>
              <a:rPr dirty="0" spc="185"/>
              <a:t>Prácticas</a:t>
            </a:r>
            <a:r>
              <a:rPr dirty="0" spc="105"/>
              <a:t> </a:t>
            </a:r>
            <a:r>
              <a:rPr dirty="0" spc="210"/>
              <a:t>en</a:t>
            </a:r>
            <a:r>
              <a:rPr dirty="0" spc="110"/>
              <a:t> </a:t>
            </a:r>
            <a:r>
              <a:rPr dirty="0" spc="150"/>
              <a:t>Redes </a:t>
            </a:r>
            <a:r>
              <a:rPr dirty="0" spc="210"/>
              <a:t>en</a:t>
            </a:r>
            <a:r>
              <a:rPr dirty="0" spc="100"/>
              <a:t> </a:t>
            </a:r>
            <a:r>
              <a:rPr dirty="0" spc="190"/>
              <a:t>la</a:t>
            </a:r>
            <a:r>
              <a:rPr dirty="0" spc="100"/>
              <a:t> </a:t>
            </a:r>
            <a:r>
              <a:rPr dirty="0" spc="165"/>
              <a:t>Nube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9723" y="1812010"/>
            <a:ext cx="401828" cy="42401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873625" y="2401887"/>
            <a:ext cx="5594985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>
                <a:solidFill>
                  <a:srgbClr val="D6E5EF"/>
                </a:solidFill>
                <a:latin typeface="Cambria"/>
                <a:cs typeface="Cambria"/>
              </a:rPr>
              <a:t>Seguridad</a:t>
            </a:r>
            <a:r>
              <a:rPr dirty="0" sz="1650" spc="8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105">
                <a:solidFill>
                  <a:srgbClr val="D6E5EF"/>
                </a:solidFill>
                <a:latin typeface="Cambria"/>
                <a:cs typeface="Cambria"/>
              </a:rPr>
              <a:t>Multicapa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Implementa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múltiples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niveles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seguridad,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incluyendo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firewalls,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cifrado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y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monitoreo</a:t>
            </a:r>
            <a:r>
              <a:rPr dirty="0" sz="1350" spc="-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constante.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86325" y="3880103"/>
            <a:ext cx="428625" cy="34423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873625" y="4430712"/>
            <a:ext cx="580771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D6E5EF"/>
                </a:solidFill>
                <a:latin typeface="Cambria"/>
                <a:cs typeface="Cambria"/>
              </a:rPr>
              <a:t>Diseño </a:t>
            </a:r>
            <a:r>
              <a:rPr dirty="0" sz="1650" spc="90">
                <a:solidFill>
                  <a:srgbClr val="D6E5EF"/>
                </a:solidFill>
                <a:latin typeface="Cambria"/>
                <a:cs typeface="Cambria"/>
              </a:rPr>
              <a:t>Escalable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Crea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arquitecturas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que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puedan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crecer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fácilmente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con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demanda,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utilizando servicios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autoscaling.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3109" y="5876925"/>
            <a:ext cx="375056" cy="42862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873625" y="6469062"/>
            <a:ext cx="5598795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>
                <a:solidFill>
                  <a:srgbClr val="D6E5EF"/>
                </a:solidFill>
                <a:latin typeface="Cambria"/>
                <a:cs typeface="Cambria"/>
              </a:rPr>
              <a:t>Redundancia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Implementa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sistemas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redundantes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backups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regulares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garantizar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la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continuidad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del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negocio.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86325" y="7953375"/>
            <a:ext cx="428625" cy="333375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4873625" y="8497887"/>
            <a:ext cx="572325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solidFill>
                  <a:srgbClr val="D6E5EF"/>
                </a:solidFill>
                <a:latin typeface="Cambria"/>
                <a:cs typeface="Cambria"/>
              </a:rPr>
              <a:t>Monitoreo</a:t>
            </a:r>
            <a:r>
              <a:rPr dirty="0" sz="1650" spc="95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80">
                <a:solidFill>
                  <a:srgbClr val="D6E5EF"/>
                </a:solidFill>
                <a:latin typeface="Cambria"/>
                <a:cs typeface="Cambria"/>
              </a:rPr>
              <a:t>Continuo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Utiliza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herramientas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monitoreo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detectar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responder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rápidamente</a:t>
            </a:r>
            <a:r>
              <a:rPr dirty="0" sz="1350" spc="-3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D6E5EF"/>
                </a:solidFill>
                <a:latin typeface="Roboto"/>
                <a:cs typeface="Roboto"/>
              </a:rPr>
              <a:t>a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problemas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red.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3" name="object 13" descr="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0244" y="9391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844550"/>
            <a:ext cx="305435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200"/>
              <a:t>Evaluación</a:t>
            </a:r>
            <a:r>
              <a:rPr dirty="0" spc="100"/>
              <a:t> </a:t>
            </a:r>
            <a:r>
              <a:rPr dirty="0" spc="80"/>
              <a:t>de </a:t>
            </a:r>
            <a:r>
              <a:rPr dirty="0" spc="175"/>
              <a:t>Conocimientos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4886325" y="2371724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92" y="390525"/>
                </a:lnTo>
                <a:lnTo>
                  <a:pt x="371932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3F45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013375" y="2397125"/>
            <a:ext cx="1314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40">
                <a:solidFill>
                  <a:srgbClr val="D6E5EF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30838" y="2363787"/>
            <a:ext cx="540258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>
                <a:solidFill>
                  <a:srgbClr val="D6E5EF"/>
                </a:solidFill>
                <a:latin typeface="Cambria"/>
                <a:cs typeface="Cambria"/>
              </a:rPr>
              <a:t>Redes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80">
                <a:solidFill>
                  <a:srgbClr val="D6E5EF"/>
                </a:solidFill>
                <a:latin typeface="Cambria"/>
                <a:cs typeface="Cambria"/>
              </a:rPr>
              <a:t>Híbridas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125">
                <a:solidFill>
                  <a:srgbClr val="D6E5EF"/>
                </a:solidFill>
                <a:latin typeface="Cambria"/>
                <a:cs typeface="Cambria"/>
              </a:rPr>
              <a:t>vs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90">
                <a:solidFill>
                  <a:srgbClr val="D6E5EF"/>
                </a:solidFill>
                <a:latin typeface="Cambria"/>
                <a:cs typeface="Cambria"/>
              </a:rPr>
              <a:t>Privadas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¿Cuál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es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principal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diferencia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entre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una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red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privada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y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una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híbrida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la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nube?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886325" y="365760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92" y="390525"/>
                </a:lnTo>
                <a:lnTo>
                  <a:pt x="371932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3F45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995367" y="3683000"/>
            <a:ext cx="1676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D6E5EF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430838" y="3649662"/>
            <a:ext cx="481139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0">
                <a:solidFill>
                  <a:srgbClr val="D6E5EF"/>
                </a:solidFill>
                <a:latin typeface="Cambria"/>
                <a:cs typeface="Cambria"/>
              </a:rPr>
              <a:t>Función</a:t>
            </a:r>
            <a:r>
              <a:rPr dirty="0" sz="1650" spc="6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75">
                <a:solidFill>
                  <a:srgbClr val="D6E5EF"/>
                </a:solidFill>
                <a:latin typeface="Cambria"/>
                <a:cs typeface="Cambria"/>
              </a:rPr>
              <a:t>del</a:t>
            </a:r>
            <a:r>
              <a:rPr dirty="0" sz="1650" spc="65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ELB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Describe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función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principal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del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Elastic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Load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Balancer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AWS.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886325" y="4667250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59575"/>
                </a:lnTo>
                <a:lnTo>
                  <a:pt x="0" y="362407"/>
                </a:lnTo>
                <a:lnTo>
                  <a:pt x="18592" y="381000"/>
                </a:lnTo>
                <a:lnTo>
                  <a:pt x="371932" y="381000"/>
                </a:lnTo>
                <a:lnTo>
                  <a:pt x="390525" y="362407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3F45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997005" y="4692650"/>
            <a:ext cx="16446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D6E5EF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30840" y="4659312"/>
            <a:ext cx="464947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>
                <a:solidFill>
                  <a:srgbClr val="D6E5EF"/>
                </a:solidFill>
                <a:latin typeface="Cambria"/>
                <a:cs typeface="Cambria"/>
              </a:rPr>
              <a:t>Seguridad</a:t>
            </a:r>
            <a:r>
              <a:rPr dirty="0" sz="1650" spc="70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125">
                <a:solidFill>
                  <a:srgbClr val="D6E5EF"/>
                </a:solidFill>
                <a:latin typeface="Cambria"/>
                <a:cs typeface="Cambria"/>
              </a:rPr>
              <a:t>con</a:t>
            </a:r>
            <a:r>
              <a:rPr dirty="0" sz="1650" spc="75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90">
                <a:solidFill>
                  <a:srgbClr val="D6E5EF"/>
                </a:solidFill>
                <a:latin typeface="Cambria"/>
                <a:cs typeface="Cambria"/>
              </a:rPr>
              <a:t>Security</a:t>
            </a:r>
            <a:r>
              <a:rPr dirty="0" sz="1650" spc="75">
                <a:solidFill>
                  <a:srgbClr val="D6E5EF"/>
                </a:solidFill>
                <a:latin typeface="Cambria"/>
                <a:cs typeface="Cambria"/>
              </a:rPr>
              <a:t> </a:t>
            </a:r>
            <a:r>
              <a:rPr dirty="0" sz="1650" spc="60">
                <a:solidFill>
                  <a:srgbClr val="D6E5EF"/>
                </a:solidFill>
                <a:latin typeface="Cambria"/>
                <a:cs typeface="Cambria"/>
              </a:rPr>
              <a:t>Groups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¿Cómo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se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pueden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utilizar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los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D6E5EF"/>
                </a:solidFill>
                <a:latin typeface="Roboto"/>
                <a:cs typeface="Roboto"/>
              </a:rPr>
              <a:t>Security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Groups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para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mejorar</a:t>
            </a:r>
            <a:r>
              <a:rPr dirty="0" sz="1350" spc="-3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6E5EF"/>
                </a:solidFill>
                <a:latin typeface="Roboto"/>
                <a:cs typeface="Roboto"/>
              </a:rPr>
              <a:t>la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seguridad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una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red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en</a:t>
            </a:r>
            <a:r>
              <a:rPr dirty="0" sz="1350" spc="-45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6E5EF"/>
                </a:solidFill>
                <a:latin typeface="Roboto"/>
                <a:cs typeface="Roboto"/>
              </a:rPr>
              <a:t>la</a:t>
            </a:r>
            <a:r>
              <a:rPr dirty="0" sz="1350" spc="-40">
                <a:solidFill>
                  <a:srgbClr val="D6E5EF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6E5EF"/>
                </a:solidFill>
                <a:latin typeface="Roboto"/>
                <a:cs typeface="Roboto"/>
              </a:rPr>
              <a:t>nube?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3" name="object 13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2024-11-05T08:29:17Z</dcterms:created>
  <dcterms:modified xsi:type="dcterms:W3CDTF">2024-11-05T08:29:17Z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